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7" r:id="rId2"/>
    <p:sldId id="658" r:id="rId3"/>
    <p:sldId id="385" r:id="rId4"/>
    <p:sldId id="546" r:id="rId5"/>
    <p:sldId id="659" r:id="rId6"/>
    <p:sldId id="660" r:id="rId7"/>
    <p:sldId id="667" r:id="rId8"/>
    <p:sldId id="261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9900"/>
    <a:srgbClr val="FF66FF"/>
    <a:srgbClr val="FFCC00"/>
    <a:srgbClr val="FF9966"/>
    <a:srgbClr val="FFCCFF"/>
    <a:srgbClr val="7B9495"/>
    <a:srgbClr val="55595D"/>
    <a:srgbClr val="3D8F76"/>
    <a:srgbClr val="32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311" autoAdjust="0"/>
  </p:normalViewPr>
  <p:slideViewPr>
    <p:cSldViewPr snapToGrid="0">
      <p:cViewPr varScale="1">
        <p:scale>
          <a:sx n="101" d="100"/>
          <a:sy n="101" d="100"/>
        </p:scale>
        <p:origin x="12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2C4591-32D9-4248-9B09-4A3FCC9A2071}" type="datetimeFigureOut">
              <a:rPr kumimoji="1" lang="zh-CN" altLang="en-US" smtClean="0"/>
              <a:t>2026/2/8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5ACA3-2961-3740-91A0-2A6370DAD6B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223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7994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自学：</a:t>
            </a:r>
            <a:r>
              <a:rPr lang="en-US" altLang="zh-CN" dirty="0" smtClean="0"/>
              <a:t>Linux</a:t>
            </a:r>
            <a:r>
              <a:rPr lang="zh-CN" altLang="en-US" dirty="0" smtClean="0"/>
              <a:t>的</a:t>
            </a:r>
            <a:r>
              <a:rPr lang="en-US" altLang="zh-CN" dirty="0" smtClean="0"/>
              <a:t>mount</a:t>
            </a:r>
            <a:r>
              <a:rPr lang="zh-CN" altLang="en-US" dirty="0" smtClean="0"/>
              <a:t>、</a:t>
            </a:r>
            <a:r>
              <a:rPr lang="en-US" altLang="zh-CN" dirty="0" err="1" smtClean="0"/>
              <a:t>umount</a:t>
            </a:r>
            <a:r>
              <a:rPr lang="zh-CN" altLang="en-US" dirty="0" smtClean="0"/>
              <a:t>命令。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8547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VFS</a:t>
            </a:r>
            <a:r>
              <a:rPr lang="zh-CN" altLang="en-US" dirty="0" smtClean="0"/>
              <a:t>的下方甚至不一定是文件系统，</a:t>
            </a:r>
            <a:r>
              <a:rPr lang="en-US" altLang="zh-CN" dirty="0" smtClean="0"/>
              <a:t>VFS</a:t>
            </a:r>
            <a:r>
              <a:rPr lang="zh-CN" altLang="en-US" dirty="0" smtClean="0"/>
              <a:t>是“一切皆文件”的基础。</a:t>
            </a:r>
          </a:p>
          <a:p>
            <a:r>
              <a:rPr lang="en-US" altLang="zh-CN" dirty="0" smtClean="0"/>
              <a:t>Linux</a:t>
            </a:r>
            <a:r>
              <a:rPr lang="zh-CN" altLang="en-US" dirty="0" smtClean="0"/>
              <a:t>共有</a:t>
            </a:r>
            <a:r>
              <a:rPr lang="en-US" altLang="zh-CN" dirty="0" smtClean="0"/>
              <a:t>7</a:t>
            </a:r>
            <a:r>
              <a:rPr lang="zh-CN" altLang="en-US" dirty="0" smtClean="0"/>
              <a:t>种文件（</a:t>
            </a:r>
            <a:r>
              <a:rPr lang="en-US" altLang="zh-CN" dirty="0" smtClean="0"/>
              <a:t>ls -l</a:t>
            </a:r>
            <a:r>
              <a:rPr lang="zh-CN" altLang="en-US" dirty="0" smtClean="0"/>
              <a:t>可查看）：</a:t>
            </a:r>
            <a:r>
              <a:rPr lang="en-US" altLang="zh-CN" dirty="0" smtClean="0"/>
              <a:t>-</a:t>
            </a:r>
            <a:r>
              <a:rPr lang="zh-CN" altLang="en-US" dirty="0" smtClean="0"/>
              <a:t>普通文件、</a:t>
            </a:r>
            <a:r>
              <a:rPr lang="en-US" altLang="zh-CN" dirty="0" smtClean="0"/>
              <a:t>d</a:t>
            </a:r>
            <a:r>
              <a:rPr lang="zh-CN" altLang="en-US" dirty="0" smtClean="0"/>
              <a:t>目录、</a:t>
            </a:r>
            <a:r>
              <a:rPr lang="en-US" altLang="zh-CN" dirty="0" smtClean="0"/>
              <a:t>c</a:t>
            </a:r>
            <a:r>
              <a:rPr lang="zh-CN" altLang="en-US" dirty="0" smtClean="0"/>
              <a:t>字符设备、</a:t>
            </a:r>
            <a:r>
              <a:rPr lang="en-US" altLang="zh-CN" dirty="0" smtClean="0"/>
              <a:t>b</a:t>
            </a:r>
            <a:r>
              <a:rPr lang="zh-CN" altLang="en-US" dirty="0" smtClean="0"/>
              <a:t>块设备、</a:t>
            </a:r>
            <a:r>
              <a:rPr lang="en-US" altLang="zh-CN" dirty="0" smtClean="0"/>
              <a:t>s</a:t>
            </a:r>
            <a:r>
              <a:rPr lang="zh-CN" altLang="en-US" dirty="0" smtClean="0"/>
              <a:t>套接字、</a:t>
            </a:r>
            <a:r>
              <a:rPr lang="en-US" altLang="zh-CN" dirty="0" smtClean="0"/>
              <a:t>p</a:t>
            </a:r>
            <a:r>
              <a:rPr lang="zh-CN" altLang="en-US" dirty="0" smtClean="0"/>
              <a:t>管道、</a:t>
            </a:r>
            <a:r>
              <a:rPr lang="en-US" altLang="zh-CN" dirty="0" smtClean="0"/>
              <a:t>l</a:t>
            </a:r>
            <a:r>
              <a:rPr lang="zh-CN" altLang="en-US" dirty="0" smtClean="0"/>
              <a:t>软链。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1864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8130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5ACA3-2961-3740-91A0-2A6370DAD6B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0339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="" xmlns:a16="http://schemas.microsoft.com/office/drawing/2014/main" id="{7B338C99-4BFA-EC8E-7B91-F5844CDD83B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5915" y="3260759"/>
            <a:ext cx="8693150" cy="55563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1350"/>
          </a:p>
        </p:txBody>
      </p: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088682" y="1828800"/>
            <a:ext cx="667431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2" name="Rectangle 14">
            <a:extLst>
              <a:ext uri="{FF2B5EF4-FFF2-40B4-BE49-F238E27FC236}">
                <a16:creationId xmlns="" xmlns:a16="http://schemas.microsoft.com/office/drawing/2014/main" id="{69E201AF-481D-D7F5-F5A3-B7C5682D25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="" xmlns:a16="http://schemas.microsoft.com/office/drawing/2014/main" id="{701192B2-B64A-92F9-322E-CE658D3C1F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="" xmlns:a16="http://schemas.microsoft.com/office/drawing/2014/main" id="{1003B9B5-2387-F5A9-AE3D-CEEB0E2137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B6F798D-A431-694C-B66B-13A47D786A04}" type="slidenum">
              <a:rPr lang="zh-CN" altLang="en-US"/>
              <a:pPr/>
              <a:t>‹#›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E26E1406-7E5E-7B8E-2119-BA64BFFD8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1000" y="1071012"/>
            <a:ext cx="1863615" cy="2189747"/>
          </a:xfrm>
          <a:prstGeom prst="rect">
            <a:avLst/>
          </a:prstGeom>
        </p:spPr>
      </p:pic>
      <p:pic>
        <p:nvPicPr>
          <p:cNvPr id="17" name="Picture 6">
            <a:extLst>
              <a:ext uri="{FF2B5EF4-FFF2-40B4-BE49-F238E27FC236}">
                <a16:creationId xmlns="" xmlns:a16="http://schemas.microsoft.com/office/drawing/2014/main" id="{C401CBDC-AA8E-6DF1-BD9D-89438EB384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93" y="3310673"/>
            <a:ext cx="1414007" cy="254885"/>
          </a:xfrm>
          <a:prstGeom prst="rect">
            <a:avLst/>
          </a:prstGeom>
          <a:solidFill>
            <a:srgbClr val="5D9C89"/>
          </a:solidFill>
        </p:spPr>
      </p:pic>
    </p:spTree>
    <p:extLst>
      <p:ext uri="{BB962C8B-B14F-4D97-AF65-F5344CB8AC3E}">
        <p14:creationId xmlns:p14="http://schemas.microsoft.com/office/powerpoint/2010/main" val="491551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Century" panose="02040604050505020304" pitchFamily="18" charset="0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hangingPunct="1">
              <a:buClr>
                <a:schemeClr val="accent4"/>
              </a:buClr>
              <a:defRPr sz="3000">
                <a:latin typeface="Century" panose="02040604050505020304" pitchFamily="18" charset="0"/>
              </a:defRPr>
            </a:lvl1pPr>
            <a:lvl2pPr hangingPunct="1">
              <a:buClr>
                <a:srgbClr val="C00000"/>
              </a:buClr>
              <a:defRPr sz="2600">
                <a:latin typeface="Century" panose="02040604050505020304" pitchFamily="18" charset="0"/>
              </a:defRPr>
            </a:lvl2pPr>
            <a:lvl3pPr hangingPunct="1">
              <a:buClr>
                <a:schemeClr val="tx2"/>
              </a:buClr>
              <a:defRPr sz="2200">
                <a:latin typeface="Century" panose="02040604050505020304" pitchFamily="18" charset="0"/>
              </a:defRPr>
            </a:lvl3pPr>
            <a:lvl4pPr hangingPunct="1">
              <a:buClr>
                <a:schemeClr val="accent2">
                  <a:lumMod val="50000"/>
                </a:schemeClr>
              </a:buClr>
              <a:defRPr sz="1800">
                <a:latin typeface="Century" panose="02040604050505020304" pitchFamily="18" charset="0"/>
              </a:defRPr>
            </a:lvl4pPr>
            <a:lvl5pPr hangingPunct="1">
              <a:buClr>
                <a:schemeClr val="accent5">
                  <a:lumMod val="25000"/>
                </a:schemeClr>
              </a:buClr>
              <a:defRPr sz="1800">
                <a:latin typeface="Century" panose="02040604050505020304" pitchFamily="18" charset="0"/>
              </a:defRPr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D84B8634-86D3-A0AE-194D-6A15AFAFFA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2">
            <a:extLst>
              <a:ext uri="{FF2B5EF4-FFF2-40B4-BE49-F238E27FC236}">
                <a16:creationId xmlns="" xmlns:a16="http://schemas.microsoft.com/office/drawing/2014/main" id="{0723DE67-FDB7-4E97-1714-22C53D101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="" xmlns:a16="http://schemas.microsoft.com/office/drawing/2014/main" id="{724CAC9F-9A1C-2025-A160-151BDB7FFF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3CC90-4002-504C-BD88-C9A1D374048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86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884" indent="0">
              <a:buNone/>
              <a:defRPr sz="1350"/>
            </a:lvl2pPr>
            <a:lvl3pPr marL="685766" indent="0">
              <a:buNone/>
              <a:defRPr sz="1200"/>
            </a:lvl3pPr>
            <a:lvl4pPr marL="1028649" indent="0">
              <a:buNone/>
              <a:defRPr sz="1050"/>
            </a:lvl4pPr>
            <a:lvl5pPr marL="1371532" indent="0">
              <a:buNone/>
              <a:defRPr sz="1050"/>
            </a:lvl5pPr>
            <a:lvl6pPr marL="1714415" indent="0">
              <a:buNone/>
              <a:defRPr sz="1050"/>
            </a:lvl6pPr>
            <a:lvl7pPr marL="2057297" indent="0">
              <a:buNone/>
              <a:defRPr sz="1050"/>
            </a:lvl7pPr>
            <a:lvl8pPr marL="2400180" indent="0">
              <a:buNone/>
              <a:defRPr sz="1050"/>
            </a:lvl8pPr>
            <a:lvl9pPr marL="2743064" indent="0">
              <a:buNone/>
              <a:defRPr sz="10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FFBDFF65-8CBE-FC8E-C2AB-BF39F778E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557BB269-8BCF-19AE-2E4C-4F50A72F7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EC4B4EC5-8D14-B9F8-3A0E-6B6E3FB2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3693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577088FB-A6B7-73F5-7F94-4748D69CAC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="" xmlns:a16="http://schemas.microsoft.com/office/drawing/2014/main" id="{8B037231-D77C-7620-5048-020218A567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="" xmlns:a16="http://schemas.microsoft.com/office/drawing/2014/main" id="{1616081F-299F-D60B-0ECC-280BE114E5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68A19-278A-0A41-BBE8-65E5D3125EB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84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11">
            <a:extLst>
              <a:ext uri="{FF2B5EF4-FFF2-40B4-BE49-F238E27FC236}">
                <a16:creationId xmlns="" xmlns:a16="http://schemas.microsoft.com/office/drawing/2014/main" id="{68794170-3BE8-63A8-84A0-433E04CC41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="" xmlns:a16="http://schemas.microsoft.com/office/drawing/2014/main" id="{4EE836C1-36AB-35B2-63E3-C5C32DFB7D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="" xmlns:a16="http://schemas.microsoft.com/office/drawing/2014/main" id="{A14EBA2A-C5A1-FF69-4383-F487A8408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5D52E0-A696-0244-8333-2084DA18EE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66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11">
            <a:extLst>
              <a:ext uri="{FF2B5EF4-FFF2-40B4-BE49-F238E27FC236}">
                <a16:creationId xmlns="" xmlns:a16="http://schemas.microsoft.com/office/drawing/2014/main" id="{90622892-0589-9624-9441-6D3D8D420A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="" xmlns:a16="http://schemas.microsoft.com/office/drawing/2014/main" id="{DE3302D8-0022-5549-6AF3-C9DF37FD0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="" xmlns:a16="http://schemas.microsoft.com/office/drawing/2014/main" id="{5BAF381E-A9DD-B4FB-A99D-D6A744303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E15609-3D60-D842-9ED4-D898F320B1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37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="" xmlns:a16="http://schemas.microsoft.com/office/drawing/2014/main" id="{31F610FA-62F8-3A69-9BB8-68EAD4093A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="" xmlns:a16="http://schemas.microsoft.com/office/drawing/2014/main" id="{030F8BB0-0FEC-EDAC-A497-49A707FDB0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="" xmlns:a16="http://schemas.microsoft.com/office/drawing/2014/main" id="{1004B668-435E-6B54-9B71-30E6E86C67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38AA8-90D7-9745-B439-F7E019CC101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61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077BF47D-FB2C-CA75-3290-9D390F1A1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="" xmlns:a16="http://schemas.microsoft.com/office/drawing/2014/main" id="{FCEDDD16-8334-8815-AE79-D96BE2801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="" xmlns:a16="http://schemas.microsoft.com/office/drawing/2014/main" id="{EF672E88-31B4-2E74-6924-50EA7B00D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0B590F-D627-7E4E-9EE8-F0575448761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61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884" indent="0">
              <a:buNone/>
              <a:defRPr sz="900"/>
            </a:lvl2pPr>
            <a:lvl3pPr marL="685766" indent="0">
              <a:buNone/>
              <a:defRPr sz="750"/>
            </a:lvl3pPr>
            <a:lvl4pPr marL="1028649" indent="0">
              <a:buNone/>
              <a:defRPr sz="675"/>
            </a:lvl4pPr>
            <a:lvl5pPr marL="1371532" indent="0">
              <a:buNone/>
              <a:defRPr sz="675"/>
            </a:lvl5pPr>
            <a:lvl6pPr marL="1714415" indent="0">
              <a:buNone/>
              <a:defRPr sz="675"/>
            </a:lvl6pPr>
            <a:lvl7pPr marL="2057297" indent="0">
              <a:buNone/>
              <a:defRPr sz="675"/>
            </a:lvl7pPr>
            <a:lvl8pPr marL="2400180" indent="0">
              <a:buNone/>
              <a:defRPr sz="675"/>
            </a:lvl8pPr>
            <a:lvl9pPr marL="2743064" indent="0">
              <a:buNone/>
              <a:defRPr sz="675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7DF7E1FA-7229-6F80-9195-95494C6B6D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="" xmlns:a16="http://schemas.microsoft.com/office/drawing/2014/main" id="{BA7BEB0C-60AB-4B90-0858-DC9F851CFC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="" xmlns:a16="http://schemas.microsoft.com/office/drawing/2014/main" id="{C8113A4C-B97F-6D35-E97A-9BCA743B10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5CE171-2466-3E49-953C-8D9416E27C4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72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8969790B-5FDE-ACFE-CBF8-D6D25FB97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="" xmlns:a16="http://schemas.microsoft.com/office/drawing/2014/main" id="{042DD340-A062-ECA2-BACD-72DF641D7A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="" xmlns:a16="http://schemas.microsoft.com/office/drawing/2014/main" id="{5A990D87-E397-DDBA-9741-B7BDB82788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6A2B9D-4C43-344E-A3AD-CDEFA12D46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37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04041" y="225431"/>
            <a:ext cx="1989137" cy="5903913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5038" y="225431"/>
            <a:ext cx="5816600" cy="5903913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BB6D72A0-9ACC-FB01-B500-09347F0725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="" xmlns:a16="http://schemas.microsoft.com/office/drawing/2014/main" id="{1C2E9BFB-3F4C-57E7-BA00-4AD71CFAA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="" xmlns:a16="http://schemas.microsoft.com/office/drawing/2014/main" id="{04462F64-AE9C-AD7E-F866-AAEDC027A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D01F4-2BF8-A745-90E2-0A334AE3AAF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72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350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897438" y="1233488"/>
            <a:ext cx="3810000" cy="489585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5" name="Rectangle 11">
            <a:extLst>
              <a:ext uri="{FF2B5EF4-FFF2-40B4-BE49-F238E27FC236}">
                <a16:creationId xmlns="" xmlns:a16="http://schemas.microsoft.com/office/drawing/2014/main" id="{EF4DAB6F-0109-F932-D41D-114D2B361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="" xmlns:a16="http://schemas.microsoft.com/office/drawing/2014/main" id="{3B9B9A9B-4F44-E332-8013-87B918E445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="" xmlns:a16="http://schemas.microsoft.com/office/drawing/2014/main" id="{D1D42F48-85F2-C1B3-34A9-42D4A700C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10DF3-193F-E44C-B1F0-408591F45CF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21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935038" y="1233488"/>
            <a:ext cx="7772400" cy="489585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F708D4BC-3A8D-E878-0802-13BCC7E23D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="" xmlns:a16="http://schemas.microsoft.com/office/drawing/2014/main" id="{925FD2C4-690E-646E-8669-143AD1BD9F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="" xmlns:a16="http://schemas.microsoft.com/office/drawing/2014/main" id="{54E36240-FA62-8027-3821-D40DEB78E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BB1C6D-14C1-844E-9115-70642E9631D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92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tif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="" xmlns:a16="http://schemas.microsoft.com/office/drawing/2014/main" id="{A9824247-C8A8-C57F-CAEC-3A223BA6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1" y="26988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7" name="Rectangle 8">
            <a:extLst>
              <a:ext uri="{FF2B5EF4-FFF2-40B4-BE49-F238E27FC236}">
                <a16:creationId xmlns="" xmlns:a16="http://schemas.microsoft.com/office/drawing/2014/main" id="{4A0B2333-B6EA-176D-0028-5AB7711DF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6" y="10604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1028" name="Rectangle 9">
            <a:extLst>
              <a:ext uri="{FF2B5EF4-FFF2-40B4-BE49-F238E27FC236}">
                <a16:creationId xmlns="" xmlns:a16="http://schemas.microsoft.com/office/drawing/2014/main" id="{0D3A9279-CA87-4E7F-DAC6-015EE242A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042988" y="225431"/>
            <a:ext cx="78501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9" name="Rectangle 10">
            <a:extLst>
              <a:ext uri="{FF2B5EF4-FFF2-40B4-BE49-F238E27FC236}">
                <a16:creationId xmlns="" xmlns:a16="http://schemas.microsoft.com/office/drawing/2014/main" id="{86AE627A-1B93-6388-397F-5C8186FBAFE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935038" y="1233488"/>
            <a:ext cx="77724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4523" name="Rectangle 11">
            <a:extLst>
              <a:ext uri="{FF2B5EF4-FFF2-40B4-BE49-F238E27FC236}">
                <a16:creationId xmlns="" xmlns:a16="http://schemas.microsoft.com/office/drawing/2014/main" id="{DE3D8E3B-D458-C570-9919-DE02EA9FC7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sz="1050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4525" name="Rectangle 13">
            <a:extLst>
              <a:ext uri="{FF2B5EF4-FFF2-40B4-BE49-F238E27FC236}">
                <a16:creationId xmlns="" xmlns:a16="http://schemas.microsoft.com/office/drawing/2014/main" id="{C2D98F74-F2B6-4A7D-03A8-AB9BF3598B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50"/>
            </a:lvl1pPr>
          </a:lstStyle>
          <a:p>
            <a:fld id="{6F73D78D-38BD-D44D-8D86-2D2DB0BEC18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3CE6F6BF-4B21-EBA8-0316-496A78B2CDF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 rot="3532301">
            <a:off x="53066" y="473997"/>
            <a:ext cx="678101" cy="376134"/>
          </a:xfrm>
          <a:prstGeom prst="rect">
            <a:avLst/>
          </a:prstGeom>
        </p:spPr>
      </p:pic>
      <p:pic>
        <p:nvPicPr>
          <p:cNvPr id="2" name="Picture 6">
            <a:extLst>
              <a:ext uri="{FF2B5EF4-FFF2-40B4-BE49-F238E27FC236}">
                <a16:creationId xmlns="" xmlns:a16="http://schemas.microsoft.com/office/drawing/2014/main" id="{30C888A5-CC91-E55B-7B85-6EA66F09083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"/>
          <a:stretch/>
        </p:blipFill>
        <p:spPr bwMode="auto">
          <a:xfrm>
            <a:off x="320498" y="941908"/>
            <a:ext cx="1042988" cy="18829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</p:pic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1403A0A2-1BB5-3BCB-F943-2DCD1F4C13A5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532443" y="5624518"/>
            <a:ext cx="512549" cy="110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15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342884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685766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028649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371532" algn="l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257162" indent="-25716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250">
          <a:solidFill>
            <a:schemeClr val="tx1"/>
          </a:solidFill>
          <a:latin typeface="+mn-lt"/>
          <a:ea typeface="+mn-ea"/>
          <a:cs typeface="+mn-cs"/>
        </a:defRPr>
      </a:lvl1pPr>
      <a:lvl2pPr marL="557185" indent="-214303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rgbClr val="C00000"/>
        </a:buClr>
        <a:buSzPct val="55000"/>
        <a:buFont typeface="Wingdings" pitchFamily="2" charset="2"/>
        <a:buChar char="n"/>
        <a:defRPr sz="1950">
          <a:solidFill>
            <a:schemeClr val="tx1"/>
          </a:solidFill>
          <a:latin typeface="+mn-lt"/>
          <a:ea typeface="+mn-ea"/>
        </a:defRPr>
      </a:lvl2pPr>
      <a:lvl3pPr marL="857207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n"/>
        <a:defRPr sz="1650">
          <a:solidFill>
            <a:schemeClr val="tx1"/>
          </a:solidFill>
          <a:latin typeface="+mn-lt"/>
          <a:ea typeface="+mn-ea"/>
        </a:defRPr>
      </a:lvl3pPr>
      <a:lvl4pPr marL="1200090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6">
            <a:lumMod val="50000"/>
          </a:schemeClr>
        </a:buClr>
        <a:buSzPct val="55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4pPr>
      <a:lvl5pPr marL="1542974" indent="-171442" algn="l" rtl="0" eaLnBrk="1" fontAlgn="base" hangingPunct="1">
        <a:lnSpc>
          <a:spcPct val="114000"/>
        </a:lnSpc>
        <a:spcBef>
          <a:spcPct val="20000"/>
        </a:spcBef>
        <a:spcAft>
          <a:spcPct val="0"/>
        </a:spcAft>
        <a:buClr>
          <a:schemeClr val="accent5">
            <a:lumMod val="25000"/>
          </a:schemeClr>
        </a:buClr>
        <a:buSzPct val="50000"/>
        <a:buFont typeface="Wingdings" pitchFamily="2" charset="2"/>
        <a:buChar char="n"/>
        <a:defRPr sz="1350">
          <a:solidFill>
            <a:schemeClr val="tx1"/>
          </a:solidFill>
          <a:latin typeface="+mn-lt"/>
          <a:ea typeface="+mn-ea"/>
        </a:defRPr>
      </a:lvl5pPr>
      <a:lvl6pPr marL="1885856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739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622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505" indent="-171442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章 文件系统</a:t>
            </a:r>
            <a:r>
              <a:rPr lang="zh-CN" altLang="en-US" dirty="0"/>
              <a:t>内部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. </a:t>
            </a:r>
            <a:r>
              <a:rPr lang="zh-CN" altLang="en-US" dirty="0" smtClean="0">
                <a:solidFill>
                  <a:srgbClr val="FF0000"/>
                </a:solidFill>
              </a:rPr>
              <a:t>文件系统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2</a:t>
            </a:r>
            <a:r>
              <a:rPr lang="en-US" altLang="zh-CN" dirty="0" smtClean="0"/>
              <a:t>.</a:t>
            </a:r>
            <a:r>
              <a:rPr lang="zh-CN" altLang="en-US" dirty="0" smtClean="0"/>
              <a:t> </a:t>
            </a:r>
            <a:r>
              <a:rPr lang="zh-CN" altLang="en-US" dirty="0" smtClean="0"/>
              <a:t>文件系统挂载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lang="zh-CN" altLang="en-US" dirty="0" smtClean="0"/>
              <a:t>虚拟文件系统</a:t>
            </a:r>
            <a:endParaRPr lang="en-US" altLang="zh-CN" dirty="0" smtClean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4432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分区与卷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一个磁盘可以分为多</a:t>
            </a:r>
            <a:r>
              <a:rPr lang="zh-CN" altLang="en-US" dirty="0" smtClean="0"/>
              <a:t>个分区</a:t>
            </a:r>
            <a:endParaRPr lang="zh-CN" altLang="en-US" dirty="0"/>
          </a:p>
          <a:p>
            <a:r>
              <a:rPr lang="zh-CN" altLang="en-US" dirty="0"/>
              <a:t>一个卷对应一个文件系统</a:t>
            </a:r>
          </a:p>
          <a:p>
            <a:pPr lvl="1"/>
            <a:r>
              <a:rPr lang="zh-CN" altLang="en-US" dirty="0"/>
              <a:t>平时说的</a:t>
            </a:r>
            <a:r>
              <a:rPr lang="en-US" altLang="zh-CN" dirty="0"/>
              <a:t>C</a:t>
            </a:r>
            <a:r>
              <a:rPr lang="zh-CN" altLang="en-US" dirty="0"/>
              <a:t>盘、</a:t>
            </a:r>
            <a:r>
              <a:rPr lang="en-US" altLang="zh-CN" dirty="0"/>
              <a:t>D</a:t>
            </a:r>
            <a:r>
              <a:rPr lang="zh-CN" altLang="en-US" dirty="0"/>
              <a:t>盘，严格的说是卷</a:t>
            </a:r>
          </a:p>
          <a:p>
            <a:r>
              <a:rPr lang="zh-CN" altLang="en-US" dirty="0"/>
              <a:t>对于绝大多数个人电脑，分区与卷一一对应</a:t>
            </a:r>
          </a:p>
          <a:p>
            <a:r>
              <a:rPr lang="zh-CN" altLang="en-US" dirty="0"/>
              <a:t>一个卷也可以包含多个</a:t>
            </a:r>
            <a:r>
              <a:rPr lang="zh-CN" altLang="en-US" dirty="0" smtClean="0"/>
              <a:t>分区，如</a:t>
            </a:r>
            <a:r>
              <a:rPr lang="en-US" altLang="zh-CN" dirty="0" smtClean="0"/>
              <a:t>RAID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292" y="4160522"/>
            <a:ext cx="5203984" cy="252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00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章 文件系统内部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文件系统</a:t>
            </a:r>
            <a:endParaRPr lang="zh-CN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 文件系统挂载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3.</a:t>
            </a:r>
            <a:r>
              <a:rPr lang="zh-CN" altLang="en-US" dirty="0"/>
              <a:t> 虚拟文件系统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155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文件系统挂载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文件系统在访问之前必须已安装好</a:t>
            </a:r>
          </a:p>
          <a:p>
            <a:pPr lvl="1"/>
            <a:r>
              <a:rPr lang="en-US" altLang="zh-CN" dirty="0" smtClean="0"/>
              <a:t>Linux</a:t>
            </a:r>
            <a:r>
              <a:rPr lang="zh-CN" altLang="en-US" dirty="0" smtClean="0"/>
              <a:t>启动时，</a:t>
            </a:r>
            <a:r>
              <a:rPr lang="zh-CN" altLang="en-US" dirty="0"/>
              <a:t>将自己所在的卷挂载到根目录</a:t>
            </a:r>
          </a:p>
          <a:p>
            <a:r>
              <a:rPr lang="zh-CN" altLang="en-US" dirty="0"/>
              <a:t>尚未安装的文件系统必须安装到安装点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Linux</a:t>
            </a:r>
            <a:r>
              <a:rPr lang="zh-CN" altLang="en-US" dirty="0" smtClean="0"/>
              <a:t>中，其它卷须挂载到根目录下方某文件夹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41" y="3530436"/>
            <a:ext cx="4603909" cy="26703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032" y="3591878"/>
            <a:ext cx="2020252" cy="234696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5525867" y="4721587"/>
            <a:ext cx="432048" cy="288032"/>
          </a:xfrm>
          <a:prstGeom prst="rightArrow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307182" y="6202918"/>
            <a:ext cx="325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挂载前，</a:t>
            </a:r>
            <a:r>
              <a:rPr lang="en-US" altLang="zh-CN" dirty="0" smtClean="0"/>
              <a:t>(b)</a:t>
            </a:r>
            <a:r>
              <a:rPr lang="zh-CN" altLang="en-US" dirty="0" smtClean="0"/>
              <a:t>中的文件无法访问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811742" y="620077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挂载后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835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15</a:t>
            </a:r>
            <a:r>
              <a:rPr lang="zh-CN" altLang="en-US" dirty="0"/>
              <a:t>章 文件系统内部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本章内容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en-US" dirty="0"/>
              <a:t>文件系统</a:t>
            </a:r>
            <a:endParaRPr lang="zh-CN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文件系统挂载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3.</a:t>
            </a:r>
            <a:r>
              <a:rPr lang="zh-CN" altLang="en-US" dirty="0">
                <a:solidFill>
                  <a:srgbClr val="FF0000"/>
                </a:solidFill>
              </a:rPr>
              <a:t> 虚拟文件系统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511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A478220-5F10-3448-53B0-A082ACF3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225431"/>
            <a:ext cx="7850187" cy="746125"/>
          </a:xfrm>
        </p:spPr>
        <p:txBody>
          <a:bodyPr/>
          <a:lstStyle/>
          <a:p>
            <a:r>
              <a:rPr lang="zh-CN" altLang="en-US" dirty="0" smtClean="0"/>
              <a:t>虚拟文件系统（</a:t>
            </a:r>
            <a:r>
              <a:rPr lang="en-US" altLang="zh-CN" dirty="0"/>
              <a:t>VFS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AD7B2C0A-B2D8-3755-E6C0-89A613AD7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038" y="1233488"/>
            <a:ext cx="7772400" cy="4895850"/>
          </a:xfrm>
        </p:spPr>
        <p:txBody>
          <a:bodyPr>
            <a:normAutofit/>
          </a:bodyPr>
          <a:lstStyle/>
          <a:p>
            <a:r>
              <a:rPr lang="zh-CN" altLang="en-US" dirty="0"/>
              <a:t>虚拟文件系统（</a:t>
            </a:r>
            <a:r>
              <a:rPr lang="en-US" altLang="zh-CN" dirty="0"/>
              <a:t>VFS</a:t>
            </a:r>
            <a:r>
              <a:rPr lang="zh-CN" altLang="en-US" dirty="0"/>
              <a:t>）允许不同类型的文件系统使用相同的系统调用接口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F5A8B553-02AE-2219-C59A-8B5B36D12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/>
          <a:p>
            <a:fld id="{4093CC90-4002-504C-BD88-C9A1D374048E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149" y="2439353"/>
            <a:ext cx="5486400" cy="41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01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虚拟文件系统（</a:t>
            </a:r>
            <a:r>
              <a:rPr lang="en-US" altLang="zh-CN" dirty="0"/>
              <a:t>VFS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层次结构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顶层</a:t>
            </a:r>
            <a:r>
              <a:rPr lang="zh-CN" altLang="en-US" dirty="0"/>
              <a:t>：文件系统接口</a:t>
            </a:r>
          </a:p>
          <a:p>
            <a:pPr lvl="2"/>
            <a:r>
              <a:rPr lang="zh-CN" altLang="en-US" dirty="0"/>
              <a:t>接口面向</a:t>
            </a:r>
            <a:r>
              <a:rPr lang="en-US" altLang="zh-CN" dirty="0"/>
              <a:t>VFS</a:t>
            </a:r>
            <a:r>
              <a:rPr lang="zh-CN" altLang="en-US" dirty="0"/>
              <a:t>，而非对任何特定类型的文件系统</a:t>
            </a:r>
          </a:p>
          <a:p>
            <a:pPr lvl="1"/>
            <a:r>
              <a:rPr lang="zh-CN" altLang="en-US" dirty="0"/>
              <a:t>中间层：</a:t>
            </a:r>
            <a:r>
              <a:rPr lang="en-US" altLang="zh-CN" dirty="0"/>
              <a:t>VFS</a:t>
            </a:r>
          </a:p>
          <a:p>
            <a:pPr lvl="2"/>
            <a:r>
              <a:rPr lang="zh-CN" altLang="en-US" dirty="0" smtClean="0"/>
              <a:t>定义</a:t>
            </a:r>
            <a:r>
              <a:rPr lang="en-US" altLang="zh-CN" dirty="0" smtClean="0"/>
              <a:t>VFS</a:t>
            </a:r>
            <a:r>
              <a:rPr lang="zh-CN" altLang="en-US" dirty="0"/>
              <a:t>接口，将文件系统的通用操作与实现分开</a:t>
            </a:r>
          </a:p>
          <a:p>
            <a:pPr lvl="2"/>
            <a:r>
              <a:rPr lang="en-US" altLang="zh-CN" dirty="0"/>
              <a:t>VFS</a:t>
            </a:r>
            <a:r>
              <a:rPr lang="zh-CN" altLang="en-US" dirty="0"/>
              <a:t>基于称为</a:t>
            </a:r>
            <a:r>
              <a:rPr lang="en-US" altLang="zh-CN" dirty="0" err="1"/>
              <a:t>vnode</a:t>
            </a:r>
            <a:r>
              <a:rPr lang="zh-CN" altLang="en-US" dirty="0"/>
              <a:t>的文件表示结构，该结构包含一个数值标识符</a:t>
            </a:r>
            <a:r>
              <a:rPr lang="zh-CN" altLang="en-US" dirty="0" smtClean="0"/>
              <a:t>以在全局（包括网络）范围内表示文件</a:t>
            </a:r>
            <a:endParaRPr lang="zh-CN" altLang="en-US" dirty="0"/>
          </a:p>
          <a:p>
            <a:pPr lvl="1"/>
            <a:r>
              <a:rPr lang="zh-CN" altLang="en-US" dirty="0"/>
              <a:t>底层：不同文件系统实现</a:t>
            </a:r>
          </a:p>
          <a:p>
            <a:pPr lvl="2"/>
            <a:r>
              <a:rPr lang="zh-CN" altLang="en-US" dirty="0"/>
              <a:t>如</a:t>
            </a:r>
            <a:r>
              <a:rPr lang="en-US" altLang="zh-CN" dirty="0"/>
              <a:t>ext4</a:t>
            </a:r>
            <a:r>
              <a:rPr lang="zh-CN" altLang="en-US" dirty="0"/>
              <a:t>、</a:t>
            </a:r>
            <a:r>
              <a:rPr lang="en-US" altLang="zh-CN" dirty="0" smtClean="0"/>
              <a:t>NFS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73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虚拟文件系统（</a:t>
            </a:r>
            <a:r>
              <a:rPr lang="en-US" altLang="zh-CN" dirty="0"/>
              <a:t>VFS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层次结构</a:t>
            </a:r>
            <a:endParaRPr lang="en-US" altLang="zh-CN" dirty="0"/>
          </a:p>
          <a:p>
            <a:pPr lvl="1"/>
            <a:r>
              <a:rPr lang="zh-CN" altLang="en-US" dirty="0" smtClean="0"/>
              <a:t>例</a:t>
            </a:r>
            <a:r>
              <a:rPr lang="zh-CN" altLang="en-US" dirty="0"/>
              <a:t>：</a:t>
            </a:r>
            <a:r>
              <a:rPr lang="en-US" altLang="zh-CN" dirty="0"/>
              <a:t>Linux</a:t>
            </a:r>
            <a:r>
              <a:rPr lang="zh-CN" altLang="en-US" dirty="0"/>
              <a:t>的</a:t>
            </a:r>
            <a:r>
              <a:rPr lang="en-US" altLang="zh-CN" dirty="0"/>
              <a:t>VFS</a:t>
            </a:r>
            <a:r>
              <a:rPr lang="zh-CN" altLang="en-US" dirty="0"/>
              <a:t>中定义</a:t>
            </a:r>
            <a:r>
              <a:rPr lang="en-US" altLang="zh-CN" dirty="0"/>
              <a:t>4</a:t>
            </a:r>
            <a:r>
              <a:rPr lang="zh-CN" altLang="en-US" dirty="0"/>
              <a:t>类主要对象</a:t>
            </a:r>
          </a:p>
          <a:p>
            <a:pPr lvl="2"/>
            <a:r>
              <a:rPr lang="en-US" altLang="zh-CN" dirty="0" err="1"/>
              <a:t>inode</a:t>
            </a:r>
            <a:r>
              <a:rPr lang="zh-CN" altLang="en-US" dirty="0"/>
              <a:t>对象，代表单个文件 </a:t>
            </a:r>
          </a:p>
          <a:p>
            <a:pPr lvl="2"/>
            <a:r>
              <a:rPr lang="en-US" altLang="zh-CN" dirty="0"/>
              <a:t>file</a:t>
            </a:r>
            <a:r>
              <a:rPr lang="zh-CN" altLang="en-US" dirty="0"/>
              <a:t>对象，表示一个打开的文件 </a:t>
            </a:r>
          </a:p>
          <a:p>
            <a:pPr lvl="2"/>
            <a:r>
              <a:rPr lang="en-US" altLang="zh-CN" dirty="0"/>
              <a:t>superblock</a:t>
            </a:r>
            <a:r>
              <a:rPr lang="zh-CN" altLang="en-US" dirty="0"/>
              <a:t>对象，代表整个文件系统 </a:t>
            </a:r>
          </a:p>
          <a:p>
            <a:pPr lvl="2"/>
            <a:r>
              <a:rPr lang="en-US" altLang="zh-CN" dirty="0" err="1"/>
              <a:t>dentry</a:t>
            </a:r>
            <a:r>
              <a:rPr lang="zh-CN" altLang="en-US" dirty="0"/>
              <a:t>对象，代表单个目录条目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3CC90-4002-504C-BD88-C9A1D374048E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560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99CCFF"/>
            </a:gs>
            <a:gs pos="100000">
              <a:schemeClr val="bg2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Char char="n"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操作系统课件模板" id="{0D2B8607-4739-144E-A205-A5D57C41C081}" vid="{8AD7C6F1-63D5-6344-AC6B-4C503594B1A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操作系统课件模板</Template>
  <TotalTime>22497</TotalTime>
  <Words>371</Words>
  <Application>Microsoft Office PowerPoint</Application>
  <PresentationFormat>全屏显示(4:3)</PresentationFormat>
  <Paragraphs>62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宋体</vt:lpstr>
      <vt:lpstr>Century</vt:lpstr>
      <vt:lpstr>Tahoma</vt:lpstr>
      <vt:lpstr>Wingdings</vt:lpstr>
      <vt:lpstr>1_Blends</vt:lpstr>
      <vt:lpstr>第15章 文件系统内部</vt:lpstr>
      <vt:lpstr>分区与卷</vt:lpstr>
      <vt:lpstr>第15章 文件系统内部</vt:lpstr>
      <vt:lpstr>文件系统挂载</vt:lpstr>
      <vt:lpstr>第15章 文件系统内部</vt:lpstr>
      <vt:lpstr>虚拟文件系统（VFS）</vt:lpstr>
      <vt:lpstr>虚拟文件系统（VFS）</vt:lpstr>
      <vt:lpstr>虚拟文件系统（VFS）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第12章 I/O系统</dc:title>
  <dc:creator>Kong</dc:creator>
  <cp:lastModifiedBy>Copper</cp:lastModifiedBy>
  <cp:revision>886</cp:revision>
  <dcterms:created xsi:type="dcterms:W3CDTF">2024-01-15T08:08:31Z</dcterms:created>
  <dcterms:modified xsi:type="dcterms:W3CDTF">2026-02-08T17:39:29Z</dcterms:modified>
</cp:coreProperties>
</file>