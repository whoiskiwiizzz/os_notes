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tif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83"/>
  </p:notesMasterIdLst>
  <p:sldIdLst>
    <p:sldId id="257" r:id="rId2"/>
    <p:sldId id="385" r:id="rId3"/>
    <p:sldId id="261" r:id="rId4"/>
    <p:sldId id="259" r:id="rId5"/>
    <p:sldId id="412" r:id="rId6"/>
    <p:sldId id="386" r:id="rId7"/>
    <p:sldId id="262" r:id="rId8"/>
    <p:sldId id="263" r:id="rId9"/>
    <p:sldId id="264" r:id="rId10"/>
    <p:sldId id="265" r:id="rId11"/>
    <p:sldId id="390" r:id="rId12"/>
    <p:sldId id="391" r:id="rId13"/>
    <p:sldId id="413" r:id="rId14"/>
    <p:sldId id="268" r:id="rId15"/>
    <p:sldId id="388" r:id="rId16"/>
    <p:sldId id="414" r:id="rId17"/>
    <p:sldId id="416" r:id="rId18"/>
    <p:sldId id="432" r:id="rId19"/>
    <p:sldId id="433" r:id="rId20"/>
    <p:sldId id="431" r:id="rId21"/>
    <p:sldId id="389" r:id="rId22"/>
    <p:sldId id="417" r:id="rId23"/>
    <p:sldId id="393" r:id="rId24"/>
    <p:sldId id="418" r:id="rId25"/>
    <p:sldId id="272" r:id="rId26"/>
    <p:sldId id="273" r:id="rId27"/>
    <p:sldId id="394" r:id="rId28"/>
    <p:sldId id="274" r:id="rId29"/>
    <p:sldId id="419" r:id="rId30"/>
    <p:sldId id="276" r:id="rId31"/>
    <p:sldId id="278" r:id="rId32"/>
    <p:sldId id="277" r:id="rId33"/>
    <p:sldId id="396" r:id="rId34"/>
    <p:sldId id="282" r:id="rId35"/>
    <p:sldId id="283" r:id="rId36"/>
    <p:sldId id="284" r:id="rId37"/>
    <p:sldId id="397" r:id="rId38"/>
    <p:sldId id="398" r:id="rId39"/>
    <p:sldId id="285" r:id="rId40"/>
    <p:sldId id="288" r:id="rId41"/>
    <p:sldId id="429" r:id="rId42"/>
    <p:sldId id="430" r:id="rId43"/>
    <p:sldId id="421" r:id="rId44"/>
    <p:sldId id="422" r:id="rId45"/>
    <p:sldId id="423" r:id="rId46"/>
    <p:sldId id="424" r:id="rId47"/>
    <p:sldId id="425" r:id="rId48"/>
    <p:sldId id="426" r:id="rId49"/>
    <p:sldId id="427" r:id="rId50"/>
    <p:sldId id="428" r:id="rId51"/>
    <p:sldId id="434" r:id="rId52"/>
    <p:sldId id="435" r:id="rId53"/>
    <p:sldId id="436" r:id="rId54"/>
    <p:sldId id="437" r:id="rId55"/>
    <p:sldId id="438" r:id="rId56"/>
    <p:sldId id="439" r:id="rId57"/>
    <p:sldId id="440" r:id="rId58"/>
    <p:sldId id="443" r:id="rId59"/>
    <p:sldId id="444" r:id="rId60"/>
    <p:sldId id="441" r:id="rId61"/>
    <p:sldId id="442" r:id="rId62"/>
    <p:sldId id="445" r:id="rId63"/>
    <p:sldId id="446" r:id="rId64"/>
    <p:sldId id="447" r:id="rId65"/>
    <p:sldId id="448" r:id="rId66"/>
    <p:sldId id="449" r:id="rId67"/>
    <p:sldId id="450" r:id="rId68"/>
    <p:sldId id="451" r:id="rId69"/>
    <p:sldId id="452" r:id="rId70"/>
    <p:sldId id="453" r:id="rId71"/>
    <p:sldId id="454" r:id="rId72"/>
    <p:sldId id="455" r:id="rId73"/>
    <p:sldId id="456" r:id="rId74"/>
    <p:sldId id="457" r:id="rId75"/>
    <p:sldId id="458" r:id="rId76"/>
    <p:sldId id="459" r:id="rId77"/>
    <p:sldId id="460" r:id="rId78"/>
    <p:sldId id="461" r:id="rId79"/>
    <p:sldId id="462" r:id="rId80"/>
    <p:sldId id="463" r:id="rId81"/>
    <p:sldId id="464" r:id="rId82"/>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CFF"/>
    <a:srgbClr val="7B9495"/>
    <a:srgbClr val="55595D"/>
    <a:srgbClr val="3D8F76"/>
    <a:srgbClr val="323399"/>
    <a:srgbClr val="1A3B86"/>
    <a:srgbClr val="849E9F"/>
    <a:srgbClr val="9DBBBC"/>
    <a:srgbClr val="5D9C89"/>
    <a:srgbClr val="929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81" autoAdjust="0"/>
    <p:restoredTop sz="90311" autoAdjust="0"/>
  </p:normalViewPr>
  <p:slideViewPr>
    <p:cSldViewPr snapToGrid="0">
      <p:cViewPr>
        <p:scale>
          <a:sx n="100" d="100"/>
          <a:sy n="100" d="100"/>
        </p:scale>
        <p:origin x="1698"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B2C4591-32D9-4248-9B09-4A3FCC9A2071}" type="datetimeFigureOut">
              <a:rPr kumimoji="1" lang="zh-CN" altLang="en-US" smtClean="0"/>
              <a:t>2026/1/28</a:t>
            </a:fld>
            <a:endParaRPr kumimoji="1"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585ACA3-2961-3740-91A0-2A6370DAD6B5}" type="slidenum">
              <a:rPr kumimoji="1" lang="zh-CN" altLang="en-US" smtClean="0"/>
              <a:t>‹#›</a:t>
            </a:fld>
            <a:endParaRPr kumimoji="1" lang="zh-CN" altLang="en-US"/>
          </a:p>
        </p:txBody>
      </p:sp>
    </p:spTree>
    <p:extLst>
      <p:ext uri="{BB962C8B-B14F-4D97-AF65-F5344CB8AC3E}">
        <p14:creationId xmlns:p14="http://schemas.microsoft.com/office/powerpoint/2010/main" val="39642238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解答问题</a:t>
            </a:r>
            <a:r>
              <a:rPr lang="en-US" altLang="zh-CN" sz="1200" kern="1200" dirty="0" smtClean="0">
                <a:solidFill>
                  <a:schemeClr val="tx1"/>
                </a:solidFill>
                <a:effectLst/>
                <a:latin typeface="+mn-lt"/>
                <a:ea typeface="+mn-ea"/>
                <a:cs typeface="+mn-cs"/>
              </a:rPr>
              <a:t>2.2</a:t>
            </a:r>
            <a:endParaRPr lang="zh-CN" altLang="en-US" dirty="0"/>
          </a:p>
        </p:txBody>
      </p:sp>
      <p:sp>
        <p:nvSpPr>
          <p:cNvPr id="4" name="灯片编号占位符 3"/>
          <p:cNvSpPr>
            <a:spLocks noGrp="1"/>
          </p:cNvSpPr>
          <p:nvPr>
            <p:ph type="sldNum" sz="quarter" idx="10"/>
          </p:nvPr>
        </p:nvSpPr>
        <p:spPr/>
        <p:txBody>
          <a:bodyPr/>
          <a:lstStyle/>
          <a:p>
            <a:fld id="{E585ACA3-2961-3740-91A0-2A6370DAD6B5}" type="slidenum">
              <a:rPr kumimoji="1" lang="zh-CN" altLang="en-US" smtClean="0"/>
              <a:t>7</a:t>
            </a:fld>
            <a:endParaRPr kumimoji="1" lang="zh-CN" altLang="en-US"/>
          </a:p>
        </p:txBody>
      </p:sp>
    </p:spTree>
    <p:extLst>
      <p:ext uri="{BB962C8B-B14F-4D97-AF65-F5344CB8AC3E}">
        <p14:creationId xmlns:p14="http://schemas.microsoft.com/office/powerpoint/2010/main" val="18121517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思考：执行态怎样进入挂起就绪态？外界不可能让</a:t>
            </a:r>
            <a:r>
              <a:rPr lang="en-US" altLang="zh-CN" sz="1200" kern="1200" dirty="0" smtClean="0">
                <a:solidFill>
                  <a:schemeClr val="tx1"/>
                </a:solidFill>
                <a:effectLst/>
                <a:latin typeface="+mn-lt"/>
                <a:ea typeface="+mn-ea"/>
                <a:cs typeface="+mn-cs"/>
              </a:rPr>
              <a:t>CPU</a:t>
            </a:r>
            <a:r>
              <a:rPr lang="zh-CN" altLang="zh-CN" sz="1200" kern="1200" dirty="0" smtClean="0">
                <a:solidFill>
                  <a:schemeClr val="tx1"/>
                </a:solidFill>
                <a:effectLst/>
                <a:latin typeface="+mn-lt"/>
                <a:ea typeface="+mn-ea"/>
                <a:cs typeface="+mn-cs"/>
              </a:rPr>
              <a:t>脱离执行中的进程；进程失去</a:t>
            </a:r>
            <a:r>
              <a:rPr lang="en-US" altLang="zh-CN" sz="1200" kern="1200" dirty="0" smtClean="0">
                <a:solidFill>
                  <a:schemeClr val="tx1"/>
                </a:solidFill>
                <a:effectLst/>
                <a:latin typeface="+mn-lt"/>
                <a:ea typeface="+mn-ea"/>
                <a:cs typeface="+mn-cs"/>
              </a:rPr>
              <a:t>CPU</a:t>
            </a:r>
            <a:r>
              <a:rPr lang="zh-CN" altLang="zh-CN" sz="1200" kern="1200" dirty="0" smtClean="0">
                <a:solidFill>
                  <a:schemeClr val="tx1"/>
                </a:solidFill>
                <a:effectLst/>
                <a:latin typeface="+mn-lt"/>
                <a:ea typeface="+mn-ea"/>
                <a:cs typeface="+mn-cs"/>
              </a:rPr>
              <a:t>，必然发生了中断；可能场景：执行中发生了硬件中断或系统调用，</a:t>
            </a:r>
            <a:r>
              <a:rPr lang="en-US" altLang="zh-CN" sz="1200" kern="1200" dirty="0" smtClean="0">
                <a:solidFill>
                  <a:schemeClr val="tx1"/>
                </a:solidFill>
                <a:effectLst/>
                <a:latin typeface="+mn-lt"/>
                <a:ea typeface="+mn-ea"/>
                <a:cs typeface="+mn-cs"/>
              </a:rPr>
              <a:t>OS</a:t>
            </a:r>
            <a:r>
              <a:rPr lang="zh-CN" altLang="zh-CN" sz="1200" kern="1200" dirty="0" smtClean="0">
                <a:solidFill>
                  <a:schemeClr val="tx1"/>
                </a:solidFill>
                <a:effectLst/>
                <a:latin typeface="+mn-lt"/>
                <a:ea typeface="+mn-ea"/>
                <a:cs typeface="+mn-cs"/>
              </a:rPr>
              <a:t>处理过程中决定挂起进程。</a:t>
            </a:r>
            <a:endParaRPr lang="zh-CN" altLang="en-US" dirty="0"/>
          </a:p>
        </p:txBody>
      </p:sp>
      <p:sp>
        <p:nvSpPr>
          <p:cNvPr id="4" name="灯片编号占位符 3"/>
          <p:cNvSpPr>
            <a:spLocks noGrp="1"/>
          </p:cNvSpPr>
          <p:nvPr>
            <p:ph type="sldNum" sz="quarter" idx="10"/>
          </p:nvPr>
        </p:nvSpPr>
        <p:spPr/>
        <p:txBody>
          <a:bodyPr/>
          <a:lstStyle/>
          <a:p>
            <a:fld id="{E585ACA3-2961-3740-91A0-2A6370DAD6B5}" type="slidenum">
              <a:rPr kumimoji="1" lang="zh-CN" altLang="en-US" smtClean="0"/>
              <a:t>13</a:t>
            </a:fld>
            <a:endParaRPr kumimoji="1" lang="zh-CN" altLang="en-US"/>
          </a:p>
        </p:txBody>
      </p:sp>
    </p:spTree>
    <p:extLst>
      <p:ext uri="{BB962C8B-B14F-4D97-AF65-F5344CB8AC3E}">
        <p14:creationId xmlns:p14="http://schemas.microsoft.com/office/powerpoint/2010/main" val="36831064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smtClean="0">
                <a:solidFill>
                  <a:schemeClr val="tx1"/>
                </a:solidFill>
                <a:effectLst/>
                <a:latin typeface="+mn-lt"/>
                <a:ea typeface="+mn-ea"/>
                <a:cs typeface="+mn-cs"/>
              </a:rPr>
              <a:t>PCB</a:t>
            </a:r>
            <a:r>
              <a:rPr lang="zh-CN" altLang="zh-CN" sz="1200" kern="1200" dirty="0" smtClean="0">
                <a:solidFill>
                  <a:schemeClr val="tx1"/>
                </a:solidFill>
                <a:effectLst/>
                <a:latin typeface="+mn-lt"/>
                <a:ea typeface="+mn-ea"/>
                <a:cs typeface="+mn-cs"/>
              </a:rPr>
              <a:t>的空间组织关系</a:t>
            </a:r>
            <a:endParaRPr lang="zh-CN" altLang="en-US" dirty="0"/>
          </a:p>
        </p:txBody>
      </p:sp>
      <p:sp>
        <p:nvSpPr>
          <p:cNvPr id="4" name="灯片编号占位符 3"/>
          <p:cNvSpPr>
            <a:spLocks noGrp="1"/>
          </p:cNvSpPr>
          <p:nvPr>
            <p:ph type="sldNum" sz="quarter" idx="10"/>
          </p:nvPr>
        </p:nvSpPr>
        <p:spPr/>
        <p:txBody>
          <a:bodyPr/>
          <a:lstStyle/>
          <a:p>
            <a:fld id="{E585ACA3-2961-3740-91A0-2A6370DAD6B5}" type="slidenum">
              <a:rPr kumimoji="1" lang="zh-CN" altLang="en-US" smtClean="0"/>
              <a:t>22</a:t>
            </a:fld>
            <a:endParaRPr kumimoji="1" lang="zh-CN" altLang="en-US"/>
          </a:p>
        </p:txBody>
      </p:sp>
    </p:spTree>
    <p:extLst>
      <p:ext uri="{BB962C8B-B14F-4D97-AF65-F5344CB8AC3E}">
        <p14:creationId xmlns:p14="http://schemas.microsoft.com/office/powerpoint/2010/main" val="27591662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smtClean="0">
                <a:solidFill>
                  <a:schemeClr val="tx1"/>
                </a:solidFill>
                <a:effectLst/>
                <a:latin typeface="+mn-lt"/>
                <a:ea typeface="+mn-ea"/>
                <a:cs typeface="+mn-cs"/>
              </a:rPr>
              <a:t>PCB</a:t>
            </a:r>
            <a:r>
              <a:rPr lang="zh-CN" altLang="zh-CN" sz="1200" kern="1200" dirty="0" smtClean="0">
                <a:solidFill>
                  <a:schemeClr val="tx1"/>
                </a:solidFill>
                <a:effectLst/>
                <a:latin typeface="+mn-lt"/>
                <a:ea typeface="+mn-ea"/>
                <a:cs typeface="+mn-cs"/>
              </a:rPr>
              <a:t>的空间组织关系</a:t>
            </a:r>
            <a:endParaRPr lang="zh-CN" altLang="en-US" dirty="0"/>
          </a:p>
        </p:txBody>
      </p:sp>
      <p:sp>
        <p:nvSpPr>
          <p:cNvPr id="4" name="灯片编号占位符 3"/>
          <p:cNvSpPr>
            <a:spLocks noGrp="1"/>
          </p:cNvSpPr>
          <p:nvPr>
            <p:ph type="sldNum" sz="quarter" idx="10"/>
          </p:nvPr>
        </p:nvSpPr>
        <p:spPr/>
        <p:txBody>
          <a:bodyPr/>
          <a:lstStyle/>
          <a:p>
            <a:fld id="{E585ACA3-2961-3740-91A0-2A6370DAD6B5}" type="slidenum">
              <a:rPr kumimoji="1" lang="zh-CN" altLang="en-US" smtClean="0"/>
              <a:t>23</a:t>
            </a:fld>
            <a:endParaRPr kumimoji="1" lang="zh-CN" altLang="en-US"/>
          </a:p>
        </p:txBody>
      </p:sp>
    </p:spTree>
    <p:extLst>
      <p:ext uri="{BB962C8B-B14F-4D97-AF65-F5344CB8AC3E}">
        <p14:creationId xmlns:p14="http://schemas.microsoft.com/office/powerpoint/2010/main" val="4526052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进程的状态转换关系</a:t>
            </a:r>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注意：通常进程不会将中断作为等待目标，而是等待更抽象的事件。中断由</a:t>
            </a:r>
            <a:r>
              <a:rPr lang="en-US" altLang="zh-CN" sz="1200" kern="1200" dirty="0" smtClean="0">
                <a:solidFill>
                  <a:schemeClr val="tx1"/>
                </a:solidFill>
                <a:effectLst/>
                <a:latin typeface="+mn-lt"/>
                <a:ea typeface="+mn-ea"/>
                <a:cs typeface="+mn-cs"/>
              </a:rPr>
              <a:t>OS</a:t>
            </a:r>
            <a:r>
              <a:rPr lang="zh-CN" altLang="zh-CN" sz="1200" kern="1200" dirty="0" smtClean="0">
                <a:solidFill>
                  <a:schemeClr val="tx1"/>
                </a:solidFill>
                <a:effectLst/>
                <a:latin typeface="+mn-lt"/>
                <a:ea typeface="+mn-ea"/>
                <a:cs typeface="+mn-cs"/>
              </a:rPr>
              <a:t>处理后，通常抽象为更高级的事件，如读写完成、鼠标点击、键盘输入等，然后甄别归属哪个进程，而不是在队列中直接兜售中断信息。</a:t>
            </a:r>
            <a:endParaRPr lang="zh-CN" altLang="en-US" dirty="0"/>
          </a:p>
        </p:txBody>
      </p:sp>
      <p:sp>
        <p:nvSpPr>
          <p:cNvPr id="4" name="灯片编号占位符 3"/>
          <p:cNvSpPr>
            <a:spLocks noGrp="1"/>
          </p:cNvSpPr>
          <p:nvPr>
            <p:ph type="sldNum" sz="quarter" idx="10"/>
          </p:nvPr>
        </p:nvSpPr>
        <p:spPr/>
        <p:txBody>
          <a:bodyPr/>
          <a:lstStyle/>
          <a:p>
            <a:fld id="{E585ACA3-2961-3740-91A0-2A6370DAD6B5}" type="slidenum">
              <a:rPr kumimoji="1" lang="zh-CN" altLang="en-US" smtClean="0"/>
              <a:t>24</a:t>
            </a:fld>
            <a:endParaRPr kumimoji="1" lang="zh-CN" altLang="en-US"/>
          </a:p>
        </p:txBody>
      </p:sp>
    </p:spTree>
    <p:extLst>
      <p:ext uri="{BB962C8B-B14F-4D97-AF65-F5344CB8AC3E}">
        <p14:creationId xmlns:p14="http://schemas.microsoft.com/office/powerpoint/2010/main" val="29521342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注意：上下文切换的实施并不对应完整的函数，而是执行到一半，</a:t>
            </a:r>
            <a:r>
              <a:rPr lang="en-US" altLang="zh-CN" sz="1200" kern="1200" dirty="0" smtClean="0">
                <a:solidFill>
                  <a:schemeClr val="tx1"/>
                </a:solidFill>
                <a:effectLst/>
                <a:latin typeface="+mn-lt"/>
                <a:ea typeface="+mn-ea"/>
                <a:cs typeface="+mn-cs"/>
              </a:rPr>
              <a:t>CPU</a:t>
            </a:r>
            <a:r>
              <a:rPr lang="zh-CN" altLang="zh-CN" sz="1200" kern="1200" dirty="0" smtClean="0">
                <a:solidFill>
                  <a:schemeClr val="tx1"/>
                </a:solidFill>
                <a:effectLst/>
                <a:latin typeface="+mn-lt"/>
                <a:ea typeface="+mn-ea"/>
                <a:cs typeface="+mn-cs"/>
              </a:rPr>
              <a:t>上下文已经变更，跳转到另一个进程了，下次</a:t>
            </a:r>
            <a:r>
              <a:rPr lang="en-US" altLang="zh-CN" sz="1200" kern="1200" dirty="0" smtClean="0">
                <a:solidFill>
                  <a:schemeClr val="tx1"/>
                </a:solidFill>
                <a:effectLst/>
                <a:latin typeface="+mn-lt"/>
                <a:ea typeface="+mn-ea"/>
                <a:cs typeface="+mn-cs"/>
              </a:rPr>
              <a:t>CPU</a:t>
            </a:r>
            <a:r>
              <a:rPr lang="zh-CN" altLang="zh-CN" sz="1200" kern="1200" dirty="0" smtClean="0">
                <a:solidFill>
                  <a:schemeClr val="tx1"/>
                </a:solidFill>
                <a:effectLst/>
                <a:latin typeface="+mn-lt"/>
                <a:ea typeface="+mn-ea"/>
                <a:cs typeface="+mn-cs"/>
              </a:rPr>
              <a:t>切换回来时，也是回到前述执行一半的离开处，继续执行本进程程序。</a:t>
            </a:r>
            <a:endParaRPr lang="zh-CN" altLang="en-US" dirty="0"/>
          </a:p>
        </p:txBody>
      </p:sp>
      <p:sp>
        <p:nvSpPr>
          <p:cNvPr id="4" name="灯片编号占位符 3"/>
          <p:cNvSpPr>
            <a:spLocks noGrp="1"/>
          </p:cNvSpPr>
          <p:nvPr>
            <p:ph type="sldNum" sz="quarter" idx="10"/>
          </p:nvPr>
        </p:nvSpPr>
        <p:spPr/>
        <p:txBody>
          <a:bodyPr/>
          <a:lstStyle/>
          <a:p>
            <a:fld id="{E585ACA3-2961-3740-91A0-2A6370DAD6B5}" type="slidenum">
              <a:rPr kumimoji="1" lang="zh-CN" altLang="en-US" smtClean="0"/>
              <a:t>29</a:t>
            </a:fld>
            <a:endParaRPr kumimoji="1" lang="zh-CN" altLang="en-US"/>
          </a:p>
        </p:txBody>
      </p:sp>
    </p:spTree>
    <p:extLst>
      <p:ext uri="{BB962C8B-B14F-4D97-AF65-F5344CB8AC3E}">
        <p14:creationId xmlns:p14="http://schemas.microsoft.com/office/powerpoint/2010/main" val="8997286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内核态有两个栈，不属于任何进程，是什么？答案：系统</a:t>
            </a:r>
            <a:r>
              <a:rPr lang="en-US" altLang="zh-CN" sz="1200" kern="1200" dirty="0" smtClean="0">
                <a:solidFill>
                  <a:schemeClr val="tx1"/>
                </a:solidFill>
                <a:effectLst/>
                <a:latin typeface="+mn-lt"/>
                <a:ea typeface="+mn-ea"/>
                <a:cs typeface="+mn-cs"/>
              </a:rPr>
              <a:t>main()</a:t>
            </a:r>
            <a:r>
              <a:rPr lang="zh-CN" altLang="zh-CN" sz="1200" kern="1200" dirty="0" smtClean="0">
                <a:solidFill>
                  <a:schemeClr val="tx1"/>
                </a:solidFill>
                <a:effectLst/>
                <a:latin typeface="+mn-lt"/>
                <a:ea typeface="+mn-ea"/>
                <a:cs typeface="+mn-cs"/>
              </a:rPr>
              <a:t>函数的栈</a:t>
            </a:r>
          </a:p>
          <a:p>
            <a:r>
              <a:rPr lang="en-US" altLang="zh-CN" sz="1200" kern="1200" dirty="0" smtClean="0">
                <a:solidFill>
                  <a:schemeClr val="tx1"/>
                </a:solidFill>
                <a:effectLst/>
                <a:latin typeface="+mn-lt"/>
                <a:ea typeface="+mn-ea"/>
                <a:cs typeface="+mn-cs"/>
              </a:rPr>
              <a:t>1</a:t>
            </a:r>
            <a:r>
              <a:rPr lang="zh-CN" altLang="zh-CN" sz="1200" kern="1200" dirty="0" smtClean="0">
                <a:solidFill>
                  <a:schemeClr val="tx1"/>
                </a:solidFill>
                <a:effectLst/>
                <a:latin typeface="+mn-lt"/>
                <a:ea typeface="+mn-ea"/>
                <a:cs typeface="+mn-cs"/>
              </a:rPr>
              <a:t>）从系统启动开始，每个</a:t>
            </a:r>
            <a:r>
              <a:rPr lang="en-US" altLang="zh-CN" sz="1200" kern="1200" dirty="0" smtClean="0">
                <a:solidFill>
                  <a:schemeClr val="tx1"/>
                </a:solidFill>
                <a:effectLst/>
                <a:latin typeface="+mn-lt"/>
                <a:ea typeface="+mn-ea"/>
                <a:cs typeface="+mn-cs"/>
              </a:rPr>
              <a:t>CPU</a:t>
            </a:r>
            <a:r>
              <a:rPr lang="zh-CN" altLang="zh-CN" sz="1200" kern="1200" dirty="0" smtClean="0">
                <a:solidFill>
                  <a:schemeClr val="tx1"/>
                </a:solidFill>
                <a:effectLst/>
                <a:latin typeface="+mn-lt"/>
                <a:ea typeface="+mn-ea"/>
                <a:cs typeface="+mn-cs"/>
              </a:rPr>
              <a:t>都会执行</a:t>
            </a:r>
            <a:r>
              <a:rPr lang="en-US" altLang="zh-CN" sz="1200" kern="1200" dirty="0" smtClean="0">
                <a:solidFill>
                  <a:schemeClr val="tx1"/>
                </a:solidFill>
                <a:effectLst/>
                <a:latin typeface="+mn-lt"/>
                <a:ea typeface="+mn-ea"/>
                <a:cs typeface="+mn-cs"/>
              </a:rPr>
              <a:t>main()</a:t>
            </a:r>
            <a:r>
              <a:rPr lang="zh-CN" altLang="zh-CN" sz="1200" kern="1200" dirty="0" smtClean="0">
                <a:solidFill>
                  <a:schemeClr val="tx1"/>
                </a:solidFill>
                <a:effectLst/>
                <a:latin typeface="+mn-lt"/>
                <a:ea typeface="+mn-ea"/>
                <a:cs typeface="+mn-cs"/>
              </a:rPr>
              <a:t>，所以每个</a:t>
            </a:r>
            <a:r>
              <a:rPr lang="en-US" altLang="zh-CN" sz="1200" kern="1200" dirty="0" smtClean="0">
                <a:solidFill>
                  <a:schemeClr val="tx1"/>
                </a:solidFill>
                <a:effectLst/>
                <a:latin typeface="+mn-lt"/>
                <a:ea typeface="+mn-ea"/>
                <a:cs typeface="+mn-cs"/>
              </a:rPr>
              <a:t>CPU</a:t>
            </a:r>
            <a:r>
              <a:rPr lang="zh-CN" altLang="zh-CN" sz="1200" kern="1200" dirty="0" smtClean="0">
                <a:solidFill>
                  <a:schemeClr val="tx1"/>
                </a:solidFill>
                <a:effectLst/>
                <a:latin typeface="+mn-lt"/>
                <a:ea typeface="+mn-ea"/>
                <a:cs typeface="+mn-cs"/>
              </a:rPr>
              <a:t>一个栈</a:t>
            </a:r>
          </a:p>
          <a:p>
            <a:r>
              <a:rPr lang="en-US" altLang="zh-CN" sz="1200" kern="1200" dirty="0" smtClean="0">
                <a:solidFill>
                  <a:schemeClr val="tx1"/>
                </a:solidFill>
                <a:effectLst/>
                <a:latin typeface="+mn-lt"/>
                <a:ea typeface="+mn-ea"/>
                <a:cs typeface="+mn-cs"/>
              </a:rPr>
              <a:t>2</a:t>
            </a:r>
            <a:r>
              <a:rPr lang="zh-CN" altLang="zh-CN"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main()</a:t>
            </a:r>
            <a:r>
              <a:rPr lang="zh-CN" altLang="zh-CN" sz="1200" kern="1200" dirty="0" smtClean="0">
                <a:solidFill>
                  <a:schemeClr val="tx1"/>
                </a:solidFill>
                <a:effectLst/>
                <a:latin typeface="+mn-lt"/>
                <a:ea typeface="+mn-ea"/>
                <a:cs typeface="+mn-cs"/>
              </a:rPr>
              <a:t>执行到末尾，系统启动完成，进入无限循环，</a:t>
            </a:r>
            <a:r>
              <a:rPr lang="en-US" altLang="zh-CN" sz="1200" kern="1200" dirty="0" smtClean="0">
                <a:solidFill>
                  <a:schemeClr val="tx1"/>
                </a:solidFill>
                <a:effectLst/>
                <a:latin typeface="+mn-lt"/>
                <a:ea typeface="+mn-ea"/>
                <a:cs typeface="+mn-cs"/>
              </a:rPr>
              <a:t>CPU</a:t>
            </a:r>
            <a:r>
              <a:rPr lang="zh-CN" altLang="zh-CN" sz="1200" kern="1200" dirty="0" smtClean="0">
                <a:solidFill>
                  <a:schemeClr val="tx1"/>
                </a:solidFill>
                <a:effectLst/>
                <a:latin typeface="+mn-lt"/>
                <a:ea typeface="+mn-ea"/>
                <a:cs typeface="+mn-cs"/>
              </a:rPr>
              <a:t>不被任何进程需要时，切换到此处</a:t>
            </a:r>
            <a:endParaRPr lang="zh-CN" altLang="en-US" dirty="0"/>
          </a:p>
        </p:txBody>
      </p:sp>
      <p:sp>
        <p:nvSpPr>
          <p:cNvPr id="4" name="灯片编号占位符 3"/>
          <p:cNvSpPr>
            <a:spLocks noGrp="1"/>
          </p:cNvSpPr>
          <p:nvPr>
            <p:ph type="sldNum" sz="quarter" idx="10"/>
          </p:nvPr>
        </p:nvSpPr>
        <p:spPr/>
        <p:txBody>
          <a:bodyPr/>
          <a:lstStyle/>
          <a:p>
            <a:fld id="{E585ACA3-2961-3740-91A0-2A6370DAD6B5}" type="slidenum">
              <a:rPr kumimoji="1" lang="zh-CN" altLang="en-US" smtClean="0"/>
              <a:t>30</a:t>
            </a:fld>
            <a:endParaRPr kumimoji="1" lang="zh-CN" altLang="en-US"/>
          </a:p>
        </p:txBody>
      </p:sp>
    </p:spTree>
    <p:extLst>
      <p:ext uri="{BB962C8B-B14F-4D97-AF65-F5344CB8AC3E}">
        <p14:creationId xmlns:p14="http://schemas.microsoft.com/office/powerpoint/2010/main" val="35309136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级联退出例：远程登录</a:t>
            </a:r>
            <a:r>
              <a:rPr lang="en-US" altLang="zh-CN" sz="1200" kern="1200" dirty="0" smtClean="0">
                <a:solidFill>
                  <a:schemeClr val="tx1"/>
                </a:solidFill>
                <a:effectLst/>
                <a:latin typeface="+mn-lt"/>
                <a:ea typeface="+mn-ea"/>
                <a:cs typeface="+mn-cs"/>
              </a:rPr>
              <a:t>Linux</a:t>
            </a:r>
            <a:r>
              <a:rPr lang="zh-CN" altLang="zh-CN" sz="1200" kern="1200" dirty="0" smtClean="0">
                <a:solidFill>
                  <a:schemeClr val="tx1"/>
                </a:solidFill>
                <a:effectLst/>
                <a:latin typeface="+mn-lt"/>
                <a:ea typeface="+mn-ea"/>
                <a:cs typeface="+mn-cs"/>
              </a:rPr>
              <a:t>，创建</a:t>
            </a:r>
            <a:r>
              <a:rPr lang="en-US" altLang="zh-CN" sz="1200" kern="1200" dirty="0" smtClean="0">
                <a:solidFill>
                  <a:schemeClr val="tx1"/>
                </a:solidFill>
                <a:effectLst/>
                <a:latin typeface="+mn-lt"/>
                <a:ea typeface="+mn-ea"/>
                <a:cs typeface="+mn-cs"/>
              </a:rPr>
              <a:t>bash</a:t>
            </a:r>
            <a:r>
              <a:rPr lang="zh-CN" altLang="zh-CN" sz="1200" kern="1200" dirty="0" smtClean="0">
                <a:solidFill>
                  <a:schemeClr val="tx1"/>
                </a:solidFill>
                <a:effectLst/>
                <a:latin typeface="+mn-lt"/>
                <a:ea typeface="+mn-ea"/>
                <a:cs typeface="+mn-cs"/>
              </a:rPr>
              <a:t>进程，命令启动子进程</a:t>
            </a:r>
            <a:r>
              <a:rPr lang="en-US" altLang="zh-CN" sz="1200" kern="1200" dirty="0" smtClean="0">
                <a:solidFill>
                  <a:schemeClr val="tx1"/>
                </a:solidFill>
                <a:effectLst/>
                <a:latin typeface="+mn-lt"/>
                <a:ea typeface="+mn-ea"/>
                <a:cs typeface="+mn-cs"/>
              </a:rPr>
              <a:t>java</a:t>
            </a:r>
            <a:r>
              <a:rPr lang="zh-CN" altLang="zh-CN" sz="1200" kern="1200" dirty="0" smtClean="0">
                <a:solidFill>
                  <a:schemeClr val="tx1"/>
                </a:solidFill>
                <a:effectLst/>
                <a:latin typeface="+mn-lt"/>
                <a:ea typeface="+mn-ea"/>
                <a:cs typeface="+mn-cs"/>
              </a:rPr>
              <a:t>，则</a:t>
            </a:r>
            <a:r>
              <a:rPr lang="en-US" altLang="zh-CN" sz="1200" kern="1200" dirty="0" smtClean="0">
                <a:solidFill>
                  <a:schemeClr val="tx1"/>
                </a:solidFill>
                <a:effectLst/>
                <a:latin typeface="+mn-lt"/>
                <a:ea typeface="+mn-ea"/>
                <a:cs typeface="+mn-cs"/>
              </a:rPr>
              <a:t>java</a:t>
            </a:r>
            <a:r>
              <a:rPr lang="zh-CN" altLang="zh-CN" sz="1200" kern="1200" dirty="0" smtClean="0">
                <a:solidFill>
                  <a:schemeClr val="tx1"/>
                </a:solidFill>
                <a:effectLst/>
                <a:latin typeface="+mn-lt"/>
                <a:ea typeface="+mn-ea"/>
                <a:cs typeface="+mn-cs"/>
              </a:rPr>
              <a:t>绑定</a:t>
            </a:r>
            <a:r>
              <a:rPr lang="en-US" altLang="zh-CN" sz="1200" kern="1200" dirty="0" smtClean="0">
                <a:solidFill>
                  <a:schemeClr val="tx1"/>
                </a:solidFill>
                <a:effectLst/>
                <a:latin typeface="+mn-lt"/>
                <a:ea typeface="+mn-ea"/>
                <a:cs typeface="+mn-cs"/>
              </a:rPr>
              <a:t>bash</a:t>
            </a:r>
            <a:r>
              <a:rPr lang="zh-CN" altLang="zh-CN" sz="1200" kern="1200" dirty="0" smtClean="0">
                <a:solidFill>
                  <a:schemeClr val="tx1"/>
                </a:solidFill>
                <a:effectLst/>
                <a:latin typeface="+mn-lt"/>
                <a:ea typeface="+mn-ea"/>
                <a:cs typeface="+mn-cs"/>
              </a:rPr>
              <a:t>的终端，退出登录，</a:t>
            </a:r>
            <a:r>
              <a:rPr lang="en-US" altLang="zh-CN" sz="1200" kern="1200" dirty="0" smtClean="0">
                <a:solidFill>
                  <a:schemeClr val="tx1"/>
                </a:solidFill>
                <a:effectLst/>
                <a:latin typeface="+mn-lt"/>
                <a:ea typeface="+mn-ea"/>
                <a:cs typeface="+mn-cs"/>
              </a:rPr>
              <a:t>bash</a:t>
            </a:r>
            <a:r>
              <a:rPr lang="zh-CN" altLang="zh-CN" sz="1200" kern="1200" dirty="0" smtClean="0">
                <a:solidFill>
                  <a:schemeClr val="tx1"/>
                </a:solidFill>
                <a:effectLst/>
                <a:latin typeface="+mn-lt"/>
                <a:ea typeface="+mn-ea"/>
                <a:cs typeface="+mn-cs"/>
              </a:rPr>
              <a:t>进程终止，终端撤销，于是</a:t>
            </a:r>
            <a:r>
              <a:rPr lang="en-US" altLang="zh-CN" sz="1200" kern="1200" dirty="0" smtClean="0">
                <a:solidFill>
                  <a:schemeClr val="tx1"/>
                </a:solidFill>
                <a:effectLst/>
                <a:latin typeface="+mn-lt"/>
                <a:ea typeface="+mn-ea"/>
                <a:cs typeface="+mn-cs"/>
              </a:rPr>
              <a:t>java</a:t>
            </a:r>
            <a:r>
              <a:rPr lang="zh-CN" altLang="zh-CN" sz="1200" kern="1200" dirty="0" smtClean="0">
                <a:solidFill>
                  <a:schemeClr val="tx1"/>
                </a:solidFill>
                <a:effectLst/>
                <a:latin typeface="+mn-lt"/>
                <a:ea typeface="+mn-ea"/>
                <a:cs typeface="+mn-cs"/>
              </a:rPr>
              <a:t>进程收到</a:t>
            </a:r>
            <a:r>
              <a:rPr lang="en-US" altLang="zh-CN" sz="1200" kern="1200" dirty="0" smtClean="0">
                <a:solidFill>
                  <a:schemeClr val="tx1"/>
                </a:solidFill>
                <a:effectLst/>
                <a:latin typeface="+mn-lt"/>
                <a:ea typeface="+mn-ea"/>
                <a:cs typeface="+mn-cs"/>
              </a:rPr>
              <a:t>bash</a:t>
            </a:r>
            <a:r>
              <a:rPr lang="zh-CN" altLang="zh-CN" sz="1200" kern="1200" dirty="0" smtClean="0">
                <a:solidFill>
                  <a:schemeClr val="tx1"/>
                </a:solidFill>
                <a:effectLst/>
                <a:latin typeface="+mn-lt"/>
                <a:ea typeface="+mn-ea"/>
                <a:cs typeface="+mn-cs"/>
              </a:rPr>
              <a:t>进程发来的</a:t>
            </a:r>
            <a:r>
              <a:rPr lang="en-US" altLang="zh-CN" sz="1200" kern="1200" dirty="0" smtClean="0">
                <a:solidFill>
                  <a:schemeClr val="tx1"/>
                </a:solidFill>
                <a:effectLst/>
                <a:latin typeface="+mn-lt"/>
                <a:ea typeface="+mn-ea"/>
                <a:cs typeface="+mn-cs"/>
              </a:rPr>
              <a:t>SIGHUP</a:t>
            </a:r>
            <a:r>
              <a:rPr lang="zh-CN" altLang="zh-CN" sz="1200" kern="1200" dirty="0" smtClean="0">
                <a:solidFill>
                  <a:schemeClr val="tx1"/>
                </a:solidFill>
                <a:effectLst/>
                <a:latin typeface="+mn-lt"/>
                <a:ea typeface="+mn-ea"/>
                <a:cs typeface="+mn-cs"/>
              </a:rPr>
              <a:t>信号，随之退出</a:t>
            </a:r>
            <a:endParaRPr lang="zh-CN" altLang="en-US" dirty="0"/>
          </a:p>
        </p:txBody>
      </p:sp>
      <p:sp>
        <p:nvSpPr>
          <p:cNvPr id="4" name="灯片编号占位符 3"/>
          <p:cNvSpPr>
            <a:spLocks noGrp="1"/>
          </p:cNvSpPr>
          <p:nvPr>
            <p:ph type="sldNum" sz="quarter" idx="10"/>
          </p:nvPr>
        </p:nvSpPr>
        <p:spPr/>
        <p:txBody>
          <a:bodyPr/>
          <a:lstStyle/>
          <a:p>
            <a:fld id="{E585ACA3-2961-3740-91A0-2A6370DAD6B5}" type="slidenum">
              <a:rPr kumimoji="1" lang="zh-CN" altLang="en-US" smtClean="0"/>
              <a:t>43</a:t>
            </a:fld>
            <a:endParaRPr kumimoji="1" lang="zh-CN" altLang="en-US"/>
          </a:p>
        </p:txBody>
      </p:sp>
    </p:spTree>
    <p:extLst>
      <p:ext uri="{BB962C8B-B14F-4D97-AF65-F5344CB8AC3E}">
        <p14:creationId xmlns:p14="http://schemas.microsoft.com/office/powerpoint/2010/main" val="19321436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lvl="3" indent="0" algn="l" defTabSz="914400" rtl="0" eaLnBrk="1" fontAlgn="auto" latinLnBrk="0" hangingPunct="1">
              <a:lnSpc>
                <a:spcPct val="100000"/>
              </a:lnSpc>
              <a:spcBef>
                <a:spcPts val="0"/>
              </a:spcBef>
              <a:spcAft>
                <a:spcPts val="0"/>
              </a:spcAft>
              <a:buClrTx/>
              <a:buSzTx/>
              <a:buFontTx/>
              <a:buNone/>
              <a:tabLst/>
              <a:defRPr/>
            </a:pPr>
            <a:r>
              <a:rPr lang="en-US" altLang="zh-CN" smtClean="0"/>
              <a:t>Message example: WM_LBUTTONDOWN, indicating the left button is pushed down.</a:t>
            </a:r>
          </a:p>
          <a:p>
            <a:pPr marL="0" marR="0" lvl="3" indent="0" algn="l" defTabSz="914400" rtl="0" eaLnBrk="1" fontAlgn="auto" latinLnBrk="0" hangingPunct="1">
              <a:lnSpc>
                <a:spcPct val="100000"/>
              </a:lnSpc>
              <a:spcBef>
                <a:spcPts val="0"/>
              </a:spcBef>
              <a:spcAft>
                <a:spcPts val="0"/>
              </a:spcAft>
              <a:buClrTx/>
              <a:buSzTx/>
              <a:buFontTx/>
              <a:buNone/>
              <a:tabLst/>
              <a:defRPr/>
            </a:pPr>
            <a:r>
              <a:rPr lang="en-US" altLang="zh-CN" smtClean="0"/>
              <a:t>wParam holds a series of bit flags identifying the state of the Ctrl and Shift keys and of the mouse buttons.</a:t>
            </a:r>
          </a:p>
          <a:p>
            <a:pPr marL="0" marR="0" lvl="3" indent="0" algn="l" defTabSz="914400" rtl="0" eaLnBrk="1" fontAlgn="auto" latinLnBrk="0" hangingPunct="1">
              <a:lnSpc>
                <a:spcPct val="100000"/>
              </a:lnSpc>
              <a:spcBef>
                <a:spcPts val="0"/>
              </a:spcBef>
              <a:spcAft>
                <a:spcPts val="0"/>
              </a:spcAft>
              <a:buClrTx/>
              <a:buSzTx/>
              <a:buFontTx/>
              <a:buNone/>
              <a:tabLst/>
              <a:defRPr/>
            </a:pPr>
            <a:r>
              <a:rPr lang="en-US" altLang="zh-CN" smtClean="0"/>
              <a:t>lParam holds two 16-bit values identifying the location of the mouse pointer when the click occurred</a:t>
            </a:r>
          </a:p>
        </p:txBody>
      </p:sp>
      <p:sp>
        <p:nvSpPr>
          <p:cNvPr id="4" name="灯片编号占位符 3"/>
          <p:cNvSpPr>
            <a:spLocks noGrp="1"/>
          </p:cNvSpPr>
          <p:nvPr>
            <p:ph type="sldNum" sz="quarter" idx="10"/>
          </p:nvPr>
        </p:nvSpPr>
        <p:spPr/>
        <p:txBody>
          <a:bodyPr/>
          <a:lstStyle/>
          <a:p>
            <a:fld id="{0C9F6E40-2B04-40B9-B595-D870F0DD9E61}" type="slidenum">
              <a:rPr lang="zh-CN" altLang="en-US" smtClean="0"/>
              <a:pPr/>
              <a:t>45</a:t>
            </a:fld>
            <a:endParaRPr lang="zh-CN" altLang="en-US"/>
          </a:p>
        </p:txBody>
      </p:sp>
    </p:spTree>
    <p:extLst>
      <p:ext uri="{BB962C8B-B14F-4D97-AF65-F5344CB8AC3E}">
        <p14:creationId xmlns:p14="http://schemas.microsoft.com/office/powerpoint/2010/main" val="27198421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lvl="3" indent="0" algn="l" defTabSz="914400" rtl="0" eaLnBrk="1" fontAlgn="auto" latinLnBrk="0" hangingPunct="1">
              <a:lnSpc>
                <a:spcPct val="100000"/>
              </a:lnSpc>
              <a:spcBef>
                <a:spcPts val="0"/>
              </a:spcBef>
              <a:spcAft>
                <a:spcPts val="0"/>
              </a:spcAft>
              <a:buClrTx/>
              <a:buSzTx/>
              <a:buFontTx/>
              <a:buNone/>
              <a:tabLst/>
              <a:defRPr/>
            </a:pPr>
            <a:r>
              <a:rPr lang="en-US" altLang="zh-CN" dirty="0" smtClean="0"/>
              <a:t>Why callback? Sometimes the OS knows the basic process</a:t>
            </a:r>
            <a:r>
              <a:rPr lang="en-US" altLang="zh-CN" baseline="0" dirty="0" smtClean="0"/>
              <a:t> </a:t>
            </a:r>
            <a:r>
              <a:rPr lang="en-US" altLang="zh-CN" dirty="0" smtClean="0"/>
              <a:t>of</a:t>
            </a:r>
            <a:r>
              <a:rPr lang="en-US" altLang="zh-CN" baseline="0" dirty="0" smtClean="0"/>
              <a:t> a task, but the specific task at a certain step may be up to the application, and the OS has no idea about that.</a:t>
            </a:r>
          </a:p>
          <a:p>
            <a:pPr marL="0" marR="0" lvl="3" indent="0" algn="l" defTabSz="914400" rtl="0" eaLnBrk="1" fontAlgn="auto" latinLnBrk="0" hangingPunct="1">
              <a:lnSpc>
                <a:spcPct val="100000"/>
              </a:lnSpc>
              <a:spcBef>
                <a:spcPts val="0"/>
              </a:spcBef>
              <a:spcAft>
                <a:spcPts val="0"/>
              </a:spcAft>
              <a:buClrTx/>
              <a:buSzTx/>
              <a:buFontTx/>
              <a:buNone/>
              <a:tabLst/>
              <a:defRPr/>
            </a:pPr>
            <a:r>
              <a:rPr lang="en-US" altLang="zh-CN" baseline="0" dirty="0" smtClean="0"/>
              <a:t>Example 1: message process</a:t>
            </a:r>
          </a:p>
          <a:p>
            <a:pPr marL="0" marR="0" lvl="3" indent="0" algn="l" defTabSz="914400" rtl="0" eaLnBrk="1" fontAlgn="auto" latinLnBrk="0" hangingPunct="1">
              <a:lnSpc>
                <a:spcPct val="100000"/>
              </a:lnSpc>
              <a:spcBef>
                <a:spcPts val="0"/>
              </a:spcBef>
              <a:spcAft>
                <a:spcPts val="0"/>
              </a:spcAft>
              <a:buClrTx/>
              <a:buSzTx/>
              <a:buFontTx/>
              <a:buNone/>
              <a:tabLst/>
              <a:defRPr/>
            </a:pPr>
            <a:r>
              <a:rPr lang="en-US" altLang="zh-CN" baseline="0" dirty="0" smtClean="0"/>
              <a:t>Example 2: system font enumeration</a:t>
            </a:r>
            <a:endParaRPr lang="en-US" altLang="zh-CN" dirty="0" smtClean="0"/>
          </a:p>
        </p:txBody>
      </p:sp>
      <p:sp>
        <p:nvSpPr>
          <p:cNvPr id="4" name="灯片编号占位符 3"/>
          <p:cNvSpPr>
            <a:spLocks noGrp="1"/>
          </p:cNvSpPr>
          <p:nvPr>
            <p:ph type="sldNum" sz="quarter" idx="10"/>
          </p:nvPr>
        </p:nvSpPr>
        <p:spPr/>
        <p:txBody>
          <a:bodyPr/>
          <a:lstStyle/>
          <a:p>
            <a:fld id="{0C9F6E40-2B04-40B9-B595-D870F0DD9E61}" type="slidenum">
              <a:rPr lang="zh-CN" altLang="en-US" smtClean="0"/>
              <a:pPr/>
              <a:t>46</a:t>
            </a:fld>
            <a:endParaRPr lang="zh-CN" altLang="en-US"/>
          </a:p>
        </p:txBody>
      </p:sp>
    </p:spTree>
    <p:extLst>
      <p:ext uri="{BB962C8B-B14F-4D97-AF65-F5344CB8AC3E}">
        <p14:creationId xmlns:p14="http://schemas.microsoft.com/office/powerpoint/2010/main" val="20077346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smtClean="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补充</a:t>
            </a:r>
            <a:r>
              <a:rPr lang="en-US" altLang="zh-CN" sz="1200" kern="1200" dirty="0" smtClean="0">
                <a:solidFill>
                  <a:schemeClr val="tx1"/>
                </a:solidFill>
                <a:effectLst/>
                <a:latin typeface="+mn-lt"/>
                <a:ea typeface="+mn-ea"/>
                <a:cs typeface="+mn-cs"/>
              </a:rPr>
              <a:t>]</a:t>
            </a:r>
          </a:p>
          <a:p>
            <a:r>
              <a:rPr lang="en-US" altLang="zh-CN" sz="1200" kern="1200" dirty="0" smtClean="0">
                <a:solidFill>
                  <a:schemeClr val="tx1"/>
                </a:solidFill>
                <a:effectLst/>
                <a:latin typeface="+mn-lt"/>
                <a:ea typeface="+mn-ea"/>
                <a:cs typeface="+mn-cs"/>
              </a:rPr>
              <a:t>1</a:t>
            </a:r>
            <a:r>
              <a:rPr lang="zh-CN" altLang="zh-CN" sz="1200" kern="1200" dirty="0" smtClean="0">
                <a:solidFill>
                  <a:schemeClr val="tx1"/>
                </a:solidFill>
                <a:effectLst/>
                <a:latin typeface="+mn-lt"/>
                <a:ea typeface="+mn-ea"/>
                <a:cs typeface="+mn-cs"/>
              </a:rPr>
              <a:t>）通常希望调用</a:t>
            </a:r>
            <a:r>
              <a:rPr lang="en-US" altLang="zh-CN" sz="1200" kern="1200" dirty="0" smtClean="0">
                <a:solidFill>
                  <a:schemeClr val="tx1"/>
                </a:solidFill>
                <a:effectLst/>
                <a:latin typeface="+mn-lt"/>
                <a:ea typeface="+mn-ea"/>
                <a:cs typeface="+mn-cs"/>
              </a:rPr>
              <a:t>exec</a:t>
            </a:r>
            <a:r>
              <a:rPr lang="zh-CN" altLang="zh-CN" sz="1200" kern="1200" dirty="0" smtClean="0">
                <a:solidFill>
                  <a:schemeClr val="tx1"/>
                </a:solidFill>
                <a:effectLst/>
                <a:latin typeface="+mn-lt"/>
                <a:ea typeface="+mn-ea"/>
                <a:cs typeface="+mn-cs"/>
              </a:rPr>
              <a:t>后就不保留父进程打开的文件，则父进程在</a:t>
            </a:r>
            <a:r>
              <a:rPr lang="en-US" altLang="zh-CN" sz="1200" kern="1200" dirty="0" smtClean="0">
                <a:solidFill>
                  <a:schemeClr val="tx1"/>
                </a:solidFill>
                <a:effectLst/>
                <a:latin typeface="+mn-lt"/>
                <a:ea typeface="+mn-ea"/>
                <a:cs typeface="+mn-cs"/>
              </a:rPr>
              <a:t>fork()</a:t>
            </a:r>
            <a:r>
              <a:rPr lang="zh-CN" altLang="zh-CN" sz="1200" kern="1200" dirty="0" smtClean="0">
                <a:solidFill>
                  <a:schemeClr val="tx1"/>
                </a:solidFill>
                <a:effectLst/>
                <a:latin typeface="+mn-lt"/>
                <a:ea typeface="+mn-ea"/>
                <a:cs typeface="+mn-cs"/>
              </a:rPr>
              <a:t>之前，打开文件时可使用</a:t>
            </a:r>
            <a:r>
              <a:rPr lang="en-US" altLang="zh-CN" sz="1200" kern="1200" dirty="0" smtClean="0">
                <a:solidFill>
                  <a:schemeClr val="tx1"/>
                </a:solidFill>
                <a:effectLst/>
                <a:latin typeface="+mn-lt"/>
                <a:ea typeface="+mn-ea"/>
                <a:cs typeface="+mn-cs"/>
              </a:rPr>
              <a:t>O_CLOEXEC</a:t>
            </a:r>
            <a:r>
              <a:rPr lang="zh-CN" altLang="zh-CN" sz="1200" kern="1200" dirty="0" smtClean="0">
                <a:solidFill>
                  <a:schemeClr val="tx1"/>
                </a:solidFill>
                <a:effectLst/>
                <a:latin typeface="+mn-lt"/>
                <a:ea typeface="+mn-ea"/>
                <a:cs typeface="+mn-cs"/>
              </a:rPr>
              <a:t>标志，或创建</a:t>
            </a:r>
            <a:r>
              <a:rPr lang="en-US" altLang="zh-CN" sz="1200" kern="1200" dirty="0" smtClean="0">
                <a:solidFill>
                  <a:schemeClr val="tx1"/>
                </a:solidFill>
                <a:effectLst/>
                <a:latin typeface="+mn-lt"/>
                <a:ea typeface="+mn-ea"/>
                <a:cs typeface="+mn-cs"/>
              </a:rPr>
              <a:t>socket</a:t>
            </a:r>
            <a:r>
              <a:rPr lang="zh-CN" altLang="zh-CN" sz="1200" kern="1200" dirty="0" smtClean="0">
                <a:solidFill>
                  <a:schemeClr val="tx1"/>
                </a:solidFill>
                <a:effectLst/>
                <a:latin typeface="+mn-lt"/>
                <a:ea typeface="+mn-ea"/>
                <a:cs typeface="+mn-cs"/>
              </a:rPr>
              <a:t>时使用</a:t>
            </a:r>
            <a:r>
              <a:rPr lang="en-US" altLang="zh-CN" sz="1200" kern="1200" dirty="0" smtClean="0">
                <a:solidFill>
                  <a:schemeClr val="tx1"/>
                </a:solidFill>
                <a:effectLst/>
                <a:latin typeface="+mn-lt"/>
                <a:ea typeface="+mn-ea"/>
                <a:cs typeface="+mn-cs"/>
              </a:rPr>
              <a:t>SOCK_CLOEXEC</a:t>
            </a:r>
            <a:r>
              <a:rPr lang="zh-CN" altLang="zh-CN" sz="1200" kern="1200" dirty="0" smtClean="0">
                <a:solidFill>
                  <a:schemeClr val="tx1"/>
                </a:solidFill>
                <a:effectLst/>
                <a:latin typeface="+mn-lt"/>
                <a:ea typeface="+mn-ea"/>
                <a:cs typeface="+mn-cs"/>
              </a:rPr>
              <a:t>标志，或事后用</a:t>
            </a:r>
            <a:r>
              <a:rPr lang="en-US" altLang="zh-CN" sz="1200" kern="1200" dirty="0" err="1" smtClean="0">
                <a:solidFill>
                  <a:schemeClr val="tx1"/>
                </a:solidFill>
                <a:effectLst/>
                <a:latin typeface="+mn-lt"/>
                <a:ea typeface="+mn-ea"/>
                <a:cs typeface="+mn-cs"/>
              </a:rPr>
              <a:t>fcntl</a:t>
            </a:r>
            <a:r>
              <a:rPr lang="en-US" altLang="zh-CN" sz="1200" kern="1200" dirty="0" smtClean="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函数给打开的文件增加</a:t>
            </a:r>
            <a:r>
              <a:rPr lang="en-US" altLang="zh-CN" sz="1200" kern="1200" dirty="0" smtClean="0">
                <a:solidFill>
                  <a:schemeClr val="tx1"/>
                </a:solidFill>
                <a:effectLst/>
                <a:latin typeface="+mn-lt"/>
                <a:ea typeface="+mn-ea"/>
                <a:cs typeface="+mn-cs"/>
              </a:rPr>
              <a:t>FD_CLOEXEC</a:t>
            </a:r>
            <a:r>
              <a:rPr lang="zh-CN" altLang="zh-CN" sz="1200" kern="1200" dirty="0" smtClean="0">
                <a:solidFill>
                  <a:schemeClr val="tx1"/>
                </a:solidFill>
                <a:effectLst/>
                <a:latin typeface="+mn-lt"/>
                <a:ea typeface="+mn-ea"/>
                <a:cs typeface="+mn-cs"/>
              </a:rPr>
              <a:t>标志；</a:t>
            </a:r>
          </a:p>
          <a:p>
            <a:r>
              <a:rPr lang="en-US" altLang="zh-CN" sz="1200" kern="1200" dirty="0" smtClean="0">
                <a:solidFill>
                  <a:schemeClr val="tx1"/>
                </a:solidFill>
                <a:effectLst/>
                <a:latin typeface="+mn-lt"/>
                <a:ea typeface="+mn-ea"/>
                <a:cs typeface="+mn-cs"/>
              </a:rPr>
              <a:t>2</a:t>
            </a:r>
            <a:r>
              <a:rPr lang="zh-CN" altLang="zh-CN" sz="1200" kern="1200" dirty="0" smtClean="0">
                <a:solidFill>
                  <a:schemeClr val="tx1"/>
                </a:solidFill>
                <a:effectLst/>
                <a:latin typeface="+mn-lt"/>
                <a:ea typeface="+mn-ea"/>
                <a:cs typeface="+mn-cs"/>
              </a:rPr>
              <a:t>）</a:t>
            </a:r>
            <a:r>
              <a:rPr lang="en-US" altLang="zh-CN" sz="1200" kern="1200" dirty="0" err="1" smtClean="0">
                <a:solidFill>
                  <a:schemeClr val="tx1"/>
                </a:solidFill>
                <a:effectLst/>
                <a:latin typeface="+mn-lt"/>
                <a:ea typeface="+mn-ea"/>
                <a:cs typeface="+mn-cs"/>
              </a:rPr>
              <a:t>vfork</a:t>
            </a:r>
            <a:r>
              <a:rPr lang="en-US" altLang="zh-CN" sz="1200" kern="1200" dirty="0" smtClean="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类似于</a:t>
            </a:r>
            <a:r>
              <a:rPr lang="en-US" altLang="zh-CN" sz="1200" kern="1200" dirty="0" smtClean="0">
                <a:solidFill>
                  <a:schemeClr val="tx1"/>
                </a:solidFill>
                <a:effectLst/>
                <a:latin typeface="+mn-lt"/>
                <a:ea typeface="+mn-ea"/>
                <a:cs typeface="+mn-cs"/>
              </a:rPr>
              <a:t>fork()</a:t>
            </a:r>
            <a:r>
              <a:rPr lang="zh-CN" altLang="zh-CN" sz="1200" kern="1200" dirty="0" smtClean="0">
                <a:solidFill>
                  <a:schemeClr val="tx1"/>
                </a:solidFill>
                <a:effectLst/>
                <a:latin typeface="+mn-lt"/>
                <a:ea typeface="+mn-ea"/>
                <a:cs typeface="+mn-cs"/>
              </a:rPr>
              <a:t>，但一旦执行，父进程阻塞，直到子进程调用</a:t>
            </a:r>
            <a:r>
              <a:rPr lang="en-US" altLang="zh-CN" sz="1200" kern="1200" dirty="0" smtClean="0">
                <a:solidFill>
                  <a:schemeClr val="tx1"/>
                </a:solidFill>
                <a:effectLst/>
                <a:latin typeface="+mn-lt"/>
                <a:ea typeface="+mn-ea"/>
                <a:cs typeface="+mn-cs"/>
              </a:rPr>
              <a:t>exit</a:t>
            </a:r>
            <a:r>
              <a:rPr lang="zh-CN" altLang="zh-CN" sz="1200" kern="1200" dirty="0" smtClean="0">
                <a:solidFill>
                  <a:schemeClr val="tx1"/>
                </a:solidFill>
                <a:effectLst/>
                <a:latin typeface="+mn-lt"/>
                <a:ea typeface="+mn-ea"/>
                <a:cs typeface="+mn-cs"/>
              </a:rPr>
              <a:t>或</a:t>
            </a:r>
            <a:r>
              <a:rPr lang="en-US" altLang="zh-CN" sz="1200" kern="1200" dirty="0" smtClean="0">
                <a:solidFill>
                  <a:schemeClr val="tx1"/>
                </a:solidFill>
                <a:effectLst/>
                <a:latin typeface="+mn-lt"/>
                <a:ea typeface="+mn-ea"/>
                <a:cs typeface="+mn-cs"/>
              </a:rPr>
              <a:t>exec</a:t>
            </a:r>
            <a:r>
              <a:rPr lang="zh-CN" altLang="zh-CN" sz="1200" kern="1200" dirty="0" smtClean="0">
                <a:solidFill>
                  <a:schemeClr val="tx1"/>
                </a:solidFill>
                <a:effectLst/>
                <a:latin typeface="+mn-lt"/>
                <a:ea typeface="+mn-ea"/>
                <a:cs typeface="+mn-cs"/>
              </a:rPr>
              <a:t>，即父子进程串行执行；内存数据不复制，连栈都不复制，子进程在父进程地盘上就地运行，对栈产生影响，父进程苏醒后仍按阻塞前（调用</a:t>
            </a:r>
            <a:r>
              <a:rPr lang="en-US" altLang="zh-CN" sz="1200" kern="1200" dirty="0" err="1" smtClean="0">
                <a:solidFill>
                  <a:schemeClr val="tx1"/>
                </a:solidFill>
                <a:effectLst/>
                <a:latin typeface="+mn-lt"/>
                <a:ea typeface="+mn-ea"/>
                <a:cs typeface="+mn-cs"/>
              </a:rPr>
              <a:t>vfork</a:t>
            </a:r>
            <a:r>
              <a:rPr lang="zh-CN" altLang="zh-CN" sz="1200" kern="1200" dirty="0" smtClean="0">
                <a:solidFill>
                  <a:schemeClr val="tx1"/>
                </a:solidFill>
                <a:effectLst/>
                <a:latin typeface="+mn-lt"/>
                <a:ea typeface="+mn-ea"/>
                <a:cs typeface="+mn-cs"/>
              </a:rPr>
              <a:t>前）的记忆理解栈，并继续执行；本意是</a:t>
            </a:r>
            <a:r>
              <a:rPr lang="en-US" altLang="zh-CN" sz="1200" kern="1200" dirty="0" err="1" smtClean="0">
                <a:solidFill>
                  <a:schemeClr val="tx1"/>
                </a:solidFill>
                <a:effectLst/>
                <a:latin typeface="+mn-lt"/>
                <a:ea typeface="+mn-ea"/>
                <a:cs typeface="+mn-cs"/>
              </a:rPr>
              <a:t>vfork</a:t>
            </a:r>
            <a:r>
              <a:rPr lang="en-US" altLang="zh-CN" sz="1200" kern="1200" dirty="0" smtClean="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后子进程立刻调用</a:t>
            </a:r>
            <a:r>
              <a:rPr lang="en-US" altLang="zh-CN" sz="1200" kern="1200" dirty="0" smtClean="0">
                <a:solidFill>
                  <a:schemeClr val="tx1"/>
                </a:solidFill>
                <a:effectLst/>
                <a:latin typeface="+mn-lt"/>
                <a:ea typeface="+mn-ea"/>
                <a:cs typeface="+mn-cs"/>
              </a:rPr>
              <a:t>exec</a:t>
            </a:r>
            <a:r>
              <a:rPr lang="zh-CN" altLang="zh-CN" sz="1200" kern="1200" dirty="0" smtClean="0">
                <a:solidFill>
                  <a:schemeClr val="tx1"/>
                </a:solidFill>
                <a:effectLst/>
                <a:latin typeface="+mn-lt"/>
                <a:ea typeface="+mn-ea"/>
                <a:cs typeface="+mn-cs"/>
              </a:rPr>
              <a:t>，避免内存相关数据的复制；</a:t>
            </a:r>
          </a:p>
          <a:p>
            <a:r>
              <a:rPr lang="en-US" altLang="zh-CN" sz="1200" kern="1200" dirty="0" smtClean="0">
                <a:solidFill>
                  <a:schemeClr val="tx1"/>
                </a:solidFill>
                <a:effectLst/>
                <a:latin typeface="+mn-lt"/>
                <a:ea typeface="+mn-ea"/>
                <a:cs typeface="+mn-cs"/>
              </a:rPr>
              <a:t>3</a:t>
            </a:r>
            <a:r>
              <a:rPr lang="zh-CN" altLang="zh-CN"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clone()</a:t>
            </a:r>
            <a:r>
              <a:rPr lang="zh-CN" altLang="zh-CN" sz="1200" kern="1200" dirty="0" smtClean="0">
                <a:solidFill>
                  <a:schemeClr val="tx1"/>
                </a:solidFill>
                <a:effectLst/>
                <a:latin typeface="+mn-lt"/>
                <a:ea typeface="+mn-ea"/>
                <a:cs typeface="+mn-cs"/>
              </a:rPr>
              <a:t>可以选择从父进程继承哪些资源，有兴趣自学。</a:t>
            </a:r>
          </a:p>
          <a:p>
            <a:r>
              <a:rPr lang="en-US" altLang="zh-CN" sz="1200" kern="1200" dirty="0" smtClean="0">
                <a:solidFill>
                  <a:schemeClr val="tx1"/>
                </a:solidFill>
                <a:effectLst/>
                <a:latin typeface="+mn-lt"/>
                <a:ea typeface="+mn-ea"/>
                <a:cs typeface="+mn-cs"/>
              </a:rPr>
              <a:t>4</a:t>
            </a:r>
            <a:r>
              <a:rPr lang="zh-CN" altLang="zh-CN" sz="1200" kern="1200" dirty="0" smtClean="0">
                <a:solidFill>
                  <a:schemeClr val="tx1"/>
                </a:solidFill>
                <a:effectLst/>
                <a:latin typeface="+mn-lt"/>
                <a:ea typeface="+mn-ea"/>
                <a:cs typeface="+mn-cs"/>
              </a:rPr>
              <a:t>）强行终止某进程，</a:t>
            </a:r>
            <a:r>
              <a:rPr lang="en-US" altLang="zh-CN" sz="1200" kern="1200" dirty="0" smtClean="0">
                <a:solidFill>
                  <a:schemeClr val="tx1"/>
                </a:solidFill>
                <a:effectLst/>
                <a:latin typeface="+mn-lt"/>
                <a:ea typeface="+mn-ea"/>
                <a:cs typeface="+mn-cs"/>
              </a:rPr>
              <a:t>kill(</a:t>
            </a:r>
            <a:r>
              <a:rPr lang="en-US" altLang="zh-CN" sz="1200" kern="1200" dirty="0" err="1" smtClean="0">
                <a:solidFill>
                  <a:schemeClr val="tx1"/>
                </a:solidFill>
                <a:effectLst/>
                <a:latin typeface="+mn-lt"/>
                <a:ea typeface="+mn-ea"/>
                <a:cs typeface="+mn-cs"/>
              </a:rPr>
              <a:t>pid</a:t>
            </a:r>
            <a:r>
              <a:rPr lang="en-US" altLang="zh-CN" sz="1200" kern="1200" dirty="0" smtClean="0">
                <a:solidFill>
                  <a:schemeClr val="tx1"/>
                </a:solidFill>
                <a:effectLst/>
                <a:latin typeface="+mn-lt"/>
                <a:ea typeface="+mn-ea"/>
                <a:cs typeface="+mn-cs"/>
              </a:rPr>
              <a:t>, SIGKILL)</a:t>
            </a:r>
            <a:r>
              <a:rPr lang="zh-CN" altLang="zh-CN" sz="1200" kern="1200" dirty="0" smtClean="0">
                <a:solidFill>
                  <a:schemeClr val="tx1"/>
                </a:solidFill>
                <a:effectLst/>
                <a:latin typeface="+mn-lt"/>
                <a:ea typeface="+mn-ea"/>
                <a:cs typeface="+mn-cs"/>
              </a:rPr>
              <a:t>函数，或</a:t>
            </a:r>
            <a:r>
              <a:rPr lang="en-US" altLang="zh-CN" sz="1200" kern="1200" dirty="0" smtClean="0">
                <a:solidFill>
                  <a:schemeClr val="tx1"/>
                </a:solidFill>
                <a:effectLst/>
                <a:latin typeface="+mn-lt"/>
                <a:ea typeface="+mn-ea"/>
                <a:cs typeface="+mn-cs"/>
              </a:rPr>
              <a:t>kill -9 </a:t>
            </a:r>
            <a:r>
              <a:rPr lang="en-US" altLang="zh-CN" sz="1200" kern="1200" dirty="0" err="1" smtClean="0">
                <a:solidFill>
                  <a:schemeClr val="tx1"/>
                </a:solidFill>
                <a:effectLst/>
                <a:latin typeface="+mn-lt"/>
                <a:ea typeface="+mn-ea"/>
                <a:cs typeface="+mn-cs"/>
              </a:rPr>
              <a:t>pid</a:t>
            </a:r>
            <a:r>
              <a:rPr lang="zh-CN" altLang="zh-CN" sz="1200" kern="1200" dirty="0" smtClean="0">
                <a:solidFill>
                  <a:schemeClr val="tx1"/>
                </a:solidFill>
                <a:effectLst/>
                <a:latin typeface="+mn-lt"/>
                <a:ea typeface="+mn-ea"/>
                <a:cs typeface="+mn-cs"/>
              </a:rPr>
              <a:t>命令，不一定父终止子。</a:t>
            </a:r>
          </a:p>
          <a:p>
            <a:r>
              <a:rPr lang="en-US" altLang="zh-CN" sz="1200" kern="1200" dirty="0" smtClean="0">
                <a:solidFill>
                  <a:schemeClr val="tx1"/>
                </a:solidFill>
                <a:effectLst/>
                <a:latin typeface="+mn-lt"/>
                <a:ea typeface="+mn-ea"/>
                <a:cs typeface="+mn-cs"/>
              </a:rPr>
              <a:t>5</a:t>
            </a:r>
            <a:r>
              <a:rPr lang="zh-CN" altLang="zh-CN" sz="1200" kern="1200" dirty="0" smtClean="0">
                <a:solidFill>
                  <a:schemeClr val="tx1"/>
                </a:solidFill>
                <a:effectLst/>
                <a:latin typeface="+mn-lt"/>
                <a:ea typeface="+mn-ea"/>
                <a:cs typeface="+mn-cs"/>
              </a:rPr>
              <a:t>）级联终止，对子进程调用</a:t>
            </a:r>
            <a:r>
              <a:rPr lang="en-US" altLang="zh-CN" sz="1200" kern="1200" dirty="0" err="1" smtClean="0">
                <a:solidFill>
                  <a:schemeClr val="tx1"/>
                </a:solidFill>
                <a:effectLst/>
                <a:latin typeface="+mn-lt"/>
                <a:ea typeface="+mn-ea"/>
                <a:cs typeface="+mn-cs"/>
              </a:rPr>
              <a:t>prctl</a:t>
            </a:r>
            <a:r>
              <a:rPr lang="en-US" altLang="zh-CN" sz="1200" kern="1200" dirty="0" smtClean="0">
                <a:solidFill>
                  <a:schemeClr val="tx1"/>
                </a:solidFill>
                <a:effectLst/>
                <a:latin typeface="+mn-lt"/>
                <a:ea typeface="+mn-ea"/>
                <a:cs typeface="+mn-cs"/>
              </a:rPr>
              <a:t>(PR_SET_PDEATHSIG, SIGKILL)</a:t>
            </a:r>
            <a:r>
              <a:rPr lang="zh-CN" altLang="zh-CN" sz="1200" kern="1200" dirty="0" smtClean="0">
                <a:solidFill>
                  <a:schemeClr val="tx1"/>
                </a:solidFill>
                <a:effectLst/>
                <a:latin typeface="+mn-lt"/>
                <a:ea typeface="+mn-ea"/>
                <a:cs typeface="+mn-cs"/>
              </a:rPr>
              <a:t>，即父进程死亡时，子进程收到</a:t>
            </a:r>
            <a:r>
              <a:rPr lang="en-US" altLang="zh-CN" sz="1200" kern="1200" dirty="0" smtClean="0">
                <a:solidFill>
                  <a:schemeClr val="tx1"/>
                </a:solidFill>
                <a:effectLst/>
                <a:latin typeface="+mn-lt"/>
                <a:ea typeface="+mn-ea"/>
                <a:cs typeface="+mn-cs"/>
              </a:rPr>
              <a:t>SIGKILL</a:t>
            </a:r>
            <a:r>
              <a:rPr lang="zh-CN" altLang="zh-CN" sz="1200" kern="1200" dirty="0" smtClean="0">
                <a:solidFill>
                  <a:schemeClr val="tx1"/>
                </a:solidFill>
                <a:effectLst/>
                <a:latin typeface="+mn-lt"/>
                <a:ea typeface="+mn-ea"/>
                <a:cs typeface="+mn-cs"/>
              </a:rPr>
              <a:t>信号。</a:t>
            </a:r>
          </a:p>
        </p:txBody>
      </p:sp>
      <p:sp>
        <p:nvSpPr>
          <p:cNvPr id="4" name="灯片编号占位符 3"/>
          <p:cNvSpPr>
            <a:spLocks noGrp="1"/>
          </p:cNvSpPr>
          <p:nvPr>
            <p:ph type="sldNum" sz="quarter" idx="10"/>
          </p:nvPr>
        </p:nvSpPr>
        <p:spPr/>
        <p:txBody>
          <a:bodyPr/>
          <a:lstStyle/>
          <a:p>
            <a:fld id="{E585ACA3-2961-3740-91A0-2A6370DAD6B5}" type="slidenum">
              <a:rPr kumimoji="1" lang="zh-CN" altLang="en-US" smtClean="0"/>
              <a:t>61</a:t>
            </a:fld>
            <a:endParaRPr kumimoji="1" lang="zh-CN" altLang="en-US"/>
          </a:p>
        </p:txBody>
      </p:sp>
    </p:spTree>
    <p:extLst>
      <p:ext uri="{BB962C8B-B14F-4D97-AF65-F5344CB8AC3E}">
        <p14:creationId xmlns:p14="http://schemas.microsoft.com/office/powerpoint/2010/main" val="207563063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7" name="Rectangle 11">
            <a:extLst>
              <a:ext uri="{FF2B5EF4-FFF2-40B4-BE49-F238E27FC236}">
                <a16:creationId xmlns:a16="http://schemas.microsoft.com/office/drawing/2014/main" xmlns="" id="{7B338C99-4BFA-EC8E-7B91-F5844CDD83BD}"/>
              </a:ext>
            </a:extLst>
          </p:cNvPr>
          <p:cNvSpPr>
            <a:spLocks noChangeArrowheads="1"/>
          </p:cNvSpPr>
          <p:nvPr/>
        </p:nvSpPr>
        <p:spPr bwMode="auto">
          <a:xfrm flipV="1">
            <a:off x="315915" y="3260759"/>
            <a:ext cx="8693150" cy="55563"/>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1350"/>
          </a:p>
        </p:txBody>
      </p:sp>
      <p:sp>
        <p:nvSpPr>
          <p:cNvPr id="65548" name="Rectangle 12"/>
          <p:cNvSpPr>
            <a:spLocks noGrp="1" noChangeArrowheads="1"/>
          </p:cNvSpPr>
          <p:nvPr>
            <p:ph type="ctrTitle"/>
          </p:nvPr>
        </p:nvSpPr>
        <p:spPr>
          <a:xfrm>
            <a:off x="2088682" y="1828800"/>
            <a:ext cx="6674317" cy="1143000"/>
          </a:xfrm>
        </p:spPr>
        <p:txBody>
          <a:bodyPr/>
          <a:lstStyle>
            <a:lvl1pPr>
              <a:defRPr/>
            </a:lvl1pPr>
          </a:lstStyle>
          <a:p>
            <a:r>
              <a:rPr lang="zh-CN" altLang="en-US" noProof="1" smtClean="0"/>
              <a:t>单击此处编辑母版标题样式</a:t>
            </a:r>
            <a:endParaRPr lang="zh-CN" altLang="en-US" noProof="1"/>
          </a:p>
        </p:txBody>
      </p:sp>
      <p:sp>
        <p:nvSpPr>
          <p:cNvPr id="65549" name="Rectangle 1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r>
              <a:rPr lang="zh-CN" altLang="en-US" noProof="1" smtClean="0"/>
              <a:t>单击此处编辑母版副标题样式</a:t>
            </a:r>
            <a:endParaRPr lang="zh-CN" altLang="en-US" noProof="1"/>
          </a:p>
        </p:txBody>
      </p:sp>
      <p:sp>
        <p:nvSpPr>
          <p:cNvPr id="12" name="Rectangle 14">
            <a:extLst>
              <a:ext uri="{FF2B5EF4-FFF2-40B4-BE49-F238E27FC236}">
                <a16:creationId xmlns:a16="http://schemas.microsoft.com/office/drawing/2014/main" xmlns="" id="{69E201AF-481D-D7F5-F5A3-B7C5682D2571}"/>
              </a:ext>
            </a:extLst>
          </p:cNvPr>
          <p:cNvSpPr>
            <a:spLocks noGrp="1" noChangeArrowheads="1"/>
          </p:cNvSpPr>
          <p:nvPr>
            <p:ph type="dt" sz="half" idx="10"/>
          </p:nvPr>
        </p:nvSpPr>
        <p:spPr>
          <a:xfrm>
            <a:off x="990600" y="6248400"/>
            <a:ext cx="1905000" cy="457200"/>
          </a:xfrm>
        </p:spPr>
        <p:txBody>
          <a:bodyPr/>
          <a:lstStyle>
            <a:lvl1pPr>
              <a:defRPr>
                <a:solidFill>
                  <a:schemeClr val="bg2"/>
                </a:solidFill>
              </a:defRPr>
            </a:lvl1pPr>
          </a:lstStyle>
          <a:p>
            <a:pPr>
              <a:defRPr/>
            </a:pPr>
            <a:endParaRPr lang="en-US" altLang="zh-CN"/>
          </a:p>
        </p:txBody>
      </p:sp>
      <p:sp>
        <p:nvSpPr>
          <p:cNvPr id="13" name="Rectangle 15">
            <a:extLst>
              <a:ext uri="{FF2B5EF4-FFF2-40B4-BE49-F238E27FC236}">
                <a16:creationId xmlns:a16="http://schemas.microsoft.com/office/drawing/2014/main" xmlns="" id="{701192B2-B64A-92F9-322E-CE658D3C1F41}"/>
              </a:ext>
            </a:extLst>
          </p:cNvPr>
          <p:cNvSpPr>
            <a:spLocks noGrp="1" noChangeArrowheads="1"/>
          </p:cNvSpPr>
          <p:nvPr>
            <p:ph type="ftr" sz="quarter" idx="11"/>
          </p:nvPr>
        </p:nvSpPr>
        <p:spPr>
          <a:xfrm>
            <a:off x="3429000" y="6248400"/>
            <a:ext cx="2895600" cy="457200"/>
          </a:xfrm>
          <a:prstGeom prst="rect">
            <a:avLst/>
          </a:prstGeom>
        </p:spPr>
        <p:txBody>
          <a:bodyPr/>
          <a:lstStyle>
            <a:lvl1pPr>
              <a:defRPr>
                <a:solidFill>
                  <a:schemeClr val="bg2"/>
                </a:solidFill>
              </a:defRPr>
            </a:lvl1pPr>
          </a:lstStyle>
          <a:p>
            <a:pPr>
              <a:defRPr/>
            </a:pPr>
            <a:endParaRPr lang="en-US" altLang="zh-CN"/>
          </a:p>
        </p:txBody>
      </p:sp>
      <p:sp>
        <p:nvSpPr>
          <p:cNvPr id="14" name="Rectangle 16">
            <a:extLst>
              <a:ext uri="{FF2B5EF4-FFF2-40B4-BE49-F238E27FC236}">
                <a16:creationId xmlns:a16="http://schemas.microsoft.com/office/drawing/2014/main" xmlns="" id="{1003B9B5-2387-F5A9-AE3D-CEEB0E21370C}"/>
              </a:ext>
            </a:extLst>
          </p:cNvPr>
          <p:cNvSpPr>
            <a:spLocks noGrp="1" noChangeArrowheads="1"/>
          </p:cNvSpPr>
          <p:nvPr>
            <p:ph type="sldNum" sz="quarter" idx="12"/>
          </p:nvPr>
        </p:nvSpPr>
        <p:spPr>
          <a:xfrm>
            <a:off x="6858000" y="6248400"/>
            <a:ext cx="1905000" cy="457200"/>
          </a:xfrm>
        </p:spPr>
        <p:txBody>
          <a:bodyPr/>
          <a:lstStyle>
            <a:lvl1pPr>
              <a:defRPr>
                <a:solidFill>
                  <a:schemeClr val="bg2"/>
                </a:solidFill>
              </a:defRPr>
            </a:lvl1pPr>
          </a:lstStyle>
          <a:p>
            <a:fld id="{6B6F798D-A431-694C-B66B-13A47D786A04}" type="slidenum">
              <a:rPr lang="zh-CN" altLang="en-US"/>
              <a:pPr/>
              <a:t>‹#›</a:t>
            </a:fld>
            <a:endParaRPr lang="zh-CN" altLang="en-US"/>
          </a:p>
        </p:txBody>
      </p:sp>
      <p:pic>
        <p:nvPicPr>
          <p:cNvPr id="15" name="图片 14">
            <a:extLst>
              <a:ext uri="{FF2B5EF4-FFF2-40B4-BE49-F238E27FC236}">
                <a16:creationId xmlns:a16="http://schemas.microsoft.com/office/drawing/2014/main" xmlns="" id="{E26E1406-7E5E-7B8E-2119-BA64BFFD8107}"/>
              </a:ext>
            </a:extLst>
          </p:cNvPr>
          <p:cNvPicPr>
            <a:picLocks noChangeAspect="1"/>
          </p:cNvPicPr>
          <p:nvPr userDrawn="1"/>
        </p:nvPicPr>
        <p:blipFill>
          <a:blip r:embed="rId2"/>
          <a:stretch>
            <a:fillRect/>
          </a:stretch>
        </p:blipFill>
        <p:spPr>
          <a:xfrm>
            <a:off x="381000" y="1071012"/>
            <a:ext cx="1863615" cy="2189747"/>
          </a:xfrm>
          <a:prstGeom prst="rect">
            <a:avLst/>
          </a:prstGeom>
        </p:spPr>
      </p:pic>
      <p:pic>
        <p:nvPicPr>
          <p:cNvPr id="17" name="Picture 6">
            <a:extLst>
              <a:ext uri="{FF2B5EF4-FFF2-40B4-BE49-F238E27FC236}">
                <a16:creationId xmlns:a16="http://schemas.microsoft.com/office/drawing/2014/main" xmlns="" id="{C401CBDC-AA8E-6DF1-BD9D-89438EB384E7}"/>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529093" y="3310673"/>
            <a:ext cx="1414007" cy="254885"/>
          </a:xfrm>
          <a:prstGeom prst="rect">
            <a:avLst/>
          </a:prstGeom>
          <a:solidFill>
            <a:srgbClr val="5D9C89"/>
          </a:solidFill>
        </p:spPr>
      </p:pic>
    </p:spTree>
    <p:extLst>
      <p:ext uri="{BB962C8B-B14F-4D97-AF65-F5344CB8AC3E}">
        <p14:creationId xmlns:p14="http://schemas.microsoft.com/office/powerpoint/2010/main" val="49155191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3600">
                <a:latin typeface="Century" panose="02040604050505020304" pitchFamily="18" charset="0"/>
              </a:defRPr>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p:txBody>
          <a:bodyPr>
            <a:normAutofit/>
          </a:bodyPr>
          <a:lstStyle>
            <a:lvl1pPr hangingPunct="1">
              <a:buClr>
                <a:schemeClr val="accent4"/>
              </a:buClr>
              <a:defRPr sz="3000">
                <a:latin typeface="Century" panose="02040604050505020304" pitchFamily="18" charset="0"/>
              </a:defRPr>
            </a:lvl1pPr>
            <a:lvl2pPr hangingPunct="1">
              <a:buClr>
                <a:srgbClr val="C00000"/>
              </a:buClr>
              <a:defRPr sz="2600">
                <a:latin typeface="Century" panose="02040604050505020304" pitchFamily="18" charset="0"/>
              </a:defRPr>
            </a:lvl2pPr>
            <a:lvl3pPr hangingPunct="1">
              <a:buClr>
                <a:schemeClr val="tx2"/>
              </a:buClr>
              <a:defRPr sz="2200">
                <a:latin typeface="Century" panose="02040604050505020304" pitchFamily="18" charset="0"/>
              </a:defRPr>
            </a:lvl3pPr>
            <a:lvl4pPr hangingPunct="1">
              <a:buClr>
                <a:schemeClr val="accent2">
                  <a:lumMod val="50000"/>
                </a:schemeClr>
              </a:buClr>
              <a:defRPr sz="1800">
                <a:latin typeface="Century" panose="02040604050505020304" pitchFamily="18" charset="0"/>
              </a:defRPr>
            </a:lvl4pPr>
            <a:lvl5pPr hangingPunct="1">
              <a:buClr>
                <a:schemeClr val="accent5">
                  <a:lumMod val="25000"/>
                </a:schemeClr>
              </a:buClr>
              <a:defRPr sz="1800">
                <a:latin typeface="Century" panose="02040604050505020304" pitchFamily="18" charset="0"/>
              </a:defRPr>
            </a:lvl5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Rectangle 11">
            <a:extLst>
              <a:ext uri="{FF2B5EF4-FFF2-40B4-BE49-F238E27FC236}">
                <a16:creationId xmlns:a16="http://schemas.microsoft.com/office/drawing/2014/main" xmlns="" id="{D84B8634-86D3-A0AE-194D-6A15AFAFFACB}"/>
              </a:ext>
            </a:extLst>
          </p:cNvPr>
          <p:cNvSpPr>
            <a:spLocks noGrp="1" noChangeArrowheads="1"/>
          </p:cNvSpPr>
          <p:nvPr>
            <p:ph type="dt" sz="half" idx="10"/>
          </p:nvPr>
        </p:nvSpPr>
        <p:spPr>
          <a:ln/>
        </p:spPr>
        <p:txBody>
          <a:bodyPr/>
          <a:lstStyle>
            <a:lvl1pPr>
              <a:defRPr/>
            </a:lvl1pPr>
          </a:lstStyle>
          <a:p>
            <a:pPr>
              <a:defRPr/>
            </a:pPr>
            <a:endParaRPr lang="en-US" altLang="zh-CN" dirty="0"/>
          </a:p>
        </p:txBody>
      </p:sp>
      <p:sp>
        <p:nvSpPr>
          <p:cNvPr id="5" name="Rectangle 12">
            <a:extLst>
              <a:ext uri="{FF2B5EF4-FFF2-40B4-BE49-F238E27FC236}">
                <a16:creationId xmlns:a16="http://schemas.microsoft.com/office/drawing/2014/main" xmlns="" id="{0723DE67-FDB7-4E97-1714-22C53D101CB2}"/>
              </a:ext>
            </a:extLst>
          </p:cNvPr>
          <p:cNvSpPr>
            <a:spLocks noGrp="1" noChangeArrowheads="1"/>
          </p:cNvSpPr>
          <p:nvPr>
            <p:ph type="ftr" sz="quarter" idx="11"/>
          </p:nvPr>
        </p:nvSpPr>
        <p:spPr>
          <a:xfrm>
            <a:off x="3352800" y="6324600"/>
            <a:ext cx="2895600" cy="457200"/>
          </a:xfrm>
          <a:prstGeom prst="rect">
            <a:avLst/>
          </a:prstGeom>
          <a:ln/>
        </p:spPr>
        <p:txBody>
          <a:bodyPr/>
          <a:lstStyle>
            <a:lvl1pPr>
              <a:defRPr/>
            </a:lvl1pPr>
          </a:lstStyle>
          <a:p>
            <a:pPr>
              <a:defRPr/>
            </a:pPr>
            <a:endParaRPr lang="en-US" altLang="zh-CN" dirty="0"/>
          </a:p>
        </p:txBody>
      </p:sp>
      <p:sp>
        <p:nvSpPr>
          <p:cNvPr id="6" name="Rectangle 13">
            <a:extLst>
              <a:ext uri="{FF2B5EF4-FFF2-40B4-BE49-F238E27FC236}">
                <a16:creationId xmlns:a16="http://schemas.microsoft.com/office/drawing/2014/main" xmlns="" id="{724CAC9F-9A1C-2025-A160-151BDB7FFF03}"/>
              </a:ext>
            </a:extLst>
          </p:cNvPr>
          <p:cNvSpPr>
            <a:spLocks noGrp="1" noChangeArrowheads="1"/>
          </p:cNvSpPr>
          <p:nvPr>
            <p:ph type="sldNum" sz="quarter" idx="12"/>
          </p:nvPr>
        </p:nvSpPr>
        <p:spPr>
          <a:ln/>
        </p:spPr>
        <p:txBody>
          <a:bodyPr/>
          <a:lstStyle>
            <a:lvl1pPr>
              <a:defRPr/>
            </a:lvl1pPr>
          </a:lstStyle>
          <a:p>
            <a:fld id="{4093CC90-4002-504C-BD88-C9A1D374048E}" type="slidenum">
              <a:rPr lang="zh-CN" altLang="en-US" smtClean="0"/>
              <a:pPr/>
              <a:t>‹#›</a:t>
            </a:fld>
            <a:endParaRPr lang="zh-CN" altLang="en-US" dirty="0"/>
          </a:p>
        </p:txBody>
      </p:sp>
    </p:spTree>
    <p:extLst>
      <p:ext uri="{BB962C8B-B14F-4D97-AF65-F5344CB8AC3E}">
        <p14:creationId xmlns:p14="http://schemas.microsoft.com/office/powerpoint/2010/main" val="149586608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6"/>
            <a:ext cx="7772400" cy="1362075"/>
          </a:xfrm>
        </p:spPr>
        <p:txBody>
          <a:bodyPr anchor="t"/>
          <a:lstStyle>
            <a:lvl1pPr algn="l">
              <a:defRPr sz="3000" b="1" cap="all"/>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1500"/>
            </a:lvl1pPr>
            <a:lvl2pPr marL="342884" indent="0">
              <a:buNone/>
              <a:defRPr sz="1350"/>
            </a:lvl2pPr>
            <a:lvl3pPr marL="685766" indent="0">
              <a:buNone/>
              <a:defRPr sz="1200"/>
            </a:lvl3pPr>
            <a:lvl4pPr marL="1028649" indent="0">
              <a:buNone/>
              <a:defRPr sz="1050"/>
            </a:lvl4pPr>
            <a:lvl5pPr marL="1371532" indent="0">
              <a:buNone/>
              <a:defRPr sz="1050"/>
            </a:lvl5pPr>
            <a:lvl6pPr marL="1714415" indent="0">
              <a:buNone/>
              <a:defRPr sz="1050"/>
            </a:lvl6pPr>
            <a:lvl7pPr marL="2057297" indent="0">
              <a:buNone/>
              <a:defRPr sz="1050"/>
            </a:lvl7pPr>
            <a:lvl8pPr marL="2400180" indent="0">
              <a:buNone/>
              <a:defRPr sz="1050"/>
            </a:lvl8pPr>
            <a:lvl9pPr marL="2743064" indent="0">
              <a:buNone/>
              <a:defRPr sz="1050"/>
            </a:lvl9pPr>
          </a:lstStyle>
          <a:p>
            <a:pPr lvl="0"/>
            <a:r>
              <a:rPr lang="zh-CN" altLang="en-US" noProof="1" smtClean="0"/>
              <a:t>单击此处编辑母版文本样式</a:t>
            </a:r>
          </a:p>
        </p:txBody>
      </p:sp>
      <p:sp>
        <p:nvSpPr>
          <p:cNvPr id="7" name="日期占位符 6">
            <a:extLst>
              <a:ext uri="{FF2B5EF4-FFF2-40B4-BE49-F238E27FC236}">
                <a16:creationId xmlns:a16="http://schemas.microsoft.com/office/drawing/2014/main" xmlns="" id="{FFBDFF65-8CBE-FC8E-C2AB-BF39F778E411}"/>
              </a:ext>
            </a:extLst>
          </p:cNvPr>
          <p:cNvSpPr>
            <a:spLocks noGrp="1"/>
          </p:cNvSpPr>
          <p:nvPr>
            <p:ph type="dt" sz="half" idx="10"/>
          </p:nvPr>
        </p:nvSpPr>
        <p:spPr/>
        <p:txBody>
          <a:bodyPr/>
          <a:lstStyle/>
          <a:p>
            <a:pPr>
              <a:defRPr/>
            </a:pPr>
            <a:endParaRPr lang="en-US" altLang="zh-CN" dirty="0"/>
          </a:p>
        </p:txBody>
      </p:sp>
      <p:sp>
        <p:nvSpPr>
          <p:cNvPr id="8" name="页脚占位符 7">
            <a:extLst>
              <a:ext uri="{FF2B5EF4-FFF2-40B4-BE49-F238E27FC236}">
                <a16:creationId xmlns:a16="http://schemas.microsoft.com/office/drawing/2014/main" xmlns="" id="{557BB269-8BCF-19AE-2E4C-4F50A72F7BB4}"/>
              </a:ext>
            </a:extLst>
          </p:cNvPr>
          <p:cNvSpPr>
            <a:spLocks noGrp="1"/>
          </p:cNvSpPr>
          <p:nvPr>
            <p:ph type="ftr" sz="quarter" idx="11"/>
          </p:nvPr>
        </p:nvSpPr>
        <p:spPr>
          <a:xfrm>
            <a:off x="3352800" y="6324600"/>
            <a:ext cx="2895600" cy="457200"/>
          </a:xfrm>
          <a:prstGeom prst="rect">
            <a:avLst/>
          </a:prstGeom>
        </p:spPr>
        <p:txBody>
          <a:bodyPr/>
          <a:lstStyle/>
          <a:p>
            <a:pPr>
              <a:defRPr/>
            </a:pPr>
            <a:endParaRPr lang="en-US" altLang="zh-CN"/>
          </a:p>
        </p:txBody>
      </p:sp>
      <p:sp>
        <p:nvSpPr>
          <p:cNvPr id="9" name="灯片编号占位符 8">
            <a:extLst>
              <a:ext uri="{FF2B5EF4-FFF2-40B4-BE49-F238E27FC236}">
                <a16:creationId xmlns:a16="http://schemas.microsoft.com/office/drawing/2014/main" xmlns="" id="{EC4B4EC5-8D14-B9F8-3A0E-6B6E3FB2CF26}"/>
              </a:ext>
            </a:extLst>
          </p:cNvPr>
          <p:cNvSpPr>
            <a:spLocks noGrp="1"/>
          </p:cNvSpPr>
          <p:nvPr>
            <p:ph type="sldNum" sz="quarter" idx="12"/>
          </p:nvPr>
        </p:nvSpPr>
        <p:spPr/>
        <p:txBody>
          <a:bodyPr/>
          <a:lstStyle/>
          <a:p>
            <a:fld id="{6F73D78D-38BD-D44D-8D86-2D2DB0BEC18B}" type="slidenum">
              <a:rPr lang="zh-CN" altLang="en-US" smtClean="0"/>
              <a:pPr/>
              <a:t>‹#›</a:t>
            </a:fld>
            <a:endParaRPr lang="zh-CN" altLang="en-US" dirty="0"/>
          </a:p>
        </p:txBody>
      </p:sp>
    </p:spTree>
    <p:extLst>
      <p:ext uri="{BB962C8B-B14F-4D97-AF65-F5344CB8AC3E}">
        <p14:creationId xmlns:p14="http://schemas.microsoft.com/office/powerpoint/2010/main" val="436934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935038" y="1233488"/>
            <a:ext cx="3810000" cy="489585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内容占位符 3"/>
          <p:cNvSpPr>
            <a:spLocks noGrp="1"/>
          </p:cNvSpPr>
          <p:nvPr>
            <p:ph sz="half" idx="2"/>
          </p:nvPr>
        </p:nvSpPr>
        <p:spPr>
          <a:xfrm>
            <a:off x="4897438" y="1233488"/>
            <a:ext cx="3810000" cy="489585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5" name="Rectangle 11">
            <a:extLst>
              <a:ext uri="{FF2B5EF4-FFF2-40B4-BE49-F238E27FC236}">
                <a16:creationId xmlns:a16="http://schemas.microsoft.com/office/drawing/2014/main" xmlns="" id="{577088FB-A6B7-73F5-7F94-4748D69CAC80}"/>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2">
            <a:extLst>
              <a:ext uri="{FF2B5EF4-FFF2-40B4-BE49-F238E27FC236}">
                <a16:creationId xmlns:a16="http://schemas.microsoft.com/office/drawing/2014/main" xmlns="" id="{8B037231-D77C-7620-5048-020218A5671E}"/>
              </a:ext>
            </a:extLst>
          </p:cNvPr>
          <p:cNvSpPr>
            <a:spLocks noGrp="1" noChangeArrowheads="1"/>
          </p:cNvSpPr>
          <p:nvPr>
            <p:ph type="ftr" sz="quarter" idx="11"/>
          </p:nvPr>
        </p:nvSpPr>
        <p:spPr>
          <a:xfrm>
            <a:off x="3352800" y="6324600"/>
            <a:ext cx="2895600" cy="457200"/>
          </a:xfrm>
          <a:prstGeom prst="rect">
            <a:avLst/>
          </a:prstGeom>
          <a:ln/>
        </p:spPr>
        <p:txBody>
          <a:bodyPr/>
          <a:lstStyle>
            <a:lvl1pPr>
              <a:defRPr/>
            </a:lvl1pPr>
          </a:lstStyle>
          <a:p>
            <a:pPr>
              <a:defRPr/>
            </a:pPr>
            <a:endParaRPr lang="en-US" altLang="zh-CN"/>
          </a:p>
        </p:txBody>
      </p:sp>
      <p:sp>
        <p:nvSpPr>
          <p:cNvPr id="7" name="Rectangle 13">
            <a:extLst>
              <a:ext uri="{FF2B5EF4-FFF2-40B4-BE49-F238E27FC236}">
                <a16:creationId xmlns:a16="http://schemas.microsoft.com/office/drawing/2014/main" xmlns="" id="{1616081F-299F-D60B-0ECC-280BE114E5F3}"/>
              </a:ext>
            </a:extLst>
          </p:cNvPr>
          <p:cNvSpPr>
            <a:spLocks noGrp="1" noChangeArrowheads="1"/>
          </p:cNvSpPr>
          <p:nvPr>
            <p:ph type="sldNum" sz="quarter" idx="12"/>
          </p:nvPr>
        </p:nvSpPr>
        <p:spPr>
          <a:ln/>
        </p:spPr>
        <p:txBody>
          <a:bodyPr/>
          <a:lstStyle>
            <a:lvl1pPr>
              <a:defRPr/>
            </a:lvl1pPr>
          </a:lstStyle>
          <a:p>
            <a:fld id="{78968A19-278A-0A41-BBE8-65E5D3125EB9}" type="slidenum">
              <a:rPr lang="zh-CN" altLang="en-US"/>
              <a:pPr/>
              <a:t>‹#›</a:t>
            </a:fld>
            <a:endParaRPr lang="zh-CN" altLang="en-US"/>
          </a:p>
        </p:txBody>
      </p:sp>
    </p:spTree>
    <p:extLst>
      <p:ext uri="{BB962C8B-B14F-4D97-AF65-F5344CB8AC3E}">
        <p14:creationId xmlns:p14="http://schemas.microsoft.com/office/powerpoint/2010/main" val="353984707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1800" b="1"/>
            </a:lvl1pPr>
            <a:lvl2pPr marL="342884" indent="0">
              <a:buNone/>
              <a:defRPr sz="1500" b="1"/>
            </a:lvl2pPr>
            <a:lvl3pPr marL="685766" indent="0">
              <a:buNone/>
              <a:defRPr sz="1350" b="1"/>
            </a:lvl3pPr>
            <a:lvl4pPr marL="1028649" indent="0">
              <a:buNone/>
              <a:defRPr sz="1200" b="1"/>
            </a:lvl4pPr>
            <a:lvl5pPr marL="1371532" indent="0">
              <a:buNone/>
              <a:defRPr sz="1200" b="1"/>
            </a:lvl5pPr>
            <a:lvl6pPr marL="1714415" indent="0">
              <a:buNone/>
              <a:defRPr sz="1200" b="1"/>
            </a:lvl6pPr>
            <a:lvl7pPr marL="2057297" indent="0">
              <a:buNone/>
              <a:defRPr sz="1200" b="1"/>
            </a:lvl7pPr>
            <a:lvl8pPr marL="2400180" indent="0">
              <a:buNone/>
              <a:defRPr sz="1200" b="1"/>
            </a:lvl8pPr>
            <a:lvl9pPr marL="2743064" indent="0">
              <a:buNone/>
              <a:defRPr sz="1200" b="1"/>
            </a:lvl9pPr>
          </a:lstStyle>
          <a:p>
            <a:pPr lvl="0"/>
            <a:r>
              <a:rPr lang="zh-CN" altLang="en-US" noProof="1"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4645028" y="1535113"/>
            <a:ext cx="4041775" cy="639762"/>
          </a:xfrm>
        </p:spPr>
        <p:txBody>
          <a:bodyPr anchor="b"/>
          <a:lstStyle>
            <a:lvl1pPr marL="0" indent="0">
              <a:buNone/>
              <a:defRPr sz="1800" b="1"/>
            </a:lvl1pPr>
            <a:lvl2pPr marL="342884" indent="0">
              <a:buNone/>
              <a:defRPr sz="1500" b="1"/>
            </a:lvl2pPr>
            <a:lvl3pPr marL="685766" indent="0">
              <a:buNone/>
              <a:defRPr sz="1350" b="1"/>
            </a:lvl3pPr>
            <a:lvl4pPr marL="1028649" indent="0">
              <a:buNone/>
              <a:defRPr sz="1200" b="1"/>
            </a:lvl4pPr>
            <a:lvl5pPr marL="1371532" indent="0">
              <a:buNone/>
              <a:defRPr sz="1200" b="1"/>
            </a:lvl5pPr>
            <a:lvl6pPr marL="1714415" indent="0">
              <a:buNone/>
              <a:defRPr sz="1200" b="1"/>
            </a:lvl6pPr>
            <a:lvl7pPr marL="2057297" indent="0">
              <a:buNone/>
              <a:defRPr sz="1200" b="1"/>
            </a:lvl7pPr>
            <a:lvl8pPr marL="2400180" indent="0">
              <a:buNone/>
              <a:defRPr sz="1200" b="1"/>
            </a:lvl8pPr>
            <a:lvl9pPr marL="2743064" indent="0">
              <a:buNone/>
              <a:defRPr sz="1200" b="1"/>
            </a:lvl9pPr>
          </a:lstStyle>
          <a:p>
            <a:pPr lvl="0"/>
            <a:r>
              <a:rPr lang="zh-CN" altLang="en-US" noProof="1" smtClean="0"/>
              <a:t>单击此处编辑母版文本样式</a:t>
            </a:r>
          </a:p>
        </p:txBody>
      </p:sp>
      <p:sp>
        <p:nvSpPr>
          <p:cNvPr id="6" name="内容占位符 5"/>
          <p:cNvSpPr>
            <a:spLocks noGrp="1"/>
          </p:cNvSpPr>
          <p:nvPr>
            <p:ph sz="quarter" idx="4"/>
          </p:nvPr>
        </p:nvSpPr>
        <p:spPr>
          <a:xfrm>
            <a:off x="4645028" y="2174875"/>
            <a:ext cx="4041775"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7" name="Rectangle 11">
            <a:extLst>
              <a:ext uri="{FF2B5EF4-FFF2-40B4-BE49-F238E27FC236}">
                <a16:creationId xmlns:a16="http://schemas.microsoft.com/office/drawing/2014/main" xmlns="" id="{68794170-3BE8-63A8-84A0-433E04CC412B}"/>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12">
            <a:extLst>
              <a:ext uri="{FF2B5EF4-FFF2-40B4-BE49-F238E27FC236}">
                <a16:creationId xmlns:a16="http://schemas.microsoft.com/office/drawing/2014/main" xmlns="" id="{4EE836C1-36AB-35B2-63E3-C5C32DFB7DE3}"/>
              </a:ext>
            </a:extLst>
          </p:cNvPr>
          <p:cNvSpPr>
            <a:spLocks noGrp="1" noChangeArrowheads="1"/>
          </p:cNvSpPr>
          <p:nvPr>
            <p:ph type="ftr" sz="quarter" idx="11"/>
          </p:nvPr>
        </p:nvSpPr>
        <p:spPr>
          <a:xfrm>
            <a:off x="3352800" y="6324600"/>
            <a:ext cx="2895600" cy="457200"/>
          </a:xfrm>
          <a:prstGeom prst="rect">
            <a:avLst/>
          </a:prstGeom>
          <a:ln/>
        </p:spPr>
        <p:txBody>
          <a:bodyPr/>
          <a:lstStyle>
            <a:lvl1pPr>
              <a:defRPr/>
            </a:lvl1pPr>
          </a:lstStyle>
          <a:p>
            <a:pPr>
              <a:defRPr/>
            </a:pPr>
            <a:endParaRPr lang="en-US" altLang="zh-CN"/>
          </a:p>
        </p:txBody>
      </p:sp>
      <p:sp>
        <p:nvSpPr>
          <p:cNvPr id="9" name="Rectangle 13">
            <a:extLst>
              <a:ext uri="{FF2B5EF4-FFF2-40B4-BE49-F238E27FC236}">
                <a16:creationId xmlns:a16="http://schemas.microsoft.com/office/drawing/2014/main" xmlns="" id="{A14EBA2A-C5A1-FF69-4383-F487A84086FC}"/>
              </a:ext>
            </a:extLst>
          </p:cNvPr>
          <p:cNvSpPr>
            <a:spLocks noGrp="1" noChangeArrowheads="1"/>
          </p:cNvSpPr>
          <p:nvPr>
            <p:ph type="sldNum" sz="quarter" idx="12"/>
          </p:nvPr>
        </p:nvSpPr>
        <p:spPr>
          <a:ln/>
        </p:spPr>
        <p:txBody>
          <a:bodyPr/>
          <a:lstStyle>
            <a:lvl1pPr>
              <a:defRPr/>
            </a:lvl1pPr>
          </a:lstStyle>
          <a:p>
            <a:fld id="{A45D52E0-A696-0244-8333-2084DA18EEE0}" type="slidenum">
              <a:rPr lang="zh-CN" altLang="en-US"/>
              <a:pPr/>
              <a:t>‹#›</a:t>
            </a:fld>
            <a:endParaRPr lang="zh-CN" altLang="en-US"/>
          </a:p>
        </p:txBody>
      </p:sp>
    </p:spTree>
    <p:extLst>
      <p:ext uri="{BB962C8B-B14F-4D97-AF65-F5344CB8AC3E}">
        <p14:creationId xmlns:p14="http://schemas.microsoft.com/office/powerpoint/2010/main" val="296366591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Rectangle 11">
            <a:extLst>
              <a:ext uri="{FF2B5EF4-FFF2-40B4-BE49-F238E27FC236}">
                <a16:creationId xmlns:a16="http://schemas.microsoft.com/office/drawing/2014/main" xmlns="" id="{90622892-0589-9624-9441-6D3D8D420ACA}"/>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12">
            <a:extLst>
              <a:ext uri="{FF2B5EF4-FFF2-40B4-BE49-F238E27FC236}">
                <a16:creationId xmlns:a16="http://schemas.microsoft.com/office/drawing/2014/main" xmlns="" id="{DE3302D8-0022-5549-6AF3-C9DF37FD08A8}"/>
              </a:ext>
            </a:extLst>
          </p:cNvPr>
          <p:cNvSpPr>
            <a:spLocks noGrp="1" noChangeArrowheads="1"/>
          </p:cNvSpPr>
          <p:nvPr>
            <p:ph type="ftr" sz="quarter" idx="11"/>
          </p:nvPr>
        </p:nvSpPr>
        <p:spPr>
          <a:xfrm>
            <a:off x="3352800" y="6324600"/>
            <a:ext cx="2895600" cy="457200"/>
          </a:xfrm>
          <a:prstGeom prst="rect">
            <a:avLst/>
          </a:prstGeom>
          <a:ln/>
        </p:spPr>
        <p:txBody>
          <a:bodyPr/>
          <a:lstStyle>
            <a:lvl1pPr>
              <a:defRPr/>
            </a:lvl1pPr>
          </a:lstStyle>
          <a:p>
            <a:pPr>
              <a:defRPr/>
            </a:pPr>
            <a:endParaRPr lang="en-US" altLang="zh-CN"/>
          </a:p>
        </p:txBody>
      </p:sp>
      <p:sp>
        <p:nvSpPr>
          <p:cNvPr id="5" name="Rectangle 13">
            <a:extLst>
              <a:ext uri="{FF2B5EF4-FFF2-40B4-BE49-F238E27FC236}">
                <a16:creationId xmlns:a16="http://schemas.microsoft.com/office/drawing/2014/main" xmlns="" id="{5BAF381E-A9DD-B4FB-A99D-D6A7443039BB}"/>
              </a:ext>
            </a:extLst>
          </p:cNvPr>
          <p:cNvSpPr>
            <a:spLocks noGrp="1" noChangeArrowheads="1"/>
          </p:cNvSpPr>
          <p:nvPr>
            <p:ph type="sldNum" sz="quarter" idx="12"/>
          </p:nvPr>
        </p:nvSpPr>
        <p:spPr>
          <a:ln/>
        </p:spPr>
        <p:txBody>
          <a:bodyPr/>
          <a:lstStyle>
            <a:lvl1pPr>
              <a:defRPr/>
            </a:lvl1pPr>
          </a:lstStyle>
          <a:p>
            <a:fld id="{4DE15609-3D60-D842-9ED4-D898F320B191}" type="slidenum">
              <a:rPr lang="zh-CN" altLang="en-US"/>
              <a:pPr/>
              <a:t>‹#›</a:t>
            </a:fld>
            <a:endParaRPr lang="zh-CN" altLang="en-US"/>
          </a:p>
        </p:txBody>
      </p:sp>
    </p:spTree>
    <p:extLst>
      <p:ext uri="{BB962C8B-B14F-4D97-AF65-F5344CB8AC3E}">
        <p14:creationId xmlns:p14="http://schemas.microsoft.com/office/powerpoint/2010/main" val="375237560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1">
            <a:extLst>
              <a:ext uri="{FF2B5EF4-FFF2-40B4-BE49-F238E27FC236}">
                <a16:creationId xmlns:a16="http://schemas.microsoft.com/office/drawing/2014/main" xmlns="" id="{31F610FA-62F8-3A69-9BB8-68EAD4093A77}"/>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12">
            <a:extLst>
              <a:ext uri="{FF2B5EF4-FFF2-40B4-BE49-F238E27FC236}">
                <a16:creationId xmlns:a16="http://schemas.microsoft.com/office/drawing/2014/main" xmlns="" id="{030F8BB0-0FEC-EDAC-A497-49A707FDB0DF}"/>
              </a:ext>
            </a:extLst>
          </p:cNvPr>
          <p:cNvSpPr>
            <a:spLocks noGrp="1" noChangeArrowheads="1"/>
          </p:cNvSpPr>
          <p:nvPr>
            <p:ph type="ftr" sz="quarter" idx="11"/>
          </p:nvPr>
        </p:nvSpPr>
        <p:spPr>
          <a:xfrm>
            <a:off x="3352800" y="6324600"/>
            <a:ext cx="2895600" cy="457200"/>
          </a:xfrm>
          <a:prstGeom prst="rect">
            <a:avLst/>
          </a:prstGeom>
          <a:ln/>
        </p:spPr>
        <p:txBody>
          <a:bodyPr/>
          <a:lstStyle>
            <a:lvl1pPr>
              <a:defRPr/>
            </a:lvl1pPr>
          </a:lstStyle>
          <a:p>
            <a:pPr>
              <a:defRPr/>
            </a:pPr>
            <a:endParaRPr lang="en-US" altLang="zh-CN"/>
          </a:p>
        </p:txBody>
      </p:sp>
      <p:sp>
        <p:nvSpPr>
          <p:cNvPr id="4" name="Rectangle 13">
            <a:extLst>
              <a:ext uri="{FF2B5EF4-FFF2-40B4-BE49-F238E27FC236}">
                <a16:creationId xmlns:a16="http://schemas.microsoft.com/office/drawing/2014/main" xmlns="" id="{1004B668-435E-6B54-9B71-30E6E86C672E}"/>
              </a:ext>
            </a:extLst>
          </p:cNvPr>
          <p:cNvSpPr>
            <a:spLocks noGrp="1" noChangeArrowheads="1"/>
          </p:cNvSpPr>
          <p:nvPr>
            <p:ph type="sldNum" sz="quarter" idx="12"/>
          </p:nvPr>
        </p:nvSpPr>
        <p:spPr>
          <a:ln/>
        </p:spPr>
        <p:txBody>
          <a:bodyPr/>
          <a:lstStyle>
            <a:lvl1pPr>
              <a:defRPr/>
            </a:lvl1pPr>
          </a:lstStyle>
          <a:p>
            <a:fld id="{8C438AA8-90D7-9745-B439-F7E019CC101C}" type="slidenum">
              <a:rPr lang="zh-CN" altLang="en-US"/>
              <a:pPr/>
              <a:t>‹#›</a:t>
            </a:fld>
            <a:endParaRPr lang="zh-CN" altLang="en-US"/>
          </a:p>
        </p:txBody>
      </p:sp>
    </p:spTree>
    <p:extLst>
      <p:ext uri="{BB962C8B-B14F-4D97-AF65-F5344CB8AC3E}">
        <p14:creationId xmlns:p14="http://schemas.microsoft.com/office/powerpoint/2010/main" val="67561539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2" y="273050"/>
            <a:ext cx="3008313" cy="1162050"/>
          </a:xfrm>
        </p:spPr>
        <p:txBody>
          <a:bodyPr/>
          <a:lstStyle>
            <a:lvl1pPr algn="l">
              <a:defRPr sz="1500" b="1"/>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3575050" y="273056"/>
            <a:ext cx="5111750"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457202" y="1435103"/>
            <a:ext cx="3008313" cy="4691063"/>
          </a:xfrm>
        </p:spPr>
        <p:txBody>
          <a:bodyPr/>
          <a:lstStyle>
            <a:lvl1pPr marL="0" indent="0">
              <a:buNone/>
              <a:defRPr sz="1050"/>
            </a:lvl1pPr>
            <a:lvl2pPr marL="342884" indent="0">
              <a:buNone/>
              <a:defRPr sz="900"/>
            </a:lvl2pPr>
            <a:lvl3pPr marL="685766" indent="0">
              <a:buNone/>
              <a:defRPr sz="750"/>
            </a:lvl3pPr>
            <a:lvl4pPr marL="1028649" indent="0">
              <a:buNone/>
              <a:defRPr sz="675"/>
            </a:lvl4pPr>
            <a:lvl5pPr marL="1371532" indent="0">
              <a:buNone/>
              <a:defRPr sz="675"/>
            </a:lvl5pPr>
            <a:lvl6pPr marL="1714415" indent="0">
              <a:buNone/>
              <a:defRPr sz="675"/>
            </a:lvl6pPr>
            <a:lvl7pPr marL="2057297" indent="0">
              <a:buNone/>
              <a:defRPr sz="675"/>
            </a:lvl7pPr>
            <a:lvl8pPr marL="2400180" indent="0">
              <a:buNone/>
              <a:defRPr sz="675"/>
            </a:lvl8pPr>
            <a:lvl9pPr marL="2743064" indent="0">
              <a:buNone/>
              <a:defRPr sz="675"/>
            </a:lvl9pPr>
          </a:lstStyle>
          <a:p>
            <a:pPr lvl="0"/>
            <a:r>
              <a:rPr lang="zh-CN" altLang="en-US" noProof="1" smtClean="0"/>
              <a:t>单击此处编辑母版文本样式</a:t>
            </a:r>
          </a:p>
        </p:txBody>
      </p:sp>
      <p:sp>
        <p:nvSpPr>
          <p:cNvPr id="5" name="Rectangle 11">
            <a:extLst>
              <a:ext uri="{FF2B5EF4-FFF2-40B4-BE49-F238E27FC236}">
                <a16:creationId xmlns:a16="http://schemas.microsoft.com/office/drawing/2014/main" xmlns="" id="{077BF47D-FB2C-CA75-3290-9D390F1A1B8D}"/>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2">
            <a:extLst>
              <a:ext uri="{FF2B5EF4-FFF2-40B4-BE49-F238E27FC236}">
                <a16:creationId xmlns:a16="http://schemas.microsoft.com/office/drawing/2014/main" xmlns="" id="{FCEDDD16-8334-8815-AE79-D96BE28013B5}"/>
              </a:ext>
            </a:extLst>
          </p:cNvPr>
          <p:cNvSpPr>
            <a:spLocks noGrp="1" noChangeArrowheads="1"/>
          </p:cNvSpPr>
          <p:nvPr>
            <p:ph type="ftr" sz="quarter" idx="11"/>
          </p:nvPr>
        </p:nvSpPr>
        <p:spPr>
          <a:xfrm>
            <a:off x="3352800" y="6324600"/>
            <a:ext cx="2895600" cy="457200"/>
          </a:xfrm>
          <a:prstGeom prst="rect">
            <a:avLst/>
          </a:prstGeom>
          <a:ln/>
        </p:spPr>
        <p:txBody>
          <a:bodyPr/>
          <a:lstStyle>
            <a:lvl1pPr>
              <a:defRPr/>
            </a:lvl1pPr>
          </a:lstStyle>
          <a:p>
            <a:pPr>
              <a:defRPr/>
            </a:pPr>
            <a:endParaRPr lang="en-US" altLang="zh-CN"/>
          </a:p>
        </p:txBody>
      </p:sp>
      <p:sp>
        <p:nvSpPr>
          <p:cNvPr id="7" name="Rectangle 13">
            <a:extLst>
              <a:ext uri="{FF2B5EF4-FFF2-40B4-BE49-F238E27FC236}">
                <a16:creationId xmlns:a16="http://schemas.microsoft.com/office/drawing/2014/main" xmlns="" id="{EF672E88-31B4-2E74-6924-50EA7B00DFE2}"/>
              </a:ext>
            </a:extLst>
          </p:cNvPr>
          <p:cNvSpPr>
            <a:spLocks noGrp="1" noChangeArrowheads="1"/>
          </p:cNvSpPr>
          <p:nvPr>
            <p:ph type="sldNum" sz="quarter" idx="12"/>
          </p:nvPr>
        </p:nvSpPr>
        <p:spPr>
          <a:ln/>
        </p:spPr>
        <p:txBody>
          <a:bodyPr/>
          <a:lstStyle>
            <a:lvl1pPr>
              <a:defRPr/>
            </a:lvl1pPr>
          </a:lstStyle>
          <a:p>
            <a:fld id="{D70B590F-D627-7E4E-9EE8-F0575448761B}" type="slidenum">
              <a:rPr lang="zh-CN" altLang="en-US"/>
              <a:pPr/>
              <a:t>‹#›</a:t>
            </a:fld>
            <a:endParaRPr lang="zh-CN" altLang="en-US"/>
          </a:p>
        </p:txBody>
      </p:sp>
    </p:spTree>
    <p:extLst>
      <p:ext uri="{BB962C8B-B14F-4D97-AF65-F5344CB8AC3E}">
        <p14:creationId xmlns:p14="http://schemas.microsoft.com/office/powerpoint/2010/main" val="224661165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1500" b="1"/>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p:spPr>
        <p:txBody>
          <a:bodyPr/>
          <a:lstStyle>
            <a:lvl1pPr marL="0" indent="0">
              <a:buNone/>
              <a:defRPr sz="2400"/>
            </a:lvl1pPr>
            <a:lvl2pPr marL="342884" indent="0">
              <a:buNone/>
              <a:defRPr sz="2100"/>
            </a:lvl2pPr>
            <a:lvl3pPr marL="685766" indent="0">
              <a:buNone/>
              <a:defRPr sz="1800"/>
            </a:lvl3pPr>
            <a:lvl4pPr marL="1028649" indent="0">
              <a:buNone/>
              <a:defRPr sz="1500"/>
            </a:lvl4pPr>
            <a:lvl5pPr marL="1371532" indent="0">
              <a:buNone/>
              <a:defRPr sz="1500"/>
            </a:lvl5pPr>
            <a:lvl6pPr marL="1714415" indent="0">
              <a:buNone/>
              <a:defRPr sz="1500"/>
            </a:lvl6pPr>
            <a:lvl7pPr marL="2057297" indent="0">
              <a:buNone/>
              <a:defRPr sz="1500"/>
            </a:lvl7pPr>
            <a:lvl8pPr marL="2400180" indent="0">
              <a:buNone/>
              <a:defRPr sz="1500"/>
            </a:lvl8pPr>
            <a:lvl9pPr marL="2743064" indent="0">
              <a:buNone/>
              <a:defRPr sz="1500"/>
            </a:lvl9pPr>
          </a:lstStyle>
          <a:p>
            <a:pPr lvl="0"/>
            <a:r>
              <a:rPr lang="zh-CN" altLang="en-US" noProof="0" smtClean="0"/>
              <a:t>单击图标添加图片</a:t>
            </a:r>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050"/>
            </a:lvl1pPr>
            <a:lvl2pPr marL="342884" indent="0">
              <a:buNone/>
              <a:defRPr sz="900"/>
            </a:lvl2pPr>
            <a:lvl3pPr marL="685766" indent="0">
              <a:buNone/>
              <a:defRPr sz="750"/>
            </a:lvl3pPr>
            <a:lvl4pPr marL="1028649" indent="0">
              <a:buNone/>
              <a:defRPr sz="675"/>
            </a:lvl4pPr>
            <a:lvl5pPr marL="1371532" indent="0">
              <a:buNone/>
              <a:defRPr sz="675"/>
            </a:lvl5pPr>
            <a:lvl6pPr marL="1714415" indent="0">
              <a:buNone/>
              <a:defRPr sz="675"/>
            </a:lvl6pPr>
            <a:lvl7pPr marL="2057297" indent="0">
              <a:buNone/>
              <a:defRPr sz="675"/>
            </a:lvl7pPr>
            <a:lvl8pPr marL="2400180" indent="0">
              <a:buNone/>
              <a:defRPr sz="675"/>
            </a:lvl8pPr>
            <a:lvl9pPr marL="2743064" indent="0">
              <a:buNone/>
              <a:defRPr sz="675"/>
            </a:lvl9pPr>
          </a:lstStyle>
          <a:p>
            <a:pPr lvl="0"/>
            <a:r>
              <a:rPr lang="zh-CN" altLang="en-US" noProof="1" smtClean="0"/>
              <a:t>单击此处编辑母版文本样式</a:t>
            </a:r>
          </a:p>
        </p:txBody>
      </p:sp>
      <p:sp>
        <p:nvSpPr>
          <p:cNvPr id="5" name="Rectangle 11">
            <a:extLst>
              <a:ext uri="{FF2B5EF4-FFF2-40B4-BE49-F238E27FC236}">
                <a16:creationId xmlns:a16="http://schemas.microsoft.com/office/drawing/2014/main" xmlns="" id="{7DF7E1FA-7229-6F80-9195-95494C6B6D4F}"/>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2">
            <a:extLst>
              <a:ext uri="{FF2B5EF4-FFF2-40B4-BE49-F238E27FC236}">
                <a16:creationId xmlns:a16="http://schemas.microsoft.com/office/drawing/2014/main" xmlns="" id="{BA7BEB0C-60AB-4B90-0858-DC9F851CFC63}"/>
              </a:ext>
            </a:extLst>
          </p:cNvPr>
          <p:cNvSpPr>
            <a:spLocks noGrp="1" noChangeArrowheads="1"/>
          </p:cNvSpPr>
          <p:nvPr>
            <p:ph type="ftr" sz="quarter" idx="11"/>
          </p:nvPr>
        </p:nvSpPr>
        <p:spPr>
          <a:xfrm>
            <a:off x="3352800" y="6324600"/>
            <a:ext cx="2895600" cy="457200"/>
          </a:xfrm>
          <a:prstGeom prst="rect">
            <a:avLst/>
          </a:prstGeom>
          <a:ln/>
        </p:spPr>
        <p:txBody>
          <a:bodyPr/>
          <a:lstStyle>
            <a:lvl1pPr>
              <a:defRPr/>
            </a:lvl1pPr>
          </a:lstStyle>
          <a:p>
            <a:pPr>
              <a:defRPr/>
            </a:pPr>
            <a:endParaRPr lang="en-US" altLang="zh-CN"/>
          </a:p>
        </p:txBody>
      </p:sp>
      <p:sp>
        <p:nvSpPr>
          <p:cNvPr id="7" name="Rectangle 13">
            <a:extLst>
              <a:ext uri="{FF2B5EF4-FFF2-40B4-BE49-F238E27FC236}">
                <a16:creationId xmlns:a16="http://schemas.microsoft.com/office/drawing/2014/main" xmlns="" id="{C8113A4C-B97F-6D35-E97A-9BCA743B1036}"/>
              </a:ext>
            </a:extLst>
          </p:cNvPr>
          <p:cNvSpPr>
            <a:spLocks noGrp="1" noChangeArrowheads="1"/>
          </p:cNvSpPr>
          <p:nvPr>
            <p:ph type="sldNum" sz="quarter" idx="12"/>
          </p:nvPr>
        </p:nvSpPr>
        <p:spPr>
          <a:ln/>
        </p:spPr>
        <p:txBody>
          <a:bodyPr/>
          <a:lstStyle>
            <a:lvl1pPr>
              <a:defRPr/>
            </a:lvl1pPr>
          </a:lstStyle>
          <a:p>
            <a:fld id="{A75CE171-2466-3E49-953C-8D9416E27C46}" type="slidenum">
              <a:rPr lang="zh-CN" altLang="en-US"/>
              <a:pPr/>
              <a:t>‹#›</a:t>
            </a:fld>
            <a:endParaRPr lang="zh-CN" altLang="en-US"/>
          </a:p>
        </p:txBody>
      </p:sp>
    </p:spTree>
    <p:extLst>
      <p:ext uri="{BB962C8B-B14F-4D97-AF65-F5344CB8AC3E}">
        <p14:creationId xmlns:p14="http://schemas.microsoft.com/office/powerpoint/2010/main" val="204272705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Rectangle 11">
            <a:extLst>
              <a:ext uri="{FF2B5EF4-FFF2-40B4-BE49-F238E27FC236}">
                <a16:creationId xmlns:a16="http://schemas.microsoft.com/office/drawing/2014/main" xmlns="" id="{8969790B-5FDE-ACFE-CBF8-D6D25FB97810}"/>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2">
            <a:extLst>
              <a:ext uri="{FF2B5EF4-FFF2-40B4-BE49-F238E27FC236}">
                <a16:creationId xmlns:a16="http://schemas.microsoft.com/office/drawing/2014/main" xmlns="" id="{042DD340-A062-ECA2-BACD-72DF641D7A99}"/>
              </a:ext>
            </a:extLst>
          </p:cNvPr>
          <p:cNvSpPr>
            <a:spLocks noGrp="1" noChangeArrowheads="1"/>
          </p:cNvSpPr>
          <p:nvPr>
            <p:ph type="ftr" sz="quarter" idx="11"/>
          </p:nvPr>
        </p:nvSpPr>
        <p:spPr>
          <a:xfrm>
            <a:off x="3352800" y="6324600"/>
            <a:ext cx="2895600" cy="457200"/>
          </a:xfrm>
          <a:prstGeom prst="rect">
            <a:avLst/>
          </a:prstGeom>
          <a:ln/>
        </p:spPr>
        <p:txBody>
          <a:bodyPr/>
          <a:lstStyle>
            <a:lvl1pPr>
              <a:defRPr/>
            </a:lvl1pPr>
          </a:lstStyle>
          <a:p>
            <a:pPr>
              <a:defRPr/>
            </a:pPr>
            <a:endParaRPr lang="en-US" altLang="zh-CN"/>
          </a:p>
        </p:txBody>
      </p:sp>
      <p:sp>
        <p:nvSpPr>
          <p:cNvPr id="6" name="Rectangle 13">
            <a:extLst>
              <a:ext uri="{FF2B5EF4-FFF2-40B4-BE49-F238E27FC236}">
                <a16:creationId xmlns:a16="http://schemas.microsoft.com/office/drawing/2014/main" xmlns="" id="{5A990D87-E397-DDBA-9741-B7BDB82788A5}"/>
              </a:ext>
            </a:extLst>
          </p:cNvPr>
          <p:cNvSpPr>
            <a:spLocks noGrp="1" noChangeArrowheads="1"/>
          </p:cNvSpPr>
          <p:nvPr>
            <p:ph type="sldNum" sz="quarter" idx="12"/>
          </p:nvPr>
        </p:nvSpPr>
        <p:spPr>
          <a:ln/>
        </p:spPr>
        <p:txBody>
          <a:bodyPr/>
          <a:lstStyle>
            <a:lvl1pPr>
              <a:defRPr/>
            </a:lvl1pPr>
          </a:lstStyle>
          <a:p>
            <a:fld id="{DE6A2B9D-4C43-344E-A3AD-CDEFA12D4607}" type="slidenum">
              <a:rPr lang="zh-CN" altLang="en-US"/>
              <a:pPr/>
              <a:t>‹#›</a:t>
            </a:fld>
            <a:endParaRPr lang="zh-CN" altLang="en-US"/>
          </a:p>
        </p:txBody>
      </p:sp>
    </p:spTree>
    <p:extLst>
      <p:ext uri="{BB962C8B-B14F-4D97-AF65-F5344CB8AC3E}">
        <p14:creationId xmlns:p14="http://schemas.microsoft.com/office/powerpoint/2010/main" val="371237527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904041" y="225431"/>
            <a:ext cx="1989137" cy="5903913"/>
          </a:xfr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935038" y="225431"/>
            <a:ext cx="5816600" cy="5903913"/>
          </a:xfrm>
        </p:spPr>
        <p:txBody>
          <a:bodyPr vert="eaVert"/>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Rectangle 11">
            <a:extLst>
              <a:ext uri="{FF2B5EF4-FFF2-40B4-BE49-F238E27FC236}">
                <a16:creationId xmlns:a16="http://schemas.microsoft.com/office/drawing/2014/main" xmlns="" id="{BB6D72A0-9ACC-FB01-B500-09347F0725E8}"/>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2">
            <a:extLst>
              <a:ext uri="{FF2B5EF4-FFF2-40B4-BE49-F238E27FC236}">
                <a16:creationId xmlns:a16="http://schemas.microsoft.com/office/drawing/2014/main" xmlns="" id="{1C2E9BFB-3F4C-57E7-BA00-4AD71CFAAD32}"/>
              </a:ext>
            </a:extLst>
          </p:cNvPr>
          <p:cNvSpPr>
            <a:spLocks noGrp="1" noChangeArrowheads="1"/>
          </p:cNvSpPr>
          <p:nvPr>
            <p:ph type="ftr" sz="quarter" idx="11"/>
          </p:nvPr>
        </p:nvSpPr>
        <p:spPr>
          <a:xfrm>
            <a:off x="3352800" y="6324600"/>
            <a:ext cx="2895600" cy="457200"/>
          </a:xfrm>
          <a:prstGeom prst="rect">
            <a:avLst/>
          </a:prstGeom>
          <a:ln/>
        </p:spPr>
        <p:txBody>
          <a:bodyPr/>
          <a:lstStyle>
            <a:lvl1pPr>
              <a:defRPr/>
            </a:lvl1pPr>
          </a:lstStyle>
          <a:p>
            <a:pPr>
              <a:defRPr/>
            </a:pPr>
            <a:endParaRPr lang="en-US" altLang="zh-CN"/>
          </a:p>
        </p:txBody>
      </p:sp>
      <p:sp>
        <p:nvSpPr>
          <p:cNvPr id="6" name="Rectangle 13">
            <a:extLst>
              <a:ext uri="{FF2B5EF4-FFF2-40B4-BE49-F238E27FC236}">
                <a16:creationId xmlns:a16="http://schemas.microsoft.com/office/drawing/2014/main" xmlns="" id="{04462F64-AE9C-AD7E-F866-AAEDC027A672}"/>
              </a:ext>
            </a:extLst>
          </p:cNvPr>
          <p:cNvSpPr>
            <a:spLocks noGrp="1" noChangeArrowheads="1"/>
          </p:cNvSpPr>
          <p:nvPr>
            <p:ph type="sldNum" sz="quarter" idx="12"/>
          </p:nvPr>
        </p:nvSpPr>
        <p:spPr>
          <a:ln/>
        </p:spPr>
        <p:txBody>
          <a:bodyPr/>
          <a:lstStyle>
            <a:lvl1pPr>
              <a:defRPr/>
            </a:lvl1pPr>
          </a:lstStyle>
          <a:p>
            <a:fld id="{854D01F4-2BF8-A745-90E2-0A334AE3AAFA}" type="slidenum">
              <a:rPr lang="zh-CN" altLang="en-US"/>
              <a:pPr/>
              <a:t>‹#›</a:t>
            </a:fld>
            <a:endParaRPr lang="zh-CN" altLang="en-US"/>
          </a:p>
        </p:txBody>
      </p:sp>
    </p:spTree>
    <p:extLst>
      <p:ext uri="{BB962C8B-B14F-4D97-AF65-F5344CB8AC3E}">
        <p14:creationId xmlns:p14="http://schemas.microsoft.com/office/powerpoint/2010/main" val="246772258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hart" preserve="1">
  <p:cSld name="标题，文本与图表">
    <p:spTree>
      <p:nvGrpSpPr>
        <p:cNvPr id="1" name=""/>
        <p:cNvGrpSpPr/>
        <p:nvPr/>
      </p:nvGrpSpPr>
      <p:grpSpPr>
        <a:xfrm>
          <a:off x="0" y="0"/>
          <a:ext cx="0" cy="0"/>
          <a:chOff x="0" y="0"/>
          <a:chExt cx="0" cy="0"/>
        </a:xfrm>
      </p:grpSpPr>
      <p:sp>
        <p:nvSpPr>
          <p:cNvPr id="2" name="标题 1"/>
          <p:cNvSpPr>
            <a:spLocks noGrp="1"/>
          </p:cNvSpPr>
          <p:nvPr>
            <p:ph type="title"/>
          </p:nvPr>
        </p:nvSpPr>
        <p:spPr>
          <a:xfrm>
            <a:off x="1042988" y="225431"/>
            <a:ext cx="7850187" cy="746125"/>
          </a:xfrm>
        </p:spPr>
        <p:txBody>
          <a:bodyPr/>
          <a:lstStyle/>
          <a:p>
            <a:r>
              <a:rPr lang="zh-CN" altLang="en-US" noProof="1" smtClean="0"/>
              <a:t>单击此处编辑母版标题样式</a:t>
            </a:r>
            <a:endParaRPr lang="zh-CN" altLang="en-US" noProof="1"/>
          </a:p>
        </p:txBody>
      </p:sp>
      <p:sp>
        <p:nvSpPr>
          <p:cNvPr id="3" name="文本占位符 2"/>
          <p:cNvSpPr>
            <a:spLocks noGrp="1"/>
          </p:cNvSpPr>
          <p:nvPr>
            <p:ph type="body" sz="half" idx="1"/>
          </p:nvPr>
        </p:nvSpPr>
        <p:spPr>
          <a:xfrm>
            <a:off x="935038" y="1233488"/>
            <a:ext cx="3810000" cy="4895850"/>
          </a:xfrm>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图表占位符 3"/>
          <p:cNvSpPr>
            <a:spLocks noGrp="1"/>
          </p:cNvSpPr>
          <p:nvPr>
            <p:ph type="chart" sz="half" idx="2"/>
          </p:nvPr>
        </p:nvSpPr>
        <p:spPr>
          <a:xfrm>
            <a:off x="4897438" y="1233488"/>
            <a:ext cx="3810000" cy="4895850"/>
          </a:xfrm>
        </p:spPr>
        <p:txBody>
          <a:bodyPr/>
          <a:lstStyle/>
          <a:p>
            <a:pPr lvl="0"/>
            <a:r>
              <a:rPr lang="zh-CN" altLang="en-US" noProof="0" smtClean="0"/>
              <a:t>单击图标添加图表</a:t>
            </a:r>
            <a:endParaRPr lang="zh-CN" altLang="en-US" noProof="0"/>
          </a:p>
        </p:txBody>
      </p:sp>
      <p:sp>
        <p:nvSpPr>
          <p:cNvPr id="5" name="Rectangle 11">
            <a:extLst>
              <a:ext uri="{FF2B5EF4-FFF2-40B4-BE49-F238E27FC236}">
                <a16:creationId xmlns:a16="http://schemas.microsoft.com/office/drawing/2014/main" xmlns="" id="{EF4DAB6F-0109-F932-D41D-114D2B361EAF}"/>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2">
            <a:extLst>
              <a:ext uri="{FF2B5EF4-FFF2-40B4-BE49-F238E27FC236}">
                <a16:creationId xmlns:a16="http://schemas.microsoft.com/office/drawing/2014/main" xmlns="" id="{3B9B9A9B-4F44-E332-8013-87B918E44541}"/>
              </a:ext>
            </a:extLst>
          </p:cNvPr>
          <p:cNvSpPr>
            <a:spLocks noGrp="1" noChangeArrowheads="1"/>
          </p:cNvSpPr>
          <p:nvPr>
            <p:ph type="ftr" sz="quarter" idx="11"/>
          </p:nvPr>
        </p:nvSpPr>
        <p:spPr>
          <a:xfrm>
            <a:off x="3352800" y="6324600"/>
            <a:ext cx="2895600" cy="457200"/>
          </a:xfrm>
          <a:prstGeom prst="rect">
            <a:avLst/>
          </a:prstGeom>
          <a:ln/>
        </p:spPr>
        <p:txBody>
          <a:bodyPr/>
          <a:lstStyle>
            <a:lvl1pPr>
              <a:defRPr/>
            </a:lvl1pPr>
          </a:lstStyle>
          <a:p>
            <a:pPr>
              <a:defRPr/>
            </a:pPr>
            <a:endParaRPr lang="en-US" altLang="zh-CN"/>
          </a:p>
        </p:txBody>
      </p:sp>
      <p:sp>
        <p:nvSpPr>
          <p:cNvPr id="7" name="Rectangle 13">
            <a:extLst>
              <a:ext uri="{FF2B5EF4-FFF2-40B4-BE49-F238E27FC236}">
                <a16:creationId xmlns:a16="http://schemas.microsoft.com/office/drawing/2014/main" xmlns="" id="{D1D42F48-85F2-C1B3-34A9-42D4A700CCFC}"/>
              </a:ext>
            </a:extLst>
          </p:cNvPr>
          <p:cNvSpPr>
            <a:spLocks noGrp="1" noChangeArrowheads="1"/>
          </p:cNvSpPr>
          <p:nvPr>
            <p:ph type="sldNum" sz="quarter" idx="12"/>
          </p:nvPr>
        </p:nvSpPr>
        <p:spPr>
          <a:ln/>
        </p:spPr>
        <p:txBody>
          <a:bodyPr/>
          <a:lstStyle>
            <a:lvl1pPr>
              <a:defRPr/>
            </a:lvl1pPr>
          </a:lstStyle>
          <a:p>
            <a:fld id="{C3310DF3-193F-E44C-B1F0-408591F45CF7}" type="slidenum">
              <a:rPr lang="zh-CN" altLang="en-US"/>
              <a:pPr/>
              <a:t>‹#›</a:t>
            </a:fld>
            <a:endParaRPr lang="zh-CN" altLang="en-US"/>
          </a:p>
        </p:txBody>
      </p:sp>
    </p:spTree>
    <p:extLst>
      <p:ext uri="{BB962C8B-B14F-4D97-AF65-F5344CB8AC3E}">
        <p14:creationId xmlns:p14="http://schemas.microsoft.com/office/powerpoint/2010/main" val="30402187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chart" preserve="1">
  <p:cSld name="标题和图表">
    <p:spTree>
      <p:nvGrpSpPr>
        <p:cNvPr id="1" name=""/>
        <p:cNvGrpSpPr/>
        <p:nvPr/>
      </p:nvGrpSpPr>
      <p:grpSpPr>
        <a:xfrm>
          <a:off x="0" y="0"/>
          <a:ext cx="0" cy="0"/>
          <a:chOff x="0" y="0"/>
          <a:chExt cx="0" cy="0"/>
        </a:xfrm>
      </p:grpSpPr>
      <p:sp>
        <p:nvSpPr>
          <p:cNvPr id="2" name="标题 1"/>
          <p:cNvSpPr>
            <a:spLocks noGrp="1"/>
          </p:cNvSpPr>
          <p:nvPr>
            <p:ph type="title"/>
          </p:nvPr>
        </p:nvSpPr>
        <p:spPr>
          <a:xfrm>
            <a:off x="1042988" y="225431"/>
            <a:ext cx="7850187" cy="746125"/>
          </a:xfrm>
        </p:spPr>
        <p:txBody>
          <a:bodyPr/>
          <a:lstStyle/>
          <a:p>
            <a:r>
              <a:rPr lang="zh-CN" altLang="en-US" noProof="1" smtClean="0"/>
              <a:t>单击此处编辑母版标题样式</a:t>
            </a:r>
            <a:endParaRPr lang="zh-CN" altLang="en-US" noProof="1"/>
          </a:p>
        </p:txBody>
      </p:sp>
      <p:sp>
        <p:nvSpPr>
          <p:cNvPr id="3" name="图表占位符 2"/>
          <p:cNvSpPr>
            <a:spLocks noGrp="1"/>
          </p:cNvSpPr>
          <p:nvPr>
            <p:ph type="chart" idx="1"/>
          </p:nvPr>
        </p:nvSpPr>
        <p:spPr>
          <a:xfrm>
            <a:off x="935038" y="1233488"/>
            <a:ext cx="7772400" cy="4895850"/>
          </a:xfrm>
        </p:spPr>
        <p:txBody>
          <a:bodyPr/>
          <a:lstStyle/>
          <a:p>
            <a:pPr lvl="0"/>
            <a:r>
              <a:rPr lang="zh-CN" altLang="en-US" noProof="0" smtClean="0"/>
              <a:t>单击图标添加图表</a:t>
            </a:r>
            <a:endParaRPr lang="zh-CN" altLang="en-US" noProof="0"/>
          </a:p>
        </p:txBody>
      </p:sp>
      <p:sp>
        <p:nvSpPr>
          <p:cNvPr id="4" name="Rectangle 11">
            <a:extLst>
              <a:ext uri="{FF2B5EF4-FFF2-40B4-BE49-F238E27FC236}">
                <a16:creationId xmlns:a16="http://schemas.microsoft.com/office/drawing/2014/main" xmlns="" id="{F708D4BC-3A8D-E878-0802-13BCC7E23DC8}"/>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2">
            <a:extLst>
              <a:ext uri="{FF2B5EF4-FFF2-40B4-BE49-F238E27FC236}">
                <a16:creationId xmlns:a16="http://schemas.microsoft.com/office/drawing/2014/main" xmlns="" id="{925FD2C4-690E-646E-8669-143AD1BD9F23}"/>
              </a:ext>
            </a:extLst>
          </p:cNvPr>
          <p:cNvSpPr>
            <a:spLocks noGrp="1" noChangeArrowheads="1"/>
          </p:cNvSpPr>
          <p:nvPr>
            <p:ph type="ftr" sz="quarter" idx="11"/>
          </p:nvPr>
        </p:nvSpPr>
        <p:spPr>
          <a:xfrm>
            <a:off x="3352800" y="6324600"/>
            <a:ext cx="2895600" cy="457200"/>
          </a:xfrm>
          <a:prstGeom prst="rect">
            <a:avLst/>
          </a:prstGeom>
          <a:ln/>
        </p:spPr>
        <p:txBody>
          <a:bodyPr/>
          <a:lstStyle>
            <a:lvl1pPr>
              <a:defRPr/>
            </a:lvl1pPr>
          </a:lstStyle>
          <a:p>
            <a:pPr>
              <a:defRPr/>
            </a:pPr>
            <a:endParaRPr lang="en-US" altLang="zh-CN"/>
          </a:p>
        </p:txBody>
      </p:sp>
      <p:sp>
        <p:nvSpPr>
          <p:cNvPr id="6" name="Rectangle 13">
            <a:extLst>
              <a:ext uri="{FF2B5EF4-FFF2-40B4-BE49-F238E27FC236}">
                <a16:creationId xmlns:a16="http://schemas.microsoft.com/office/drawing/2014/main" xmlns="" id="{54E36240-FA62-8027-3821-D40DEB78E100}"/>
              </a:ext>
            </a:extLst>
          </p:cNvPr>
          <p:cNvSpPr>
            <a:spLocks noGrp="1" noChangeArrowheads="1"/>
          </p:cNvSpPr>
          <p:nvPr>
            <p:ph type="sldNum" sz="quarter" idx="12"/>
          </p:nvPr>
        </p:nvSpPr>
        <p:spPr>
          <a:ln/>
        </p:spPr>
        <p:txBody>
          <a:bodyPr/>
          <a:lstStyle>
            <a:lvl1pPr>
              <a:defRPr/>
            </a:lvl1pPr>
          </a:lstStyle>
          <a:p>
            <a:fld id="{05BB1C6D-14C1-844E-9115-70642E9631DF}" type="slidenum">
              <a:rPr lang="zh-CN" altLang="en-US"/>
              <a:pPr/>
              <a:t>‹#›</a:t>
            </a:fld>
            <a:endParaRPr lang="zh-CN" altLang="en-US"/>
          </a:p>
        </p:txBody>
      </p:sp>
    </p:spTree>
    <p:extLst>
      <p:ext uri="{BB962C8B-B14F-4D97-AF65-F5344CB8AC3E}">
        <p14:creationId xmlns:p14="http://schemas.microsoft.com/office/powerpoint/2010/main" val="111492892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tiff"/><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tif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Rectangle 7">
            <a:extLst>
              <a:ext uri="{FF2B5EF4-FFF2-40B4-BE49-F238E27FC236}">
                <a16:creationId xmlns:a16="http://schemas.microsoft.com/office/drawing/2014/main" xmlns="" id="{A9824247-C8A8-C57F-CAEC-3A223BA6F4D0}"/>
              </a:ext>
            </a:extLst>
          </p:cNvPr>
          <p:cNvSpPr>
            <a:spLocks noChangeArrowheads="1"/>
          </p:cNvSpPr>
          <p:nvPr/>
        </p:nvSpPr>
        <p:spPr bwMode="auto">
          <a:xfrm>
            <a:off x="711201" y="269881"/>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lnSpc>
                <a:spcPct val="100000"/>
              </a:lnSpc>
              <a:spcBef>
                <a:spcPct val="0"/>
              </a:spcBef>
              <a:buClrTx/>
              <a:buSzTx/>
              <a:buFontTx/>
              <a:buNone/>
            </a:pPr>
            <a:endParaRPr lang="zh-CN" altLang="en-US" sz="1800"/>
          </a:p>
        </p:txBody>
      </p:sp>
      <p:sp>
        <p:nvSpPr>
          <p:cNvPr id="1027" name="Rectangle 8">
            <a:extLst>
              <a:ext uri="{FF2B5EF4-FFF2-40B4-BE49-F238E27FC236}">
                <a16:creationId xmlns:a16="http://schemas.microsoft.com/office/drawing/2014/main" xmlns="" id="{4A0B2333-B6EA-176D-0028-5AB7711DF1B1}"/>
              </a:ext>
            </a:extLst>
          </p:cNvPr>
          <p:cNvSpPr>
            <a:spLocks noChangeArrowheads="1"/>
          </p:cNvSpPr>
          <p:nvPr/>
        </p:nvSpPr>
        <p:spPr bwMode="auto">
          <a:xfrm>
            <a:off x="392116" y="106045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lnSpc>
                <a:spcPct val="100000"/>
              </a:lnSpc>
              <a:spcBef>
                <a:spcPct val="0"/>
              </a:spcBef>
              <a:buClrTx/>
              <a:buSzTx/>
              <a:buFontTx/>
              <a:buNone/>
            </a:pPr>
            <a:endParaRPr lang="zh-CN" altLang="en-US" sz="1800"/>
          </a:p>
        </p:txBody>
      </p:sp>
      <p:sp>
        <p:nvSpPr>
          <p:cNvPr id="1028" name="Rectangle 9">
            <a:extLst>
              <a:ext uri="{FF2B5EF4-FFF2-40B4-BE49-F238E27FC236}">
                <a16:creationId xmlns:a16="http://schemas.microsoft.com/office/drawing/2014/main" xmlns="" id="{0D3A9279-CA87-4E7F-DAC6-015EE242A976}"/>
              </a:ext>
            </a:extLst>
          </p:cNvPr>
          <p:cNvSpPr>
            <a:spLocks noGrp="1" noChangeArrowheads="1"/>
          </p:cNvSpPr>
          <p:nvPr>
            <p:ph type="title" idx="4294967295"/>
          </p:nvPr>
        </p:nvSpPr>
        <p:spPr bwMode="auto">
          <a:xfrm>
            <a:off x="1042988" y="225431"/>
            <a:ext cx="7850187" cy="74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dirty="0"/>
              <a:t>单击此处编辑母版标题样式</a:t>
            </a:r>
          </a:p>
        </p:txBody>
      </p:sp>
      <p:sp>
        <p:nvSpPr>
          <p:cNvPr id="1029" name="Rectangle 10">
            <a:extLst>
              <a:ext uri="{FF2B5EF4-FFF2-40B4-BE49-F238E27FC236}">
                <a16:creationId xmlns:a16="http://schemas.microsoft.com/office/drawing/2014/main" xmlns="" id="{86AE627A-1B93-6388-397F-5C8186FBAFEE}"/>
              </a:ext>
            </a:extLst>
          </p:cNvPr>
          <p:cNvSpPr>
            <a:spLocks noGrp="1" noChangeArrowheads="1"/>
          </p:cNvSpPr>
          <p:nvPr>
            <p:ph type="body" idx="4294967295"/>
          </p:nvPr>
        </p:nvSpPr>
        <p:spPr bwMode="auto">
          <a:xfrm>
            <a:off x="935038" y="1233488"/>
            <a:ext cx="7772400" cy="4895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4523" name="Rectangle 11">
            <a:extLst>
              <a:ext uri="{FF2B5EF4-FFF2-40B4-BE49-F238E27FC236}">
                <a16:creationId xmlns:a16="http://schemas.microsoft.com/office/drawing/2014/main" xmlns="" id="{DE3D8E3B-D458-C570-9919-DE02EA9FC78D}"/>
              </a:ext>
            </a:extLst>
          </p:cNvPr>
          <p:cNvSpPr>
            <a:spLocks noGrp="1" noChangeArrowheads="1"/>
          </p:cNvSpPr>
          <p:nvPr>
            <p:ph type="dt" sz="half" idx="2"/>
          </p:nvPr>
        </p:nvSpPr>
        <p:spPr bwMode="auto">
          <a:xfrm>
            <a:off x="914400" y="6324600"/>
            <a:ext cx="1905000" cy="457200"/>
          </a:xfrm>
          <a:prstGeom prst="rect">
            <a:avLst/>
          </a:prstGeom>
          <a:noFill/>
          <a:ln w="9525">
            <a:noFill/>
            <a:miter lim="800000"/>
          </a:ln>
          <a:effectLst/>
        </p:spPr>
        <p:txBody>
          <a:bodyPr vert="horz" wrap="square" lIns="91440" tIns="45720" rIns="91440" bIns="45720" numCol="1" anchor="b" anchorCtr="0" compatLnSpc="1"/>
          <a:lstStyle>
            <a:lvl1pPr algn="l">
              <a:lnSpc>
                <a:spcPct val="100000"/>
              </a:lnSpc>
              <a:spcBef>
                <a:spcPct val="0"/>
              </a:spcBef>
              <a:buClrTx/>
              <a:buSzTx/>
              <a:buFontTx/>
              <a:buNone/>
              <a:defRPr kumimoji="0" sz="1050"/>
            </a:lvl1pPr>
          </a:lstStyle>
          <a:p>
            <a:pPr>
              <a:defRPr/>
            </a:pPr>
            <a:endParaRPr lang="en-US" altLang="zh-CN" dirty="0"/>
          </a:p>
        </p:txBody>
      </p:sp>
      <p:sp>
        <p:nvSpPr>
          <p:cNvPr id="64525" name="Rectangle 13">
            <a:extLst>
              <a:ext uri="{FF2B5EF4-FFF2-40B4-BE49-F238E27FC236}">
                <a16:creationId xmlns:a16="http://schemas.microsoft.com/office/drawing/2014/main" xmlns="" id="{C2D98F74-F2B6-4A7D-03A8-AB9BF3598B96}"/>
              </a:ext>
            </a:extLst>
          </p:cNvPr>
          <p:cNvSpPr>
            <a:spLocks noGrp="1" noChangeArrowheads="1"/>
          </p:cNvSpPr>
          <p:nvPr>
            <p:ph type="sldNum" sz="quarter" idx="4"/>
          </p:nvPr>
        </p:nvSpPr>
        <p:spPr bwMode="auto">
          <a:xfrm>
            <a:off x="6781800" y="6324600"/>
            <a:ext cx="1905000" cy="457200"/>
          </a:xfrm>
          <a:prstGeom prst="rect">
            <a:avLst/>
          </a:prstGeom>
          <a:noFill/>
          <a:ln w="9525">
            <a:noFill/>
            <a:miter lim="800000"/>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buClrTx/>
              <a:buSzTx/>
              <a:buFontTx/>
              <a:buNone/>
              <a:defRPr sz="1050"/>
            </a:lvl1pPr>
          </a:lstStyle>
          <a:p>
            <a:fld id="{6F73D78D-38BD-D44D-8D86-2D2DB0BEC18B}" type="slidenum">
              <a:rPr lang="zh-CN" altLang="en-US" smtClean="0"/>
              <a:pPr/>
              <a:t>‹#›</a:t>
            </a:fld>
            <a:endParaRPr lang="zh-CN" altLang="en-US" dirty="0"/>
          </a:p>
        </p:txBody>
      </p:sp>
      <p:pic>
        <p:nvPicPr>
          <p:cNvPr id="6" name="图片 5">
            <a:extLst>
              <a:ext uri="{FF2B5EF4-FFF2-40B4-BE49-F238E27FC236}">
                <a16:creationId xmlns:a16="http://schemas.microsoft.com/office/drawing/2014/main" xmlns="" id="{3CE6F6BF-4B21-EBA8-0316-496A78B2CDF2}"/>
              </a:ext>
            </a:extLst>
          </p:cNvPr>
          <p:cNvPicPr>
            <a:picLocks noChangeAspect="1"/>
          </p:cNvPicPr>
          <p:nvPr userDrawn="1"/>
        </p:nvPicPr>
        <p:blipFill>
          <a:blip r:embed="rId15"/>
          <a:stretch>
            <a:fillRect/>
          </a:stretch>
        </p:blipFill>
        <p:spPr>
          <a:xfrm rot="3532301">
            <a:off x="53066" y="473997"/>
            <a:ext cx="678101" cy="376134"/>
          </a:xfrm>
          <a:prstGeom prst="rect">
            <a:avLst/>
          </a:prstGeom>
        </p:spPr>
      </p:pic>
      <p:pic>
        <p:nvPicPr>
          <p:cNvPr id="2" name="Picture 6">
            <a:extLst>
              <a:ext uri="{FF2B5EF4-FFF2-40B4-BE49-F238E27FC236}">
                <a16:creationId xmlns:a16="http://schemas.microsoft.com/office/drawing/2014/main" xmlns="" id="{30C888A5-CC91-E55B-7B85-6EA66F09083F}"/>
              </a:ext>
            </a:extLst>
          </p:cNvPr>
          <p:cNvPicPr>
            <a:picLocks noChangeAspect="1" noChangeArrowheads="1"/>
          </p:cNvPicPr>
          <p:nvPr userDrawn="1"/>
        </p:nvPicPr>
        <p:blipFill rotWithShape="1">
          <a:blip r:embed="rId16">
            <a:extLst>
              <a:ext uri="{28A0092B-C50C-407E-A947-70E740481C1C}">
                <a14:useLocalDpi xmlns:a14="http://schemas.microsoft.com/office/drawing/2010/main" val="0"/>
              </a:ext>
            </a:extLst>
          </a:blip>
          <a:srcRect r="151"/>
          <a:stretch/>
        </p:blipFill>
        <p:spPr bwMode="auto">
          <a:xfrm>
            <a:off x="320498" y="941908"/>
            <a:ext cx="1042988" cy="188292"/>
          </a:xfrm>
          <a:prstGeom prst="rect">
            <a:avLst/>
          </a:prstGeom>
          <a:solidFill>
            <a:schemeClr val="tx1">
              <a:lumMod val="65000"/>
              <a:lumOff val="35000"/>
            </a:schemeClr>
          </a:solidFill>
        </p:spPr>
      </p:pic>
      <p:pic>
        <p:nvPicPr>
          <p:cNvPr id="3" name="图片 2">
            <a:extLst>
              <a:ext uri="{FF2B5EF4-FFF2-40B4-BE49-F238E27FC236}">
                <a16:creationId xmlns:a16="http://schemas.microsoft.com/office/drawing/2014/main" xmlns="" id="{1403A0A2-1BB5-3BCB-F943-2DCD1F4C13A5}"/>
              </a:ext>
            </a:extLst>
          </p:cNvPr>
          <p:cNvPicPr>
            <a:picLocks noChangeAspect="1"/>
          </p:cNvPicPr>
          <p:nvPr userDrawn="1"/>
        </p:nvPicPr>
        <p:blipFill>
          <a:blip r:embed="rId17"/>
          <a:stretch>
            <a:fillRect/>
          </a:stretch>
        </p:blipFill>
        <p:spPr>
          <a:xfrm>
            <a:off x="8532443" y="5624518"/>
            <a:ext cx="512549" cy="1106809"/>
          </a:xfrm>
          <a:prstGeom prst="rect">
            <a:avLst/>
          </a:prstGeom>
        </p:spPr>
      </p:pic>
    </p:spTree>
    <p:extLst>
      <p:ext uri="{BB962C8B-B14F-4D97-AF65-F5344CB8AC3E}">
        <p14:creationId xmlns:p14="http://schemas.microsoft.com/office/powerpoint/2010/main" val="379451504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hf hdr="0" ftr="0" dt="0"/>
  <p:txStyles>
    <p:titleStyle>
      <a:lvl1pPr algn="l" rtl="0" eaLnBrk="1" fontAlgn="base" hangingPunct="1">
        <a:spcBef>
          <a:spcPct val="0"/>
        </a:spcBef>
        <a:spcAft>
          <a:spcPct val="0"/>
        </a:spcAft>
        <a:defRPr sz="3300">
          <a:solidFill>
            <a:schemeClr val="tx2"/>
          </a:solidFill>
          <a:latin typeface="+mj-lt"/>
          <a:ea typeface="+mj-ea"/>
          <a:cs typeface="+mj-cs"/>
        </a:defRPr>
      </a:lvl1pPr>
      <a:lvl2pPr algn="l" rtl="0" eaLnBrk="1" fontAlgn="base" hangingPunct="1">
        <a:spcBef>
          <a:spcPct val="0"/>
        </a:spcBef>
        <a:spcAft>
          <a:spcPct val="0"/>
        </a:spcAft>
        <a:defRPr sz="3300">
          <a:solidFill>
            <a:schemeClr val="tx2"/>
          </a:solidFill>
          <a:latin typeface="Tahoma" panose="020B0604030504040204" pitchFamily="34" charset="0"/>
          <a:ea typeface="宋体" panose="02010600030101010101" pitchFamily="2" charset="-122"/>
        </a:defRPr>
      </a:lvl2pPr>
      <a:lvl3pPr algn="l" rtl="0" eaLnBrk="1" fontAlgn="base" hangingPunct="1">
        <a:spcBef>
          <a:spcPct val="0"/>
        </a:spcBef>
        <a:spcAft>
          <a:spcPct val="0"/>
        </a:spcAft>
        <a:defRPr sz="3300">
          <a:solidFill>
            <a:schemeClr val="tx2"/>
          </a:solidFill>
          <a:latin typeface="Tahoma" panose="020B0604030504040204" pitchFamily="34" charset="0"/>
          <a:ea typeface="宋体" panose="02010600030101010101" pitchFamily="2" charset="-122"/>
        </a:defRPr>
      </a:lvl3pPr>
      <a:lvl4pPr algn="l" rtl="0" eaLnBrk="1" fontAlgn="base" hangingPunct="1">
        <a:spcBef>
          <a:spcPct val="0"/>
        </a:spcBef>
        <a:spcAft>
          <a:spcPct val="0"/>
        </a:spcAft>
        <a:defRPr sz="3300">
          <a:solidFill>
            <a:schemeClr val="tx2"/>
          </a:solidFill>
          <a:latin typeface="Tahoma" panose="020B0604030504040204" pitchFamily="34" charset="0"/>
          <a:ea typeface="宋体" panose="02010600030101010101" pitchFamily="2" charset="-122"/>
        </a:defRPr>
      </a:lvl4pPr>
      <a:lvl5pPr algn="l" rtl="0" eaLnBrk="1" fontAlgn="base" hangingPunct="1">
        <a:spcBef>
          <a:spcPct val="0"/>
        </a:spcBef>
        <a:spcAft>
          <a:spcPct val="0"/>
        </a:spcAft>
        <a:defRPr sz="3300">
          <a:solidFill>
            <a:schemeClr val="tx2"/>
          </a:solidFill>
          <a:latin typeface="Tahoma" panose="020B0604030504040204" pitchFamily="34" charset="0"/>
          <a:ea typeface="宋体" panose="02010600030101010101" pitchFamily="2" charset="-122"/>
        </a:defRPr>
      </a:lvl5pPr>
      <a:lvl6pPr marL="342884" algn="l" rtl="0" eaLnBrk="1" fontAlgn="base" hangingPunct="1">
        <a:spcBef>
          <a:spcPct val="0"/>
        </a:spcBef>
        <a:spcAft>
          <a:spcPct val="0"/>
        </a:spcAft>
        <a:defRPr kumimoji="1" sz="3300">
          <a:solidFill>
            <a:schemeClr val="tx2"/>
          </a:solidFill>
          <a:latin typeface="Tahoma" panose="020B0604030504040204" pitchFamily="34" charset="0"/>
          <a:ea typeface="宋体" panose="02010600030101010101" pitchFamily="2" charset="-122"/>
        </a:defRPr>
      </a:lvl6pPr>
      <a:lvl7pPr marL="685766" algn="l" rtl="0" eaLnBrk="1" fontAlgn="base" hangingPunct="1">
        <a:spcBef>
          <a:spcPct val="0"/>
        </a:spcBef>
        <a:spcAft>
          <a:spcPct val="0"/>
        </a:spcAft>
        <a:defRPr kumimoji="1" sz="3300">
          <a:solidFill>
            <a:schemeClr val="tx2"/>
          </a:solidFill>
          <a:latin typeface="Tahoma" panose="020B0604030504040204" pitchFamily="34" charset="0"/>
          <a:ea typeface="宋体" panose="02010600030101010101" pitchFamily="2" charset="-122"/>
        </a:defRPr>
      </a:lvl7pPr>
      <a:lvl8pPr marL="1028649" algn="l" rtl="0" eaLnBrk="1" fontAlgn="base" hangingPunct="1">
        <a:spcBef>
          <a:spcPct val="0"/>
        </a:spcBef>
        <a:spcAft>
          <a:spcPct val="0"/>
        </a:spcAft>
        <a:defRPr kumimoji="1" sz="3300">
          <a:solidFill>
            <a:schemeClr val="tx2"/>
          </a:solidFill>
          <a:latin typeface="Tahoma" panose="020B0604030504040204" pitchFamily="34" charset="0"/>
          <a:ea typeface="宋体" panose="02010600030101010101" pitchFamily="2" charset="-122"/>
        </a:defRPr>
      </a:lvl8pPr>
      <a:lvl9pPr marL="1371532" algn="l" rtl="0" eaLnBrk="1" fontAlgn="base" hangingPunct="1">
        <a:spcBef>
          <a:spcPct val="0"/>
        </a:spcBef>
        <a:spcAft>
          <a:spcPct val="0"/>
        </a:spcAft>
        <a:defRPr kumimoji="1" sz="3300">
          <a:solidFill>
            <a:schemeClr val="tx2"/>
          </a:solidFill>
          <a:latin typeface="Tahoma" panose="020B0604030504040204" pitchFamily="34" charset="0"/>
          <a:ea typeface="宋体" panose="02010600030101010101" pitchFamily="2" charset="-122"/>
        </a:defRPr>
      </a:lvl9pPr>
    </p:titleStyle>
    <p:bodyStyle>
      <a:lvl1pPr marL="257162" indent="-257162" algn="l" rtl="0" eaLnBrk="1" fontAlgn="base" hangingPunct="1">
        <a:lnSpc>
          <a:spcPct val="114000"/>
        </a:lnSpc>
        <a:spcBef>
          <a:spcPct val="20000"/>
        </a:spcBef>
        <a:spcAft>
          <a:spcPct val="0"/>
        </a:spcAft>
        <a:buClr>
          <a:schemeClr val="tx1"/>
        </a:buClr>
        <a:buSzPct val="60000"/>
        <a:buFont typeface="Wingdings" pitchFamily="2" charset="2"/>
        <a:buChar char="n"/>
        <a:defRPr sz="2250">
          <a:solidFill>
            <a:schemeClr val="tx1"/>
          </a:solidFill>
          <a:latin typeface="+mn-lt"/>
          <a:ea typeface="+mn-ea"/>
          <a:cs typeface="+mn-cs"/>
        </a:defRPr>
      </a:lvl1pPr>
      <a:lvl2pPr marL="557185" indent="-214303" algn="l" rtl="0" eaLnBrk="1" fontAlgn="base" hangingPunct="1">
        <a:lnSpc>
          <a:spcPct val="114000"/>
        </a:lnSpc>
        <a:spcBef>
          <a:spcPct val="20000"/>
        </a:spcBef>
        <a:spcAft>
          <a:spcPct val="0"/>
        </a:spcAft>
        <a:buClr>
          <a:srgbClr val="C00000"/>
        </a:buClr>
        <a:buSzPct val="55000"/>
        <a:buFont typeface="Wingdings" pitchFamily="2" charset="2"/>
        <a:buChar char="n"/>
        <a:defRPr sz="1950">
          <a:solidFill>
            <a:schemeClr val="tx1"/>
          </a:solidFill>
          <a:latin typeface="+mn-lt"/>
          <a:ea typeface="+mn-ea"/>
        </a:defRPr>
      </a:lvl2pPr>
      <a:lvl3pPr marL="857207" indent="-171442" algn="l" rtl="0" eaLnBrk="1" fontAlgn="base" hangingPunct="1">
        <a:lnSpc>
          <a:spcPct val="114000"/>
        </a:lnSpc>
        <a:spcBef>
          <a:spcPct val="20000"/>
        </a:spcBef>
        <a:spcAft>
          <a:spcPct val="0"/>
        </a:spcAft>
        <a:buClr>
          <a:schemeClr val="tx2"/>
        </a:buClr>
        <a:buSzPct val="50000"/>
        <a:buFont typeface="Wingdings" pitchFamily="2" charset="2"/>
        <a:buChar char="n"/>
        <a:defRPr sz="1650">
          <a:solidFill>
            <a:schemeClr val="tx1"/>
          </a:solidFill>
          <a:latin typeface="+mn-lt"/>
          <a:ea typeface="+mn-ea"/>
        </a:defRPr>
      </a:lvl3pPr>
      <a:lvl4pPr marL="1200090" indent="-171442" algn="l" rtl="0" eaLnBrk="1" fontAlgn="base" hangingPunct="1">
        <a:lnSpc>
          <a:spcPct val="114000"/>
        </a:lnSpc>
        <a:spcBef>
          <a:spcPct val="20000"/>
        </a:spcBef>
        <a:spcAft>
          <a:spcPct val="0"/>
        </a:spcAft>
        <a:buClr>
          <a:schemeClr val="accent6">
            <a:lumMod val="50000"/>
          </a:schemeClr>
        </a:buClr>
        <a:buSzPct val="55000"/>
        <a:buFont typeface="Wingdings" pitchFamily="2" charset="2"/>
        <a:buChar char="n"/>
        <a:defRPr sz="1350">
          <a:solidFill>
            <a:schemeClr val="tx1"/>
          </a:solidFill>
          <a:latin typeface="+mn-lt"/>
          <a:ea typeface="+mn-ea"/>
        </a:defRPr>
      </a:lvl4pPr>
      <a:lvl5pPr marL="1542974" indent="-171442" algn="l" rtl="0" eaLnBrk="1" fontAlgn="base" hangingPunct="1">
        <a:lnSpc>
          <a:spcPct val="114000"/>
        </a:lnSpc>
        <a:spcBef>
          <a:spcPct val="20000"/>
        </a:spcBef>
        <a:spcAft>
          <a:spcPct val="0"/>
        </a:spcAft>
        <a:buClr>
          <a:schemeClr val="accent5">
            <a:lumMod val="25000"/>
          </a:schemeClr>
        </a:buClr>
        <a:buSzPct val="50000"/>
        <a:buFont typeface="Wingdings" pitchFamily="2" charset="2"/>
        <a:buChar char="n"/>
        <a:defRPr sz="1350">
          <a:solidFill>
            <a:schemeClr val="tx1"/>
          </a:solidFill>
          <a:latin typeface="+mn-lt"/>
          <a:ea typeface="+mn-ea"/>
        </a:defRPr>
      </a:lvl5pPr>
      <a:lvl6pPr marL="1885856" indent="-171442" algn="l" rtl="0" eaLnBrk="1" fontAlgn="base" hangingPunct="1">
        <a:spcBef>
          <a:spcPct val="20000"/>
        </a:spcBef>
        <a:spcAft>
          <a:spcPct val="0"/>
        </a:spcAft>
        <a:buClr>
          <a:schemeClr val="accent1"/>
        </a:buClr>
        <a:buSzPct val="50000"/>
        <a:buFont typeface="Wingdings" panose="05000000000000000000" pitchFamily="2" charset="2"/>
        <a:buChar char="n"/>
        <a:defRPr kumimoji="1" sz="1500">
          <a:solidFill>
            <a:schemeClr val="tx1"/>
          </a:solidFill>
          <a:latin typeface="+mn-lt"/>
          <a:ea typeface="+mn-ea"/>
        </a:defRPr>
      </a:lvl6pPr>
      <a:lvl7pPr marL="2228739" indent="-171442" algn="l" rtl="0" eaLnBrk="1" fontAlgn="base" hangingPunct="1">
        <a:spcBef>
          <a:spcPct val="20000"/>
        </a:spcBef>
        <a:spcAft>
          <a:spcPct val="0"/>
        </a:spcAft>
        <a:buClr>
          <a:schemeClr val="accent1"/>
        </a:buClr>
        <a:buSzPct val="50000"/>
        <a:buFont typeface="Wingdings" panose="05000000000000000000" pitchFamily="2" charset="2"/>
        <a:buChar char="n"/>
        <a:defRPr kumimoji="1" sz="1500">
          <a:solidFill>
            <a:schemeClr val="tx1"/>
          </a:solidFill>
          <a:latin typeface="+mn-lt"/>
          <a:ea typeface="+mn-ea"/>
        </a:defRPr>
      </a:lvl7pPr>
      <a:lvl8pPr marL="2571622" indent="-171442" algn="l" rtl="0" eaLnBrk="1" fontAlgn="base" hangingPunct="1">
        <a:spcBef>
          <a:spcPct val="20000"/>
        </a:spcBef>
        <a:spcAft>
          <a:spcPct val="0"/>
        </a:spcAft>
        <a:buClr>
          <a:schemeClr val="accent1"/>
        </a:buClr>
        <a:buSzPct val="50000"/>
        <a:buFont typeface="Wingdings" panose="05000000000000000000" pitchFamily="2" charset="2"/>
        <a:buChar char="n"/>
        <a:defRPr kumimoji="1" sz="1500">
          <a:solidFill>
            <a:schemeClr val="tx1"/>
          </a:solidFill>
          <a:latin typeface="+mn-lt"/>
          <a:ea typeface="+mn-ea"/>
        </a:defRPr>
      </a:lvl8pPr>
      <a:lvl9pPr marL="2914505" indent="-171442" algn="l" rtl="0" eaLnBrk="1" fontAlgn="base" hangingPunct="1">
        <a:spcBef>
          <a:spcPct val="20000"/>
        </a:spcBef>
        <a:spcAft>
          <a:spcPct val="0"/>
        </a:spcAft>
        <a:buClr>
          <a:schemeClr val="accent1"/>
        </a:buClr>
        <a:buSzPct val="50000"/>
        <a:buFont typeface="Wingdings" panose="05000000000000000000" pitchFamily="2" charset="2"/>
        <a:buChar char="n"/>
        <a:defRPr kumimoji="1" sz="1500">
          <a:solidFill>
            <a:schemeClr val="tx1"/>
          </a:solidFill>
          <a:latin typeface="+mn-lt"/>
          <a:ea typeface="+mn-ea"/>
        </a:defRPr>
      </a:lvl9pPr>
    </p:bodyStyle>
    <p:otherStyle>
      <a:defPPr>
        <a:defRPr lang="zh-CN"/>
      </a:defPPr>
      <a:lvl1pPr marL="0" algn="l" defTabSz="685766" rtl="0" eaLnBrk="1" latinLnBrk="0" hangingPunct="1">
        <a:defRPr sz="1350" kern="1200">
          <a:solidFill>
            <a:schemeClr val="tx1"/>
          </a:solidFill>
          <a:latin typeface="+mn-lt"/>
          <a:ea typeface="+mn-ea"/>
          <a:cs typeface="+mn-cs"/>
        </a:defRPr>
      </a:lvl1pPr>
      <a:lvl2pPr marL="342884" algn="l" defTabSz="685766" rtl="0" eaLnBrk="1" latinLnBrk="0" hangingPunct="1">
        <a:defRPr sz="1350" kern="1200">
          <a:solidFill>
            <a:schemeClr val="tx1"/>
          </a:solidFill>
          <a:latin typeface="+mn-lt"/>
          <a:ea typeface="+mn-ea"/>
          <a:cs typeface="+mn-cs"/>
        </a:defRPr>
      </a:lvl2pPr>
      <a:lvl3pPr marL="685766" algn="l" defTabSz="685766" rtl="0" eaLnBrk="1" latinLnBrk="0" hangingPunct="1">
        <a:defRPr sz="1350" kern="1200">
          <a:solidFill>
            <a:schemeClr val="tx1"/>
          </a:solidFill>
          <a:latin typeface="+mn-lt"/>
          <a:ea typeface="+mn-ea"/>
          <a:cs typeface="+mn-cs"/>
        </a:defRPr>
      </a:lvl3pPr>
      <a:lvl4pPr marL="1028649" algn="l" defTabSz="685766" rtl="0" eaLnBrk="1" latinLnBrk="0" hangingPunct="1">
        <a:defRPr sz="1350" kern="1200">
          <a:solidFill>
            <a:schemeClr val="tx1"/>
          </a:solidFill>
          <a:latin typeface="+mn-lt"/>
          <a:ea typeface="+mn-ea"/>
          <a:cs typeface="+mn-cs"/>
        </a:defRPr>
      </a:lvl4pPr>
      <a:lvl5pPr marL="1371532" algn="l" defTabSz="685766" rtl="0" eaLnBrk="1" latinLnBrk="0" hangingPunct="1">
        <a:defRPr sz="1350" kern="1200">
          <a:solidFill>
            <a:schemeClr val="tx1"/>
          </a:solidFill>
          <a:latin typeface="+mn-lt"/>
          <a:ea typeface="+mn-ea"/>
          <a:cs typeface="+mn-cs"/>
        </a:defRPr>
      </a:lvl5pPr>
      <a:lvl6pPr marL="1714415" algn="l" defTabSz="685766" rtl="0" eaLnBrk="1" latinLnBrk="0" hangingPunct="1">
        <a:defRPr sz="1350" kern="1200">
          <a:solidFill>
            <a:schemeClr val="tx1"/>
          </a:solidFill>
          <a:latin typeface="+mn-lt"/>
          <a:ea typeface="+mn-ea"/>
          <a:cs typeface="+mn-cs"/>
        </a:defRPr>
      </a:lvl6pPr>
      <a:lvl7pPr marL="2057297" algn="l" defTabSz="685766" rtl="0" eaLnBrk="1" latinLnBrk="0" hangingPunct="1">
        <a:defRPr sz="1350" kern="1200">
          <a:solidFill>
            <a:schemeClr val="tx1"/>
          </a:solidFill>
          <a:latin typeface="+mn-lt"/>
          <a:ea typeface="+mn-ea"/>
          <a:cs typeface="+mn-cs"/>
        </a:defRPr>
      </a:lvl7pPr>
      <a:lvl8pPr marL="2400180" algn="l" defTabSz="685766" rtl="0" eaLnBrk="1" latinLnBrk="0" hangingPunct="1">
        <a:defRPr sz="1350" kern="1200">
          <a:solidFill>
            <a:schemeClr val="tx1"/>
          </a:solidFill>
          <a:latin typeface="+mn-lt"/>
          <a:ea typeface="+mn-ea"/>
          <a:cs typeface="+mn-cs"/>
        </a:defRPr>
      </a:lvl8pPr>
      <a:lvl9pPr marL="2743064" algn="l" defTabSz="685766"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FA478220-5F10-3448-53B0-A082ACF36790}"/>
              </a:ext>
            </a:extLst>
          </p:cNvPr>
          <p:cNvSpPr>
            <a:spLocks noGrp="1"/>
          </p:cNvSpPr>
          <p:nvPr>
            <p:ph type="title"/>
          </p:nvPr>
        </p:nvSpPr>
        <p:spPr>
          <a:xfrm>
            <a:off x="1042988" y="225431"/>
            <a:ext cx="7850187" cy="746125"/>
          </a:xfrm>
        </p:spPr>
        <p:txBody>
          <a:bodyPr/>
          <a:lstStyle/>
          <a:p>
            <a:r>
              <a:rPr lang="zh-CN" altLang="en-US" dirty="0" smtClean="0"/>
              <a:t>第</a:t>
            </a:r>
            <a:r>
              <a:rPr lang="en-US" altLang="zh-CN" dirty="0" smtClean="0"/>
              <a:t>3</a:t>
            </a:r>
            <a:r>
              <a:rPr lang="zh-CN" altLang="en-US" dirty="0" smtClean="0"/>
              <a:t>章 进程</a:t>
            </a:r>
            <a:endParaRPr lang="zh-CN" altLang="en-US" dirty="0"/>
          </a:p>
        </p:txBody>
      </p:sp>
      <p:sp>
        <p:nvSpPr>
          <p:cNvPr id="3" name="内容占位符 2">
            <a:extLst>
              <a:ext uri="{FF2B5EF4-FFF2-40B4-BE49-F238E27FC236}">
                <a16:creationId xmlns:a16="http://schemas.microsoft.com/office/drawing/2014/main" xmlns="" id="{AD7B2C0A-B2D8-3755-E6C0-89A613AD7E93}"/>
              </a:ext>
            </a:extLst>
          </p:cNvPr>
          <p:cNvSpPr>
            <a:spLocks noGrp="1"/>
          </p:cNvSpPr>
          <p:nvPr>
            <p:ph idx="1"/>
          </p:nvPr>
        </p:nvSpPr>
        <p:spPr>
          <a:xfrm>
            <a:off x="935038" y="1233488"/>
            <a:ext cx="7772400" cy="4895850"/>
          </a:xfrm>
        </p:spPr>
        <p:txBody>
          <a:bodyPr>
            <a:normAutofit/>
          </a:bodyPr>
          <a:lstStyle/>
          <a:p>
            <a:r>
              <a:rPr lang="zh-CN" altLang="en-US" dirty="0"/>
              <a:t>本章内容</a:t>
            </a:r>
            <a:endParaRPr lang="en-US" altLang="zh-CN" dirty="0"/>
          </a:p>
          <a:p>
            <a:r>
              <a:rPr lang="en-US" altLang="zh-CN" dirty="0">
                <a:solidFill>
                  <a:srgbClr val="FF0000"/>
                </a:solidFill>
              </a:rPr>
              <a:t>1.</a:t>
            </a:r>
            <a:r>
              <a:rPr lang="zh-CN" altLang="en-US" dirty="0">
                <a:solidFill>
                  <a:srgbClr val="FF0000"/>
                </a:solidFill>
              </a:rPr>
              <a:t> </a:t>
            </a:r>
            <a:r>
              <a:rPr lang="zh-CN" altLang="en-US" dirty="0" smtClean="0">
                <a:solidFill>
                  <a:srgbClr val="FF0000"/>
                </a:solidFill>
              </a:rPr>
              <a:t>进程的概念</a:t>
            </a:r>
            <a:endParaRPr lang="zh-CN" altLang="zh-CN" dirty="0">
              <a:solidFill>
                <a:srgbClr val="FF0000"/>
              </a:solidFill>
            </a:endParaRPr>
          </a:p>
          <a:p>
            <a:r>
              <a:rPr lang="en-US" altLang="zh-CN" dirty="0"/>
              <a:t>2.</a:t>
            </a:r>
            <a:r>
              <a:rPr lang="zh-CN" altLang="en-US" dirty="0"/>
              <a:t> </a:t>
            </a:r>
            <a:r>
              <a:rPr lang="zh-CN" altLang="en-US" dirty="0" smtClean="0"/>
              <a:t>进程调度</a:t>
            </a:r>
            <a:endParaRPr lang="zh-CN" altLang="zh-CN" dirty="0"/>
          </a:p>
          <a:p>
            <a:r>
              <a:rPr lang="en-US" altLang="zh-CN" dirty="0"/>
              <a:t>3.</a:t>
            </a:r>
            <a:r>
              <a:rPr lang="zh-CN" altLang="en-US" dirty="0"/>
              <a:t> </a:t>
            </a:r>
            <a:r>
              <a:rPr lang="zh-CN" altLang="en-US" dirty="0" smtClean="0"/>
              <a:t>进程操作</a:t>
            </a:r>
            <a:endParaRPr lang="en-US" altLang="zh-CN" dirty="0"/>
          </a:p>
          <a:p>
            <a:r>
              <a:rPr lang="en-US" altLang="zh-CN" dirty="0"/>
              <a:t>4.</a:t>
            </a:r>
            <a:r>
              <a:rPr lang="zh-CN" altLang="en-US" dirty="0"/>
              <a:t> </a:t>
            </a:r>
            <a:r>
              <a:rPr lang="zh-CN" altLang="en-US" dirty="0" smtClean="0"/>
              <a:t>进程间通信</a:t>
            </a:r>
            <a:endParaRPr lang="en-US" altLang="zh-CN" dirty="0" smtClean="0"/>
          </a:p>
        </p:txBody>
      </p:sp>
      <p:sp>
        <p:nvSpPr>
          <p:cNvPr id="4" name="灯片编号占位符 3">
            <a:extLst>
              <a:ext uri="{FF2B5EF4-FFF2-40B4-BE49-F238E27FC236}">
                <a16:creationId xmlns:a16="http://schemas.microsoft.com/office/drawing/2014/main" xmlns="" id="{F5A8B553-02AE-2219-C59A-8B5B36D12789}"/>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1</a:t>
            </a:fld>
            <a:endParaRPr lang="zh-CN" altLang="en-US" dirty="0"/>
          </a:p>
        </p:txBody>
      </p:sp>
    </p:spTree>
    <p:extLst>
      <p:ext uri="{BB962C8B-B14F-4D97-AF65-F5344CB8AC3E}">
        <p14:creationId xmlns:p14="http://schemas.microsoft.com/office/powerpoint/2010/main" val="98443243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2"/>
          <a:stretch>
            <a:fillRect/>
          </a:stretch>
        </p:blipFill>
        <p:spPr>
          <a:xfrm>
            <a:off x="6106160" y="1922621"/>
            <a:ext cx="2787015" cy="4363879"/>
          </a:xfrm>
          <a:prstGeom prst="rect">
            <a:avLst/>
          </a:prstGeom>
        </p:spPr>
      </p:pic>
      <p:sp>
        <p:nvSpPr>
          <p:cNvPr id="2" name="标题 1"/>
          <p:cNvSpPr>
            <a:spLocks noGrp="1"/>
          </p:cNvSpPr>
          <p:nvPr>
            <p:ph type="title"/>
          </p:nvPr>
        </p:nvSpPr>
        <p:spPr/>
        <p:txBody>
          <a:bodyPr/>
          <a:lstStyle/>
          <a:p>
            <a:r>
              <a:rPr lang="zh-CN" altLang="en-US" dirty="0"/>
              <a:t>进程</a:t>
            </a:r>
          </a:p>
        </p:txBody>
      </p:sp>
      <p:sp>
        <p:nvSpPr>
          <p:cNvPr id="5" name="内容占位符 4"/>
          <p:cNvSpPr>
            <a:spLocks noGrp="1"/>
          </p:cNvSpPr>
          <p:nvPr>
            <p:ph idx="1"/>
          </p:nvPr>
        </p:nvSpPr>
        <p:spPr/>
        <p:txBody>
          <a:bodyPr/>
          <a:lstStyle/>
          <a:p>
            <a:r>
              <a:rPr lang="zh-CN" altLang="en-US" dirty="0"/>
              <a:t>进程是执行中的程序，这是一种非正式的说法</a:t>
            </a:r>
          </a:p>
          <a:p>
            <a:r>
              <a:rPr lang="zh-CN" altLang="en-US" dirty="0"/>
              <a:t>一个进程包括</a:t>
            </a:r>
          </a:p>
          <a:p>
            <a:pPr lvl="1"/>
            <a:r>
              <a:rPr lang="zh-CN" altLang="en-US" dirty="0"/>
              <a:t>代码段</a:t>
            </a:r>
          </a:p>
          <a:p>
            <a:pPr lvl="1"/>
            <a:r>
              <a:rPr lang="zh-CN" altLang="en-US" dirty="0"/>
              <a:t>程序计数器和处理机寄存器内容</a:t>
            </a:r>
          </a:p>
          <a:p>
            <a:pPr lvl="1"/>
            <a:r>
              <a:rPr lang="zh-CN" altLang="en-US" dirty="0"/>
              <a:t>栈</a:t>
            </a:r>
          </a:p>
          <a:p>
            <a:pPr lvl="1"/>
            <a:r>
              <a:rPr lang="zh-CN" altLang="en-US" dirty="0"/>
              <a:t>数据段</a:t>
            </a:r>
          </a:p>
        </p:txBody>
      </p:sp>
      <p:sp>
        <p:nvSpPr>
          <p:cNvPr id="4" name="灯片编号占位符 3"/>
          <p:cNvSpPr>
            <a:spLocks noGrp="1"/>
          </p:cNvSpPr>
          <p:nvPr>
            <p:ph type="sldNum" sz="quarter" idx="12"/>
          </p:nvPr>
        </p:nvSpPr>
        <p:spPr/>
        <p:txBody>
          <a:bodyPr/>
          <a:lstStyle/>
          <a:p>
            <a:fld id="{4093CC90-4002-504C-BD88-C9A1D374048E}" type="slidenum">
              <a:rPr lang="zh-CN" altLang="en-US" smtClean="0"/>
              <a:pPr/>
              <a:t>2</a:t>
            </a:fld>
            <a:endParaRPr lang="zh-CN" altLang="en-US" dirty="0"/>
          </a:p>
        </p:txBody>
      </p:sp>
      <p:sp>
        <p:nvSpPr>
          <p:cNvPr id="7" name="圆角矩形标注 6"/>
          <p:cNvSpPr/>
          <p:nvPr/>
        </p:nvSpPr>
        <p:spPr bwMode="auto">
          <a:xfrm>
            <a:off x="3753485" y="5407821"/>
            <a:ext cx="2352675" cy="533399"/>
          </a:xfrm>
          <a:prstGeom prst="wedgeRoundRectCallout">
            <a:avLst>
              <a:gd name="adj1" fmla="val 73095"/>
              <a:gd name="adj2" fmla="val 15689"/>
              <a:gd name="adj3" fmla="val 16667"/>
            </a:avLst>
          </a:prstGeom>
          <a:solidFill>
            <a:schemeClr val="accent5"/>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0" compatLnSpc="1"/>
          <a:lstStyle/>
          <a:p>
            <a:pPr fontAlgn="base">
              <a:lnSpc>
                <a:spcPct val="90000"/>
              </a:lnSpc>
              <a:spcBef>
                <a:spcPct val="20000"/>
              </a:spcBef>
              <a:spcAft>
                <a:spcPct val="0"/>
              </a:spcAft>
              <a:buClr>
                <a:schemeClr val="folHlink"/>
              </a:buClr>
              <a:buSzPct val="60000"/>
            </a:pPr>
            <a:r>
              <a:rPr lang="en-US" altLang="zh-CN" sz="2000" dirty="0"/>
              <a:t>text</a:t>
            </a:r>
            <a:r>
              <a:rPr lang="zh-CN" altLang="en-US" sz="2000" dirty="0"/>
              <a:t>段是指代码段</a:t>
            </a:r>
            <a:endParaRPr kumimoji="1" lang="zh-CN" altLang="en-US" sz="2000" b="0" i="0" u="none" strike="noStrike" cap="none" normalizeH="0" baseline="0" dirty="0" smtClean="0">
              <a:ln>
                <a:noFill/>
              </a:ln>
              <a:solidFill>
                <a:schemeClr val="tx1"/>
              </a:solidFill>
              <a:effectLst/>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58155093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内存中的进程</a:t>
            </a:r>
          </a:p>
        </p:txBody>
      </p:sp>
      <p:sp>
        <p:nvSpPr>
          <p:cNvPr id="4" name="灯片编号占位符 3"/>
          <p:cNvSpPr>
            <a:spLocks noGrp="1"/>
          </p:cNvSpPr>
          <p:nvPr>
            <p:ph type="sldNum" sz="quarter" idx="12"/>
          </p:nvPr>
        </p:nvSpPr>
        <p:spPr/>
        <p:txBody>
          <a:bodyPr/>
          <a:lstStyle/>
          <a:p>
            <a:fld id="{4093CC90-4002-504C-BD88-C9A1D374048E}" type="slidenum">
              <a:rPr lang="zh-CN" altLang="en-US" smtClean="0"/>
              <a:pPr/>
              <a:t>3</a:t>
            </a:fld>
            <a:endParaRPr lang="zh-CN" altLang="en-US" dirty="0"/>
          </a:p>
        </p:txBody>
      </p:sp>
      <p:pic>
        <p:nvPicPr>
          <p:cNvPr id="7" name="图片 6"/>
          <p:cNvPicPr>
            <a:picLocks noChangeAspect="1"/>
          </p:cNvPicPr>
          <p:nvPr/>
        </p:nvPicPr>
        <p:blipFill>
          <a:blip r:embed="rId2"/>
          <a:stretch>
            <a:fillRect/>
          </a:stretch>
        </p:blipFill>
        <p:spPr>
          <a:xfrm>
            <a:off x="326390" y="1591826"/>
            <a:ext cx="8566785" cy="4263390"/>
          </a:xfrm>
          <a:prstGeom prst="rect">
            <a:avLst/>
          </a:prstGeom>
        </p:spPr>
      </p:pic>
    </p:spTree>
    <p:extLst>
      <p:ext uri="{BB962C8B-B14F-4D97-AF65-F5344CB8AC3E}">
        <p14:creationId xmlns:p14="http://schemas.microsoft.com/office/powerpoint/2010/main" val="385560301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进程的定义</a:t>
            </a:r>
          </a:p>
        </p:txBody>
      </p:sp>
      <p:sp>
        <p:nvSpPr>
          <p:cNvPr id="3" name="内容占位符 2"/>
          <p:cNvSpPr>
            <a:spLocks noGrp="1"/>
          </p:cNvSpPr>
          <p:nvPr>
            <p:ph idx="1"/>
          </p:nvPr>
        </p:nvSpPr>
        <p:spPr/>
        <p:txBody>
          <a:bodyPr/>
          <a:lstStyle/>
          <a:p>
            <a:r>
              <a:rPr lang="zh-CN" altLang="en-US" dirty="0"/>
              <a:t>进程有多种定义，下面列举一些有代表性的定义</a:t>
            </a:r>
          </a:p>
          <a:p>
            <a:pPr lvl="1"/>
            <a:r>
              <a:rPr lang="zh-CN" altLang="en-US" dirty="0"/>
              <a:t>进程是程序在处理器上的一次执行过程</a:t>
            </a:r>
          </a:p>
          <a:p>
            <a:pPr lvl="1"/>
            <a:r>
              <a:rPr lang="zh-CN" altLang="en-US" dirty="0"/>
              <a:t>进程是可以和别的计算并行执行的计算</a:t>
            </a:r>
          </a:p>
          <a:p>
            <a:pPr lvl="1"/>
            <a:r>
              <a:rPr lang="zh-CN" altLang="en-US" dirty="0"/>
              <a:t>进程是程序在一个数据集合上运行的过程，是系统进行资源分配和调度的一个独立单位</a:t>
            </a:r>
          </a:p>
          <a:p>
            <a:pPr lvl="1"/>
            <a:r>
              <a:rPr lang="zh-CN" altLang="en-US" dirty="0"/>
              <a:t>进程是一个具有一定功能的程序关于某个数据集合的一次运行活动</a:t>
            </a:r>
          </a:p>
        </p:txBody>
      </p:sp>
      <p:sp>
        <p:nvSpPr>
          <p:cNvPr id="4" name="灯片编号占位符 3"/>
          <p:cNvSpPr>
            <a:spLocks noGrp="1"/>
          </p:cNvSpPr>
          <p:nvPr>
            <p:ph type="sldNum" sz="quarter" idx="12"/>
          </p:nvPr>
        </p:nvSpPr>
        <p:spPr/>
        <p:txBody>
          <a:bodyPr/>
          <a:lstStyle/>
          <a:p>
            <a:fld id="{4093CC90-4002-504C-BD88-C9A1D374048E}" type="slidenum">
              <a:rPr lang="zh-CN" altLang="en-US" smtClean="0"/>
              <a:pPr/>
              <a:t>4</a:t>
            </a:fld>
            <a:endParaRPr lang="zh-CN" altLang="en-US" dirty="0"/>
          </a:p>
        </p:txBody>
      </p:sp>
      <p:sp>
        <p:nvSpPr>
          <p:cNvPr id="5" name="圆角矩形标注 4"/>
          <p:cNvSpPr/>
          <p:nvPr/>
        </p:nvSpPr>
        <p:spPr bwMode="auto">
          <a:xfrm>
            <a:off x="1477963" y="5598316"/>
            <a:ext cx="6829425" cy="792954"/>
          </a:xfrm>
          <a:prstGeom prst="wedgeRoundRectCallout">
            <a:avLst>
              <a:gd name="adj1" fmla="val 40149"/>
              <a:gd name="adj2" fmla="val -140479"/>
              <a:gd name="adj3" fmla="val 16667"/>
            </a:avLst>
          </a:prstGeom>
          <a:solidFill>
            <a:schemeClr val="accent5"/>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0" compatLnSpc="1"/>
          <a:lstStyle/>
          <a:p>
            <a:pPr fontAlgn="base">
              <a:lnSpc>
                <a:spcPct val="90000"/>
              </a:lnSpc>
              <a:spcBef>
                <a:spcPct val="20000"/>
              </a:spcBef>
              <a:spcAft>
                <a:spcPct val="0"/>
              </a:spcAft>
              <a:buClr>
                <a:schemeClr val="folHlink"/>
              </a:buClr>
              <a:buSzPct val="60000"/>
            </a:pPr>
            <a:r>
              <a:rPr lang="zh-CN" altLang="en-US" sz="2000" dirty="0" smtClean="0"/>
              <a:t>进程要突出</a:t>
            </a:r>
            <a:r>
              <a:rPr lang="zh-CN" altLang="en-US" sz="2000" dirty="0"/>
              <a:t>“执行”</a:t>
            </a:r>
            <a:r>
              <a:rPr lang="zh-CN" altLang="en-US" sz="2000" dirty="0" smtClean="0"/>
              <a:t>，不只是</a:t>
            </a:r>
            <a:r>
              <a:rPr lang="zh-CN" altLang="en-US" sz="2000" dirty="0"/>
              <a:t>程序，执行的状态通过各种数据反映出来</a:t>
            </a:r>
            <a:endParaRPr kumimoji="1" lang="zh-CN" altLang="en-US" sz="2000" b="0" i="0" u="none" strike="noStrike" cap="none" normalizeH="0" baseline="0" dirty="0" smtClean="0">
              <a:ln>
                <a:noFill/>
              </a:ln>
              <a:solidFill>
                <a:schemeClr val="tx1"/>
              </a:solidFill>
              <a:effectLst/>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78235856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FA478220-5F10-3448-53B0-A082ACF36790}"/>
              </a:ext>
            </a:extLst>
          </p:cNvPr>
          <p:cNvSpPr>
            <a:spLocks noGrp="1"/>
          </p:cNvSpPr>
          <p:nvPr>
            <p:ph type="title"/>
          </p:nvPr>
        </p:nvSpPr>
        <p:spPr>
          <a:xfrm>
            <a:off x="1042988" y="225431"/>
            <a:ext cx="7850187" cy="746125"/>
          </a:xfrm>
        </p:spPr>
        <p:txBody>
          <a:bodyPr/>
          <a:lstStyle/>
          <a:p>
            <a:r>
              <a:rPr lang="zh-CN" altLang="en-US" dirty="0"/>
              <a:t>进程的特征</a:t>
            </a:r>
          </a:p>
        </p:txBody>
      </p:sp>
      <p:sp>
        <p:nvSpPr>
          <p:cNvPr id="3" name="内容占位符 2">
            <a:extLst>
              <a:ext uri="{FF2B5EF4-FFF2-40B4-BE49-F238E27FC236}">
                <a16:creationId xmlns:a16="http://schemas.microsoft.com/office/drawing/2014/main" xmlns="" id="{AD7B2C0A-B2D8-3755-E6C0-89A613AD7E93}"/>
              </a:ext>
            </a:extLst>
          </p:cNvPr>
          <p:cNvSpPr>
            <a:spLocks noGrp="1"/>
          </p:cNvSpPr>
          <p:nvPr>
            <p:ph idx="1"/>
          </p:nvPr>
        </p:nvSpPr>
        <p:spPr>
          <a:xfrm>
            <a:off x="935038" y="1233488"/>
            <a:ext cx="7772400" cy="4895850"/>
          </a:xfrm>
        </p:spPr>
        <p:txBody>
          <a:bodyPr>
            <a:normAutofit/>
          </a:bodyPr>
          <a:lstStyle/>
          <a:p>
            <a:r>
              <a:rPr lang="zh-CN" altLang="en-US" dirty="0" smtClean="0"/>
              <a:t>动态性：进程</a:t>
            </a:r>
            <a:r>
              <a:rPr lang="zh-CN" altLang="en-US" dirty="0"/>
              <a:t>是程序的一次执行</a:t>
            </a:r>
            <a:r>
              <a:rPr lang="zh-CN" altLang="en-US" dirty="0" smtClean="0"/>
              <a:t>过程</a:t>
            </a:r>
            <a:endParaRPr lang="en-US" altLang="zh-CN" dirty="0" smtClean="0"/>
          </a:p>
          <a:p>
            <a:pPr lvl="1"/>
            <a:r>
              <a:rPr lang="zh-CN" altLang="en-US" dirty="0" smtClean="0"/>
              <a:t>因</a:t>
            </a:r>
            <a:r>
              <a:rPr lang="zh-CN" altLang="en-US" dirty="0"/>
              <a:t>创建而产生，因调度而执行，因无资源而暂停，因撤消而消亡。而程序是静态</a:t>
            </a:r>
            <a:r>
              <a:rPr lang="zh-CN" altLang="en-US" dirty="0" smtClean="0"/>
              <a:t>实体</a:t>
            </a:r>
            <a:endParaRPr lang="zh-CN" altLang="en-US" dirty="0"/>
          </a:p>
          <a:p>
            <a:r>
              <a:rPr lang="zh-CN" altLang="en-US" dirty="0"/>
              <a:t>并发</a:t>
            </a:r>
            <a:r>
              <a:rPr lang="zh-CN" altLang="en-US" dirty="0" smtClean="0"/>
              <a:t>性：多</a:t>
            </a:r>
            <a:r>
              <a:rPr lang="zh-CN" altLang="en-US" dirty="0"/>
              <a:t>个</a:t>
            </a:r>
            <a:r>
              <a:rPr lang="zh-CN" altLang="en-US" dirty="0" smtClean="0"/>
              <a:t>进程可在</a:t>
            </a:r>
            <a:r>
              <a:rPr lang="zh-CN" altLang="en-US" dirty="0"/>
              <a:t>一段时间内同时</a:t>
            </a:r>
            <a:r>
              <a:rPr lang="zh-CN" altLang="en-US" dirty="0" smtClean="0"/>
              <a:t>运行</a:t>
            </a:r>
            <a:endParaRPr lang="zh-CN" altLang="en-US" dirty="0"/>
          </a:p>
          <a:p>
            <a:r>
              <a:rPr lang="zh-CN" altLang="en-US" dirty="0"/>
              <a:t>独立性</a:t>
            </a:r>
            <a:r>
              <a:rPr lang="zh-CN" altLang="en-US" dirty="0" smtClean="0"/>
              <a:t>：进程</a:t>
            </a:r>
            <a:r>
              <a:rPr lang="zh-CN" altLang="en-US" dirty="0"/>
              <a:t>是独立运行的</a:t>
            </a:r>
            <a:r>
              <a:rPr lang="zh-CN" altLang="en-US" dirty="0" smtClean="0"/>
              <a:t>基本单位</a:t>
            </a:r>
            <a:endParaRPr lang="en-US" altLang="zh-CN" dirty="0" smtClean="0"/>
          </a:p>
          <a:p>
            <a:pPr lvl="1"/>
            <a:r>
              <a:rPr lang="zh-CN" altLang="en-US" dirty="0"/>
              <a:t>在传统</a:t>
            </a:r>
            <a:r>
              <a:rPr lang="en-US" altLang="zh-CN" dirty="0"/>
              <a:t>OS</a:t>
            </a:r>
            <a:r>
              <a:rPr lang="zh-CN" altLang="en-US" dirty="0" smtClean="0"/>
              <a:t>中是分配</a:t>
            </a:r>
            <a:r>
              <a:rPr lang="zh-CN" altLang="en-US" dirty="0"/>
              <a:t>资源和调度的</a:t>
            </a:r>
            <a:r>
              <a:rPr lang="zh-CN" altLang="en-US" dirty="0" smtClean="0"/>
              <a:t>基本单位</a:t>
            </a:r>
            <a:endParaRPr lang="zh-CN" altLang="en-US" dirty="0"/>
          </a:p>
          <a:p>
            <a:r>
              <a:rPr lang="zh-CN" altLang="en-US" dirty="0"/>
              <a:t>异步性</a:t>
            </a:r>
            <a:r>
              <a:rPr lang="zh-CN" altLang="en-US" dirty="0" smtClean="0"/>
              <a:t>：以</a:t>
            </a:r>
            <a:r>
              <a:rPr lang="zh-CN" altLang="en-US" dirty="0"/>
              <a:t>各自</a:t>
            </a:r>
            <a:r>
              <a:rPr lang="zh-CN" altLang="en-US" dirty="0" smtClean="0"/>
              <a:t>独立不可</a:t>
            </a:r>
            <a:r>
              <a:rPr lang="zh-CN" altLang="en-US" dirty="0"/>
              <a:t>预知的</a:t>
            </a:r>
            <a:r>
              <a:rPr lang="zh-CN" altLang="en-US" dirty="0" smtClean="0"/>
              <a:t>速度推进</a:t>
            </a:r>
            <a:endParaRPr lang="zh-CN" altLang="en-US" dirty="0"/>
          </a:p>
          <a:p>
            <a:r>
              <a:rPr lang="zh-CN" altLang="en-US" dirty="0"/>
              <a:t>结构性</a:t>
            </a:r>
            <a:r>
              <a:rPr lang="zh-CN" altLang="en-US" dirty="0" smtClean="0"/>
              <a:t>：由</a:t>
            </a:r>
            <a:r>
              <a:rPr lang="zh-CN" altLang="en-US" dirty="0"/>
              <a:t>程序段、数据段及进程控制块组成，又称为进程</a:t>
            </a:r>
            <a:r>
              <a:rPr lang="zh-CN" altLang="en-US" dirty="0" smtClean="0"/>
              <a:t>映像</a:t>
            </a:r>
            <a:endParaRPr lang="en-US" altLang="zh-CN" dirty="0"/>
          </a:p>
        </p:txBody>
      </p:sp>
      <p:sp>
        <p:nvSpPr>
          <p:cNvPr id="4" name="灯片编号占位符 3">
            <a:extLst>
              <a:ext uri="{FF2B5EF4-FFF2-40B4-BE49-F238E27FC236}">
                <a16:creationId xmlns:a16="http://schemas.microsoft.com/office/drawing/2014/main" xmlns="" id="{F5A8B553-02AE-2219-C59A-8B5B36D12789}"/>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5</a:t>
            </a:fld>
            <a:endParaRPr lang="zh-CN" altLang="en-US" dirty="0"/>
          </a:p>
        </p:txBody>
      </p:sp>
      <p:sp>
        <p:nvSpPr>
          <p:cNvPr id="5" name="圆角矩形标注 4"/>
          <p:cNvSpPr/>
          <p:nvPr/>
        </p:nvSpPr>
        <p:spPr bwMode="auto">
          <a:xfrm>
            <a:off x="4895850" y="5740002"/>
            <a:ext cx="3392488" cy="973935"/>
          </a:xfrm>
          <a:prstGeom prst="wedgeRoundRectCallout">
            <a:avLst>
              <a:gd name="adj1" fmla="val -121853"/>
              <a:gd name="adj2" fmla="val -178621"/>
              <a:gd name="adj3" fmla="val 16667"/>
            </a:avLst>
          </a:prstGeom>
          <a:solidFill>
            <a:schemeClr val="accent5"/>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0" compatLnSpc="1"/>
          <a:lstStyle/>
          <a:p>
            <a:pPr fontAlgn="base">
              <a:lnSpc>
                <a:spcPct val="90000"/>
              </a:lnSpc>
              <a:spcBef>
                <a:spcPct val="20000"/>
              </a:spcBef>
              <a:spcAft>
                <a:spcPct val="0"/>
              </a:spcAft>
              <a:buClr>
                <a:schemeClr val="folHlink"/>
              </a:buClr>
              <a:buSzPct val="60000"/>
            </a:pPr>
            <a:r>
              <a:rPr lang="zh-CN" altLang="en-US" sz="2000" dirty="0"/>
              <a:t>传统，是指尚未引入线程，本章均针对传统</a:t>
            </a:r>
            <a:r>
              <a:rPr lang="en-US" altLang="zh-CN" sz="2000" dirty="0"/>
              <a:t>OS</a:t>
            </a:r>
            <a:r>
              <a:rPr lang="zh-CN" altLang="en-US" sz="2000" dirty="0"/>
              <a:t>，不涉及线程</a:t>
            </a:r>
            <a:endParaRPr kumimoji="1" lang="zh-CN" altLang="en-US" sz="2000" b="0" i="0" u="none" strike="noStrike" cap="none" normalizeH="0" baseline="0" dirty="0" smtClean="0">
              <a:ln>
                <a:noFill/>
              </a:ln>
              <a:solidFill>
                <a:schemeClr val="tx1"/>
              </a:solidFill>
              <a:effectLst/>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16243503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进程与程序的关系</a:t>
            </a:r>
          </a:p>
        </p:txBody>
      </p:sp>
      <p:sp>
        <p:nvSpPr>
          <p:cNvPr id="3" name="内容占位符 2"/>
          <p:cNvSpPr>
            <a:spLocks noGrp="1"/>
          </p:cNvSpPr>
          <p:nvPr>
            <p:ph idx="1"/>
          </p:nvPr>
        </p:nvSpPr>
        <p:spPr/>
        <p:txBody>
          <a:bodyPr/>
          <a:lstStyle/>
          <a:p>
            <a:r>
              <a:rPr lang="zh-CN" altLang="en-US" dirty="0"/>
              <a:t>进程是动态概念，程序是静态</a:t>
            </a:r>
            <a:r>
              <a:rPr lang="zh-CN" altLang="en-US" dirty="0" smtClean="0"/>
              <a:t>概念</a:t>
            </a:r>
            <a:endParaRPr lang="en-US" altLang="zh-CN" dirty="0" smtClean="0"/>
          </a:p>
          <a:p>
            <a:pPr lvl="1"/>
            <a:r>
              <a:rPr lang="zh-CN" altLang="en-US" dirty="0" smtClean="0"/>
              <a:t>进程</a:t>
            </a:r>
            <a:r>
              <a:rPr lang="zh-CN" altLang="en-US" dirty="0"/>
              <a:t>是程序在处理机上的一次执行过程，而程序是指令的</a:t>
            </a:r>
            <a:r>
              <a:rPr lang="zh-CN" altLang="en-US" dirty="0" smtClean="0"/>
              <a:t>集合</a:t>
            </a:r>
            <a:endParaRPr lang="zh-CN" altLang="en-US" dirty="0"/>
          </a:p>
          <a:p>
            <a:r>
              <a:rPr lang="zh-CN" altLang="en-US" dirty="0"/>
              <a:t>进程是暂时的，程序是永久</a:t>
            </a:r>
            <a:r>
              <a:rPr lang="zh-CN" altLang="en-US" dirty="0" smtClean="0"/>
              <a:t>的</a:t>
            </a:r>
            <a:endParaRPr lang="en-US" altLang="zh-CN" dirty="0" smtClean="0"/>
          </a:p>
          <a:p>
            <a:pPr lvl="1"/>
            <a:r>
              <a:rPr lang="zh-CN" altLang="en-US" dirty="0" smtClean="0"/>
              <a:t>进程</a:t>
            </a:r>
            <a:r>
              <a:rPr lang="zh-CN" altLang="en-US" dirty="0"/>
              <a:t>是一个状态变化的过程；程序</a:t>
            </a:r>
            <a:r>
              <a:rPr lang="zh-CN" altLang="en-US" dirty="0" smtClean="0"/>
              <a:t>可长久保存</a:t>
            </a:r>
            <a:endParaRPr lang="zh-CN" altLang="en-US" dirty="0"/>
          </a:p>
          <a:p>
            <a:r>
              <a:rPr lang="zh-CN" altLang="en-US" dirty="0" smtClean="0"/>
              <a:t>进程</a:t>
            </a:r>
            <a:r>
              <a:rPr lang="zh-CN" altLang="en-US" dirty="0"/>
              <a:t>的组成包括程序、数据和进程控制</a:t>
            </a:r>
            <a:r>
              <a:rPr lang="zh-CN" altLang="en-US" dirty="0" smtClean="0"/>
              <a:t>块</a:t>
            </a:r>
            <a:endParaRPr lang="zh-CN" altLang="en-US" dirty="0"/>
          </a:p>
          <a:p>
            <a:r>
              <a:rPr lang="zh-CN" altLang="en-US" dirty="0" smtClean="0"/>
              <a:t>一</a:t>
            </a:r>
            <a:r>
              <a:rPr lang="zh-CN" altLang="en-US" dirty="0"/>
              <a:t>个程序</a:t>
            </a:r>
            <a:r>
              <a:rPr lang="zh-CN" altLang="en-US" dirty="0" smtClean="0"/>
              <a:t>可对应</a:t>
            </a:r>
            <a:r>
              <a:rPr lang="zh-CN" altLang="en-US" dirty="0"/>
              <a:t>多个进程；一个进程</a:t>
            </a:r>
            <a:r>
              <a:rPr lang="zh-CN" altLang="en-US" dirty="0" smtClean="0"/>
              <a:t>可包括</a:t>
            </a:r>
            <a:r>
              <a:rPr lang="zh-CN" altLang="en-US" dirty="0"/>
              <a:t>多个</a:t>
            </a:r>
            <a:r>
              <a:rPr lang="zh-CN" altLang="en-US" dirty="0" smtClean="0"/>
              <a:t>程序</a:t>
            </a:r>
            <a:endParaRPr lang="zh-CN" altLang="en-US" dirty="0"/>
          </a:p>
          <a:p>
            <a:r>
              <a:rPr lang="zh-CN" altLang="en-US" dirty="0"/>
              <a:t>进程可以创建新进程</a:t>
            </a:r>
            <a:r>
              <a:rPr lang="zh-CN" altLang="en-US" dirty="0" smtClean="0"/>
              <a:t>，程序</a:t>
            </a:r>
            <a:r>
              <a:rPr lang="zh-CN" altLang="en-US" dirty="0"/>
              <a:t>不能形成新</a:t>
            </a:r>
            <a:r>
              <a:rPr lang="zh-CN" altLang="en-US" dirty="0" smtClean="0"/>
              <a:t>程序</a:t>
            </a:r>
            <a:endParaRPr lang="zh-CN" altLang="en-US" dirty="0"/>
          </a:p>
        </p:txBody>
      </p:sp>
      <p:sp>
        <p:nvSpPr>
          <p:cNvPr id="4" name="灯片编号占位符 3"/>
          <p:cNvSpPr>
            <a:spLocks noGrp="1"/>
          </p:cNvSpPr>
          <p:nvPr>
            <p:ph type="sldNum" sz="quarter" idx="12"/>
          </p:nvPr>
        </p:nvSpPr>
        <p:spPr/>
        <p:txBody>
          <a:bodyPr/>
          <a:lstStyle/>
          <a:p>
            <a:fld id="{4093CC90-4002-504C-BD88-C9A1D374048E}" type="slidenum">
              <a:rPr lang="zh-CN" altLang="en-US" smtClean="0"/>
              <a:pPr/>
              <a:t>6</a:t>
            </a:fld>
            <a:endParaRPr lang="zh-CN" altLang="en-US" dirty="0"/>
          </a:p>
        </p:txBody>
      </p:sp>
    </p:spTree>
    <p:extLst>
      <p:ext uri="{BB962C8B-B14F-4D97-AF65-F5344CB8AC3E}">
        <p14:creationId xmlns:p14="http://schemas.microsoft.com/office/powerpoint/2010/main" val="222689975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进程状态</a:t>
            </a:r>
          </a:p>
        </p:txBody>
      </p:sp>
      <p:sp>
        <p:nvSpPr>
          <p:cNvPr id="3" name="内容占位符 2"/>
          <p:cNvSpPr>
            <a:spLocks noGrp="1"/>
          </p:cNvSpPr>
          <p:nvPr>
            <p:ph idx="1"/>
          </p:nvPr>
        </p:nvSpPr>
        <p:spPr/>
        <p:txBody>
          <a:bodyPr/>
          <a:lstStyle/>
          <a:p>
            <a:r>
              <a:rPr lang="zh-CN" altLang="en-US" dirty="0"/>
              <a:t>进程执行时会改变状态。进程状态包括：</a:t>
            </a:r>
          </a:p>
          <a:p>
            <a:pPr lvl="1"/>
            <a:r>
              <a:rPr lang="zh-CN" altLang="en-US" dirty="0"/>
              <a:t>新建</a:t>
            </a:r>
            <a:r>
              <a:rPr lang="zh-CN" altLang="en-US" dirty="0" smtClean="0"/>
              <a:t>：刚创建，未</a:t>
            </a:r>
            <a:r>
              <a:rPr lang="zh-CN" altLang="en-US" dirty="0"/>
              <a:t>进入就绪</a:t>
            </a:r>
            <a:r>
              <a:rPr lang="zh-CN" altLang="en-US" dirty="0" smtClean="0"/>
              <a:t>队列</a:t>
            </a:r>
            <a:r>
              <a:rPr lang="zh-CN" altLang="en-US" dirty="0"/>
              <a:t>，</a:t>
            </a:r>
            <a:r>
              <a:rPr lang="zh-CN" altLang="en-US" dirty="0" smtClean="0"/>
              <a:t>又</a:t>
            </a:r>
            <a:r>
              <a:rPr lang="zh-CN" altLang="en-US" dirty="0"/>
              <a:t>称创建状态</a:t>
            </a:r>
          </a:p>
          <a:p>
            <a:pPr lvl="1"/>
            <a:r>
              <a:rPr lang="zh-CN" altLang="en-US" dirty="0"/>
              <a:t>运行</a:t>
            </a:r>
            <a:r>
              <a:rPr lang="zh-CN" altLang="en-US" dirty="0" smtClean="0"/>
              <a:t>：获得</a:t>
            </a:r>
            <a:r>
              <a:rPr lang="zh-CN" altLang="en-US" dirty="0"/>
              <a:t>必要的资源并正在处理机上执行</a:t>
            </a:r>
          </a:p>
          <a:p>
            <a:pPr lvl="1"/>
            <a:r>
              <a:rPr lang="zh-CN" altLang="en-US" dirty="0"/>
              <a:t>等待：又称阻塞、睡眠</a:t>
            </a:r>
            <a:r>
              <a:rPr lang="zh-CN" altLang="en-US" dirty="0" smtClean="0"/>
              <a:t>，进程由于</a:t>
            </a:r>
            <a:r>
              <a:rPr lang="zh-CN" altLang="en-US" dirty="0"/>
              <a:t>发生某事件而暂时无法执行下去（如等待输入</a:t>
            </a:r>
            <a:r>
              <a:rPr lang="en-US" altLang="zh-CN" dirty="0"/>
              <a:t>/</a:t>
            </a:r>
            <a:r>
              <a:rPr lang="zh-CN" altLang="en-US" dirty="0"/>
              <a:t>输出完成</a:t>
            </a:r>
            <a:r>
              <a:rPr lang="zh-CN" altLang="en-US" dirty="0" smtClean="0"/>
              <a:t>）</a:t>
            </a:r>
            <a:r>
              <a:rPr lang="zh-CN" altLang="en-US" dirty="0"/>
              <a:t>，</a:t>
            </a:r>
            <a:r>
              <a:rPr lang="zh-CN" altLang="en-US" dirty="0" smtClean="0"/>
              <a:t>这时</a:t>
            </a:r>
            <a:r>
              <a:rPr lang="zh-CN" altLang="en-US" dirty="0">
                <a:solidFill>
                  <a:srgbClr val="FF0000"/>
                </a:solidFill>
              </a:rPr>
              <a:t>即使</a:t>
            </a:r>
            <a:r>
              <a:rPr lang="zh-CN" altLang="en-US" dirty="0" smtClean="0">
                <a:solidFill>
                  <a:srgbClr val="FF0000"/>
                </a:solidFill>
              </a:rPr>
              <a:t>把</a:t>
            </a:r>
            <a:r>
              <a:rPr lang="en-US" altLang="zh-CN" dirty="0" smtClean="0">
                <a:solidFill>
                  <a:srgbClr val="FF0000"/>
                </a:solidFill>
              </a:rPr>
              <a:t>CPU</a:t>
            </a:r>
            <a:r>
              <a:rPr lang="zh-CN" altLang="en-US" dirty="0" smtClean="0">
                <a:solidFill>
                  <a:srgbClr val="FF0000"/>
                </a:solidFill>
              </a:rPr>
              <a:t>分</a:t>
            </a:r>
            <a:r>
              <a:rPr lang="zh-CN" altLang="en-US" dirty="0">
                <a:solidFill>
                  <a:srgbClr val="FF0000"/>
                </a:solidFill>
              </a:rPr>
              <a:t>配给该进程，它也无法运行</a:t>
            </a:r>
          </a:p>
          <a:p>
            <a:pPr lvl="1"/>
            <a:r>
              <a:rPr lang="zh-CN" altLang="en-US" dirty="0"/>
              <a:t>就绪</a:t>
            </a:r>
            <a:r>
              <a:rPr lang="zh-CN" altLang="en-US" dirty="0" smtClean="0"/>
              <a:t>：已</a:t>
            </a:r>
            <a:r>
              <a:rPr lang="zh-CN" altLang="en-US" dirty="0"/>
              <a:t>获得</a:t>
            </a:r>
            <a:r>
              <a:rPr lang="zh-CN" altLang="en-US" dirty="0" smtClean="0"/>
              <a:t>除</a:t>
            </a:r>
            <a:r>
              <a:rPr lang="en-US" altLang="zh-CN" dirty="0" smtClean="0">
                <a:solidFill>
                  <a:srgbClr val="FF0000"/>
                </a:solidFill>
              </a:rPr>
              <a:t>CPU</a:t>
            </a:r>
            <a:r>
              <a:rPr lang="zh-CN" altLang="en-US" dirty="0" smtClean="0">
                <a:solidFill>
                  <a:srgbClr val="FF0000"/>
                </a:solidFill>
              </a:rPr>
              <a:t>以外</a:t>
            </a:r>
            <a:r>
              <a:rPr lang="zh-CN" altLang="en-US" dirty="0">
                <a:solidFill>
                  <a:srgbClr val="FF0000"/>
                </a:solidFill>
              </a:rPr>
              <a:t>的所有资源</a:t>
            </a:r>
            <a:r>
              <a:rPr lang="zh-CN" altLang="en-US" dirty="0"/>
              <a:t>，一旦分配了处理机就可以立即执行</a:t>
            </a:r>
          </a:p>
          <a:p>
            <a:pPr lvl="1"/>
            <a:r>
              <a:rPr lang="zh-CN" altLang="en-US" dirty="0"/>
              <a:t>终止</a:t>
            </a:r>
            <a:r>
              <a:rPr lang="zh-CN" altLang="en-US" dirty="0" smtClean="0"/>
              <a:t>：正常</a:t>
            </a:r>
            <a:r>
              <a:rPr lang="zh-CN" altLang="en-US" dirty="0"/>
              <a:t>或异常结束</a:t>
            </a:r>
            <a:r>
              <a:rPr lang="zh-CN" altLang="en-US" dirty="0" smtClean="0"/>
              <a:t>，系统</a:t>
            </a:r>
            <a:r>
              <a:rPr lang="zh-CN" altLang="en-US" dirty="0"/>
              <a:t>已释放它所占用的资源，但尚未将它</a:t>
            </a:r>
            <a:r>
              <a:rPr lang="zh-CN" altLang="en-US" dirty="0" smtClean="0"/>
              <a:t>撤消时的状态</a:t>
            </a:r>
            <a:endParaRPr lang="zh-CN" altLang="en-US" dirty="0"/>
          </a:p>
        </p:txBody>
      </p:sp>
      <p:sp>
        <p:nvSpPr>
          <p:cNvPr id="4" name="灯片编号占位符 3"/>
          <p:cNvSpPr>
            <a:spLocks noGrp="1"/>
          </p:cNvSpPr>
          <p:nvPr>
            <p:ph type="sldNum" sz="quarter" idx="12"/>
          </p:nvPr>
        </p:nvSpPr>
        <p:spPr/>
        <p:txBody>
          <a:bodyPr/>
          <a:lstStyle/>
          <a:p>
            <a:fld id="{4093CC90-4002-504C-BD88-C9A1D374048E}" type="slidenum">
              <a:rPr lang="zh-CN" altLang="en-US" smtClean="0"/>
              <a:pPr/>
              <a:t>7</a:t>
            </a:fld>
            <a:endParaRPr lang="zh-CN" altLang="en-US" dirty="0"/>
          </a:p>
        </p:txBody>
      </p:sp>
      <p:sp>
        <p:nvSpPr>
          <p:cNvPr id="5" name="圆角矩形标注 4"/>
          <p:cNvSpPr/>
          <p:nvPr/>
        </p:nvSpPr>
        <p:spPr bwMode="auto">
          <a:xfrm>
            <a:off x="152400" y="4352924"/>
            <a:ext cx="1104900" cy="2124075"/>
          </a:xfrm>
          <a:prstGeom prst="wedgeRoundRectCallout">
            <a:avLst>
              <a:gd name="adj1" fmla="val 74698"/>
              <a:gd name="adj2" fmla="val -29745"/>
              <a:gd name="adj3" fmla="val 16667"/>
            </a:avLst>
          </a:prstGeom>
          <a:solidFill>
            <a:schemeClr val="accent5"/>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0" compatLnSpc="1"/>
          <a:lstStyle/>
          <a:p>
            <a:pPr fontAlgn="base">
              <a:lnSpc>
                <a:spcPct val="90000"/>
              </a:lnSpc>
              <a:spcBef>
                <a:spcPct val="20000"/>
              </a:spcBef>
              <a:spcAft>
                <a:spcPct val="0"/>
              </a:spcAft>
              <a:buClr>
                <a:schemeClr val="folHlink"/>
              </a:buClr>
              <a:buSzPct val="60000"/>
            </a:pPr>
            <a:r>
              <a:rPr lang="zh-CN" altLang="en-US" sz="2000" dirty="0" smtClean="0"/>
              <a:t>不久必然得以运行，多个就绪进程意味着</a:t>
            </a:r>
            <a:r>
              <a:rPr lang="en-US" altLang="zh-CN" sz="2000" dirty="0" smtClean="0"/>
              <a:t>CPU</a:t>
            </a:r>
            <a:r>
              <a:rPr lang="zh-CN" altLang="en-US" sz="2000" dirty="0" smtClean="0"/>
              <a:t>忙</a:t>
            </a:r>
            <a:endParaRPr kumimoji="1" lang="zh-CN" altLang="en-US" sz="2000" b="0" i="0" u="none" strike="noStrike" cap="none" normalizeH="0" baseline="0" dirty="0" smtClean="0">
              <a:ln>
                <a:noFill/>
              </a:ln>
              <a:solidFill>
                <a:schemeClr val="tx1"/>
              </a:solidFill>
              <a:effectLst/>
              <a:latin typeface="Tahoma" panose="020B0604030504040204" pitchFamily="34" charset="0"/>
              <a:ea typeface="宋体" panose="02010600030101010101" pitchFamily="2" charset="-122"/>
            </a:endParaRPr>
          </a:p>
        </p:txBody>
      </p:sp>
      <p:sp>
        <p:nvSpPr>
          <p:cNvPr id="6" name="圆角矩形标注 5"/>
          <p:cNvSpPr/>
          <p:nvPr/>
        </p:nvSpPr>
        <p:spPr bwMode="auto">
          <a:xfrm>
            <a:off x="152400" y="1874053"/>
            <a:ext cx="1104900" cy="1552570"/>
          </a:xfrm>
          <a:prstGeom prst="wedgeRoundRectCallout">
            <a:avLst>
              <a:gd name="adj1" fmla="val 73836"/>
              <a:gd name="adj2" fmla="val 28240"/>
              <a:gd name="adj3" fmla="val 16667"/>
            </a:avLst>
          </a:prstGeom>
          <a:solidFill>
            <a:schemeClr val="accent5"/>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0" compatLnSpc="1"/>
          <a:lstStyle/>
          <a:p>
            <a:pPr fontAlgn="base">
              <a:lnSpc>
                <a:spcPct val="90000"/>
              </a:lnSpc>
              <a:spcBef>
                <a:spcPct val="20000"/>
              </a:spcBef>
              <a:spcAft>
                <a:spcPct val="0"/>
              </a:spcAft>
              <a:buClr>
                <a:schemeClr val="folHlink"/>
              </a:buClr>
              <a:buSzPct val="60000"/>
            </a:pPr>
            <a:r>
              <a:rPr lang="zh-CN" altLang="en-US" sz="2000" dirty="0"/>
              <a:t>主动放弃</a:t>
            </a:r>
            <a:r>
              <a:rPr lang="en-US" altLang="zh-CN" sz="2000" dirty="0"/>
              <a:t>CPU</a:t>
            </a:r>
            <a:r>
              <a:rPr lang="zh-CN" altLang="en-US" sz="2000" dirty="0"/>
              <a:t>，流畅省电的保障</a:t>
            </a:r>
            <a:endParaRPr kumimoji="1" lang="zh-CN" altLang="en-US" sz="2000" b="0" i="0" u="none" strike="noStrike" cap="none" normalizeH="0" baseline="0" dirty="0" smtClean="0">
              <a:ln>
                <a:noFill/>
              </a:ln>
              <a:solidFill>
                <a:schemeClr val="tx1"/>
              </a:solidFill>
              <a:effectLst/>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3592071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5"/>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1" nodeType="clickEffect">
                                  <p:stCondLst>
                                    <p:cond delay="0"/>
                                  </p:stCondLst>
                                  <p:childTnLst>
                                    <p:set>
                                      <p:cBhvr>
                                        <p:cTn id="18" dur="1" fill="hold">
                                          <p:stCondLst>
                                            <p:cond delay="0"/>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6" grpId="0" animBg="1"/>
      <p:bldP spid="6" grpId="1"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进程状态图</a:t>
            </a:r>
          </a:p>
        </p:txBody>
      </p:sp>
      <p:sp>
        <p:nvSpPr>
          <p:cNvPr id="7" name="内容占位符 6"/>
          <p:cNvSpPr>
            <a:spLocks noGrp="1"/>
          </p:cNvSpPr>
          <p:nvPr>
            <p:ph idx="1"/>
          </p:nvPr>
        </p:nvSpPr>
        <p:spPr/>
        <p:txBody>
          <a:bodyPr/>
          <a:lstStyle/>
          <a:p>
            <a:r>
              <a:rPr lang="zh-CN" altLang="en-US" dirty="0" smtClean="0"/>
              <a:t>数量</a:t>
            </a:r>
            <a:endParaRPr lang="en-US" altLang="zh-CN" dirty="0" smtClean="0"/>
          </a:p>
          <a:p>
            <a:pPr lvl="1"/>
            <a:r>
              <a:rPr lang="zh-CN" altLang="en-US" dirty="0" smtClean="0"/>
              <a:t>运行态进程数量</a:t>
            </a:r>
            <a:r>
              <a:rPr lang="zh-CN" altLang="en-US" dirty="0"/>
              <a:t>受限于</a:t>
            </a:r>
            <a:r>
              <a:rPr lang="en-US" altLang="zh-CN" dirty="0"/>
              <a:t>CPU</a:t>
            </a:r>
            <a:r>
              <a:rPr lang="zh-CN" altLang="en-US" dirty="0" smtClean="0"/>
              <a:t>数量</a:t>
            </a:r>
            <a:endParaRPr lang="en-US" altLang="zh-CN" dirty="0" smtClean="0"/>
          </a:p>
          <a:p>
            <a:pPr lvl="1"/>
            <a:r>
              <a:rPr lang="zh-CN" altLang="en-US" dirty="0" smtClean="0"/>
              <a:t>就绪</a:t>
            </a:r>
            <a:r>
              <a:rPr lang="zh-CN" altLang="en-US" dirty="0"/>
              <a:t>态、阻塞态有</a:t>
            </a:r>
            <a:r>
              <a:rPr lang="zh-CN" altLang="en-US" dirty="0" smtClean="0"/>
              <a:t>队列</a:t>
            </a:r>
            <a:endParaRPr lang="en-US" altLang="zh-CN" dirty="0" smtClean="0"/>
          </a:p>
        </p:txBody>
      </p:sp>
      <p:sp>
        <p:nvSpPr>
          <p:cNvPr id="4" name="灯片编号占位符 3"/>
          <p:cNvSpPr>
            <a:spLocks noGrp="1"/>
          </p:cNvSpPr>
          <p:nvPr>
            <p:ph type="sldNum" sz="quarter" idx="12"/>
          </p:nvPr>
        </p:nvSpPr>
        <p:spPr/>
        <p:txBody>
          <a:bodyPr/>
          <a:lstStyle/>
          <a:p>
            <a:fld id="{4093CC90-4002-504C-BD88-C9A1D374048E}" type="slidenum">
              <a:rPr lang="zh-CN" altLang="en-US" smtClean="0"/>
              <a:pPr/>
              <a:t>8</a:t>
            </a:fld>
            <a:endParaRPr lang="zh-CN" altLang="en-US" dirty="0"/>
          </a:p>
        </p:txBody>
      </p:sp>
      <p:pic>
        <p:nvPicPr>
          <p:cNvPr id="6" name="图片 5"/>
          <p:cNvPicPr>
            <a:picLocks noChangeAspect="1"/>
          </p:cNvPicPr>
          <p:nvPr/>
        </p:nvPicPr>
        <p:blipFill>
          <a:blip r:embed="rId2"/>
          <a:stretch>
            <a:fillRect/>
          </a:stretch>
        </p:blipFill>
        <p:spPr>
          <a:xfrm>
            <a:off x="449263" y="3082285"/>
            <a:ext cx="8258175" cy="3308985"/>
          </a:xfrm>
          <a:prstGeom prst="rect">
            <a:avLst/>
          </a:prstGeom>
        </p:spPr>
      </p:pic>
      <p:cxnSp>
        <p:nvCxnSpPr>
          <p:cNvPr id="9" name="直接连接符 8"/>
          <p:cNvCxnSpPr/>
          <p:nvPr/>
        </p:nvCxnSpPr>
        <p:spPr bwMode="auto">
          <a:xfrm>
            <a:off x="4038600" y="3657600"/>
            <a:ext cx="942975" cy="0"/>
          </a:xfrm>
          <a:prstGeom prst="line">
            <a:avLst/>
          </a:prstGeom>
          <a:gradFill rotWithShape="0">
            <a:gsLst>
              <a:gs pos="0">
                <a:srgbClr val="99CCFF"/>
              </a:gs>
              <a:gs pos="100000">
                <a:schemeClr val="bg2"/>
              </a:gs>
            </a:gsLst>
            <a:lin ang="5400000" scaled="1"/>
          </a:gradFill>
          <a:ln w="38100" cap="flat" cmpd="sng" algn="ctr">
            <a:solidFill>
              <a:srgbClr val="FF0000"/>
            </a:solidFill>
            <a:prstDash val="solid"/>
            <a:round/>
            <a:headEnd type="none" w="med" len="med"/>
            <a:tailEnd type="none" w="med" len="med"/>
          </a:ln>
        </p:spPr>
      </p:cxnSp>
      <p:cxnSp>
        <p:nvCxnSpPr>
          <p:cNvPr id="10" name="直接连接符 9"/>
          <p:cNvCxnSpPr/>
          <p:nvPr/>
        </p:nvCxnSpPr>
        <p:spPr bwMode="auto">
          <a:xfrm>
            <a:off x="800100" y="5743575"/>
            <a:ext cx="2495550" cy="0"/>
          </a:xfrm>
          <a:prstGeom prst="line">
            <a:avLst/>
          </a:prstGeom>
          <a:gradFill rotWithShape="0">
            <a:gsLst>
              <a:gs pos="0">
                <a:srgbClr val="99CCFF"/>
              </a:gs>
              <a:gs pos="100000">
                <a:schemeClr val="bg2"/>
              </a:gs>
            </a:gsLst>
            <a:lin ang="5400000" scaled="1"/>
          </a:gradFill>
          <a:ln w="38100" cap="flat" cmpd="sng" algn="ctr">
            <a:solidFill>
              <a:srgbClr val="FF0000"/>
            </a:solidFill>
            <a:prstDash val="solid"/>
            <a:round/>
            <a:headEnd type="none" w="med" len="med"/>
            <a:tailEnd type="none" w="med" len="med"/>
          </a:ln>
        </p:spPr>
      </p:cxnSp>
      <p:cxnSp>
        <p:nvCxnSpPr>
          <p:cNvPr id="12" name="直接连接符 11"/>
          <p:cNvCxnSpPr/>
          <p:nvPr/>
        </p:nvCxnSpPr>
        <p:spPr bwMode="auto">
          <a:xfrm>
            <a:off x="5648325" y="5743575"/>
            <a:ext cx="1838325" cy="0"/>
          </a:xfrm>
          <a:prstGeom prst="line">
            <a:avLst/>
          </a:prstGeom>
          <a:gradFill rotWithShape="0">
            <a:gsLst>
              <a:gs pos="0">
                <a:srgbClr val="99CCFF"/>
              </a:gs>
              <a:gs pos="100000">
                <a:schemeClr val="bg2"/>
              </a:gs>
            </a:gsLst>
            <a:lin ang="5400000" scaled="1"/>
          </a:gradFill>
          <a:ln w="38100" cap="flat" cmpd="sng" algn="ctr">
            <a:solidFill>
              <a:srgbClr val="FF0000"/>
            </a:solidFill>
            <a:prstDash val="solid"/>
            <a:round/>
            <a:headEnd type="none" w="med" len="med"/>
            <a:tailEnd type="none" w="med" len="med"/>
          </a:ln>
        </p:spPr>
      </p:cxnSp>
    </p:spTree>
    <p:extLst>
      <p:ext uri="{BB962C8B-B14F-4D97-AF65-F5344CB8AC3E}">
        <p14:creationId xmlns:p14="http://schemas.microsoft.com/office/powerpoint/2010/main" val="93538536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进程状态图</a:t>
            </a:r>
          </a:p>
        </p:txBody>
      </p:sp>
      <p:sp>
        <p:nvSpPr>
          <p:cNvPr id="3" name="内容占位符 2"/>
          <p:cNvSpPr>
            <a:spLocks noGrp="1"/>
          </p:cNvSpPr>
          <p:nvPr>
            <p:ph idx="1"/>
          </p:nvPr>
        </p:nvSpPr>
        <p:spPr/>
        <p:txBody>
          <a:bodyPr/>
          <a:lstStyle/>
          <a:p>
            <a:r>
              <a:rPr lang="zh-CN" altLang="en-US" dirty="0"/>
              <a:t>中断</a:t>
            </a:r>
            <a:endParaRPr lang="en-US" altLang="zh-CN" dirty="0"/>
          </a:p>
          <a:p>
            <a:pPr lvl="1"/>
            <a:r>
              <a:rPr lang="zh-CN" altLang="en-US" dirty="0"/>
              <a:t>典型如时钟，也可能</a:t>
            </a:r>
            <a:r>
              <a:rPr lang="zh-CN" altLang="en-US" dirty="0" smtClean="0"/>
              <a:t>其它来源如</a:t>
            </a:r>
            <a:r>
              <a:rPr lang="zh-CN" altLang="en-US" dirty="0"/>
              <a:t>鼠标</a:t>
            </a:r>
            <a:r>
              <a:rPr lang="zh-CN" altLang="en-US" dirty="0" smtClean="0"/>
              <a:t>，</a:t>
            </a:r>
            <a:r>
              <a:rPr lang="en-US" altLang="zh-CN" dirty="0" smtClean="0"/>
              <a:t>OS</a:t>
            </a:r>
            <a:r>
              <a:rPr lang="zh-CN" altLang="en-US" dirty="0" smtClean="0"/>
              <a:t>借机</a:t>
            </a:r>
            <a:r>
              <a:rPr lang="zh-CN" altLang="en-US" dirty="0"/>
              <a:t>夺回</a:t>
            </a:r>
            <a:r>
              <a:rPr lang="en-US" altLang="zh-CN" dirty="0" smtClean="0"/>
              <a:t>CPU</a:t>
            </a:r>
            <a:r>
              <a:rPr lang="zh-CN" altLang="en-US" dirty="0" smtClean="0"/>
              <a:t>，趁机切换</a:t>
            </a:r>
            <a:endParaRPr lang="en-US" altLang="zh-CN" dirty="0" smtClean="0"/>
          </a:p>
          <a:p>
            <a:pPr lvl="1"/>
            <a:r>
              <a:rPr lang="zh-CN" altLang="en-US" dirty="0" smtClean="0"/>
              <a:t>并不</a:t>
            </a:r>
            <a:r>
              <a:rPr lang="zh-CN" altLang="en-US" dirty="0"/>
              <a:t>总引起切换，如鼠标移动，触发</a:t>
            </a:r>
            <a:r>
              <a:rPr lang="zh-CN" altLang="en-US" dirty="0" smtClean="0"/>
              <a:t>内核中断</a:t>
            </a:r>
            <a:r>
              <a:rPr lang="zh-CN" altLang="en-US" dirty="0"/>
              <a:t>服务，</a:t>
            </a:r>
            <a:r>
              <a:rPr lang="zh-CN" altLang="en-US" dirty="0" smtClean="0"/>
              <a:t>但处理完成</a:t>
            </a:r>
            <a:r>
              <a:rPr lang="zh-CN" altLang="en-US" dirty="0"/>
              <a:t>后</a:t>
            </a:r>
            <a:r>
              <a:rPr lang="zh-CN" altLang="en-US" dirty="0" smtClean="0"/>
              <a:t>决定回到原进程，不</a:t>
            </a:r>
            <a:r>
              <a:rPr lang="zh-CN" altLang="en-US" dirty="0"/>
              <a:t>切换</a:t>
            </a:r>
            <a:endParaRPr lang="en-US" altLang="zh-CN" dirty="0" smtClean="0"/>
          </a:p>
          <a:p>
            <a:r>
              <a:rPr lang="en-US" altLang="zh-CN" dirty="0"/>
              <a:t>IO</a:t>
            </a:r>
            <a:r>
              <a:rPr lang="zh-CN" altLang="en-US" dirty="0"/>
              <a:t>与等待</a:t>
            </a:r>
          </a:p>
          <a:p>
            <a:pPr lvl="1"/>
            <a:r>
              <a:rPr lang="zh-CN" altLang="en-US" dirty="0"/>
              <a:t>如读写文件、等待用户操作、睡眠等待</a:t>
            </a:r>
          </a:p>
          <a:p>
            <a:pPr lvl="1"/>
            <a:r>
              <a:rPr lang="zh-CN" altLang="en-US" dirty="0"/>
              <a:t>一定由程序主动发起（推进</a:t>
            </a:r>
            <a:r>
              <a:rPr lang="zh-CN" altLang="en-US" dirty="0" smtClean="0"/>
              <a:t>到无法</a:t>
            </a:r>
            <a:r>
              <a:rPr lang="zh-CN" altLang="en-US" dirty="0"/>
              <a:t>前进的</a:t>
            </a:r>
            <a:r>
              <a:rPr lang="zh-CN" altLang="en-US" dirty="0" smtClean="0"/>
              <a:t>状态）</a:t>
            </a:r>
            <a:endParaRPr lang="zh-CN" altLang="en-US" dirty="0"/>
          </a:p>
          <a:p>
            <a:pPr lvl="1"/>
            <a:r>
              <a:rPr lang="zh-CN" altLang="en-US" dirty="0" smtClean="0"/>
              <a:t>并不总造成</a:t>
            </a:r>
            <a:r>
              <a:rPr lang="zh-CN" altLang="en-US" dirty="0"/>
              <a:t>阻塞，如非阻塞</a:t>
            </a:r>
            <a:r>
              <a:rPr lang="en-US" altLang="zh-CN" dirty="0"/>
              <a:t>IO</a:t>
            </a:r>
            <a:r>
              <a:rPr lang="zh-CN" altLang="en-US" dirty="0"/>
              <a:t>、自旋等待</a:t>
            </a:r>
          </a:p>
        </p:txBody>
      </p:sp>
      <p:sp>
        <p:nvSpPr>
          <p:cNvPr id="4" name="灯片编号占位符 3"/>
          <p:cNvSpPr>
            <a:spLocks noGrp="1"/>
          </p:cNvSpPr>
          <p:nvPr>
            <p:ph type="sldNum" sz="quarter" idx="12"/>
          </p:nvPr>
        </p:nvSpPr>
        <p:spPr/>
        <p:txBody>
          <a:bodyPr/>
          <a:lstStyle/>
          <a:p>
            <a:fld id="{4093CC90-4002-504C-BD88-C9A1D374048E}" type="slidenum">
              <a:rPr lang="zh-CN" altLang="en-US" smtClean="0"/>
              <a:pPr/>
              <a:t>9</a:t>
            </a:fld>
            <a:endParaRPr lang="zh-CN" altLang="en-US" dirty="0"/>
          </a:p>
        </p:txBody>
      </p:sp>
    </p:spTree>
    <p:extLst>
      <p:ext uri="{BB962C8B-B14F-4D97-AF65-F5344CB8AC3E}">
        <p14:creationId xmlns:p14="http://schemas.microsoft.com/office/powerpoint/2010/main" val="65116662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进程状态图</a:t>
            </a:r>
          </a:p>
        </p:txBody>
      </p:sp>
      <p:sp>
        <p:nvSpPr>
          <p:cNvPr id="3" name="内容占位符 2"/>
          <p:cNvSpPr>
            <a:spLocks noGrp="1"/>
          </p:cNvSpPr>
          <p:nvPr>
            <p:ph idx="1"/>
          </p:nvPr>
        </p:nvSpPr>
        <p:spPr/>
        <p:txBody>
          <a:bodyPr/>
          <a:lstStyle/>
          <a:p>
            <a:r>
              <a:rPr lang="en-US" altLang="zh-CN" dirty="0"/>
              <a:t>IO</a:t>
            </a:r>
            <a:r>
              <a:rPr lang="zh-CN" altLang="en-US" dirty="0"/>
              <a:t>与等待完成</a:t>
            </a:r>
          </a:p>
          <a:p>
            <a:pPr lvl="1"/>
            <a:r>
              <a:rPr lang="zh-CN" altLang="en-US" dirty="0" smtClean="0"/>
              <a:t>由</a:t>
            </a:r>
            <a:r>
              <a:rPr lang="en-US" altLang="zh-CN" dirty="0" smtClean="0"/>
              <a:t>OS</a:t>
            </a:r>
            <a:r>
              <a:rPr lang="zh-CN" altLang="en-US" dirty="0" smtClean="0"/>
              <a:t>感知</a:t>
            </a:r>
            <a:r>
              <a:rPr lang="zh-CN" altLang="en-US" dirty="0"/>
              <a:t>并处理（此时进程处于阻塞态</a:t>
            </a:r>
            <a:r>
              <a:rPr lang="zh-CN" altLang="en-US" dirty="0" smtClean="0"/>
              <a:t>，不可能感知处理任何事情）</a:t>
            </a:r>
            <a:endParaRPr lang="zh-CN" altLang="en-US" dirty="0"/>
          </a:p>
          <a:p>
            <a:pPr lvl="1"/>
            <a:r>
              <a:rPr lang="zh-CN" altLang="en-US" dirty="0" smtClean="0"/>
              <a:t>由此可知，</a:t>
            </a:r>
            <a:r>
              <a:rPr lang="zh-CN" altLang="en-US" dirty="0"/>
              <a:t>先前阻塞时不仅释放</a:t>
            </a:r>
            <a:r>
              <a:rPr lang="en-US" altLang="zh-CN" dirty="0"/>
              <a:t>CPU</a:t>
            </a:r>
            <a:r>
              <a:rPr lang="zh-CN" altLang="en-US" dirty="0"/>
              <a:t>，还在系统中登记了唤醒</a:t>
            </a:r>
            <a:r>
              <a:rPr lang="zh-CN" altLang="en-US" dirty="0" smtClean="0"/>
              <a:t>条件</a:t>
            </a:r>
            <a:endParaRPr lang="en-US" altLang="zh-CN" dirty="0" smtClean="0"/>
          </a:p>
          <a:p>
            <a:r>
              <a:rPr lang="zh-CN" altLang="en-US" dirty="0" smtClean="0"/>
              <a:t>思考</a:t>
            </a:r>
            <a:endParaRPr lang="en-US" altLang="zh-CN" dirty="0" smtClean="0"/>
          </a:p>
          <a:p>
            <a:pPr lvl="1"/>
            <a:r>
              <a:rPr lang="zh-CN" altLang="en-US" dirty="0" smtClean="0"/>
              <a:t>如果</a:t>
            </a:r>
            <a:r>
              <a:rPr lang="zh-CN" altLang="en-US" dirty="0"/>
              <a:t>系统中有</a:t>
            </a:r>
            <a:r>
              <a:rPr lang="en-US" altLang="zh-CN" dirty="0"/>
              <a:t>N</a:t>
            </a:r>
            <a:r>
              <a:rPr lang="zh-CN" altLang="en-US" dirty="0"/>
              <a:t>个进程，运行进程最多几个最少几个；</a:t>
            </a:r>
            <a:r>
              <a:rPr lang="zh-CN" altLang="en-US" dirty="0" smtClean="0"/>
              <a:t>就绪呢；阻塞呢？</a:t>
            </a:r>
            <a:endParaRPr lang="zh-CN" altLang="en-US" dirty="0"/>
          </a:p>
          <a:p>
            <a:pPr lvl="1"/>
            <a:r>
              <a:rPr lang="zh-CN" altLang="en-US" dirty="0" smtClean="0"/>
              <a:t>有没有</a:t>
            </a:r>
            <a:r>
              <a:rPr lang="zh-CN" altLang="en-US" dirty="0"/>
              <a:t>这样的状态转换：阻塞</a:t>
            </a:r>
            <a:r>
              <a:rPr lang="en-US" altLang="zh-CN" dirty="0"/>
              <a:t>—</a:t>
            </a:r>
            <a:r>
              <a:rPr lang="zh-CN" altLang="en-US" dirty="0"/>
              <a:t>运行，就绪</a:t>
            </a:r>
            <a:r>
              <a:rPr lang="en-US" altLang="zh-CN" dirty="0"/>
              <a:t>—</a:t>
            </a:r>
            <a:r>
              <a:rPr lang="zh-CN" altLang="en-US" dirty="0"/>
              <a:t>阻塞，为什么</a:t>
            </a:r>
            <a:r>
              <a:rPr lang="zh-CN" altLang="en-US" dirty="0" smtClean="0"/>
              <a:t>？</a:t>
            </a:r>
            <a:endParaRPr lang="zh-CN" altLang="en-US" dirty="0"/>
          </a:p>
        </p:txBody>
      </p:sp>
      <p:sp>
        <p:nvSpPr>
          <p:cNvPr id="4" name="灯片编号占位符 3"/>
          <p:cNvSpPr>
            <a:spLocks noGrp="1"/>
          </p:cNvSpPr>
          <p:nvPr>
            <p:ph type="sldNum" sz="quarter" idx="12"/>
          </p:nvPr>
        </p:nvSpPr>
        <p:spPr/>
        <p:txBody>
          <a:bodyPr/>
          <a:lstStyle/>
          <a:p>
            <a:fld id="{4093CC90-4002-504C-BD88-C9A1D374048E}" type="slidenum">
              <a:rPr lang="zh-CN" altLang="en-US" smtClean="0"/>
              <a:pPr/>
              <a:t>10</a:t>
            </a:fld>
            <a:endParaRPr lang="zh-CN" altLang="en-US" dirty="0"/>
          </a:p>
        </p:txBody>
      </p:sp>
    </p:spTree>
    <p:extLst>
      <p:ext uri="{BB962C8B-B14F-4D97-AF65-F5344CB8AC3E}">
        <p14:creationId xmlns:p14="http://schemas.microsoft.com/office/powerpoint/2010/main" val="422000161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因果变迁</a:t>
            </a:r>
          </a:p>
        </p:txBody>
      </p:sp>
      <p:sp>
        <p:nvSpPr>
          <p:cNvPr id="3" name="内容占位符 2"/>
          <p:cNvSpPr>
            <a:spLocks noGrp="1"/>
          </p:cNvSpPr>
          <p:nvPr>
            <p:ph idx="1"/>
          </p:nvPr>
        </p:nvSpPr>
        <p:spPr/>
        <p:txBody>
          <a:bodyPr/>
          <a:lstStyle/>
          <a:p>
            <a:r>
              <a:rPr lang="zh-CN" altLang="en-US" dirty="0"/>
              <a:t>如果一</a:t>
            </a:r>
            <a:r>
              <a:rPr lang="zh-CN" altLang="en-US" dirty="0" smtClean="0"/>
              <a:t>个进程的状态</a:t>
            </a:r>
            <a:r>
              <a:rPr lang="zh-CN" altLang="en-US" dirty="0"/>
              <a:t>变化</a:t>
            </a:r>
            <a:r>
              <a:rPr lang="en-US" altLang="zh-CN" dirty="0"/>
              <a:t>A</a:t>
            </a:r>
            <a:r>
              <a:rPr lang="zh-CN" altLang="en-US" dirty="0"/>
              <a:t>的发生，会引起另一</a:t>
            </a:r>
            <a:r>
              <a:rPr lang="zh-CN" altLang="en-US" dirty="0" smtClean="0"/>
              <a:t>个进程的状态</a:t>
            </a:r>
            <a:r>
              <a:rPr lang="zh-CN" altLang="en-US" dirty="0"/>
              <a:t>变化</a:t>
            </a:r>
            <a:r>
              <a:rPr lang="en-US" altLang="zh-CN" dirty="0"/>
              <a:t>B</a:t>
            </a:r>
            <a:r>
              <a:rPr lang="zh-CN" altLang="en-US" dirty="0"/>
              <a:t>的发生，则称</a:t>
            </a:r>
            <a:r>
              <a:rPr lang="en-US" altLang="zh-CN" dirty="0"/>
              <a:t>A</a:t>
            </a:r>
            <a:r>
              <a:rPr lang="zh-CN" altLang="en-US" dirty="0"/>
              <a:t>、</a:t>
            </a:r>
            <a:r>
              <a:rPr lang="en-US" altLang="zh-CN" dirty="0"/>
              <a:t>B</a:t>
            </a:r>
            <a:r>
              <a:rPr lang="zh-CN" altLang="en-US" dirty="0"/>
              <a:t>之间是因果</a:t>
            </a:r>
            <a:r>
              <a:rPr lang="zh-CN" altLang="en-US" dirty="0" smtClean="0"/>
              <a:t>变迁</a:t>
            </a:r>
            <a:endParaRPr lang="zh-CN" altLang="en-US" dirty="0"/>
          </a:p>
        </p:txBody>
      </p:sp>
      <p:sp>
        <p:nvSpPr>
          <p:cNvPr id="4" name="灯片编号占位符 3"/>
          <p:cNvSpPr>
            <a:spLocks noGrp="1"/>
          </p:cNvSpPr>
          <p:nvPr>
            <p:ph type="sldNum" sz="quarter" idx="12"/>
          </p:nvPr>
        </p:nvSpPr>
        <p:spPr/>
        <p:txBody>
          <a:bodyPr/>
          <a:lstStyle/>
          <a:p>
            <a:fld id="{4093CC90-4002-504C-BD88-C9A1D374048E}" type="slidenum">
              <a:rPr lang="zh-CN" altLang="en-US" smtClean="0"/>
              <a:pPr/>
              <a:t>11</a:t>
            </a:fld>
            <a:endParaRPr lang="zh-CN" altLang="en-US" dirty="0"/>
          </a:p>
        </p:txBody>
      </p:sp>
      <p:grpSp>
        <p:nvGrpSpPr>
          <p:cNvPr id="6" name="组合 17"/>
          <p:cNvGrpSpPr>
            <a:grpSpLocks/>
          </p:cNvGrpSpPr>
          <p:nvPr/>
        </p:nvGrpSpPr>
        <p:grpSpPr bwMode="auto">
          <a:xfrm>
            <a:off x="800100" y="3197225"/>
            <a:ext cx="3832225" cy="2844800"/>
            <a:chOff x="323528" y="3121496"/>
            <a:chExt cx="3831779" cy="2844800"/>
          </a:xfrm>
        </p:grpSpPr>
        <p:sp>
          <p:nvSpPr>
            <p:cNvPr id="7" name="Oval 3"/>
            <p:cNvSpPr>
              <a:spLocks noChangeArrowheads="1"/>
            </p:cNvSpPr>
            <p:nvPr/>
          </p:nvSpPr>
          <p:spPr bwMode="auto">
            <a:xfrm>
              <a:off x="1636391" y="3121496"/>
              <a:ext cx="950466" cy="719138"/>
            </a:xfrm>
            <a:prstGeom prst="ellipse">
              <a:avLst/>
            </a:prstGeom>
            <a:solidFill>
              <a:srgbClr val="FFFFFF"/>
            </a:solidFill>
            <a:ln w="28575">
              <a:solidFill>
                <a:srgbClr val="000000"/>
              </a:solidFill>
              <a:round/>
              <a:headEnd/>
              <a:tailEnd/>
            </a:ln>
          </p:spPr>
          <p:txBody>
            <a:bodyPr lIns="0" tIns="0" rIns="0" bIns="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a:spcBef>
                  <a:spcPct val="0"/>
                </a:spcBef>
                <a:buClrTx/>
                <a:buSzTx/>
                <a:buFontTx/>
                <a:buNone/>
              </a:pPr>
              <a:r>
                <a:rPr lang="zh-CN" altLang="en-US" sz="2400">
                  <a:latin typeface="Times New Roman" panose="02020603050405020304" pitchFamily="18" charset="0"/>
                </a:rPr>
                <a:t>执行</a:t>
              </a:r>
            </a:p>
          </p:txBody>
        </p:sp>
        <p:sp>
          <p:nvSpPr>
            <p:cNvPr id="8" name="Line 4"/>
            <p:cNvSpPr>
              <a:spLocks noChangeShapeType="1"/>
            </p:cNvSpPr>
            <p:nvPr/>
          </p:nvSpPr>
          <p:spPr bwMode="auto">
            <a:xfrm flipH="1">
              <a:off x="1031552" y="3807295"/>
              <a:ext cx="972000" cy="1360800"/>
            </a:xfrm>
            <a:prstGeom prst="line">
              <a:avLst/>
            </a:prstGeom>
            <a:noFill/>
            <a:ln w="28575">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9" name="Oval 5"/>
            <p:cNvSpPr>
              <a:spLocks noChangeArrowheads="1"/>
            </p:cNvSpPr>
            <p:nvPr/>
          </p:nvSpPr>
          <p:spPr bwMode="auto">
            <a:xfrm>
              <a:off x="323528" y="5118571"/>
              <a:ext cx="950465" cy="719138"/>
            </a:xfrm>
            <a:prstGeom prst="ellipse">
              <a:avLst/>
            </a:prstGeom>
            <a:solidFill>
              <a:srgbClr val="FFFFFF"/>
            </a:solidFill>
            <a:ln w="28575">
              <a:solidFill>
                <a:srgbClr val="000000"/>
              </a:solidFill>
              <a:round/>
              <a:headEnd/>
              <a:tailEnd/>
            </a:ln>
          </p:spPr>
          <p:txBody>
            <a:bodyPr lIns="0" tIns="0" rIns="0" bIns="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a:spcBef>
                  <a:spcPct val="0"/>
                </a:spcBef>
                <a:buClrTx/>
                <a:buSzTx/>
                <a:buFontTx/>
                <a:buNone/>
              </a:pPr>
              <a:r>
                <a:rPr lang="zh-CN" altLang="en-US" sz="2400">
                  <a:latin typeface="Times New Roman" panose="02020603050405020304" pitchFamily="18" charset="0"/>
                </a:rPr>
                <a:t>就绪</a:t>
              </a:r>
            </a:p>
          </p:txBody>
        </p:sp>
        <p:sp>
          <p:nvSpPr>
            <p:cNvPr id="10" name="Line 6"/>
            <p:cNvSpPr>
              <a:spLocks noChangeShapeType="1"/>
            </p:cNvSpPr>
            <p:nvPr/>
          </p:nvSpPr>
          <p:spPr bwMode="auto">
            <a:xfrm flipV="1">
              <a:off x="755688" y="3717192"/>
              <a:ext cx="1008000" cy="1422000"/>
            </a:xfrm>
            <a:prstGeom prst="line">
              <a:avLst/>
            </a:prstGeom>
            <a:noFill/>
            <a:ln w="28575">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1" name="Oval 7"/>
            <p:cNvSpPr>
              <a:spLocks noChangeArrowheads="1"/>
            </p:cNvSpPr>
            <p:nvPr/>
          </p:nvSpPr>
          <p:spPr bwMode="auto">
            <a:xfrm>
              <a:off x="3204841" y="5118571"/>
              <a:ext cx="950466" cy="719138"/>
            </a:xfrm>
            <a:prstGeom prst="ellipse">
              <a:avLst/>
            </a:prstGeom>
            <a:solidFill>
              <a:srgbClr val="FFFFFF"/>
            </a:solidFill>
            <a:ln w="28575">
              <a:solidFill>
                <a:srgbClr val="000000"/>
              </a:solidFill>
              <a:round/>
              <a:headEnd/>
              <a:tailEnd/>
            </a:ln>
          </p:spPr>
          <p:txBody>
            <a:bodyPr lIns="0" tIns="0" rIns="0" bIns="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a:spcBef>
                  <a:spcPct val="0"/>
                </a:spcBef>
                <a:buClrTx/>
                <a:buSzTx/>
                <a:buFontTx/>
                <a:buNone/>
              </a:pPr>
              <a:r>
                <a:rPr lang="zh-CN" altLang="en-US" sz="2400">
                  <a:latin typeface="Times New Roman" panose="02020603050405020304" pitchFamily="18" charset="0"/>
                </a:rPr>
                <a:t>阻塞</a:t>
              </a:r>
            </a:p>
          </p:txBody>
        </p:sp>
        <p:sp>
          <p:nvSpPr>
            <p:cNvPr id="12" name="Line 8"/>
            <p:cNvSpPr>
              <a:spLocks noChangeShapeType="1"/>
            </p:cNvSpPr>
            <p:nvPr/>
          </p:nvSpPr>
          <p:spPr bwMode="auto">
            <a:xfrm>
              <a:off x="2366641" y="3778721"/>
              <a:ext cx="1170062" cy="1400175"/>
            </a:xfrm>
            <a:prstGeom prst="line">
              <a:avLst/>
            </a:prstGeom>
            <a:noFill/>
            <a:ln w="28575">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3" name="Text Box 9"/>
            <p:cNvSpPr txBox="1">
              <a:spLocks noChangeArrowheads="1"/>
            </p:cNvSpPr>
            <p:nvPr/>
          </p:nvSpPr>
          <p:spPr bwMode="auto">
            <a:xfrm>
              <a:off x="964285" y="4128174"/>
              <a:ext cx="432048" cy="4690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a:spcBef>
                  <a:spcPct val="0"/>
                </a:spcBef>
                <a:buClrTx/>
                <a:buSzTx/>
                <a:buFontTx/>
                <a:buNone/>
              </a:pPr>
              <a:r>
                <a:rPr lang="en-US" altLang="zh-CN" sz="2400" dirty="0">
                  <a:latin typeface="Times New Roman" panose="02020603050405020304" pitchFamily="18" charset="0"/>
                </a:rPr>
                <a:t>4</a:t>
              </a:r>
              <a:endParaRPr lang="zh-CN" altLang="en-US" sz="2400" dirty="0">
                <a:latin typeface="Times New Roman" panose="02020603050405020304" pitchFamily="18" charset="0"/>
              </a:endParaRPr>
            </a:p>
          </p:txBody>
        </p:sp>
        <p:sp>
          <p:nvSpPr>
            <p:cNvPr id="14" name="Text Box 10"/>
            <p:cNvSpPr txBox="1">
              <a:spLocks noChangeArrowheads="1"/>
            </p:cNvSpPr>
            <p:nvPr/>
          </p:nvSpPr>
          <p:spPr bwMode="auto">
            <a:xfrm>
              <a:off x="1366336" y="4437279"/>
              <a:ext cx="607218" cy="5405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lang="en-US" altLang="zh-CN" sz="2400">
                  <a:latin typeface="Times New Roman" panose="02020603050405020304" pitchFamily="18" charset="0"/>
                </a:rPr>
                <a:t>3</a:t>
              </a:r>
              <a:endParaRPr lang="zh-CN" altLang="en-US" sz="2400">
                <a:latin typeface="Times New Roman" panose="02020603050405020304" pitchFamily="18" charset="0"/>
              </a:endParaRPr>
            </a:p>
            <a:p>
              <a:pPr algn="ctr">
                <a:spcBef>
                  <a:spcPct val="0"/>
                </a:spcBef>
                <a:buClrTx/>
                <a:buSzTx/>
                <a:buFontTx/>
                <a:buNone/>
              </a:pPr>
              <a:endParaRPr lang="zh-CN" altLang="en-US" sz="1000">
                <a:latin typeface="Times New Roman" panose="02020603050405020304" pitchFamily="18" charset="0"/>
              </a:endParaRPr>
            </a:p>
          </p:txBody>
        </p:sp>
        <p:sp>
          <p:nvSpPr>
            <p:cNvPr id="15" name="Text Box 11"/>
            <p:cNvSpPr txBox="1">
              <a:spLocks noChangeArrowheads="1"/>
            </p:cNvSpPr>
            <p:nvPr/>
          </p:nvSpPr>
          <p:spPr bwMode="auto">
            <a:xfrm>
              <a:off x="3052441" y="4149080"/>
              <a:ext cx="548208" cy="3440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a:spcBef>
                  <a:spcPct val="0"/>
                </a:spcBef>
                <a:buClrTx/>
                <a:buSzTx/>
                <a:buFontTx/>
                <a:buNone/>
              </a:pPr>
              <a:r>
                <a:rPr lang="en-US" altLang="zh-CN" sz="2400">
                  <a:latin typeface="Times New Roman" panose="02020603050405020304" pitchFamily="18" charset="0"/>
                </a:rPr>
                <a:t>1</a:t>
              </a:r>
              <a:endParaRPr lang="zh-CN" altLang="en-US" sz="2400">
                <a:latin typeface="Times New Roman" panose="02020603050405020304" pitchFamily="18" charset="0"/>
              </a:endParaRPr>
            </a:p>
          </p:txBody>
        </p:sp>
        <p:sp>
          <p:nvSpPr>
            <p:cNvPr id="16" name="Text Box 12"/>
            <p:cNvSpPr txBox="1">
              <a:spLocks noChangeArrowheads="1"/>
            </p:cNvSpPr>
            <p:nvPr/>
          </p:nvSpPr>
          <p:spPr bwMode="auto">
            <a:xfrm>
              <a:off x="2145196" y="5509096"/>
              <a:ext cx="55584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a:spcBef>
                  <a:spcPct val="0"/>
                </a:spcBef>
                <a:buClrTx/>
                <a:buSzTx/>
                <a:buFontTx/>
                <a:buNone/>
              </a:pPr>
              <a:r>
                <a:rPr lang="en-US" altLang="zh-CN" sz="2400" dirty="0">
                  <a:latin typeface="Times New Roman" panose="02020603050405020304" pitchFamily="18" charset="0"/>
                </a:rPr>
                <a:t>2</a:t>
              </a:r>
              <a:endParaRPr lang="zh-CN" altLang="en-US" sz="2400" dirty="0">
                <a:latin typeface="Times New Roman" panose="02020603050405020304" pitchFamily="18" charset="0"/>
              </a:endParaRPr>
            </a:p>
          </p:txBody>
        </p:sp>
        <p:sp>
          <p:nvSpPr>
            <p:cNvPr id="17" name="Line 13"/>
            <p:cNvSpPr>
              <a:spLocks noChangeShapeType="1"/>
            </p:cNvSpPr>
            <p:nvPr/>
          </p:nvSpPr>
          <p:spPr bwMode="auto">
            <a:xfrm flipH="1">
              <a:off x="1223640" y="5445224"/>
              <a:ext cx="1980000" cy="38472"/>
            </a:xfrm>
            <a:prstGeom prst="line">
              <a:avLst/>
            </a:prstGeom>
            <a:noFill/>
            <a:ln w="28575">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grpSp>
      <p:sp>
        <p:nvSpPr>
          <p:cNvPr id="19" name="文本框 18"/>
          <p:cNvSpPr txBox="1"/>
          <p:nvPr/>
        </p:nvSpPr>
        <p:spPr>
          <a:xfrm>
            <a:off x="5106424" y="3653589"/>
            <a:ext cx="2954655" cy="1569660"/>
          </a:xfrm>
          <a:prstGeom prst="rect">
            <a:avLst/>
          </a:prstGeom>
          <a:solidFill>
            <a:schemeClr val="accent5">
              <a:lumMod val="75000"/>
            </a:schemeClr>
          </a:solidFill>
          <a:ln>
            <a:solidFill>
              <a:schemeClr val="tx1"/>
            </a:solidFill>
          </a:ln>
        </p:spPr>
        <p:txBody>
          <a:bodyPr wrap="none" rtlCol="0">
            <a:spAutoFit/>
          </a:bodyPr>
          <a:lstStyle/>
          <a:p>
            <a:pPr>
              <a:spcBef>
                <a:spcPct val="0"/>
              </a:spcBef>
            </a:pPr>
            <a:r>
              <a:rPr lang="zh-CN" altLang="en-US" sz="2400" dirty="0"/>
              <a:t>以下哪些是因果变迁</a:t>
            </a:r>
            <a:endParaRPr lang="en-US" altLang="zh-CN" sz="2400" dirty="0"/>
          </a:p>
          <a:p>
            <a:pPr>
              <a:spcBef>
                <a:spcPct val="0"/>
              </a:spcBef>
            </a:pPr>
            <a:r>
              <a:rPr lang="en-US" altLang="zh-CN" sz="2400" dirty="0"/>
              <a:t>a</a:t>
            </a:r>
            <a:r>
              <a:rPr lang="zh-CN" altLang="en-US" sz="2400" dirty="0"/>
              <a:t>）</a:t>
            </a:r>
            <a:r>
              <a:rPr lang="en-US" altLang="zh-CN" sz="2400" dirty="0"/>
              <a:t>3-&gt;4</a:t>
            </a:r>
          </a:p>
          <a:p>
            <a:pPr>
              <a:spcBef>
                <a:spcPct val="0"/>
              </a:spcBef>
            </a:pPr>
            <a:r>
              <a:rPr lang="en-US" altLang="zh-CN" sz="2400" dirty="0"/>
              <a:t>b</a:t>
            </a:r>
            <a:r>
              <a:rPr lang="zh-CN" altLang="en-US" sz="2400" dirty="0"/>
              <a:t>）</a:t>
            </a:r>
            <a:r>
              <a:rPr lang="en-US" altLang="zh-CN" sz="2400" dirty="0"/>
              <a:t>2-&gt;4</a:t>
            </a:r>
          </a:p>
          <a:p>
            <a:pPr>
              <a:spcBef>
                <a:spcPct val="0"/>
              </a:spcBef>
            </a:pPr>
            <a:r>
              <a:rPr lang="en-US" altLang="zh-CN" sz="2400" dirty="0"/>
              <a:t>c</a:t>
            </a:r>
            <a:r>
              <a:rPr lang="zh-CN" altLang="en-US" sz="2400" dirty="0"/>
              <a:t>）</a:t>
            </a:r>
            <a:r>
              <a:rPr lang="en-US" altLang="zh-CN" sz="2400" dirty="0"/>
              <a:t>1-&gt;</a:t>
            </a:r>
            <a:r>
              <a:rPr lang="en-US" altLang="zh-CN" sz="2400" dirty="0" smtClean="0"/>
              <a:t>2</a:t>
            </a:r>
            <a:endParaRPr lang="zh-CN" altLang="en-US" sz="2400" dirty="0"/>
          </a:p>
        </p:txBody>
      </p:sp>
    </p:spTree>
    <p:extLst>
      <p:ext uri="{BB962C8B-B14F-4D97-AF65-F5344CB8AC3E}">
        <p14:creationId xmlns:p14="http://schemas.microsoft.com/office/powerpoint/2010/main" val="397998142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进程的挂起状态</a:t>
            </a:r>
          </a:p>
        </p:txBody>
      </p:sp>
      <p:sp>
        <p:nvSpPr>
          <p:cNvPr id="3" name="内容占位符 2"/>
          <p:cNvSpPr>
            <a:spLocks noGrp="1"/>
          </p:cNvSpPr>
          <p:nvPr>
            <p:ph idx="1"/>
          </p:nvPr>
        </p:nvSpPr>
        <p:spPr/>
        <p:txBody>
          <a:bodyPr/>
          <a:lstStyle/>
          <a:p>
            <a:r>
              <a:rPr lang="zh-CN" altLang="en-US" dirty="0" smtClean="0"/>
              <a:t>也称</a:t>
            </a:r>
            <a:r>
              <a:rPr lang="zh-CN" altLang="en-US" dirty="0" smtClean="0">
                <a:solidFill>
                  <a:srgbClr val="FF0000"/>
                </a:solidFill>
              </a:rPr>
              <a:t>静止状态</a:t>
            </a:r>
            <a:r>
              <a:rPr lang="zh-CN" altLang="en-US" dirty="0" smtClean="0"/>
              <a:t>，对应正常情况下的</a:t>
            </a:r>
            <a:r>
              <a:rPr lang="zh-CN" altLang="en-US" dirty="0" smtClean="0">
                <a:solidFill>
                  <a:srgbClr val="FF0000"/>
                </a:solidFill>
              </a:rPr>
              <a:t>活动状态</a:t>
            </a:r>
            <a:endParaRPr lang="zh-CN" altLang="en-US" dirty="0">
              <a:solidFill>
                <a:srgbClr val="FF0000"/>
              </a:solidFill>
            </a:endParaRPr>
          </a:p>
          <a:p>
            <a:pPr lvl="1"/>
            <a:r>
              <a:rPr lang="zh-CN" altLang="en-US" dirty="0"/>
              <a:t>挂起是</a:t>
            </a:r>
            <a:r>
              <a:rPr lang="zh-CN" altLang="en-US" dirty="0">
                <a:solidFill>
                  <a:srgbClr val="FF0000"/>
                </a:solidFill>
              </a:rPr>
              <a:t>被动</a:t>
            </a:r>
            <a:r>
              <a:rPr lang="zh-CN" altLang="en-US" dirty="0"/>
              <a:t>状态，被外界（</a:t>
            </a:r>
            <a:r>
              <a:rPr lang="en-US" altLang="zh-CN" dirty="0"/>
              <a:t>OS</a:t>
            </a:r>
            <a:r>
              <a:rPr lang="zh-CN" altLang="en-US" dirty="0"/>
              <a:t>或其它进程）强制</a:t>
            </a:r>
            <a:r>
              <a:rPr lang="zh-CN" altLang="en-US" dirty="0">
                <a:solidFill>
                  <a:srgbClr val="FF0000"/>
                </a:solidFill>
              </a:rPr>
              <a:t>剥夺</a:t>
            </a:r>
            <a:r>
              <a:rPr lang="zh-CN" altLang="en-US" dirty="0"/>
              <a:t>执行权，不影响就绪、阻塞</a:t>
            </a:r>
            <a:r>
              <a:rPr lang="zh-CN" altLang="en-US" dirty="0" smtClean="0"/>
              <a:t>状态</a:t>
            </a:r>
            <a:endParaRPr lang="en-US" altLang="zh-CN" dirty="0" smtClean="0"/>
          </a:p>
          <a:p>
            <a:pPr lvl="1"/>
            <a:r>
              <a:rPr lang="zh-CN" altLang="en-US" dirty="0"/>
              <a:t>就绪、阻塞是</a:t>
            </a:r>
            <a:r>
              <a:rPr lang="zh-CN" altLang="en-US" dirty="0" smtClean="0"/>
              <a:t>自身健康状态</a:t>
            </a:r>
            <a:r>
              <a:rPr lang="zh-CN" altLang="en-US" dirty="0"/>
              <a:t>，挂起、活动是人身自由状态，二者并存</a:t>
            </a:r>
            <a:endParaRPr lang="en-US" altLang="zh-CN" dirty="0" smtClean="0"/>
          </a:p>
          <a:p>
            <a:r>
              <a:rPr lang="zh-CN" altLang="en-US" dirty="0" smtClean="0"/>
              <a:t>进程</a:t>
            </a:r>
            <a:r>
              <a:rPr lang="zh-CN" altLang="en-US" dirty="0"/>
              <a:t>挂起的</a:t>
            </a:r>
            <a:r>
              <a:rPr lang="zh-CN" altLang="en-US" dirty="0" smtClean="0"/>
              <a:t>原因</a:t>
            </a:r>
            <a:endParaRPr lang="zh-CN" altLang="en-US" dirty="0"/>
          </a:p>
          <a:p>
            <a:pPr lvl="1"/>
            <a:r>
              <a:rPr lang="zh-CN" altLang="en-US" dirty="0"/>
              <a:t>系统故障或功能受到破坏</a:t>
            </a:r>
            <a:r>
              <a:rPr lang="zh-CN" altLang="en-US" dirty="0" smtClean="0"/>
              <a:t>：挂起以修复故障</a:t>
            </a:r>
            <a:endParaRPr lang="zh-CN" altLang="en-US" dirty="0"/>
          </a:p>
          <a:p>
            <a:pPr lvl="1"/>
            <a:r>
              <a:rPr lang="zh-CN" altLang="en-US" dirty="0"/>
              <a:t>检查中间结果：挂起进程以便</a:t>
            </a:r>
            <a:r>
              <a:rPr lang="zh-CN" altLang="en-US" dirty="0" smtClean="0"/>
              <a:t>检查</a:t>
            </a:r>
            <a:endParaRPr lang="zh-CN" altLang="en-US" dirty="0"/>
          </a:p>
          <a:p>
            <a:pPr lvl="1"/>
            <a:r>
              <a:rPr lang="zh-CN" altLang="en-US" dirty="0"/>
              <a:t>资源不足：挂起进程以腾出</a:t>
            </a:r>
            <a:r>
              <a:rPr lang="zh-CN" altLang="en-US" dirty="0" smtClean="0"/>
              <a:t>资源</a:t>
            </a:r>
            <a:endParaRPr lang="zh-CN" altLang="en-US" dirty="0"/>
          </a:p>
          <a:p>
            <a:pPr lvl="1"/>
            <a:r>
              <a:rPr lang="zh-CN" altLang="en-US" dirty="0"/>
              <a:t>内存不足：在外存挂起</a:t>
            </a:r>
          </a:p>
        </p:txBody>
      </p:sp>
      <p:sp>
        <p:nvSpPr>
          <p:cNvPr id="4" name="灯片编号占位符 3"/>
          <p:cNvSpPr>
            <a:spLocks noGrp="1"/>
          </p:cNvSpPr>
          <p:nvPr>
            <p:ph type="sldNum" sz="quarter" idx="12"/>
          </p:nvPr>
        </p:nvSpPr>
        <p:spPr/>
        <p:txBody>
          <a:bodyPr/>
          <a:lstStyle/>
          <a:p>
            <a:fld id="{4093CC90-4002-504C-BD88-C9A1D374048E}" type="slidenum">
              <a:rPr lang="zh-CN" altLang="en-US" smtClean="0"/>
              <a:pPr/>
              <a:t>12</a:t>
            </a:fld>
            <a:endParaRPr lang="zh-CN" altLang="en-US" dirty="0"/>
          </a:p>
        </p:txBody>
      </p:sp>
    </p:spTree>
    <p:extLst>
      <p:ext uri="{BB962C8B-B14F-4D97-AF65-F5344CB8AC3E}">
        <p14:creationId xmlns:p14="http://schemas.microsoft.com/office/powerpoint/2010/main" val="33941869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FA478220-5F10-3448-53B0-A082ACF36790}"/>
              </a:ext>
            </a:extLst>
          </p:cNvPr>
          <p:cNvSpPr>
            <a:spLocks noGrp="1"/>
          </p:cNvSpPr>
          <p:nvPr>
            <p:ph type="title"/>
          </p:nvPr>
        </p:nvSpPr>
        <p:spPr>
          <a:xfrm>
            <a:off x="1042988" y="225431"/>
            <a:ext cx="7850187" cy="746125"/>
          </a:xfrm>
        </p:spPr>
        <p:txBody>
          <a:bodyPr/>
          <a:lstStyle/>
          <a:p>
            <a:r>
              <a:rPr lang="zh-CN" altLang="en-US" dirty="0"/>
              <a:t>有挂起状态的进程状态转换图</a:t>
            </a:r>
          </a:p>
        </p:txBody>
      </p:sp>
      <p:sp>
        <p:nvSpPr>
          <p:cNvPr id="4" name="灯片编号占位符 3">
            <a:extLst>
              <a:ext uri="{FF2B5EF4-FFF2-40B4-BE49-F238E27FC236}">
                <a16:creationId xmlns:a16="http://schemas.microsoft.com/office/drawing/2014/main" xmlns="" id="{F5A8B553-02AE-2219-C59A-8B5B36D12789}"/>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13</a:t>
            </a:fld>
            <a:endParaRPr lang="zh-CN" altLang="en-US" dirty="0"/>
          </a:p>
        </p:txBody>
      </p:sp>
      <p:grpSp>
        <p:nvGrpSpPr>
          <p:cNvPr id="41" name="组合 40"/>
          <p:cNvGrpSpPr/>
          <p:nvPr/>
        </p:nvGrpSpPr>
        <p:grpSpPr>
          <a:xfrm>
            <a:off x="533400" y="2009778"/>
            <a:ext cx="8153400" cy="3657600"/>
            <a:chOff x="609600" y="2492375"/>
            <a:chExt cx="8153400" cy="3657600"/>
          </a:xfrm>
        </p:grpSpPr>
        <p:sp>
          <p:nvSpPr>
            <p:cNvPr id="6" name="Oval 4"/>
            <p:cNvSpPr>
              <a:spLocks noChangeArrowheads="1"/>
            </p:cNvSpPr>
            <p:nvPr/>
          </p:nvSpPr>
          <p:spPr bwMode="auto">
            <a:xfrm>
              <a:off x="6172200" y="3602038"/>
              <a:ext cx="935038" cy="576262"/>
            </a:xfrm>
            <a:prstGeom prst="ellipse">
              <a:avLst/>
            </a:prstGeom>
            <a:solidFill>
              <a:srgbClr val="FFFFFF"/>
            </a:solidFill>
            <a:ln w="28575">
              <a:solidFill>
                <a:srgbClr val="000000"/>
              </a:solidFill>
              <a:round/>
              <a:headEnd/>
              <a:tailEnd/>
            </a:ln>
          </p:spPr>
          <p:txBody>
            <a:bodyPr lIns="0" tIns="36000" rIns="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lang="zh-CN" altLang="en-US" sz="2000">
                  <a:latin typeface="Times New Roman" panose="02020603050405020304" pitchFamily="18" charset="0"/>
                </a:rPr>
                <a:t>执行</a:t>
              </a:r>
            </a:p>
          </p:txBody>
        </p:sp>
        <p:sp>
          <p:nvSpPr>
            <p:cNvPr id="7" name="Text Box 5"/>
            <p:cNvSpPr txBox="1">
              <a:spLocks noChangeArrowheads="1"/>
            </p:cNvSpPr>
            <p:nvPr/>
          </p:nvSpPr>
          <p:spPr bwMode="auto">
            <a:xfrm>
              <a:off x="5126038" y="3254375"/>
              <a:ext cx="1122362" cy="312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a:spcBef>
                  <a:spcPct val="0"/>
                </a:spcBef>
                <a:buClrTx/>
                <a:buSzTx/>
                <a:buFontTx/>
                <a:buNone/>
              </a:pPr>
              <a:r>
                <a:rPr lang="zh-CN" altLang="en-US" sz="2000">
                  <a:latin typeface="Times New Roman" panose="02020603050405020304" pitchFamily="18" charset="0"/>
                </a:rPr>
                <a:t>进程调度</a:t>
              </a:r>
            </a:p>
          </p:txBody>
        </p:sp>
        <p:sp>
          <p:nvSpPr>
            <p:cNvPr id="8" name="Text Box 6"/>
            <p:cNvSpPr txBox="1">
              <a:spLocks noChangeArrowheads="1"/>
            </p:cNvSpPr>
            <p:nvPr/>
          </p:nvSpPr>
          <p:spPr bwMode="auto">
            <a:xfrm>
              <a:off x="5197475" y="4124325"/>
              <a:ext cx="1050925"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a:spcBef>
                  <a:spcPct val="0"/>
                </a:spcBef>
                <a:buClrTx/>
                <a:buSzTx/>
                <a:buFontTx/>
                <a:buNone/>
              </a:pPr>
              <a:r>
                <a:rPr lang="zh-CN" altLang="en-US" sz="2000">
                  <a:latin typeface="Times New Roman" panose="02020603050405020304" pitchFamily="18" charset="0"/>
                </a:rPr>
                <a:t>时间片完</a:t>
              </a:r>
              <a:endParaRPr lang="zh-CN" altLang="en-US" sz="1000">
                <a:latin typeface="Times New Roman" panose="02020603050405020304" pitchFamily="18" charset="0"/>
              </a:endParaRPr>
            </a:p>
          </p:txBody>
        </p:sp>
        <p:sp>
          <p:nvSpPr>
            <p:cNvPr id="9" name="Oval 7"/>
            <p:cNvSpPr>
              <a:spLocks noChangeArrowheads="1"/>
            </p:cNvSpPr>
            <p:nvPr/>
          </p:nvSpPr>
          <p:spPr bwMode="auto">
            <a:xfrm>
              <a:off x="4114800" y="3482975"/>
              <a:ext cx="1079500" cy="792163"/>
            </a:xfrm>
            <a:prstGeom prst="ellipse">
              <a:avLst/>
            </a:prstGeom>
            <a:solidFill>
              <a:srgbClr val="FFFFFF"/>
            </a:solidFill>
            <a:ln w="28575">
              <a:solidFill>
                <a:srgbClr val="000000"/>
              </a:solidFill>
              <a:round/>
              <a:headEnd/>
              <a:tailEnd/>
            </a:ln>
          </p:spPr>
          <p:txBody>
            <a:bodyPr lIns="0" tIns="0" rIns="0" bIns="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lang="zh-CN" altLang="en-US" sz="2000">
                  <a:latin typeface="Times New Roman" panose="02020603050405020304" pitchFamily="18" charset="0"/>
                </a:rPr>
                <a:t>活动就绪</a:t>
              </a:r>
            </a:p>
          </p:txBody>
        </p:sp>
        <p:sp>
          <p:nvSpPr>
            <p:cNvPr id="10" name="Line 8"/>
            <p:cNvSpPr>
              <a:spLocks noChangeShapeType="1"/>
            </p:cNvSpPr>
            <p:nvPr/>
          </p:nvSpPr>
          <p:spPr bwMode="auto">
            <a:xfrm flipV="1">
              <a:off x="5146675" y="3711575"/>
              <a:ext cx="1101725" cy="0"/>
            </a:xfrm>
            <a:prstGeom prst="line">
              <a:avLst/>
            </a:prstGeom>
            <a:noFill/>
            <a:ln w="28575">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1" name="Text Box 9"/>
            <p:cNvSpPr txBox="1">
              <a:spLocks noChangeArrowheads="1"/>
            </p:cNvSpPr>
            <p:nvPr/>
          </p:nvSpPr>
          <p:spPr bwMode="auto">
            <a:xfrm>
              <a:off x="6076950" y="4781550"/>
              <a:ext cx="1162050" cy="37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a:spcBef>
                  <a:spcPct val="0"/>
                </a:spcBef>
                <a:buClrTx/>
                <a:buSzTx/>
                <a:buFontTx/>
                <a:buNone/>
              </a:pPr>
              <a:r>
                <a:rPr lang="zh-CN" altLang="en-US" sz="2000">
                  <a:latin typeface="Times New Roman" panose="02020603050405020304" pitchFamily="18" charset="0"/>
                </a:rPr>
                <a:t>等待事件</a:t>
              </a:r>
            </a:p>
          </p:txBody>
        </p:sp>
        <p:sp>
          <p:nvSpPr>
            <p:cNvPr id="12" name="Line 10"/>
            <p:cNvSpPr>
              <a:spLocks noChangeShapeType="1"/>
            </p:cNvSpPr>
            <p:nvPr/>
          </p:nvSpPr>
          <p:spPr bwMode="auto">
            <a:xfrm flipH="1">
              <a:off x="5148263" y="4171950"/>
              <a:ext cx="1554162" cy="1344613"/>
            </a:xfrm>
            <a:prstGeom prst="line">
              <a:avLst/>
            </a:prstGeom>
            <a:noFill/>
            <a:ln w="28575">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3" name="Line 11"/>
            <p:cNvSpPr>
              <a:spLocks noChangeShapeType="1"/>
            </p:cNvSpPr>
            <p:nvPr/>
          </p:nvSpPr>
          <p:spPr bwMode="auto">
            <a:xfrm flipV="1">
              <a:off x="4572000" y="4260850"/>
              <a:ext cx="0" cy="1011238"/>
            </a:xfrm>
            <a:prstGeom prst="line">
              <a:avLst/>
            </a:prstGeom>
            <a:noFill/>
            <a:ln w="28575">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4" name="Text Box 12"/>
            <p:cNvSpPr txBox="1">
              <a:spLocks noChangeArrowheads="1"/>
            </p:cNvSpPr>
            <p:nvPr/>
          </p:nvSpPr>
          <p:spPr bwMode="auto">
            <a:xfrm>
              <a:off x="3276600" y="4135438"/>
              <a:ext cx="6096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a:spcBef>
                  <a:spcPct val="0"/>
                </a:spcBef>
                <a:buClrTx/>
                <a:buSzTx/>
                <a:buFontTx/>
                <a:buNone/>
              </a:pPr>
              <a:r>
                <a:rPr lang="zh-CN" altLang="en-US" sz="2000">
                  <a:latin typeface="Times New Roman" panose="02020603050405020304" pitchFamily="18" charset="0"/>
                </a:rPr>
                <a:t>挂起</a:t>
              </a:r>
            </a:p>
          </p:txBody>
        </p:sp>
        <p:sp>
          <p:nvSpPr>
            <p:cNvPr id="15" name="Text Box 13"/>
            <p:cNvSpPr txBox="1">
              <a:spLocks noChangeArrowheads="1"/>
            </p:cNvSpPr>
            <p:nvPr/>
          </p:nvSpPr>
          <p:spPr bwMode="auto">
            <a:xfrm>
              <a:off x="4572000" y="4516438"/>
              <a:ext cx="1066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a:spcBef>
                  <a:spcPct val="0"/>
                </a:spcBef>
                <a:buClrTx/>
                <a:buSzTx/>
                <a:buFontTx/>
                <a:buNone/>
              </a:pPr>
              <a:r>
                <a:rPr lang="zh-CN" altLang="en-US" sz="2000">
                  <a:latin typeface="Times New Roman" panose="02020603050405020304" pitchFamily="18" charset="0"/>
                </a:rPr>
                <a:t>事件发生</a:t>
              </a:r>
            </a:p>
          </p:txBody>
        </p:sp>
        <p:sp>
          <p:nvSpPr>
            <p:cNvPr id="16" name="Text Box 14"/>
            <p:cNvSpPr txBox="1">
              <a:spLocks noChangeArrowheads="1"/>
            </p:cNvSpPr>
            <p:nvPr/>
          </p:nvSpPr>
          <p:spPr bwMode="auto">
            <a:xfrm>
              <a:off x="4191000" y="2687638"/>
              <a:ext cx="533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a:spcBef>
                  <a:spcPct val="0"/>
                </a:spcBef>
                <a:buClrTx/>
                <a:buSzTx/>
                <a:buFontTx/>
                <a:buNone/>
              </a:pPr>
              <a:r>
                <a:rPr lang="zh-CN" altLang="en-US" sz="2000">
                  <a:latin typeface="Times New Roman" panose="02020603050405020304" pitchFamily="18" charset="0"/>
                </a:rPr>
                <a:t>挂起</a:t>
              </a:r>
            </a:p>
          </p:txBody>
        </p:sp>
        <p:sp>
          <p:nvSpPr>
            <p:cNvPr id="17" name="Text Box 15"/>
            <p:cNvSpPr txBox="1">
              <a:spLocks noChangeArrowheads="1"/>
            </p:cNvSpPr>
            <p:nvPr/>
          </p:nvSpPr>
          <p:spPr bwMode="auto">
            <a:xfrm>
              <a:off x="3205163" y="3340100"/>
              <a:ext cx="528637" cy="414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a:spcBef>
                  <a:spcPct val="0"/>
                </a:spcBef>
                <a:buClrTx/>
                <a:buSzTx/>
                <a:buFontTx/>
                <a:buNone/>
              </a:pPr>
              <a:r>
                <a:rPr lang="zh-CN" altLang="en-US" sz="2000">
                  <a:latin typeface="Times New Roman" panose="02020603050405020304" pitchFamily="18" charset="0"/>
                </a:rPr>
                <a:t>激活</a:t>
              </a:r>
            </a:p>
          </p:txBody>
        </p:sp>
        <p:sp>
          <p:nvSpPr>
            <p:cNvPr id="18" name="Oval 16"/>
            <p:cNvSpPr>
              <a:spLocks noChangeArrowheads="1"/>
            </p:cNvSpPr>
            <p:nvPr/>
          </p:nvSpPr>
          <p:spPr bwMode="auto">
            <a:xfrm>
              <a:off x="4114800" y="5278438"/>
              <a:ext cx="1079500" cy="792162"/>
            </a:xfrm>
            <a:prstGeom prst="ellipse">
              <a:avLst/>
            </a:prstGeom>
            <a:solidFill>
              <a:srgbClr val="FFFFFF"/>
            </a:solidFill>
            <a:ln w="28575">
              <a:solidFill>
                <a:srgbClr val="000000"/>
              </a:solidFill>
              <a:round/>
              <a:headEnd/>
              <a:tailEnd/>
            </a:ln>
          </p:spPr>
          <p:txBody>
            <a:bodyPr lIns="0" tIns="0" rIns="0" bIns="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lang="zh-CN" altLang="en-US" sz="2000">
                  <a:latin typeface="Times New Roman" panose="02020603050405020304" pitchFamily="18" charset="0"/>
                </a:rPr>
                <a:t>活动阻塞</a:t>
              </a:r>
              <a:endParaRPr lang="en-US" altLang="zh-CN" sz="2000">
                <a:latin typeface="Times New Roman" panose="02020603050405020304" pitchFamily="18" charset="0"/>
              </a:endParaRPr>
            </a:p>
          </p:txBody>
        </p:sp>
        <p:sp>
          <p:nvSpPr>
            <p:cNvPr id="19" name="Oval 17"/>
            <p:cNvSpPr>
              <a:spLocks noChangeArrowheads="1"/>
            </p:cNvSpPr>
            <p:nvPr/>
          </p:nvSpPr>
          <p:spPr bwMode="auto">
            <a:xfrm>
              <a:off x="1892300" y="3495675"/>
              <a:ext cx="1079500" cy="792163"/>
            </a:xfrm>
            <a:prstGeom prst="ellipse">
              <a:avLst/>
            </a:prstGeom>
            <a:solidFill>
              <a:srgbClr val="FFFFFF"/>
            </a:solidFill>
            <a:ln w="28575">
              <a:solidFill>
                <a:srgbClr val="000000"/>
              </a:solidFill>
              <a:round/>
              <a:headEnd/>
              <a:tailEnd/>
            </a:ln>
          </p:spPr>
          <p:txBody>
            <a:bodyPr lIns="0" tIns="0" rIns="0" bIns="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lang="zh-CN" altLang="en-US" sz="2000">
                  <a:latin typeface="Times New Roman" panose="02020603050405020304" pitchFamily="18" charset="0"/>
                </a:rPr>
                <a:t>挂起就绪</a:t>
              </a:r>
            </a:p>
          </p:txBody>
        </p:sp>
        <p:sp>
          <p:nvSpPr>
            <p:cNvPr id="20" name="Oval 18"/>
            <p:cNvSpPr>
              <a:spLocks noChangeArrowheads="1"/>
            </p:cNvSpPr>
            <p:nvPr/>
          </p:nvSpPr>
          <p:spPr bwMode="auto">
            <a:xfrm>
              <a:off x="1892300" y="5126038"/>
              <a:ext cx="1079500" cy="792162"/>
            </a:xfrm>
            <a:prstGeom prst="ellipse">
              <a:avLst/>
            </a:prstGeom>
            <a:solidFill>
              <a:srgbClr val="FFFFFF"/>
            </a:solidFill>
            <a:ln w="28575">
              <a:solidFill>
                <a:srgbClr val="000000"/>
              </a:solidFill>
              <a:round/>
              <a:headEnd/>
              <a:tailEnd/>
            </a:ln>
          </p:spPr>
          <p:txBody>
            <a:bodyPr lIns="0" tIns="0" rIns="0" bIns="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lang="zh-CN" altLang="en-US" sz="2000">
                  <a:latin typeface="Times New Roman" panose="02020603050405020304" pitchFamily="18" charset="0"/>
                </a:rPr>
                <a:t>挂起阻塞</a:t>
              </a:r>
            </a:p>
          </p:txBody>
        </p:sp>
        <p:sp>
          <p:nvSpPr>
            <p:cNvPr id="21" name="Line 19"/>
            <p:cNvSpPr>
              <a:spLocks noChangeShapeType="1"/>
            </p:cNvSpPr>
            <p:nvPr/>
          </p:nvSpPr>
          <p:spPr bwMode="auto">
            <a:xfrm flipV="1">
              <a:off x="5111750" y="4059238"/>
              <a:ext cx="1136650" cy="0"/>
            </a:xfrm>
            <a:prstGeom prst="line">
              <a:avLst/>
            </a:prstGeom>
            <a:noFill/>
            <a:ln w="28575">
              <a:solidFill>
                <a:srgbClr val="000000"/>
              </a:solidFill>
              <a:round/>
              <a:headEnd type="triangle" w="med" len="lg"/>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22" name="Line 20"/>
            <p:cNvSpPr>
              <a:spLocks noChangeShapeType="1"/>
            </p:cNvSpPr>
            <p:nvPr/>
          </p:nvSpPr>
          <p:spPr bwMode="auto">
            <a:xfrm flipV="1">
              <a:off x="2909888" y="4016375"/>
              <a:ext cx="1258887" cy="0"/>
            </a:xfrm>
            <a:prstGeom prst="line">
              <a:avLst/>
            </a:prstGeom>
            <a:noFill/>
            <a:ln w="28575">
              <a:solidFill>
                <a:srgbClr val="000000"/>
              </a:solidFill>
              <a:round/>
              <a:headEnd type="triangle" w="med" len="lg"/>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23" name="Line 21"/>
            <p:cNvSpPr>
              <a:spLocks noChangeShapeType="1"/>
            </p:cNvSpPr>
            <p:nvPr/>
          </p:nvSpPr>
          <p:spPr bwMode="auto">
            <a:xfrm>
              <a:off x="2946400" y="3754438"/>
              <a:ext cx="1168400" cy="0"/>
            </a:xfrm>
            <a:prstGeom prst="line">
              <a:avLst/>
            </a:prstGeom>
            <a:noFill/>
            <a:ln w="28575">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4" name="Text Box 22"/>
            <p:cNvSpPr txBox="1">
              <a:spLocks noChangeArrowheads="1"/>
            </p:cNvSpPr>
            <p:nvPr/>
          </p:nvSpPr>
          <p:spPr bwMode="auto">
            <a:xfrm>
              <a:off x="3276600" y="5768975"/>
              <a:ext cx="6096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a:spcBef>
                  <a:spcPct val="0"/>
                </a:spcBef>
                <a:buClrTx/>
                <a:buSzTx/>
                <a:buFontTx/>
                <a:buNone/>
              </a:pPr>
              <a:r>
                <a:rPr lang="zh-CN" altLang="en-US" sz="2000">
                  <a:latin typeface="Times New Roman" panose="02020603050405020304" pitchFamily="18" charset="0"/>
                </a:rPr>
                <a:t>挂起</a:t>
              </a:r>
            </a:p>
          </p:txBody>
        </p:sp>
        <p:sp>
          <p:nvSpPr>
            <p:cNvPr id="25" name="Text Box 23"/>
            <p:cNvSpPr txBox="1">
              <a:spLocks noChangeArrowheads="1"/>
            </p:cNvSpPr>
            <p:nvPr/>
          </p:nvSpPr>
          <p:spPr bwMode="auto">
            <a:xfrm>
              <a:off x="3267075" y="4973638"/>
              <a:ext cx="528638" cy="414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a:spcBef>
                  <a:spcPct val="0"/>
                </a:spcBef>
                <a:buClrTx/>
                <a:buSzTx/>
                <a:buFontTx/>
                <a:buNone/>
              </a:pPr>
              <a:r>
                <a:rPr lang="zh-CN" altLang="en-US" sz="2000">
                  <a:latin typeface="Times New Roman" panose="02020603050405020304" pitchFamily="18" charset="0"/>
                </a:rPr>
                <a:t>激活</a:t>
              </a:r>
            </a:p>
          </p:txBody>
        </p:sp>
        <p:sp>
          <p:nvSpPr>
            <p:cNvPr id="26" name="Line 24"/>
            <p:cNvSpPr>
              <a:spLocks noChangeShapeType="1"/>
            </p:cNvSpPr>
            <p:nvPr/>
          </p:nvSpPr>
          <p:spPr bwMode="auto">
            <a:xfrm>
              <a:off x="2895600" y="5692775"/>
              <a:ext cx="1219200" cy="0"/>
            </a:xfrm>
            <a:prstGeom prst="line">
              <a:avLst/>
            </a:prstGeom>
            <a:noFill/>
            <a:ln w="28575">
              <a:solidFill>
                <a:srgbClr val="000000"/>
              </a:solidFill>
              <a:round/>
              <a:headEnd type="triangle" w="med" len="lg"/>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27" name="Line 25"/>
            <p:cNvSpPr>
              <a:spLocks noChangeShapeType="1"/>
            </p:cNvSpPr>
            <p:nvPr/>
          </p:nvSpPr>
          <p:spPr bwMode="auto">
            <a:xfrm flipV="1">
              <a:off x="2971800" y="5387975"/>
              <a:ext cx="1295400" cy="0"/>
            </a:xfrm>
            <a:prstGeom prst="line">
              <a:avLst/>
            </a:prstGeom>
            <a:noFill/>
            <a:ln w="28575">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8" name="Line 26"/>
            <p:cNvSpPr>
              <a:spLocks noChangeShapeType="1"/>
            </p:cNvSpPr>
            <p:nvPr/>
          </p:nvSpPr>
          <p:spPr bwMode="auto">
            <a:xfrm flipV="1">
              <a:off x="2438400" y="4211638"/>
              <a:ext cx="0" cy="903287"/>
            </a:xfrm>
            <a:prstGeom prst="line">
              <a:avLst/>
            </a:prstGeom>
            <a:noFill/>
            <a:ln w="28575">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9" name="Text Box 27"/>
            <p:cNvSpPr txBox="1">
              <a:spLocks noChangeArrowheads="1"/>
            </p:cNvSpPr>
            <p:nvPr/>
          </p:nvSpPr>
          <p:spPr bwMode="auto">
            <a:xfrm>
              <a:off x="1295400" y="4592638"/>
              <a:ext cx="1066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a:spcBef>
                  <a:spcPct val="0"/>
                </a:spcBef>
                <a:buClrTx/>
                <a:buSzTx/>
                <a:buFontTx/>
                <a:buNone/>
              </a:pPr>
              <a:r>
                <a:rPr lang="zh-CN" altLang="en-US" sz="2000">
                  <a:latin typeface="Times New Roman" panose="02020603050405020304" pitchFamily="18" charset="0"/>
                </a:rPr>
                <a:t>事件发生</a:t>
              </a:r>
            </a:p>
          </p:txBody>
        </p:sp>
        <p:sp>
          <p:nvSpPr>
            <p:cNvPr id="30" name="Line 28"/>
            <p:cNvSpPr>
              <a:spLocks noChangeShapeType="1"/>
            </p:cNvSpPr>
            <p:nvPr/>
          </p:nvSpPr>
          <p:spPr bwMode="auto">
            <a:xfrm flipV="1">
              <a:off x="6629400" y="3059113"/>
              <a:ext cx="0" cy="542925"/>
            </a:xfrm>
            <a:prstGeom prst="line">
              <a:avLst/>
            </a:prstGeom>
            <a:noFill/>
            <a:ln w="28575">
              <a:solidFill>
                <a:srgbClr val="000000"/>
              </a:solidFill>
              <a:round/>
              <a:headEnd/>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31" name="Line 29"/>
            <p:cNvSpPr>
              <a:spLocks noChangeShapeType="1"/>
            </p:cNvSpPr>
            <p:nvPr/>
          </p:nvSpPr>
          <p:spPr bwMode="auto">
            <a:xfrm flipV="1">
              <a:off x="2360613" y="3068638"/>
              <a:ext cx="4268787" cy="0"/>
            </a:xfrm>
            <a:prstGeom prst="line">
              <a:avLst/>
            </a:prstGeom>
            <a:noFill/>
            <a:ln w="28575">
              <a:solidFill>
                <a:srgbClr val="000000"/>
              </a:solidFill>
              <a:round/>
              <a:headEnd/>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32" name="Line 30"/>
            <p:cNvSpPr>
              <a:spLocks noChangeShapeType="1"/>
            </p:cNvSpPr>
            <p:nvPr/>
          </p:nvSpPr>
          <p:spPr bwMode="auto">
            <a:xfrm flipV="1">
              <a:off x="2362200" y="3068638"/>
              <a:ext cx="0" cy="457200"/>
            </a:xfrm>
            <a:prstGeom prst="line">
              <a:avLst/>
            </a:prstGeom>
            <a:noFill/>
            <a:ln w="28575">
              <a:solidFill>
                <a:srgbClr val="000000"/>
              </a:solidFill>
              <a:round/>
              <a:headEnd type="triangle" w="med" len="lg"/>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33" name="Oval 31"/>
            <p:cNvSpPr>
              <a:spLocks noChangeArrowheads="1"/>
            </p:cNvSpPr>
            <p:nvPr/>
          </p:nvSpPr>
          <p:spPr bwMode="auto">
            <a:xfrm>
              <a:off x="609600" y="2492375"/>
              <a:ext cx="935038" cy="576263"/>
            </a:xfrm>
            <a:prstGeom prst="ellipse">
              <a:avLst/>
            </a:prstGeom>
            <a:solidFill>
              <a:srgbClr val="FFFFFF"/>
            </a:solidFill>
            <a:ln w="28575">
              <a:solidFill>
                <a:srgbClr val="000000"/>
              </a:solidFill>
              <a:round/>
              <a:headEnd/>
              <a:tailEnd/>
            </a:ln>
          </p:spPr>
          <p:txBody>
            <a:bodyPr lIns="0" tIns="36000" rIns="0" bIns="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lang="zh-CN" altLang="en-US" sz="2000">
                  <a:latin typeface="Times New Roman" panose="02020603050405020304" pitchFamily="18" charset="0"/>
                </a:rPr>
                <a:t>创建</a:t>
              </a:r>
            </a:p>
          </p:txBody>
        </p:sp>
        <p:sp>
          <p:nvSpPr>
            <p:cNvPr id="34" name="Oval 32"/>
            <p:cNvSpPr>
              <a:spLocks noChangeArrowheads="1"/>
            </p:cNvSpPr>
            <p:nvPr/>
          </p:nvSpPr>
          <p:spPr bwMode="auto">
            <a:xfrm>
              <a:off x="7827963" y="3602038"/>
              <a:ext cx="935037" cy="576262"/>
            </a:xfrm>
            <a:prstGeom prst="ellipse">
              <a:avLst/>
            </a:prstGeom>
            <a:solidFill>
              <a:srgbClr val="FFFFFF"/>
            </a:solidFill>
            <a:ln w="28575">
              <a:solidFill>
                <a:srgbClr val="000000"/>
              </a:solidFill>
              <a:round/>
              <a:headEnd/>
              <a:tailEnd/>
            </a:ln>
          </p:spPr>
          <p:txBody>
            <a:bodyPr lIns="0" tIns="36000" rIns="0" bIns="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lang="zh-CN" altLang="en-US" sz="2000">
                  <a:latin typeface="Times New Roman" panose="02020603050405020304" pitchFamily="18" charset="0"/>
                </a:rPr>
                <a:t>退出</a:t>
              </a:r>
            </a:p>
          </p:txBody>
        </p:sp>
        <p:sp>
          <p:nvSpPr>
            <p:cNvPr id="35" name="Line 33"/>
            <p:cNvSpPr>
              <a:spLocks noChangeShapeType="1"/>
            </p:cNvSpPr>
            <p:nvPr/>
          </p:nvSpPr>
          <p:spPr bwMode="auto">
            <a:xfrm flipV="1">
              <a:off x="7086600" y="3863975"/>
              <a:ext cx="741363" cy="0"/>
            </a:xfrm>
            <a:prstGeom prst="line">
              <a:avLst/>
            </a:prstGeom>
            <a:noFill/>
            <a:ln w="28575">
              <a:solidFill>
                <a:srgbClr val="000000"/>
              </a:solidFill>
              <a:prstDash val="sysDot"/>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36" name="Line 34"/>
            <p:cNvSpPr>
              <a:spLocks noChangeShapeType="1"/>
            </p:cNvSpPr>
            <p:nvPr/>
          </p:nvSpPr>
          <p:spPr bwMode="auto">
            <a:xfrm>
              <a:off x="1066800" y="3059113"/>
              <a:ext cx="914400" cy="576262"/>
            </a:xfrm>
            <a:prstGeom prst="line">
              <a:avLst/>
            </a:prstGeom>
            <a:noFill/>
            <a:ln w="28575" cap="rnd">
              <a:solidFill>
                <a:srgbClr val="000000"/>
              </a:solidFill>
              <a:prstDash val="sysDot"/>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37" name="Line 35"/>
            <p:cNvSpPr>
              <a:spLocks noChangeShapeType="1"/>
            </p:cNvSpPr>
            <p:nvPr/>
          </p:nvSpPr>
          <p:spPr bwMode="auto">
            <a:xfrm>
              <a:off x="1524000" y="2797175"/>
              <a:ext cx="2819400" cy="762000"/>
            </a:xfrm>
            <a:prstGeom prst="line">
              <a:avLst/>
            </a:prstGeom>
            <a:noFill/>
            <a:ln w="28575" cap="rnd">
              <a:solidFill>
                <a:srgbClr val="000000"/>
              </a:solidFill>
              <a:prstDash val="sysDot"/>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38" name="Text Box 36"/>
            <p:cNvSpPr txBox="1">
              <a:spLocks noChangeArrowheads="1"/>
            </p:cNvSpPr>
            <p:nvPr/>
          </p:nvSpPr>
          <p:spPr bwMode="auto">
            <a:xfrm>
              <a:off x="1828800" y="2568575"/>
              <a:ext cx="533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a:spcBef>
                  <a:spcPct val="0"/>
                </a:spcBef>
                <a:buClrTx/>
                <a:buSzTx/>
                <a:buFontTx/>
                <a:buNone/>
              </a:pPr>
              <a:r>
                <a:rPr lang="zh-CN" altLang="en-US" sz="2000">
                  <a:latin typeface="Times New Roman" panose="02020603050405020304" pitchFamily="18" charset="0"/>
                </a:rPr>
                <a:t>接纳</a:t>
              </a:r>
            </a:p>
          </p:txBody>
        </p:sp>
        <p:sp>
          <p:nvSpPr>
            <p:cNvPr id="39" name="Text Box 37"/>
            <p:cNvSpPr txBox="1">
              <a:spLocks noChangeArrowheads="1"/>
            </p:cNvSpPr>
            <p:nvPr/>
          </p:nvSpPr>
          <p:spPr bwMode="auto">
            <a:xfrm>
              <a:off x="914400" y="3330575"/>
              <a:ext cx="533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a:spcBef>
                  <a:spcPct val="0"/>
                </a:spcBef>
                <a:buClrTx/>
                <a:buSzTx/>
                <a:buFontTx/>
                <a:buNone/>
              </a:pPr>
              <a:r>
                <a:rPr lang="zh-CN" altLang="en-US" sz="2000">
                  <a:latin typeface="Times New Roman" panose="02020603050405020304" pitchFamily="18" charset="0"/>
                </a:rPr>
                <a:t>接纳</a:t>
              </a:r>
            </a:p>
          </p:txBody>
        </p:sp>
        <p:sp>
          <p:nvSpPr>
            <p:cNvPr id="40" name="Text Box 38"/>
            <p:cNvSpPr txBox="1">
              <a:spLocks noChangeArrowheads="1"/>
            </p:cNvSpPr>
            <p:nvPr/>
          </p:nvSpPr>
          <p:spPr bwMode="auto">
            <a:xfrm>
              <a:off x="7162800" y="3406775"/>
              <a:ext cx="533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a:spcBef>
                  <a:spcPct val="0"/>
                </a:spcBef>
                <a:buClrTx/>
                <a:buSzTx/>
                <a:buFontTx/>
                <a:buNone/>
              </a:pPr>
              <a:r>
                <a:rPr lang="zh-CN" altLang="en-US" sz="2000">
                  <a:latin typeface="Times New Roman" panose="02020603050405020304" pitchFamily="18" charset="0"/>
                </a:rPr>
                <a:t>完成</a:t>
              </a:r>
            </a:p>
          </p:txBody>
        </p:sp>
      </p:grpSp>
    </p:spTree>
    <p:extLst>
      <p:ext uri="{BB962C8B-B14F-4D97-AF65-F5344CB8AC3E}">
        <p14:creationId xmlns:p14="http://schemas.microsoft.com/office/powerpoint/2010/main" val="14977544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进程控制块</a:t>
            </a:r>
          </a:p>
        </p:txBody>
      </p:sp>
      <p:sp>
        <p:nvSpPr>
          <p:cNvPr id="3" name="内容占位符 2"/>
          <p:cNvSpPr>
            <a:spLocks noGrp="1"/>
          </p:cNvSpPr>
          <p:nvPr>
            <p:ph idx="1"/>
          </p:nvPr>
        </p:nvSpPr>
        <p:spPr/>
        <p:txBody>
          <a:bodyPr/>
          <a:lstStyle/>
          <a:p>
            <a:r>
              <a:rPr lang="zh-CN" altLang="en-US" dirty="0"/>
              <a:t>每个进程在操作系统内用进程控制块表示</a:t>
            </a:r>
            <a:r>
              <a:rPr lang="zh-CN" altLang="en-US" dirty="0" smtClean="0"/>
              <a:t>，</a:t>
            </a:r>
            <a:r>
              <a:rPr lang="en-US" altLang="zh-CN" dirty="0"/>
              <a:t>Process Control </a:t>
            </a:r>
            <a:r>
              <a:rPr lang="en-US" altLang="zh-CN" dirty="0" smtClean="0"/>
              <a:t>Block</a:t>
            </a:r>
            <a:r>
              <a:rPr lang="zh-CN" altLang="en-US" dirty="0" smtClean="0"/>
              <a:t>（</a:t>
            </a:r>
            <a:r>
              <a:rPr lang="en-US" altLang="zh-CN" dirty="0" smtClean="0"/>
              <a:t>PCB</a:t>
            </a:r>
            <a:r>
              <a:rPr lang="zh-CN" altLang="en-US" dirty="0" smtClean="0"/>
              <a:t>）</a:t>
            </a:r>
            <a:endParaRPr lang="en-US" altLang="zh-CN" dirty="0" smtClean="0"/>
          </a:p>
          <a:p>
            <a:pPr lvl="1"/>
            <a:r>
              <a:rPr lang="en-US" altLang="zh-CN" dirty="0"/>
              <a:t>PCB</a:t>
            </a:r>
            <a:r>
              <a:rPr lang="zh-CN" altLang="en-US" dirty="0" smtClean="0"/>
              <a:t>是</a:t>
            </a:r>
            <a:r>
              <a:rPr lang="en-US" altLang="zh-CN" dirty="0" smtClean="0"/>
              <a:t>OS</a:t>
            </a:r>
            <a:r>
              <a:rPr lang="zh-CN" altLang="en-US" dirty="0" smtClean="0"/>
              <a:t>内核中描述</a:t>
            </a:r>
            <a:r>
              <a:rPr lang="zh-CN" altLang="en-US" dirty="0"/>
              <a:t>和管理进程的</a:t>
            </a:r>
            <a:r>
              <a:rPr lang="zh-CN" altLang="en-US" dirty="0" smtClean="0"/>
              <a:t>数据结构</a:t>
            </a:r>
            <a:endParaRPr lang="en-US" altLang="zh-CN" dirty="0" smtClean="0"/>
          </a:p>
          <a:p>
            <a:pPr lvl="1"/>
            <a:r>
              <a:rPr lang="zh-CN" altLang="en-US" dirty="0" smtClean="0"/>
              <a:t>它</a:t>
            </a:r>
            <a:r>
              <a:rPr lang="zh-CN" altLang="en-US" dirty="0"/>
              <a:t>是进程实体的</a:t>
            </a:r>
            <a:r>
              <a:rPr lang="zh-CN" altLang="en-US" dirty="0" smtClean="0"/>
              <a:t>一部分</a:t>
            </a:r>
            <a:endParaRPr lang="en-US" altLang="zh-CN" dirty="0" smtClean="0"/>
          </a:p>
          <a:p>
            <a:pPr lvl="1"/>
            <a:r>
              <a:rPr lang="zh-CN" altLang="en-US" dirty="0" smtClean="0"/>
              <a:t>操作系统</a:t>
            </a:r>
            <a:r>
              <a:rPr lang="zh-CN" altLang="en-US" dirty="0"/>
              <a:t>通过</a:t>
            </a:r>
            <a:r>
              <a:rPr lang="en-US" altLang="zh-CN" dirty="0"/>
              <a:t>PCB</a:t>
            </a:r>
            <a:r>
              <a:rPr lang="zh-CN" altLang="en-US" dirty="0"/>
              <a:t>感知进程的存在，</a:t>
            </a:r>
            <a:r>
              <a:rPr lang="en-US" altLang="zh-CN" dirty="0"/>
              <a:t>PCB</a:t>
            </a:r>
            <a:r>
              <a:rPr lang="zh-CN" altLang="en-US" dirty="0"/>
              <a:t>是进程存在的唯一</a:t>
            </a:r>
            <a:r>
              <a:rPr lang="zh-CN" altLang="en-US" dirty="0" smtClean="0"/>
              <a:t>标志</a:t>
            </a:r>
            <a:endParaRPr lang="en-US" altLang="zh-CN" dirty="0" smtClean="0"/>
          </a:p>
          <a:p>
            <a:pPr lvl="1"/>
            <a:r>
              <a:rPr lang="zh-CN" altLang="en-US" dirty="0" smtClean="0"/>
              <a:t>类似</a:t>
            </a:r>
            <a:r>
              <a:rPr lang="zh-CN" altLang="en-US" dirty="0"/>
              <a:t>学校管理学生的档案表，记录重要信息，不干涉日常行为</a:t>
            </a:r>
          </a:p>
        </p:txBody>
      </p:sp>
      <p:sp>
        <p:nvSpPr>
          <p:cNvPr id="4" name="灯片编号占位符 3"/>
          <p:cNvSpPr>
            <a:spLocks noGrp="1"/>
          </p:cNvSpPr>
          <p:nvPr>
            <p:ph type="sldNum" sz="quarter" idx="12"/>
          </p:nvPr>
        </p:nvSpPr>
        <p:spPr/>
        <p:txBody>
          <a:bodyPr/>
          <a:lstStyle/>
          <a:p>
            <a:fld id="{4093CC90-4002-504C-BD88-C9A1D374048E}" type="slidenum">
              <a:rPr lang="zh-CN" altLang="en-US" smtClean="0"/>
              <a:pPr/>
              <a:t>14</a:t>
            </a:fld>
            <a:endParaRPr lang="zh-CN" altLang="en-US" dirty="0"/>
          </a:p>
        </p:txBody>
      </p:sp>
    </p:spTree>
    <p:extLst>
      <p:ext uri="{BB962C8B-B14F-4D97-AF65-F5344CB8AC3E}">
        <p14:creationId xmlns:p14="http://schemas.microsoft.com/office/powerpoint/2010/main" val="116094488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进程控制块</a:t>
            </a:r>
          </a:p>
        </p:txBody>
      </p:sp>
      <p:sp>
        <p:nvSpPr>
          <p:cNvPr id="3" name="内容占位符 2"/>
          <p:cNvSpPr>
            <a:spLocks noGrp="1"/>
          </p:cNvSpPr>
          <p:nvPr>
            <p:ph idx="1"/>
          </p:nvPr>
        </p:nvSpPr>
        <p:spPr/>
        <p:txBody>
          <a:bodyPr/>
          <a:lstStyle/>
          <a:p>
            <a:r>
              <a:rPr lang="zh-CN" altLang="en-US" dirty="0" smtClean="0"/>
              <a:t>不同</a:t>
            </a:r>
            <a:r>
              <a:rPr lang="en-US" altLang="zh-CN" dirty="0" smtClean="0"/>
              <a:t>OS</a:t>
            </a:r>
            <a:r>
              <a:rPr lang="zh-CN" altLang="en-US" dirty="0" smtClean="0"/>
              <a:t>中</a:t>
            </a:r>
            <a:r>
              <a:rPr lang="en-US" altLang="zh-CN" dirty="0" smtClean="0"/>
              <a:t>PCB</a:t>
            </a:r>
            <a:r>
              <a:rPr lang="zh-CN" altLang="en-US" dirty="0" smtClean="0"/>
              <a:t>的</a:t>
            </a:r>
            <a:r>
              <a:rPr lang="zh-CN" altLang="en-US" dirty="0"/>
              <a:t>结构不同，但通常包括下面所列出的内容</a:t>
            </a:r>
          </a:p>
        </p:txBody>
      </p:sp>
      <p:sp>
        <p:nvSpPr>
          <p:cNvPr id="4" name="灯片编号占位符 3"/>
          <p:cNvSpPr>
            <a:spLocks noGrp="1"/>
          </p:cNvSpPr>
          <p:nvPr>
            <p:ph type="sldNum" sz="quarter" idx="12"/>
          </p:nvPr>
        </p:nvSpPr>
        <p:spPr/>
        <p:txBody>
          <a:bodyPr/>
          <a:lstStyle/>
          <a:p>
            <a:fld id="{4093CC90-4002-504C-BD88-C9A1D374048E}" type="slidenum">
              <a:rPr lang="zh-CN" altLang="en-US" smtClean="0"/>
              <a:pPr/>
              <a:t>15</a:t>
            </a:fld>
            <a:endParaRPr lang="zh-CN" altLang="en-US" dirty="0"/>
          </a:p>
        </p:txBody>
      </p:sp>
      <p:pic>
        <p:nvPicPr>
          <p:cNvPr id="5" name="Picture 3"/>
          <p:cNvPicPr>
            <a:picLocks noChangeAspect="1" noChangeArrowheads="1"/>
          </p:cNvPicPr>
          <p:nvPr/>
        </p:nvPicPr>
        <p:blipFill>
          <a:blip r:embed="rId2">
            <a:extLst>
              <a:ext uri="{28A0092B-C50C-407E-A947-70E740481C1C}">
                <a14:useLocalDpi xmlns:a14="http://schemas.microsoft.com/office/drawing/2010/main" val="0"/>
              </a:ext>
            </a:extLst>
          </a:blip>
          <a:srcRect l="28017" t="731" r="28017" b="540"/>
          <a:stretch>
            <a:fillRect/>
          </a:stretch>
        </p:blipFill>
        <p:spPr bwMode="auto">
          <a:xfrm>
            <a:off x="814389" y="2473229"/>
            <a:ext cx="2144433" cy="3851371"/>
          </a:xfrm>
          <a:prstGeom prst="rect">
            <a:avLst/>
          </a:prstGeom>
          <a:noFill/>
          <a:ln w="57150" cmpd="thickThin">
            <a:noFill/>
            <a:miter lim="800000"/>
            <a:headEnd/>
            <a:tailEnd/>
          </a:ln>
          <a:extLst>
            <a:ext uri="{909E8E84-426E-40DD-AFC4-6F175D3DCCD1}">
              <a14:hiddenFill xmlns:a14="http://schemas.microsoft.com/office/drawing/2010/main">
                <a:solidFill>
                  <a:srgbClr val="FFFFFF"/>
                </a:solidFill>
              </a14:hiddenFill>
            </a:ext>
          </a:extLst>
        </p:spPr>
      </p:pic>
      <p:sp>
        <p:nvSpPr>
          <p:cNvPr id="6" name="文本框 5"/>
          <p:cNvSpPr txBox="1"/>
          <p:nvPr/>
        </p:nvSpPr>
        <p:spPr>
          <a:xfrm>
            <a:off x="3400425" y="2429623"/>
            <a:ext cx="5146730" cy="3894977"/>
          </a:xfrm>
          <a:prstGeom prst="rect">
            <a:avLst/>
          </a:prstGeom>
          <a:noFill/>
        </p:spPr>
        <p:txBody>
          <a:bodyPr wrap="none" rtlCol="0">
            <a:spAutoFit/>
          </a:bodyPr>
          <a:lstStyle/>
          <a:p>
            <a:pPr marL="342900" indent="-342900">
              <a:lnSpc>
                <a:spcPct val="150000"/>
              </a:lnSpc>
              <a:buFont typeface="Wingdings" panose="05000000000000000000" pitchFamily="2" charset="2"/>
              <a:buChar char="Ø"/>
            </a:pPr>
            <a:r>
              <a:rPr lang="en-US" altLang="zh-CN" sz="2400" dirty="0"/>
              <a:t>Process state</a:t>
            </a:r>
          </a:p>
          <a:p>
            <a:pPr marL="342900" indent="-342900">
              <a:lnSpc>
                <a:spcPct val="150000"/>
              </a:lnSpc>
              <a:buFont typeface="Wingdings" panose="05000000000000000000" pitchFamily="2" charset="2"/>
              <a:buChar char="Ø"/>
            </a:pPr>
            <a:r>
              <a:rPr lang="en-US" altLang="zh-CN" sz="2400" dirty="0"/>
              <a:t>Program counter</a:t>
            </a:r>
          </a:p>
          <a:p>
            <a:pPr marL="342900" indent="-342900">
              <a:lnSpc>
                <a:spcPct val="150000"/>
              </a:lnSpc>
              <a:buFont typeface="Wingdings" panose="05000000000000000000" pitchFamily="2" charset="2"/>
              <a:buChar char="Ø"/>
            </a:pPr>
            <a:r>
              <a:rPr lang="en-US" altLang="zh-CN" sz="2400" dirty="0"/>
              <a:t>CPU Registers</a:t>
            </a:r>
          </a:p>
          <a:p>
            <a:pPr marL="342900" indent="-342900">
              <a:lnSpc>
                <a:spcPct val="150000"/>
              </a:lnSpc>
              <a:buFont typeface="Wingdings" panose="05000000000000000000" pitchFamily="2" charset="2"/>
              <a:buChar char="Ø"/>
            </a:pPr>
            <a:r>
              <a:rPr lang="en-US" altLang="zh-CN" sz="2400" dirty="0"/>
              <a:t>CPU-scheduling information</a:t>
            </a:r>
          </a:p>
          <a:p>
            <a:pPr marL="342900" indent="-342900">
              <a:lnSpc>
                <a:spcPct val="150000"/>
              </a:lnSpc>
              <a:buFont typeface="Wingdings" panose="05000000000000000000" pitchFamily="2" charset="2"/>
              <a:buChar char="Ø"/>
            </a:pPr>
            <a:r>
              <a:rPr lang="en-US" altLang="zh-CN" sz="2400" dirty="0"/>
              <a:t>Memory-management information</a:t>
            </a:r>
          </a:p>
          <a:p>
            <a:pPr marL="342900" indent="-342900">
              <a:lnSpc>
                <a:spcPct val="150000"/>
              </a:lnSpc>
              <a:buFont typeface="Wingdings" panose="05000000000000000000" pitchFamily="2" charset="2"/>
              <a:buChar char="Ø"/>
            </a:pPr>
            <a:r>
              <a:rPr lang="en-US" altLang="zh-CN" sz="2400" dirty="0"/>
              <a:t>Accounting information</a:t>
            </a:r>
          </a:p>
          <a:p>
            <a:pPr marL="342900" indent="-342900">
              <a:lnSpc>
                <a:spcPct val="150000"/>
              </a:lnSpc>
              <a:buFont typeface="Wingdings" panose="05000000000000000000" pitchFamily="2" charset="2"/>
              <a:buChar char="Ø"/>
            </a:pPr>
            <a:r>
              <a:rPr lang="en-US" altLang="zh-CN" sz="2400" dirty="0"/>
              <a:t>I/O status </a:t>
            </a:r>
            <a:r>
              <a:rPr lang="en-US" altLang="zh-CN" sz="2400" dirty="0" smtClean="0"/>
              <a:t>information</a:t>
            </a:r>
            <a:endParaRPr lang="en-US" altLang="zh-CN" sz="2400" dirty="0"/>
          </a:p>
        </p:txBody>
      </p:sp>
      <p:cxnSp>
        <p:nvCxnSpPr>
          <p:cNvPr id="7" name="直接连接符 6"/>
          <p:cNvCxnSpPr/>
          <p:nvPr/>
        </p:nvCxnSpPr>
        <p:spPr bwMode="auto">
          <a:xfrm>
            <a:off x="935038" y="3048000"/>
            <a:ext cx="760412" cy="0"/>
          </a:xfrm>
          <a:prstGeom prst="line">
            <a:avLst/>
          </a:prstGeom>
          <a:gradFill rotWithShape="0">
            <a:gsLst>
              <a:gs pos="0">
                <a:srgbClr val="99CCFF"/>
              </a:gs>
              <a:gs pos="100000">
                <a:schemeClr val="bg2"/>
              </a:gs>
            </a:gsLst>
            <a:lin ang="5400000" scaled="1"/>
          </a:gradFill>
          <a:ln w="38100" cap="flat" cmpd="sng" algn="ctr">
            <a:solidFill>
              <a:srgbClr val="FF0000"/>
            </a:solidFill>
            <a:prstDash val="solid"/>
            <a:round/>
            <a:headEnd type="none" w="med" len="med"/>
            <a:tailEnd type="none" w="med" len="med"/>
          </a:ln>
        </p:spPr>
      </p:cxnSp>
      <p:cxnSp>
        <p:nvCxnSpPr>
          <p:cNvPr id="8" name="直接连接符 7"/>
          <p:cNvCxnSpPr/>
          <p:nvPr/>
        </p:nvCxnSpPr>
        <p:spPr bwMode="auto">
          <a:xfrm>
            <a:off x="1081088" y="3905250"/>
            <a:ext cx="1624012" cy="0"/>
          </a:xfrm>
          <a:prstGeom prst="line">
            <a:avLst/>
          </a:prstGeom>
          <a:gradFill rotWithShape="0">
            <a:gsLst>
              <a:gs pos="0">
                <a:srgbClr val="99CCFF"/>
              </a:gs>
              <a:gs pos="100000">
                <a:schemeClr val="bg2"/>
              </a:gs>
            </a:gsLst>
            <a:lin ang="5400000" scaled="1"/>
          </a:gradFill>
          <a:ln w="38100" cap="flat" cmpd="sng" algn="ctr">
            <a:solidFill>
              <a:srgbClr val="FF0000"/>
            </a:solidFill>
            <a:prstDash val="solid"/>
            <a:round/>
            <a:headEnd type="none" w="med" len="med"/>
            <a:tailEnd type="none" w="med" len="med"/>
          </a:ln>
        </p:spPr>
      </p:cxnSp>
      <p:cxnSp>
        <p:nvCxnSpPr>
          <p:cNvPr id="9" name="直接连接符 8"/>
          <p:cNvCxnSpPr/>
          <p:nvPr/>
        </p:nvCxnSpPr>
        <p:spPr bwMode="auto">
          <a:xfrm>
            <a:off x="1466850" y="4524375"/>
            <a:ext cx="866775" cy="0"/>
          </a:xfrm>
          <a:prstGeom prst="line">
            <a:avLst/>
          </a:prstGeom>
          <a:gradFill rotWithShape="0">
            <a:gsLst>
              <a:gs pos="0">
                <a:srgbClr val="99CCFF"/>
              </a:gs>
              <a:gs pos="100000">
                <a:schemeClr val="bg2"/>
              </a:gs>
            </a:gsLst>
            <a:lin ang="5400000" scaled="1"/>
          </a:gradFill>
          <a:ln w="38100" cap="flat" cmpd="sng" algn="ctr">
            <a:solidFill>
              <a:srgbClr val="FF0000"/>
            </a:solidFill>
            <a:prstDash val="solid"/>
            <a:round/>
            <a:headEnd type="none" w="med" len="med"/>
            <a:tailEnd type="none" w="med" len="med"/>
          </a:ln>
        </p:spPr>
      </p:cxnSp>
    </p:spTree>
    <p:extLst>
      <p:ext uri="{BB962C8B-B14F-4D97-AF65-F5344CB8AC3E}">
        <p14:creationId xmlns:p14="http://schemas.microsoft.com/office/powerpoint/2010/main" val="387987927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PCB</a:t>
            </a:r>
            <a:r>
              <a:rPr lang="zh-CN" altLang="en-US" dirty="0"/>
              <a:t>包含的内容</a:t>
            </a:r>
          </a:p>
        </p:txBody>
      </p:sp>
      <p:sp>
        <p:nvSpPr>
          <p:cNvPr id="3" name="内容占位符 2"/>
          <p:cNvSpPr>
            <a:spLocks noGrp="1"/>
          </p:cNvSpPr>
          <p:nvPr>
            <p:ph idx="1"/>
          </p:nvPr>
        </p:nvSpPr>
        <p:spPr/>
        <p:txBody>
          <a:bodyPr/>
          <a:lstStyle/>
          <a:p>
            <a:r>
              <a:rPr lang="zh-CN" altLang="en-US" dirty="0"/>
              <a:t>进程标识符：惟一标识进程的一个标识符或</a:t>
            </a:r>
            <a:r>
              <a:rPr lang="zh-CN" altLang="en-US" dirty="0" smtClean="0"/>
              <a:t>整数</a:t>
            </a:r>
            <a:endParaRPr lang="zh-CN" altLang="en-US" dirty="0"/>
          </a:p>
          <a:p>
            <a:r>
              <a:rPr lang="zh-CN" altLang="en-US" dirty="0"/>
              <a:t>进程当前状态：说明进程当前所处</a:t>
            </a:r>
            <a:r>
              <a:rPr lang="zh-CN" altLang="en-US" dirty="0" smtClean="0"/>
              <a:t>状态</a:t>
            </a:r>
            <a:endParaRPr lang="zh-CN" altLang="en-US" dirty="0"/>
          </a:p>
          <a:p>
            <a:r>
              <a:rPr lang="zh-CN" altLang="en-US" dirty="0">
                <a:solidFill>
                  <a:srgbClr val="FF0000"/>
                </a:solidFill>
              </a:rPr>
              <a:t>进程队列指针</a:t>
            </a:r>
            <a:r>
              <a:rPr lang="zh-CN" altLang="en-US" dirty="0"/>
              <a:t>：用于记录</a:t>
            </a:r>
            <a:r>
              <a:rPr lang="en-US" altLang="zh-CN" dirty="0"/>
              <a:t>PCB</a:t>
            </a:r>
            <a:r>
              <a:rPr lang="zh-CN" altLang="en-US" dirty="0"/>
              <a:t>队列中下一个</a:t>
            </a:r>
            <a:r>
              <a:rPr lang="en-US" altLang="zh-CN" dirty="0"/>
              <a:t>PCB</a:t>
            </a:r>
            <a:r>
              <a:rPr lang="zh-CN" altLang="en-US" dirty="0"/>
              <a:t>的</a:t>
            </a:r>
            <a:r>
              <a:rPr lang="zh-CN" altLang="en-US" dirty="0" smtClean="0"/>
              <a:t>地址（</a:t>
            </a:r>
            <a:r>
              <a:rPr lang="zh-CN" altLang="en-US" dirty="0" smtClean="0">
                <a:solidFill>
                  <a:srgbClr val="FF0000"/>
                </a:solidFill>
              </a:rPr>
              <a:t>用于构建链表</a:t>
            </a:r>
            <a:r>
              <a:rPr lang="zh-CN" altLang="en-US" dirty="0" smtClean="0"/>
              <a:t>）</a:t>
            </a:r>
            <a:endParaRPr lang="zh-CN" altLang="en-US" dirty="0"/>
          </a:p>
          <a:p>
            <a:r>
              <a:rPr lang="zh-CN" altLang="en-US" dirty="0"/>
              <a:t>程序和数据地址：进程的程序和数据在内存或外存中的存放</a:t>
            </a:r>
            <a:r>
              <a:rPr lang="zh-CN" altLang="en-US" dirty="0" smtClean="0"/>
              <a:t>地址</a:t>
            </a:r>
            <a:endParaRPr lang="zh-CN" altLang="en-US" dirty="0"/>
          </a:p>
          <a:p>
            <a:r>
              <a:rPr lang="zh-CN" altLang="en-US" dirty="0"/>
              <a:t>进程优先级：反映进程获得</a:t>
            </a:r>
            <a:r>
              <a:rPr lang="en-US" altLang="zh-CN" dirty="0"/>
              <a:t>CPU</a:t>
            </a:r>
            <a:r>
              <a:rPr lang="zh-CN" altLang="en-US" dirty="0"/>
              <a:t>的优先</a:t>
            </a:r>
            <a:r>
              <a:rPr lang="zh-CN" altLang="en-US" dirty="0" smtClean="0"/>
              <a:t>级别</a:t>
            </a:r>
            <a:endParaRPr lang="zh-CN" altLang="en-US" dirty="0"/>
          </a:p>
        </p:txBody>
      </p:sp>
      <p:sp>
        <p:nvSpPr>
          <p:cNvPr id="4" name="灯片编号占位符 3"/>
          <p:cNvSpPr>
            <a:spLocks noGrp="1"/>
          </p:cNvSpPr>
          <p:nvPr>
            <p:ph type="sldNum" sz="quarter" idx="12"/>
          </p:nvPr>
        </p:nvSpPr>
        <p:spPr/>
        <p:txBody>
          <a:bodyPr/>
          <a:lstStyle/>
          <a:p>
            <a:fld id="{4093CC90-4002-504C-BD88-C9A1D374048E}" type="slidenum">
              <a:rPr lang="zh-CN" altLang="en-US" smtClean="0"/>
              <a:pPr/>
              <a:t>16</a:t>
            </a:fld>
            <a:endParaRPr lang="zh-CN" altLang="en-US" dirty="0"/>
          </a:p>
        </p:txBody>
      </p:sp>
    </p:spTree>
    <p:extLst>
      <p:ext uri="{BB962C8B-B14F-4D97-AF65-F5344CB8AC3E}">
        <p14:creationId xmlns:p14="http://schemas.microsoft.com/office/powerpoint/2010/main" val="352657971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PCB</a:t>
            </a:r>
            <a:r>
              <a:rPr lang="zh-CN" altLang="en-US" dirty="0"/>
              <a:t>包含的内容</a:t>
            </a:r>
          </a:p>
        </p:txBody>
      </p:sp>
      <p:sp>
        <p:nvSpPr>
          <p:cNvPr id="3" name="内容占位符 2"/>
          <p:cNvSpPr>
            <a:spLocks noGrp="1"/>
          </p:cNvSpPr>
          <p:nvPr>
            <p:ph idx="1"/>
          </p:nvPr>
        </p:nvSpPr>
        <p:spPr/>
        <p:txBody>
          <a:bodyPr/>
          <a:lstStyle/>
          <a:p>
            <a:r>
              <a:rPr lang="en-US" altLang="zh-CN" dirty="0">
                <a:solidFill>
                  <a:srgbClr val="FF0000"/>
                </a:solidFill>
              </a:rPr>
              <a:t>CPU</a:t>
            </a:r>
            <a:r>
              <a:rPr lang="zh-CN" altLang="en-US" dirty="0">
                <a:solidFill>
                  <a:srgbClr val="FF0000"/>
                </a:solidFill>
              </a:rPr>
              <a:t>现场保护区</a:t>
            </a:r>
            <a:r>
              <a:rPr lang="zh-CN" altLang="en-US" dirty="0"/>
              <a:t>：</a:t>
            </a:r>
            <a:r>
              <a:rPr lang="en-US" altLang="zh-CN" dirty="0"/>
              <a:t>CPU</a:t>
            </a:r>
            <a:r>
              <a:rPr lang="zh-CN" altLang="en-US" dirty="0"/>
              <a:t>现场信息的存放区域，</a:t>
            </a:r>
            <a:r>
              <a:rPr lang="zh-CN" altLang="en-US" dirty="0" smtClean="0"/>
              <a:t>包括通用寄存器</a:t>
            </a:r>
            <a:r>
              <a:rPr lang="zh-CN" altLang="en-US" dirty="0"/>
              <a:t>、程序计数器、程序状态字</a:t>
            </a:r>
            <a:r>
              <a:rPr lang="zh-CN" altLang="en-US" dirty="0" smtClean="0"/>
              <a:t>等（</a:t>
            </a:r>
            <a:r>
              <a:rPr lang="zh-CN" altLang="en-US" dirty="0" smtClean="0">
                <a:solidFill>
                  <a:srgbClr val="FF0000"/>
                </a:solidFill>
              </a:rPr>
              <a:t>进程失去</a:t>
            </a:r>
            <a:r>
              <a:rPr lang="en-US" altLang="zh-CN" dirty="0" smtClean="0">
                <a:solidFill>
                  <a:srgbClr val="FF0000"/>
                </a:solidFill>
              </a:rPr>
              <a:t>CPU</a:t>
            </a:r>
            <a:r>
              <a:rPr lang="zh-CN" altLang="en-US" dirty="0" smtClean="0">
                <a:solidFill>
                  <a:srgbClr val="FF0000"/>
                </a:solidFill>
              </a:rPr>
              <a:t>前在此保存进度</a:t>
            </a:r>
            <a:r>
              <a:rPr lang="zh-CN" altLang="en-US" dirty="0" smtClean="0"/>
              <a:t>）</a:t>
            </a:r>
            <a:endParaRPr lang="zh-CN" altLang="en-US" dirty="0"/>
          </a:p>
          <a:p>
            <a:r>
              <a:rPr lang="zh-CN" altLang="en-US" dirty="0"/>
              <a:t>通信信息</a:t>
            </a:r>
            <a:r>
              <a:rPr lang="zh-CN" altLang="en-US" dirty="0" smtClean="0"/>
              <a:t>：与其</a:t>
            </a:r>
            <a:r>
              <a:rPr lang="zh-CN" altLang="en-US" dirty="0"/>
              <a:t>他进程所发生的</a:t>
            </a:r>
            <a:r>
              <a:rPr lang="zh-CN" altLang="en-US" dirty="0" smtClean="0"/>
              <a:t>信息交换</a:t>
            </a:r>
            <a:endParaRPr lang="zh-CN" altLang="en-US" dirty="0"/>
          </a:p>
          <a:p>
            <a:r>
              <a:rPr lang="zh-CN" altLang="en-US" dirty="0"/>
              <a:t>家族关系：指明本进程与家族的关系，如父子进程</a:t>
            </a:r>
            <a:r>
              <a:rPr lang="zh-CN" altLang="en-US" dirty="0" smtClean="0"/>
              <a:t>标识</a:t>
            </a:r>
            <a:endParaRPr lang="zh-CN" altLang="en-US" dirty="0"/>
          </a:p>
          <a:p>
            <a:r>
              <a:rPr lang="zh-CN" altLang="en-US" dirty="0"/>
              <a:t>资源清单：列出进程所需资源及当前已分配</a:t>
            </a:r>
            <a:r>
              <a:rPr lang="zh-CN" altLang="en-US" dirty="0" smtClean="0"/>
              <a:t>资源</a:t>
            </a:r>
            <a:endParaRPr lang="zh-CN" altLang="en-US" dirty="0"/>
          </a:p>
        </p:txBody>
      </p:sp>
      <p:sp>
        <p:nvSpPr>
          <p:cNvPr id="4" name="灯片编号占位符 3"/>
          <p:cNvSpPr>
            <a:spLocks noGrp="1"/>
          </p:cNvSpPr>
          <p:nvPr>
            <p:ph type="sldNum" sz="quarter" idx="12"/>
          </p:nvPr>
        </p:nvSpPr>
        <p:spPr/>
        <p:txBody>
          <a:bodyPr/>
          <a:lstStyle/>
          <a:p>
            <a:fld id="{4093CC90-4002-504C-BD88-C9A1D374048E}" type="slidenum">
              <a:rPr lang="zh-CN" altLang="en-US" smtClean="0"/>
              <a:pPr/>
              <a:t>17</a:t>
            </a:fld>
            <a:endParaRPr lang="zh-CN" altLang="en-US" dirty="0"/>
          </a:p>
        </p:txBody>
      </p:sp>
    </p:spTree>
    <p:extLst>
      <p:ext uri="{BB962C8B-B14F-4D97-AF65-F5344CB8AC3E}">
        <p14:creationId xmlns:p14="http://schemas.microsoft.com/office/powerpoint/2010/main" val="14974814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PCB</a:t>
            </a:r>
            <a:r>
              <a:rPr lang="zh-CN" altLang="en-US" dirty="0" smtClean="0"/>
              <a:t>的组织</a:t>
            </a:r>
            <a:endParaRPr lang="zh-CN" altLang="en-US" dirty="0"/>
          </a:p>
        </p:txBody>
      </p:sp>
      <p:sp>
        <p:nvSpPr>
          <p:cNvPr id="3" name="内容占位符 2"/>
          <p:cNvSpPr>
            <a:spLocks noGrp="1"/>
          </p:cNvSpPr>
          <p:nvPr>
            <p:ph idx="1"/>
          </p:nvPr>
        </p:nvSpPr>
        <p:spPr/>
        <p:txBody>
          <a:bodyPr/>
          <a:lstStyle/>
          <a:p>
            <a:r>
              <a:rPr lang="zh-CN" altLang="en-US" dirty="0"/>
              <a:t>常用的组织</a:t>
            </a:r>
            <a:r>
              <a:rPr lang="zh-CN" altLang="en-US" dirty="0" smtClean="0"/>
              <a:t>方式</a:t>
            </a:r>
            <a:endParaRPr lang="zh-CN" altLang="en-US" dirty="0"/>
          </a:p>
          <a:p>
            <a:pPr lvl="1"/>
            <a:r>
              <a:rPr lang="zh-CN" altLang="en-US" dirty="0"/>
              <a:t>线性方式：顺序存放在一片连续内存</a:t>
            </a:r>
            <a:r>
              <a:rPr lang="zh-CN" altLang="en-US" dirty="0" smtClean="0"/>
              <a:t>中</a:t>
            </a:r>
            <a:endParaRPr lang="en-US" altLang="zh-CN" dirty="0" smtClean="0"/>
          </a:p>
          <a:p>
            <a:pPr marL="342882" lvl="1" indent="0">
              <a:lnSpc>
                <a:spcPct val="150000"/>
              </a:lnSpc>
              <a:buNone/>
            </a:pPr>
            <a:endParaRPr lang="en-US" altLang="zh-CN" dirty="0"/>
          </a:p>
          <a:p>
            <a:pPr lvl="1"/>
            <a:r>
              <a:rPr lang="zh-CN" altLang="en-US" dirty="0" smtClean="0"/>
              <a:t>链表</a:t>
            </a:r>
            <a:r>
              <a:rPr lang="zh-CN" altLang="en-US" dirty="0"/>
              <a:t>方式：将同一状态的</a:t>
            </a:r>
            <a:r>
              <a:rPr lang="en-US" altLang="zh-CN" dirty="0"/>
              <a:t>PCB</a:t>
            </a:r>
            <a:r>
              <a:rPr lang="zh-CN" altLang="en-US" dirty="0"/>
              <a:t>组成一个链表</a:t>
            </a:r>
          </a:p>
        </p:txBody>
      </p:sp>
      <p:sp>
        <p:nvSpPr>
          <p:cNvPr id="4" name="灯片编号占位符 3"/>
          <p:cNvSpPr>
            <a:spLocks noGrp="1"/>
          </p:cNvSpPr>
          <p:nvPr>
            <p:ph type="sldNum" sz="quarter" idx="12"/>
          </p:nvPr>
        </p:nvSpPr>
        <p:spPr/>
        <p:txBody>
          <a:bodyPr/>
          <a:lstStyle/>
          <a:p>
            <a:fld id="{4093CC90-4002-504C-BD88-C9A1D374048E}" type="slidenum">
              <a:rPr lang="zh-CN" altLang="en-US" smtClean="0"/>
              <a:pPr/>
              <a:t>18</a:t>
            </a:fld>
            <a:endParaRPr lang="zh-CN" altLang="en-US" dirty="0"/>
          </a:p>
        </p:txBody>
      </p:sp>
      <p:grpSp>
        <p:nvGrpSpPr>
          <p:cNvPr id="6" name="Group 4"/>
          <p:cNvGrpSpPr>
            <a:grpSpLocks/>
          </p:cNvGrpSpPr>
          <p:nvPr/>
        </p:nvGrpSpPr>
        <p:grpSpPr bwMode="auto">
          <a:xfrm>
            <a:off x="1331119" y="2475706"/>
            <a:ext cx="6337304" cy="431800"/>
            <a:chOff x="476" y="2251"/>
            <a:chExt cx="5126" cy="453"/>
          </a:xfrm>
        </p:grpSpPr>
        <p:sp>
          <p:nvSpPr>
            <p:cNvPr id="7" name="Rectangle 5"/>
            <p:cNvSpPr>
              <a:spLocks noChangeArrowheads="1"/>
            </p:cNvSpPr>
            <p:nvPr/>
          </p:nvSpPr>
          <p:spPr bwMode="auto">
            <a:xfrm>
              <a:off x="476" y="2251"/>
              <a:ext cx="5126" cy="453"/>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8" name="Line 6"/>
            <p:cNvSpPr>
              <a:spLocks noChangeShapeType="1"/>
            </p:cNvSpPr>
            <p:nvPr/>
          </p:nvSpPr>
          <p:spPr bwMode="auto">
            <a:xfrm>
              <a:off x="1202" y="2251"/>
              <a:ext cx="0" cy="453"/>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9" name="Rectangle 7"/>
            <p:cNvSpPr>
              <a:spLocks noChangeArrowheads="1"/>
            </p:cNvSpPr>
            <p:nvPr/>
          </p:nvSpPr>
          <p:spPr bwMode="auto">
            <a:xfrm>
              <a:off x="567" y="2342"/>
              <a:ext cx="499"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1800" dirty="0"/>
                <a:t>PCB</a:t>
              </a:r>
              <a:r>
                <a:rPr lang="en-US" altLang="zh-CN" sz="1800" baseline="-25000" dirty="0"/>
                <a:t>1</a:t>
              </a:r>
            </a:p>
          </p:txBody>
        </p:sp>
        <p:sp>
          <p:nvSpPr>
            <p:cNvPr id="11" name="Line 8"/>
            <p:cNvSpPr>
              <a:spLocks noChangeShapeType="1"/>
            </p:cNvSpPr>
            <p:nvPr/>
          </p:nvSpPr>
          <p:spPr bwMode="auto">
            <a:xfrm>
              <a:off x="1927" y="2251"/>
              <a:ext cx="0" cy="453"/>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12" name="Rectangle 9"/>
            <p:cNvSpPr>
              <a:spLocks noChangeArrowheads="1"/>
            </p:cNvSpPr>
            <p:nvPr/>
          </p:nvSpPr>
          <p:spPr bwMode="auto">
            <a:xfrm>
              <a:off x="1338" y="2342"/>
              <a:ext cx="499"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1800"/>
                <a:t>PCB</a:t>
              </a:r>
              <a:r>
                <a:rPr lang="en-US" altLang="zh-CN" sz="1800" baseline="-25000"/>
                <a:t>2</a:t>
              </a:r>
            </a:p>
          </p:txBody>
        </p:sp>
        <p:sp>
          <p:nvSpPr>
            <p:cNvPr id="13" name="Line 10"/>
            <p:cNvSpPr>
              <a:spLocks noChangeShapeType="1"/>
            </p:cNvSpPr>
            <p:nvPr/>
          </p:nvSpPr>
          <p:spPr bwMode="auto">
            <a:xfrm>
              <a:off x="2653" y="2251"/>
              <a:ext cx="0" cy="453"/>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14" name="Rectangle 11"/>
            <p:cNvSpPr>
              <a:spLocks noChangeArrowheads="1"/>
            </p:cNvSpPr>
            <p:nvPr/>
          </p:nvSpPr>
          <p:spPr bwMode="auto">
            <a:xfrm>
              <a:off x="2063" y="2342"/>
              <a:ext cx="499"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1800" dirty="0"/>
                <a:t>PCB</a:t>
              </a:r>
              <a:r>
                <a:rPr lang="en-US" altLang="zh-CN" sz="1800" baseline="-25000" dirty="0"/>
                <a:t>3</a:t>
              </a:r>
            </a:p>
          </p:txBody>
        </p:sp>
        <p:sp>
          <p:nvSpPr>
            <p:cNvPr id="15" name="Line 12"/>
            <p:cNvSpPr>
              <a:spLocks noChangeShapeType="1"/>
            </p:cNvSpPr>
            <p:nvPr/>
          </p:nvSpPr>
          <p:spPr bwMode="auto">
            <a:xfrm>
              <a:off x="3379" y="2251"/>
              <a:ext cx="0" cy="453"/>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16" name="Rectangle 13"/>
            <p:cNvSpPr>
              <a:spLocks noChangeArrowheads="1"/>
            </p:cNvSpPr>
            <p:nvPr/>
          </p:nvSpPr>
          <p:spPr bwMode="auto">
            <a:xfrm>
              <a:off x="5012" y="2342"/>
              <a:ext cx="499"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1800"/>
                <a:t>PCB</a:t>
              </a:r>
              <a:r>
                <a:rPr lang="en-US" altLang="zh-CN" sz="1800" baseline="-25000"/>
                <a:t>n</a:t>
              </a:r>
            </a:p>
          </p:txBody>
        </p:sp>
        <p:sp>
          <p:nvSpPr>
            <p:cNvPr id="17" name="Line 14"/>
            <p:cNvSpPr>
              <a:spLocks noChangeShapeType="1"/>
            </p:cNvSpPr>
            <p:nvPr/>
          </p:nvSpPr>
          <p:spPr bwMode="auto">
            <a:xfrm>
              <a:off x="4876" y="2251"/>
              <a:ext cx="0" cy="453"/>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18" name="Rectangle 15"/>
            <p:cNvSpPr>
              <a:spLocks noChangeArrowheads="1"/>
            </p:cNvSpPr>
            <p:nvPr/>
          </p:nvSpPr>
          <p:spPr bwMode="auto">
            <a:xfrm>
              <a:off x="4241" y="2342"/>
              <a:ext cx="499"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1800" dirty="0"/>
                <a:t>PCB</a:t>
              </a:r>
              <a:r>
                <a:rPr lang="en-US" altLang="zh-CN" sz="1800" baseline="-25000" dirty="0"/>
                <a:t>n-1</a:t>
              </a:r>
            </a:p>
          </p:txBody>
        </p:sp>
        <p:sp>
          <p:nvSpPr>
            <p:cNvPr id="19" name="Line 16"/>
            <p:cNvSpPr>
              <a:spLocks noChangeShapeType="1"/>
            </p:cNvSpPr>
            <p:nvPr/>
          </p:nvSpPr>
          <p:spPr bwMode="auto">
            <a:xfrm>
              <a:off x="4105" y="2251"/>
              <a:ext cx="0" cy="453"/>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sz="1400"/>
            </a:p>
          </p:txBody>
        </p:sp>
        <p:sp>
          <p:nvSpPr>
            <p:cNvPr id="20" name="Rectangle 17"/>
            <p:cNvSpPr>
              <a:spLocks noChangeArrowheads="1"/>
            </p:cNvSpPr>
            <p:nvPr/>
          </p:nvSpPr>
          <p:spPr bwMode="auto">
            <a:xfrm>
              <a:off x="3515" y="2342"/>
              <a:ext cx="499"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1800" dirty="0"/>
                <a:t>PCB</a:t>
              </a:r>
              <a:r>
                <a:rPr lang="en-US" altLang="zh-CN" sz="1800" baseline="-25000" dirty="0"/>
                <a:t>n-2</a:t>
              </a:r>
            </a:p>
          </p:txBody>
        </p:sp>
        <p:sp>
          <p:nvSpPr>
            <p:cNvPr id="21" name="Rectangle 18"/>
            <p:cNvSpPr>
              <a:spLocks noChangeArrowheads="1"/>
            </p:cNvSpPr>
            <p:nvPr/>
          </p:nvSpPr>
          <p:spPr bwMode="auto">
            <a:xfrm>
              <a:off x="2789" y="2341"/>
              <a:ext cx="499"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2400"/>
                <a:t>…</a:t>
              </a:r>
            </a:p>
          </p:txBody>
        </p:sp>
      </p:grpSp>
      <p:grpSp>
        <p:nvGrpSpPr>
          <p:cNvPr id="5" name="组合 4"/>
          <p:cNvGrpSpPr/>
          <p:nvPr/>
        </p:nvGrpSpPr>
        <p:grpSpPr>
          <a:xfrm>
            <a:off x="987427" y="3683000"/>
            <a:ext cx="6913563" cy="2772549"/>
            <a:chOff x="987427" y="3473450"/>
            <a:chExt cx="6913563" cy="2772549"/>
          </a:xfrm>
        </p:grpSpPr>
        <p:sp>
          <p:nvSpPr>
            <p:cNvPr id="22" name="Rectangle 4"/>
            <p:cNvSpPr>
              <a:spLocks noChangeArrowheads="1"/>
            </p:cNvSpPr>
            <p:nvPr/>
          </p:nvSpPr>
          <p:spPr bwMode="auto">
            <a:xfrm>
              <a:off x="1254127" y="3656012"/>
              <a:ext cx="895350" cy="400050"/>
            </a:xfrm>
            <a:prstGeom prst="rect">
              <a:avLst/>
            </a:prstGeom>
            <a:solidFill>
              <a:srgbClr val="FFFFFF"/>
            </a:solidFill>
            <a:ln w="25400">
              <a:solidFill>
                <a:srgbClr val="000000"/>
              </a:solidFill>
              <a:miter lim="800000"/>
              <a:headEnd/>
              <a:tailEnd/>
            </a:ln>
          </p:spPr>
          <p:txBody>
            <a:bodyPr lIns="0" tIns="0" rIns="0" bIns="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spcBef>
                  <a:spcPct val="0"/>
                </a:spcBef>
                <a:buClrTx/>
                <a:buSzTx/>
                <a:buFontTx/>
                <a:buNone/>
              </a:pPr>
              <a:r>
                <a:rPr lang="zh-CN" altLang="en-US" sz="900">
                  <a:latin typeface="Times New Roman" panose="02020603050405020304" pitchFamily="18" charset="0"/>
                </a:rPr>
                <a:t> </a:t>
              </a:r>
              <a:endParaRPr lang="zh-CN" altLang="en-US" sz="2400"/>
            </a:p>
          </p:txBody>
        </p:sp>
        <p:sp>
          <p:nvSpPr>
            <p:cNvPr id="23" name="Rectangle 5"/>
            <p:cNvSpPr>
              <a:spLocks noChangeArrowheads="1"/>
            </p:cNvSpPr>
            <p:nvPr/>
          </p:nvSpPr>
          <p:spPr bwMode="auto">
            <a:xfrm>
              <a:off x="1209677" y="4102100"/>
              <a:ext cx="100171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spcBef>
                  <a:spcPct val="0"/>
                </a:spcBef>
                <a:buClrTx/>
                <a:buSzTx/>
                <a:buFontTx/>
                <a:buNone/>
              </a:pPr>
              <a:r>
                <a:rPr lang="zh-CN" altLang="en-US" sz="1800" dirty="0">
                  <a:latin typeface="Times New Roman" panose="02020603050405020304" pitchFamily="18" charset="0"/>
                </a:rPr>
                <a:t>运行指针</a:t>
              </a:r>
            </a:p>
          </p:txBody>
        </p:sp>
        <p:sp>
          <p:nvSpPr>
            <p:cNvPr id="24" name="Rectangle 6"/>
            <p:cNvSpPr>
              <a:spLocks noChangeArrowheads="1"/>
            </p:cNvSpPr>
            <p:nvPr/>
          </p:nvSpPr>
          <p:spPr bwMode="auto">
            <a:xfrm>
              <a:off x="1254127" y="4565650"/>
              <a:ext cx="895350" cy="401637"/>
            </a:xfrm>
            <a:prstGeom prst="rect">
              <a:avLst/>
            </a:prstGeom>
            <a:solidFill>
              <a:srgbClr val="FFFFFF"/>
            </a:solidFill>
            <a:ln w="25400">
              <a:solidFill>
                <a:srgbClr val="000000"/>
              </a:solidFill>
              <a:miter lim="800000"/>
              <a:headEnd/>
              <a:tailEnd/>
            </a:ln>
          </p:spPr>
          <p:txBody>
            <a:bodyPr lIns="0" tIns="0" rIns="0" bIns="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spcBef>
                  <a:spcPct val="0"/>
                </a:spcBef>
                <a:buClrTx/>
                <a:buSzTx/>
                <a:buFontTx/>
                <a:buNone/>
              </a:pPr>
              <a:r>
                <a:rPr lang="zh-CN" altLang="en-US" sz="900">
                  <a:latin typeface="Times New Roman" panose="02020603050405020304" pitchFamily="18" charset="0"/>
                </a:rPr>
                <a:t> </a:t>
              </a:r>
              <a:endParaRPr lang="zh-CN" altLang="en-US" sz="2400"/>
            </a:p>
          </p:txBody>
        </p:sp>
        <p:sp>
          <p:nvSpPr>
            <p:cNvPr id="25" name="Rectangle 7"/>
            <p:cNvSpPr>
              <a:spLocks noChangeArrowheads="1"/>
            </p:cNvSpPr>
            <p:nvPr/>
          </p:nvSpPr>
          <p:spPr bwMode="auto">
            <a:xfrm>
              <a:off x="989015" y="5010150"/>
              <a:ext cx="143986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spcBef>
                  <a:spcPct val="0"/>
                </a:spcBef>
                <a:buClrTx/>
                <a:buSzTx/>
                <a:buFontTx/>
                <a:buNone/>
              </a:pPr>
              <a:r>
                <a:rPr lang="zh-CN" altLang="en-US" sz="1800" dirty="0">
                  <a:latin typeface="Times New Roman" panose="02020603050405020304" pitchFamily="18" charset="0"/>
                </a:rPr>
                <a:t>就绪队列指针</a:t>
              </a:r>
              <a:endParaRPr lang="zh-CN" altLang="en-US" sz="1800" dirty="0"/>
            </a:p>
          </p:txBody>
        </p:sp>
        <p:sp>
          <p:nvSpPr>
            <p:cNvPr id="26" name="Rectangle 8"/>
            <p:cNvSpPr>
              <a:spLocks noChangeArrowheads="1"/>
            </p:cNvSpPr>
            <p:nvPr/>
          </p:nvSpPr>
          <p:spPr bwMode="auto">
            <a:xfrm>
              <a:off x="1254127" y="5524500"/>
              <a:ext cx="895350" cy="400050"/>
            </a:xfrm>
            <a:prstGeom prst="rect">
              <a:avLst/>
            </a:prstGeom>
            <a:solidFill>
              <a:srgbClr val="FFFFFF"/>
            </a:solidFill>
            <a:ln w="25400">
              <a:solidFill>
                <a:srgbClr val="000000"/>
              </a:solidFill>
              <a:miter lim="800000"/>
              <a:headEnd/>
              <a:tailEnd/>
            </a:ln>
          </p:spPr>
          <p:txBody>
            <a:bodyPr lIns="0" tIns="0" rIns="0" bIns="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spcBef>
                  <a:spcPct val="0"/>
                </a:spcBef>
                <a:buClrTx/>
                <a:buSzTx/>
                <a:buFontTx/>
                <a:buNone/>
              </a:pPr>
              <a:r>
                <a:rPr lang="zh-CN" altLang="en-US" sz="900">
                  <a:latin typeface="Times New Roman" panose="02020603050405020304" pitchFamily="18" charset="0"/>
                </a:rPr>
                <a:t> </a:t>
              </a:r>
              <a:endParaRPr lang="zh-CN" altLang="en-US" sz="2400"/>
            </a:p>
          </p:txBody>
        </p:sp>
        <p:sp>
          <p:nvSpPr>
            <p:cNvPr id="27" name="Rectangle 9"/>
            <p:cNvSpPr>
              <a:spLocks noChangeArrowheads="1"/>
            </p:cNvSpPr>
            <p:nvPr/>
          </p:nvSpPr>
          <p:spPr bwMode="auto">
            <a:xfrm>
              <a:off x="987427" y="5969000"/>
              <a:ext cx="143510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spcBef>
                  <a:spcPct val="0"/>
                </a:spcBef>
                <a:buClrTx/>
                <a:buSzTx/>
                <a:buFontTx/>
                <a:buNone/>
              </a:pPr>
              <a:r>
                <a:rPr lang="zh-CN" altLang="en-US" sz="1800" dirty="0">
                  <a:latin typeface="Times New Roman" panose="02020603050405020304" pitchFamily="18" charset="0"/>
                </a:rPr>
                <a:t>阻塞队列指针</a:t>
              </a:r>
              <a:endParaRPr lang="zh-CN" altLang="en-US" sz="1800" dirty="0"/>
            </a:p>
          </p:txBody>
        </p:sp>
        <p:sp>
          <p:nvSpPr>
            <p:cNvPr id="28" name="Rectangle 10"/>
            <p:cNvSpPr>
              <a:spLocks noChangeArrowheads="1"/>
            </p:cNvSpPr>
            <p:nvPr/>
          </p:nvSpPr>
          <p:spPr bwMode="auto">
            <a:xfrm>
              <a:off x="3625852" y="4421187"/>
              <a:ext cx="627063" cy="728663"/>
            </a:xfrm>
            <a:prstGeom prst="rect">
              <a:avLst/>
            </a:prstGeom>
            <a:solidFill>
              <a:srgbClr val="FFFFFF"/>
            </a:solidFill>
            <a:ln w="25400">
              <a:solidFill>
                <a:srgbClr val="000000"/>
              </a:solidFill>
              <a:miter lim="800000"/>
              <a:headEnd/>
              <a:tailEnd/>
            </a:ln>
          </p:spPr>
          <p:txBody>
            <a:bodyPr lIns="18000" tIns="720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1800">
                  <a:latin typeface="Times New Roman" panose="02020603050405020304" pitchFamily="18" charset="0"/>
                </a:rPr>
                <a:t>PCB</a:t>
              </a:r>
              <a:endParaRPr lang="en-US" altLang="zh-CN" sz="1800"/>
            </a:p>
          </p:txBody>
        </p:sp>
        <p:sp>
          <p:nvSpPr>
            <p:cNvPr id="29" name="Line 11"/>
            <p:cNvSpPr>
              <a:spLocks noChangeShapeType="1"/>
            </p:cNvSpPr>
            <p:nvPr/>
          </p:nvSpPr>
          <p:spPr bwMode="auto">
            <a:xfrm>
              <a:off x="3625852" y="4894262"/>
              <a:ext cx="63023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 name="Rectangle 12"/>
            <p:cNvSpPr>
              <a:spLocks noChangeArrowheads="1"/>
            </p:cNvSpPr>
            <p:nvPr/>
          </p:nvSpPr>
          <p:spPr bwMode="auto">
            <a:xfrm>
              <a:off x="3625852" y="5378450"/>
              <a:ext cx="627063" cy="728662"/>
            </a:xfrm>
            <a:prstGeom prst="rect">
              <a:avLst/>
            </a:prstGeom>
            <a:solidFill>
              <a:srgbClr val="FFFFFF"/>
            </a:solidFill>
            <a:ln w="25400">
              <a:solidFill>
                <a:srgbClr val="000000"/>
              </a:solidFill>
              <a:miter lim="800000"/>
              <a:headEnd/>
              <a:tailEnd/>
            </a:ln>
          </p:spPr>
          <p:txBody>
            <a:bodyPr lIns="18000" tIns="720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1800">
                  <a:latin typeface="Times New Roman" panose="02020603050405020304" pitchFamily="18" charset="0"/>
                </a:rPr>
                <a:t>PCB</a:t>
              </a:r>
            </a:p>
          </p:txBody>
        </p:sp>
        <p:sp>
          <p:nvSpPr>
            <p:cNvPr id="31" name="Line 13"/>
            <p:cNvSpPr>
              <a:spLocks noChangeShapeType="1"/>
            </p:cNvSpPr>
            <p:nvPr/>
          </p:nvSpPr>
          <p:spPr bwMode="auto">
            <a:xfrm>
              <a:off x="3625852" y="5853112"/>
              <a:ext cx="63023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 name="Rectangle 14"/>
            <p:cNvSpPr>
              <a:spLocks noChangeArrowheads="1"/>
            </p:cNvSpPr>
            <p:nvPr/>
          </p:nvSpPr>
          <p:spPr bwMode="auto">
            <a:xfrm>
              <a:off x="4838702" y="4421187"/>
              <a:ext cx="627063" cy="728663"/>
            </a:xfrm>
            <a:prstGeom prst="rect">
              <a:avLst/>
            </a:prstGeom>
            <a:solidFill>
              <a:srgbClr val="FFFFFF"/>
            </a:solidFill>
            <a:ln w="25400">
              <a:solidFill>
                <a:srgbClr val="000000"/>
              </a:solidFill>
              <a:miter lim="800000"/>
              <a:headEnd/>
              <a:tailEnd/>
            </a:ln>
          </p:spPr>
          <p:txBody>
            <a:bodyPr lIns="18000" tIns="720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1800">
                  <a:latin typeface="Times New Roman" panose="02020603050405020304" pitchFamily="18" charset="0"/>
                </a:rPr>
                <a:t>PCB</a:t>
              </a:r>
            </a:p>
          </p:txBody>
        </p:sp>
        <p:sp>
          <p:nvSpPr>
            <p:cNvPr id="33" name="Line 15"/>
            <p:cNvSpPr>
              <a:spLocks noChangeShapeType="1"/>
            </p:cNvSpPr>
            <p:nvPr/>
          </p:nvSpPr>
          <p:spPr bwMode="auto">
            <a:xfrm>
              <a:off x="4838702" y="4895850"/>
              <a:ext cx="62865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 name="Rectangle 16"/>
            <p:cNvSpPr>
              <a:spLocks noChangeArrowheads="1"/>
            </p:cNvSpPr>
            <p:nvPr/>
          </p:nvSpPr>
          <p:spPr bwMode="auto">
            <a:xfrm>
              <a:off x="4879977" y="5368925"/>
              <a:ext cx="627063" cy="728662"/>
            </a:xfrm>
            <a:prstGeom prst="rect">
              <a:avLst/>
            </a:prstGeom>
            <a:solidFill>
              <a:srgbClr val="FFFFFF"/>
            </a:solidFill>
            <a:ln w="25400">
              <a:solidFill>
                <a:srgbClr val="000000"/>
              </a:solidFill>
              <a:miter lim="800000"/>
              <a:headEnd/>
              <a:tailEnd/>
            </a:ln>
          </p:spPr>
          <p:txBody>
            <a:bodyPr lIns="18000" tIns="720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1800">
                  <a:latin typeface="Times New Roman" panose="02020603050405020304" pitchFamily="18" charset="0"/>
                </a:rPr>
                <a:t>PCB</a:t>
              </a:r>
            </a:p>
            <a:p>
              <a:pPr algn="ctr" eaLnBrk="1" hangingPunct="1">
                <a:spcBef>
                  <a:spcPct val="0"/>
                </a:spcBef>
                <a:buClrTx/>
                <a:buSzTx/>
                <a:buFontTx/>
                <a:buNone/>
              </a:pPr>
              <a:endParaRPr lang="en-US" altLang="zh-CN" sz="900">
                <a:latin typeface="Times New Roman" panose="02020603050405020304" pitchFamily="18" charset="0"/>
              </a:endParaRPr>
            </a:p>
            <a:p>
              <a:pPr algn="ctr" eaLnBrk="1" hangingPunct="1">
                <a:spcBef>
                  <a:spcPct val="0"/>
                </a:spcBef>
                <a:buClrTx/>
                <a:buSzTx/>
                <a:buFontTx/>
                <a:buNone/>
              </a:pPr>
              <a:r>
                <a:rPr lang="en-US" altLang="zh-CN" sz="1800">
                  <a:latin typeface="Times New Roman" panose="02020603050405020304" pitchFamily="18" charset="0"/>
                </a:rPr>
                <a:t>^</a:t>
              </a:r>
            </a:p>
          </p:txBody>
        </p:sp>
        <p:sp>
          <p:nvSpPr>
            <p:cNvPr id="35" name="Line 17"/>
            <p:cNvSpPr>
              <a:spLocks noChangeShapeType="1"/>
            </p:cNvSpPr>
            <p:nvPr/>
          </p:nvSpPr>
          <p:spPr bwMode="auto">
            <a:xfrm>
              <a:off x="4879977" y="5834062"/>
              <a:ext cx="62865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 name="Rectangle 18"/>
            <p:cNvSpPr>
              <a:spLocks noChangeArrowheads="1"/>
            </p:cNvSpPr>
            <p:nvPr/>
          </p:nvSpPr>
          <p:spPr bwMode="auto">
            <a:xfrm>
              <a:off x="7272340" y="4421187"/>
              <a:ext cx="627062" cy="728663"/>
            </a:xfrm>
            <a:prstGeom prst="rect">
              <a:avLst/>
            </a:prstGeom>
            <a:solidFill>
              <a:srgbClr val="FFFFFF"/>
            </a:solidFill>
            <a:ln w="25400">
              <a:solidFill>
                <a:srgbClr val="000000"/>
              </a:solidFill>
              <a:miter lim="800000"/>
              <a:headEnd/>
              <a:tailEnd/>
            </a:ln>
          </p:spPr>
          <p:txBody>
            <a:bodyPr lIns="18000" tIns="720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1800">
                  <a:latin typeface="Times New Roman" panose="02020603050405020304" pitchFamily="18" charset="0"/>
                </a:rPr>
                <a:t>PCB</a:t>
              </a:r>
            </a:p>
            <a:p>
              <a:pPr algn="ctr" eaLnBrk="1" hangingPunct="1">
                <a:spcBef>
                  <a:spcPct val="0"/>
                </a:spcBef>
                <a:buClrTx/>
                <a:buSzTx/>
                <a:buFontTx/>
                <a:buNone/>
              </a:pPr>
              <a:endParaRPr lang="en-US" altLang="zh-CN" sz="900">
                <a:latin typeface="Times New Roman" panose="02020603050405020304" pitchFamily="18" charset="0"/>
              </a:endParaRPr>
            </a:p>
            <a:p>
              <a:pPr algn="ctr" eaLnBrk="1" hangingPunct="1">
                <a:spcBef>
                  <a:spcPct val="0"/>
                </a:spcBef>
                <a:buClrTx/>
                <a:buSzTx/>
                <a:buFontTx/>
                <a:buNone/>
              </a:pPr>
              <a:r>
                <a:rPr lang="en-US" altLang="zh-CN" sz="1800">
                  <a:latin typeface="Times New Roman" panose="02020603050405020304" pitchFamily="18" charset="0"/>
                </a:rPr>
                <a:t>^</a:t>
              </a:r>
            </a:p>
          </p:txBody>
        </p:sp>
        <p:sp>
          <p:nvSpPr>
            <p:cNvPr id="37" name="Line 19"/>
            <p:cNvSpPr>
              <a:spLocks noChangeShapeType="1"/>
            </p:cNvSpPr>
            <p:nvPr/>
          </p:nvSpPr>
          <p:spPr bwMode="auto">
            <a:xfrm>
              <a:off x="7272340" y="4894262"/>
              <a:ext cx="62865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 name="Rectangle 20"/>
            <p:cNvSpPr>
              <a:spLocks noChangeArrowheads="1"/>
            </p:cNvSpPr>
            <p:nvPr/>
          </p:nvSpPr>
          <p:spPr bwMode="auto">
            <a:xfrm>
              <a:off x="6086477" y="4421187"/>
              <a:ext cx="627063" cy="728663"/>
            </a:xfrm>
            <a:prstGeom prst="rect">
              <a:avLst/>
            </a:prstGeom>
            <a:solidFill>
              <a:srgbClr val="FFFFFF"/>
            </a:solidFill>
            <a:ln w="25400">
              <a:solidFill>
                <a:srgbClr val="000000"/>
              </a:solidFill>
              <a:miter lim="800000"/>
              <a:headEnd/>
              <a:tailEnd/>
            </a:ln>
          </p:spPr>
          <p:txBody>
            <a:bodyPr lIns="18000" tIns="720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1800">
                  <a:latin typeface="Times New Roman" panose="02020603050405020304" pitchFamily="18" charset="0"/>
                </a:rPr>
                <a:t>PCB</a:t>
              </a:r>
            </a:p>
          </p:txBody>
        </p:sp>
        <p:sp>
          <p:nvSpPr>
            <p:cNvPr id="39" name="Line 21"/>
            <p:cNvSpPr>
              <a:spLocks noChangeShapeType="1"/>
            </p:cNvSpPr>
            <p:nvPr/>
          </p:nvSpPr>
          <p:spPr bwMode="auto">
            <a:xfrm>
              <a:off x="6086477" y="4894262"/>
              <a:ext cx="62865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 name="Line 22"/>
            <p:cNvSpPr>
              <a:spLocks noChangeShapeType="1"/>
            </p:cNvSpPr>
            <p:nvPr/>
          </p:nvSpPr>
          <p:spPr bwMode="auto">
            <a:xfrm flipV="1">
              <a:off x="1768477" y="3651250"/>
              <a:ext cx="1857375" cy="182562"/>
            </a:xfrm>
            <a:prstGeom prst="line">
              <a:avLst/>
            </a:prstGeom>
            <a:noFill/>
            <a:ln w="9525">
              <a:solidFill>
                <a:srgbClr val="000000"/>
              </a:solidFill>
              <a:round/>
              <a:headEnd type="oval" w="med" len="me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41" name="Rectangle 23"/>
            <p:cNvSpPr>
              <a:spLocks noChangeArrowheads="1"/>
            </p:cNvSpPr>
            <p:nvPr/>
          </p:nvSpPr>
          <p:spPr bwMode="auto">
            <a:xfrm>
              <a:off x="3625852" y="3473450"/>
              <a:ext cx="627063" cy="728662"/>
            </a:xfrm>
            <a:prstGeom prst="rect">
              <a:avLst/>
            </a:prstGeom>
            <a:solidFill>
              <a:srgbClr val="FFFFFF"/>
            </a:solidFill>
            <a:ln w="25400">
              <a:solidFill>
                <a:srgbClr val="000000"/>
              </a:solidFill>
              <a:miter lim="800000"/>
              <a:headEnd/>
              <a:tailEnd/>
            </a:ln>
          </p:spPr>
          <p:txBody>
            <a:bodyPr lIns="18000" tIns="720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1800">
                  <a:latin typeface="Times New Roman" panose="02020603050405020304" pitchFamily="18" charset="0"/>
                </a:rPr>
                <a:t>PCB</a:t>
              </a:r>
            </a:p>
            <a:p>
              <a:pPr algn="ctr" eaLnBrk="1" hangingPunct="1">
                <a:spcBef>
                  <a:spcPct val="0"/>
                </a:spcBef>
                <a:buClrTx/>
                <a:buSzTx/>
                <a:buFontTx/>
                <a:buNone/>
              </a:pPr>
              <a:endParaRPr lang="en-US" altLang="zh-CN" sz="900">
                <a:latin typeface="Times New Roman" panose="02020603050405020304" pitchFamily="18" charset="0"/>
              </a:endParaRPr>
            </a:p>
            <a:p>
              <a:pPr algn="ctr" eaLnBrk="1" hangingPunct="1">
                <a:spcBef>
                  <a:spcPct val="0"/>
                </a:spcBef>
                <a:buClrTx/>
                <a:buSzTx/>
                <a:buFontTx/>
                <a:buNone/>
              </a:pPr>
              <a:r>
                <a:rPr lang="en-US" altLang="zh-CN" sz="1800">
                  <a:latin typeface="Times New Roman" panose="02020603050405020304" pitchFamily="18" charset="0"/>
                </a:rPr>
                <a:t>^</a:t>
              </a:r>
            </a:p>
          </p:txBody>
        </p:sp>
        <p:sp>
          <p:nvSpPr>
            <p:cNvPr id="42" name="Line 24"/>
            <p:cNvSpPr>
              <a:spLocks noChangeShapeType="1"/>
            </p:cNvSpPr>
            <p:nvPr/>
          </p:nvSpPr>
          <p:spPr bwMode="auto">
            <a:xfrm>
              <a:off x="3625852" y="3946525"/>
              <a:ext cx="63023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 name="Line 25"/>
            <p:cNvSpPr>
              <a:spLocks noChangeShapeType="1"/>
            </p:cNvSpPr>
            <p:nvPr/>
          </p:nvSpPr>
          <p:spPr bwMode="auto">
            <a:xfrm flipV="1">
              <a:off x="1768477" y="4565650"/>
              <a:ext cx="1857375" cy="182562"/>
            </a:xfrm>
            <a:prstGeom prst="line">
              <a:avLst/>
            </a:prstGeom>
            <a:noFill/>
            <a:ln w="9525">
              <a:solidFill>
                <a:srgbClr val="000000"/>
              </a:solidFill>
              <a:round/>
              <a:headEnd type="oval" w="med" len="me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44" name="Line 26"/>
            <p:cNvSpPr>
              <a:spLocks noChangeShapeType="1"/>
            </p:cNvSpPr>
            <p:nvPr/>
          </p:nvSpPr>
          <p:spPr bwMode="auto">
            <a:xfrm flipV="1">
              <a:off x="1768477" y="5514975"/>
              <a:ext cx="1857375" cy="182562"/>
            </a:xfrm>
            <a:prstGeom prst="line">
              <a:avLst/>
            </a:prstGeom>
            <a:noFill/>
            <a:ln w="9525">
              <a:solidFill>
                <a:srgbClr val="000000"/>
              </a:solidFill>
              <a:round/>
              <a:headEnd type="oval" w="med" len="me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45" name="Line 27"/>
            <p:cNvSpPr>
              <a:spLocks noChangeShapeType="1"/>
            </p:cNvSpPr>
            <p:nvPr/>
          </p:nvSpPr>
          <p:spPr bwMode="auto">
            <a:xfrm flipV="1">
              <a:off x="4141790" y="4565650"/>
              <a:ext cx="715962" cy="474662"/>
            </a:xfrm>
            <a:prstGeom prst="line">
              <a:avLst/>
            </a:prstGeom>
            <a:noFill/>
            <a:ln w="9525">
              <a:solidFill>
                <a:srgbClr val="000000"/>
              </a:solidFill>
              <a:round/>
              <a:headEnd type="oval" w="med" len="me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46" name="Line 28"/>
            <p:cNvSpPr>
              <a:spLocks noChangeShapeType="1"/>
            </p:cNvSpPr>
            <p:nvPr/>
          </p:nvSpPr>
          <p:spPr bwMode="auto">
            <a:xfrm flipV="1">
              <a:off x="5349877" y="4565650"/>
              <a:ext cx="715963" cy="474662"/>
            </a:xfrm>
            <a:prstGeom prst="line">
              <a:avLst/>
            </a:prstGeom>
            <a:noFill/>
            <a:ln w="9525">
              <a:solidFill>
                <a:srgbClr val="000000"/>
              </a:solidFill>
              <a:round/>
              <a:headEnd type="oval" w="med" len="me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47" name="Line 29"/>
            <p:cNvSpPr>
              <a:spLocks noChangeShapeType="1"/>
            </p:cNvSpPr>
            <p:nvPr/>
          </p:nvSpPr>
          <p:spPr bwMode="auto">
            <a:xfrm flipV="1">
              <a:off x="6557965" y="4565650"/>
              <a:ext cx="715962" cy="474662"/>
            </a:xfrm>
            <a:prstGeom prst="line">
              <a:avLst/>
            </a:prstGeom>
            <a:noFill/>
            <a:ln w="9525">
              <a:solidFill>
                <a:srgbClr val="000000"/>
              </a:solidFill>
              <a:round/>
              <a:headEnd type="oval" w="med" len="me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48" name="Line 30"/>
            <p:cNvSpPr>
              <a:spLocks noChangeShapeType="1"/>
            </p:cNvSpPr>
            <p:nvPr/>
          </p:nvSpPr>
          <p:spPr bwMode="auto">
            <a:xfrm flipV="1">
              <a:off x="4164015" y="5514975"/>
              <a:ext cx="715962" cy="473075"/>
            </a:xfrm>
            <a:prstGeom prst="line">
              <a:avLst/>
            </a:prstGeom>
            <a:noFill/>
            <a:ln w="9525">
              <a:solidFill>
                <a:srgbClr val="000000"/>
              </a:solidFill>
              <a:round/>
              <a:headEnd type="oval" w="med" len="med"/>
              <a:tailEnd type="triangle" w="med" len="lg"/>
            </a:ln>
            <a:extLst>
              <a:ext uri="{909E8E84-426E-40DD-AFC4-6F175D3DCCD1}">
                <a14:hiddenFill xmlns:a14="http://schemas.microsoft.com/office/drawing/2010/main">
                  <a:noFill/>
                </a14:hiddenFill>
              </a:ext>
            </a:extLst>
          </p:spPr>
          <p:txBody>
            <a:bodyPr/>
            <a:lstStyle/>
            <a:p>
              <a:endParaRPr lang="zh-CN" altLang="en-US"/>
            </a:p>
          </p:txBody>
        </p:sp>
      </p:grpSp>
    </p:spTree>
    <p:extLst>
      <p:ext uri="{BB962C8B-B14F-4D97-AF65-F5344CB8AC3E}">
        <p14:creationId xmlns:p14="http://schemas.microsoft.com/office/powerpoint/2010/main" val="64457980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PCB</a:t>
            </a:r>
            <a:r>
              <a:rPr lang="zh-CN" altLang="en-US" dirty="0" smtClean="0"/>
              <a:t>的组织</a:t>
            </a:r>
            <a:endParaRPr lang="zh-CN" altLang="en-US" dirty="0"/>
          </a:p>
        </p:txBody>
      </p:sp>
      <p:sp>
        <p:nvSpPr>
          <p:cNvPr id="3" name="内容占位符 2"/>
          <p:cNvSpPr>
            <a:spLocks noGrp="1"/>
          </p:cNvSpPr>
          <p:nvPr>
            <p:ph idx="1"/>
          </p:nvPr>
        </p:nvSpPr>
        <p:spPr/>
        <p:txBody>
          <a:bodyPr/>
          <a:lstStyle/>
          <a:p>
            <a:r>
              <a:rPr lang="zh-CN" altLang="en-US" dirty="0"/>
              <a:t>常用的组织</a:t>
            </a:r>
            <a:r>
              <a:rPr lang="zh-CN" altLang="en-US" dirty="0" smtClean="0"/>
              <a:t>方式</a:t>
            </a:r>
            <a:endParaRPr lang="zh-CN" altLang="en-US" dirty="0"/>
          </a:p>
          <a:p>
            <a:pPr lvl="1"/>
            <a:r>
              <a:rPr lang="zh-CN" altLang="en-US" dirty="0"/>
              <a:t>索引方式：将同一状态的进程归入一个索引表，再由索引指向相应的</a:t>
            </a:r>
            <a:r>
              <a:rPr lang="en-US" altLang="zh-CN" dirty="0"/>
              <a:t>PCB</a:t>
            </a:r>
            <a:endParaRPr lang="zh-CN" altLang="en-US" dirty="0"/>
          </a:p>
        </p:txBody>
      </p:sp>
      <p:sp>
        <p:nvSpPr>
          <p:cNvPr id="4" name="灯片编号占位符 3"/>
          <p:cNvSpPr>
            <a:spLocks noGrp="1"/>
          </p:cNvSpPr>
          <p:nvPr>
            <p:ph type="sldNum" sz="quarter" idx="12"/>
          </p:nvPr>
        </p:nvSpPr>
        <p:spPr/>
        <p:txBody>
          <a:bodyPr/>
          <a:lstStyle/>
          <a:p>
            <a:fld id="{4093CC90-4002-504C-BD88-C9A1D374048E}" type="slidenum">
              <a:rPr lang="zh-CN" altLang="en-US" smtClean="0"/>
              <a:pPr/>
              <a:t>19</a:t>
            </a:fld>
            <a:endParaRPr lang="zh-CN" altLang="en-US" dirty="0"/>
          </a:p>
        </p:txBody>
      </p:sp>
      <p:grpSp>
        <p:nvGrpSpPr>
          <p:cNvPr id="53" name="组合 52"/>
          <p:cNvGrpSpPr/>
          <p:nvPr/>
        </p:nvGrpSpPr>
        <p:grpSpPr>
          <a:xfrm>
            <a:off x="1155700" y="2420938"/>
            <a:ext cx="6729413" cy="4248150"/>
            <a:chOff x="1155700" y="2420938"/>
            <a:chExt cx="6729413" cy="4248150"/>
          </a:xfrm>
        </p:grpSpPr>
        <p:sp>
          <p:nvSpPr>
            <p:cNvPr id="5" name="Rectangle 4"/>
            <p:cNvSpPr>
              <a:spLocks noChangeArrowheads="1"/>
            </p:cNvSpPr>
            <p:nvPr/>
          </p:nvSpPr>
          <p:spPr bwMode="auto">
            <a:xfrm>
              <a:off x="1201738" y="3022600"/>
              <a:ext cx="904875" cy="357188"/>
            </a:xfrm>
            <a:prstGeom prst="rect">
              <a:avLst/>
            </a:prstGeom>
            <a:solidFill>
              <a:srgbClr val="FFFFFF"/>
            </a:solidFill>
            <a:ln w="25400">
              <a:solidFill>
                <a:srgbClr val="000000"/>
              </a:solidFill>
              <a:miter lim="800000"/>
              <a:headEnd/>
              <a:tailEnd/>
            </a:ln>
          </p:spPr>
          <p:txBody>
            <a:bodyPr lIns="0" tIns="0" rIns="0" bIns="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spcBef>
                  <a:spcPct val="0"/>
                </a:spcBef>
                <a:buClrTx/>
                <a:buSzTx/>
                <a:buFontTx/>
                <a:buNone/>
              </a:pPr>
              <a:r>
                <a:rPr lang="zh-CN" altLang="en-US" sz="900">
                  <a:latin typeface="Times New Roman" panose="02020603050405020304" pitchFamily="18" charset="0"/>
                </a:rPr>
                <a:t> </a:t>
              </a:r>
              <a:endParaRPr lang="zh-CN" altLang="en-US" sz="2400"/>
            </a:p>
          </p:txBody>
        </p:sp>
        <p:sp>
          <p:nvSpPr>
            <p:cNvPr id="6" name="Rectangle 5"/>
            <p:cNvSpPr>
              <a:spLocks noChangeArrowheads="1"/>
            </p:cNvSpPr>
            <p:nvPr/>
          </p:nvSpPr>
          <p:spPr bwMode="auto">
            <a:xfrm>
              <a:off x="1155700" y="3463925"/>
              <a:ext cx="9747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spcBef>
                  <a:spcPct val="0"/>
                </a:spcBef>
                <a:buClrTx/>
                <a:buSzTx/>
                <a:buFontTx/>
                <a:buNone/>
              </a:pPr>
              <a:r>
                <a:rPr lang="zh-CN" altLang="en-US" sz="1800" dirty="0">
                  <a:latin typeface="Times New Roman" panose="02020603050405020304" pitchFamily="18" charset="0"/>
                </a:rPr>
                <a:t>运行指针</a:t>
              </a:r>
            </a:p>
          </p:txBody>
        </p:sp>
        <p:sp>
          <p:nvSpPr>
            <p:cNvPr id="7" name="Rectangle 6"/>
            <p:cNvSpPr>
              <a:spLocks noChangeArrowheads="1"/>
            </p:cNvSpPr>
            <p:nvPr/>
          </p:nvSpPr>
          <p:spPr bwMode="auto">
            <a:xfrm>
              <a:off x="1201738" y="4030663"/>
              <a:ext cx="904875" cy="357187"/>
            </a:xfrm>
            <a:prstGeom prst="rect">
              <a:avLst/>
            </a:prstGeom>
            <a:solidFill>
              <a:srgbClr val="FFFFFF"/>
            </a:solidFill>
            <a:ln w="25400">
              <a:solidFill>
                <a:srgbClr val="000000"/>
              </a:solidFill>
              <a:miter lim="800000"/>
              <a:headEnd/>
              <a:tailEnd/>
            </a:ln>
          </p:spPr>
          <p:txBody>
            <a:bodyPr lIns="0" tIns="0" rIns="0" bIns="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spcBef>
                  <a:spcPct val="0"/>
                </a:spcBef>
                <a:buClrTx/>
                <a:buSzTx/>
                <a:buFontTx/>
                <a:buNone/>
              </a:pPr>
              <a:r>
                <a:rPr lang="zh-CN" altLang="en-US" sz="900">
                  <a:latin typeface="Times New Roman" panose="02020603050405020304" pitchFamily="18" charset="0"/>
                </a:rPr>
                <a:t> </a:t>
              </a:r>
              <a:endParaRPr lang="zh-CN" altLang="en-US" sz="2400"/>
            </a:p>
          </p:txBody>
        </p:sp>
        <p:sp>
          <p:nvSpPr>
            <p:cNvPr id="8" name="Rectangle 7"/>
            <p:cNvSpPr>
              <a:spLocks noChangeArrowheads="1"/>
            </p:cNvSpPr>
            <p:nvPr/>
          </p:nvSpPr>
          <p:spPr bwMode="auto">
            <a:xfrm>
              <a:off x="1155700" y="4473575"/>
              <a:ext cx="11779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spcBef>
                  <a:spcPct val="0"/>
                </a:spcBef>
                <a:buClrTx/>
                <a:buSzTx/>
                <a:buFontTx/>
                <a:buNone/>
              </a:pPr>
              <a:r>
                <a:rPr lang="zh-CN" altLang="en-US" sz="1800" dirty="0">
                  <a:latin typeface="Times New Roman" panose="02020603050405020304" pitchFamily="18" charset="0"/>
                </a:rPr>
                <a:t>就绪表指针</a:t>
              </a:r>
            </a:p>
          </p:txBody>
        </p:sp>
        <p:sp>
          <p:nvSpPr>
            <p:cNvPr id="9" name="Rectangle 8"/>
            <p:cNvSpPr>
              <a:spLocks noChangeArrowheads="1"/>
            </p:cNvSpPr>
            <p:nvPr/>
          </p:nvSpPr>
          <p:spPr bwMode="auto">
            <a:xfrm>
              <a:off x="1201738" y="5534025"/>
              <a:ext cx="904875" cy="357188"/>
            </a:xfrm>
            <a:prstGeom prst="rect">
              <a:avLst/>
            </a:prstGeom>
            <a:solidFill>
              <a:srgbClr val="FFFFFF"/>
            </a:solidFill>
            <a:ln w="25400">
              <a:solidFill>
                <a:srgbClr val="000000"/>
              </a:solidFill>
              <a:miter lim="800000"/>
              <a:headEnd/>
              <a:tailEnd/>
            </a:ln>
          </p:spPr>
          <p:txBody>
            <a:bodyPr lIns="0" tIns="0" rIns="0" bIns="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spcBef>
                  <a:spcPct val="0"/>
                </a:spcBef>
                <a:buClrTx/>
                <a:buSzTx/>
                <a:buFontTx/>
                <a:buNone/>
              </a:pPr>
              <a:r>
                <a:rPr lang="zh-CN" altLang="en-US" sz="900">
                  <a:latin typeface="Times New Roman" panose="02020603050405020304" pitchFamily="18" charset="0"/>
                </a:rPr>
                <a:t> </a:t>
              </a:r>
              <a:endParaRPr lang="zh-CN" altLang="en-US" sz="2400"/>
            </a:p>
          </p:txBody>
        </p:sp>
        <p:sp>
          <p:nvSpPr>
            <p:cNvPr id="10" name="Rectangle 9"/>
            <p:cNvSpPr>
              <a:spLocks noChangeArrowheads="1"/>
            </p:cNvSpPr>
            <p:nvPr/>
          </p:nvSpPr>
          <p:spPr bwMode="auto">
            <a:xfrm>
              <a:off x="1155700" y="6057900"/>
              <a:ext cx="12922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spcBef>
                  <a:spcPct val="0"/>
                </a:spcBef>
                <a:buClrTx/>
                <a:buSzTx/>
                <a:buFontTx/>
                <a:buNone/>
              </a:pPr>
              <a:r>
                <a:rPr lang="zh-CN" altLang="en-US" sz="1800" dirty="0">
                  <a:latin typeface="Times New Roman" panose="02020603050405020304" pitchFamily="18" charset="0"/>
                </a:rPr>
                <a:t>阻塞表指针</a:t>
              </a:r>
            </a:p>
          </p:txBody>
        </p:sp>
        <p:sp>
          <p:nvSpPr>
            <p:cNvPr id="11" name="Rectangle 10"/>
            <p:cNvSpPr>
              <a:spLocks noChangeArrowheads="1"/>
            </p:cNvSpPr>
            <p:nvPr/>
          </p:nvSpPr>
          <p:spPr bwMode="auto">
            <a:xfrm>
              <a:off x="3421063" y="3671888"/>
              <a:ext cx="1065212" cy="1203325"/>
            </a:xfrm>
            <a:prstGeom prst="rect">
              <a:avLst/>
            </a:prstGeom>
            <a:solidFill>
              <a:srgbClr val="FFFFFF"/>
            </a:solidFill>
            <a:ln w="25400">
              <a:solidFill>
                <a:srgbClr val="000000"/>
              </a:solidFill>
              <a:miter lim="800000"/>
              <a:headEnd/>
              <a:tailEnd/>
            </a:ln>
          </p:spPr>
          <p:txBody>
            <a:bodyPr lIns="18000" tIns="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12" name="Line 11"/>
            <p:cNvSpPr>
              <a:spLocks noChangeShapeType="1"/>
            </p:cNvSpPr>
            <p:nvPr/>
          </p:nvSpPr>
          <p:spPr bwMode="auto">
            <a:xfrm>
              <a:off x="3421063" y="3932238"/>
              <a:ext cx="106521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 name="Line 12"/>
            <p:cNvSpPr>
              <a:spLocks noChangeShapeType="1"/>
            </p:cNvSpPr>
            <p:nvPr/>
          </p:nvSpPr>
          <p:spPr bwMode="auto">
            <a:xfrm flipV="1">
              <a:off x="1722438" y="2997200"/>
              <a:ext cx="5010150" cy="187325"/>
            </a:xfrm>
            <a:prstGeom prst="line">
              <a:avLst/>
            </a:prstGeom>
            <a:noFill/>
            <a:ln w="25400">
              <a:solidFill>
                <a:srgbClr val="000000"/>
              </a:solidFill>
              <a:round/>
              <a:headEnd type="oval" w="med" len="me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4" name="Rectangle 13"/>
            <p:cNvSpPr>
              <a:spLocks noChangeArrowheads="1"/>
            </p:cNvSpPr>
            <p:nvPr/>
          </p:nvSpPr>
          <p:spPr bwMode="auto">
            <a:xfrm>
              <a:off x="6751638" y="2811463"/>
              <a:ext cx="1133475" cy="3857625"/>
            </a:xfrm>
            <a:prstGeom prst="rect">
              <a:avLst/>
            </a:prstGeom>
            <a:solidFill>
              <a:srgbClr val="FFFFFF"/>
            </a:solidFill>
            <a:ln w="25400">
              <a:solidFill>
                <a:srgbClr val="000000"/>
              </a:solidFill>
              <a:miter lim="800000"/>
              <a:headEnd/>
              <a:tailEnd/>
            </a:ln>
          </p:spPr>
          <p:txBody>
            <a:bodyPr lIns="18000" tIns="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15" name="Line 14"/>
            <p:cNvSpPr>
              <a:spLocks noChangeShapeType="1"/>
            </p:cNvSpPr>
            <p:nvPr/>
          </p:nvSpPr>
          <p:spPr bwMode="auto">
            <a:xfrm>
              <a:off x="6751638" y="3175000"/>
              <a:ext cx="11334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 name="Line 15"/>
            <p:cNvSpPr>
              <a:spLocks noChangeShapeType="1"/>
            </p:cNvSpPr>
            <p:nvPr/>
          </p:nvSpPr>
          <p:spPr bwMode="auto">
            <a:xfrm flipV="1">
              <a:off x="1722438" y="3770313"/>
              <a:ext cx="1722437" cy="422275"/>
            </a:xfrm>
            <a:prstGeom prst="line">
              <a:avLst/>
            </a:prstGeom>
            <a:noFill/>
            <a:ln w="25400">
              <a:solidFill>
                <a:srgbClr val="000000"/>
              </a:solidFill>
              <a:round/>
              <a:headEnd type="oval" w="med" len="me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7" name="Line 16"/>
            <p:cNvSpPr>
              <a:spLocks noChangeShapeType="1"/>
            </p:cNvSpPr>
            <p:nvPr/>
          </p:nvSpPr>
          <p:spPr bwMode="auto">
            <a:xfrm flipV="1">
              <a:off x="1722438" y="5524500"/>
              <a:ext cx="1698625" cy="195263"/>
            </a:xfrm>
            <a:prstGeom prst="line">
              <a:avLst/>
            </a:prstGeom>
            <a:noFill/>
            <a:ln w="25400">
              <a:solidFill>
                <a:srgbClr val="000000"/>
              </a:solidFill>
              <a:round/>
              <a:headEnd type="oval" w="med" len="me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8" name="Line 17"/>
            <p:cNvSpPr>
              <a:spLocks noChangeShapeType="1"/>
            </p:cNvSpPr>
            <p:nvPr/>
          </p:nvSpPr>
          <p:spPr bwMode="auto">
            <a:xfrm flipV="1">
              <a:off x="4237038" y="3716338"/>
              <a:ext cx="2495550" cy="85725"/>
            </a:xfrm>
            <a:prstGeom prst="line">
              <a:avLst/>
            </a:prstGeom>
            <a:noFill/>
            <a:ln w="25400">
              <a:solidFill>
                <a:srgbClr val="000000"/>
              </a:solidFill>
              <a:round/>
              <a:headEnd type="oval" w="med" len="me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9" name="Rectangle 18"/>
            <p:cNvSpPr>
              <a:spLocks noChangeArrowheads="1"/>
            </p:cNvSpPr>
            <p:nvPr/>
          </p:nvSpPr>
          <p:spPr bwMode="auto">
            <a:xfrm>
              <a:off x="7024688" y="2420938"/>
              <a:ext cx="8604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spcBef>
                  <a:spcPct val="0"/>
                </a:spcBef>
                <a:buClrTx/>
                <a:buSzTx/>
                <a:buFontTx/>
                <a:buNone/>
              </a:pPr>
              <a:r>
                <a:rPr lang="en-US" altLang="zh-CN" sz="1800" dirty="0">
                  <a:latin typeface="Times New Roman" panose="02020603050405020304" pitchFamily="18" charset="0"/>
                </a:rPr>
                <a:t>PCB</a:t>
              </a:r>
              <a:r>
                <a:rPr lang="zh-CN" altLang="en-US" sz="1800" dirty="0">
                  <a:latin typeface="Times New Roman" panose="02020603050405020304" pitchFamily="18" charset="0"/>
                </a:rPr>
                <a:t>表</a:t>
              </a:r>
              <a:endParaRPr lang="zh-CN" altLang="en-US" sz="1800" dirty="0"/>
            </a:p>
          </p:txBody>
        </p:sp>
        <p:sp>
          <p:nvSpPr>
            <p:cNvPr id="20" name="Rectangle 19"/>
            <p:cNvSpPr>
              <a:spLocks noChangeArrowheads="1"/>
            </p:cNvSpPr>
            <p:nvPr/>
          </p:nvSpPr>
          <p:spPr bwMode="auto">
            <a:xfrm>
              <a:off x="3444875" y="3314700"/>
              <a:ext cx="13430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spcBef>
                  <a:spcPct val="0"/>
                </a:spcBef>
                <a:buClrTx/>
                <a:buSzTx/>
                <a:buFontTx/>
                <a:buNone/>
              </a:pPr>
              <a:r>
                <a:rPr lang="zh-CN" altLang="en-US" sz="1800" dirty="0">
                  <a:latin typeface="Times New Roman" panose="02020603050405020304" pitchFamily="18" charset="0"/>
                </a:rPr>
                <a:t>就绪索引表</a:t>
              </a:r>
            </a:p>
          </p:txBody>
        </p:sp>
        <p:sp>
          <p:nvSpPr>
            <p:cNvPr id="21" name="Rectangle 20"/>
            <p:cNvSpPr>
              <a:spLocks noChangeArrowheads="1"/>
            </p:cNvSpPr>
            <p:nvPr/>
          </p:nvSpPr>
          <p:spPr bwMode="auto">
            <a:xfrm>
              <a:off x="3421063" y="5005388"/>
              <a:ext cx="129540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spcBef>
                  <a:spcPct val="0"/>
                </a:spcBef>
                <a:buClrTx/>
                <a:buSzTx/>
                <a:buFontTx/>
                <a:buNone/>
              </a:pPr>
              <a:r>
                <a:rPr lang="zh-CN" altLang="en-US" sz="1800" dirty="0">
                  <a:latin typeface="Times New Roman" panose="02020603050405020304" pitchFamily="18" charset="0"/>
                </a:rPr>
                <a:t>阻塞索引表</a:t>
              </a:r>
            </a:p>
          </p:txBody>
        </p:sp>
        <p:sp>
          <p:nvSpPr>
            <p:cNvPr id="22" name="Line 21"/>
            <p:cNvSpPr>
              <a:spLocks noChangeShapeType="1"/>
            </p:cNvSpPr>
            <p:nvPr/>
          </p:nvSpPr>
          <p:spPr bwMode="auto">
            <a:xfrm>
              <a:off x="6751638" y="3540125"/>
              <a:ext cx="11334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 name="Line 22"/>
            <p:cNvSpPr>
              <a:spLocks noChangeShapeType="1"/>
            </p:cNvSpPr>
            <p:nvPr/>
          </p:nvSpPr>
          <p:spPr bwMode="auto">
            <a:xfrm>
              <a:off x="6751638" y="3905250"/>
              <a:ext cx="11334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 name="Line 23"/>
            <p:cNvSpPr>
              <a:spLocks noChangeShapeType="1"/>
            </p:cNvSpPr>
            <p:nvPr/>
          </p:nvSpPr>
          <p:spPr bwMode="auto">
            <a:xfrm>
              <a:off x="6751638" y="4302125"/>
              <a:ext cx="11334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 name="Line 24"/>
            <p:cNvSpPr>
              <a:spLocks noChangeShapeType="1"/>
            </p:cNvSpPr>
            <p:nvPr/>
          </p:nvSpPr>
          <p:spPr bwMode="auto">
            <a:xfrm>
              <a:off x="6751638" y="4699000"/>
              <a:ext cx="11334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 name="Line 25"/>
            <p:cNvSpPr>
              <a:spLocks noChangeShapeType="1"/>
            </p:cNvSpPr>
            <p:nvPr/>
          </p:nvSpPr>
          <p:spPr bwMode="auto">
            <a:xfrm>
              <a:off x="6751638" y="5097463"/>
              <a:ext cx="11334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 name="Line 26"/>
            <p:cNvSpPr>
              <a:spLocks noChangeShapeType="1"/>
            </p:cNvSpPr>
            <p:nvPr/>
          </p:nvSpPr>
          <p:spPr bwMode="auto">
            <a:xfrm>
              <a:off x="6751638" y="5473700"/>
              <a:ext cx="11334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 name="Line 27"/>
            <p:cNvSpPr>
              <a:spLocks noChangeShapeType="1"/>
            </p:cNvSpPr>
            <p:nvPr/>
          </p:nvSpPr>
          <p:spPr bwMode="auto">
            <a:xfrm>
              <a:off x="6751638" y="5799138"/>
              <a:ext cx="11334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 name="Rectangle 28"/>
            <p:cNvSpPr>
              <a:spLocks noChangeArrowheads="1"/>
            </p:cNvSpPr>
            <p:nvPr/>
          </p:nvSpPr>
          <p:spPr bwMode="auto">
            <a:xfrm>
              <a:off x="7069138" y="2889250"/>
              <a:ext cx="527050" cy="26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spcBef>
                  <a:spcPct val="0"/>
                </a:spcBef>
                <a:buClrTx/>
                <a:buSzTx/>
                <a:buFontTx/>
                <a:buNone/>
              </a:pPr>
              <a:r>
                <a:rPr lang="en-US" altLang="zh-CN" sz="1600">
                  <a:latin typeface="Times New Roman" panose="02020603050405020304" pitchFamily="18" charset="0"/>
                </a:rPr>
                <a:t>PCB1</a:t>
              </a:r>
            </a:p>
          </p:txBody>
        </p:sp>
        <p:sp>
          <p:nvSpPr>
            <p:cNvPr id="30" name="Rectangle 29"/>
            <p:cNvSpPr>
              <a:spLocks noChangeArrowheads="1"/>
            </p:cNvSpPr>
            <p:nvPr/>
          </p:nvSpPr>
          <p:spPr bwMode="auto">
            <a:xfrm>
              <a:off x="7069138" y="3230563"/>
              <a:ext cx="747712"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spcBef>
                  <a:spcPct val="0"/>
                </a:spcBef>
                <a:buClrTx/>
                <a:buSzTx/>
                <a:buFontTx/>
                <a:buNone/>
              </a:pPr>
              <a:r>
                <a:rPr lang="en-US" altLang="zh-CN" sz="1600">
                  <a:latin typeface="Times New Roman" panose="02020603050405020304" pitchFamily="18" charset="0"/>
                </a:rPr>
                <a:t>PCB2</a:t>
              </a:r>
            </a:p>
          </p:txBody>
        </p:sp>
        <p:sp>
          <p:nvSpPr>
            <p:cNvPr id="31" name="Rectangle 30"/>
            <p:cNvSpPr>
              <a:spLocks noChangeArrowheads="1"/>
            </p:cNvSpPr>
            <p:nvPr/>
          </p:nvSpPr>
          <p:spPr bwMode="auto">
            <a:xfrm>
              <a:off x="7069138" y="3589338"/>
              <a:ext cx="747712" cy="290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spcBef>
                  <a:spcPct val="0"/>
                </a:spcBef>
                <a:buClrTx/>
                <a:buSzTx/>
                <a:buFontTx/>
                <a:buNone/>
              </a:pPr>
              <a:r>
                <a:rPr lang="en-US" altLang="zh-CN" sz="1600">
                  <a:latin typeface="Times New Roman" panose="02020603050405020304" pitchFamily="18" charset="0"/>
                </a:rPr>
                <a:t>PCB3</a:t>
              </a:r>
              <a:endParaRPr lang="en-US" altLang="zh-CN" sz="1600"/>
            </a:p>
          </p:txBody>
        </p:sp>
        <p:sp>
          <p:nvSpPr>
            <p:cNvPr id="32" name="Rectangle 31"/>
            <p:cNvSpPr>
              <a:spLocks noChangeArrowheads="1"/>
            </p:cNvSpPr>
            <p:nvPr/>
          </p:nvSpPr>
          <p:spPr bwMode="auto">
            <a:xfrm>
              <a:off x="7069138" y="3951288"/>
              <a:ext cx="747712"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spcBef>
                  <a:spcPct val="0"/>
                </a:spcBef>
                <a:buClrTx/>
                <a:buSzTx/>
                <a:buFontTx/>
                <a:buNone/>
              </a:pPr>
              <a:r>
                <a:rPr lang="en-US" altLang="zh-CN" sz="1600">
                  <a:latin typeface="Times New Roman" panose="02020603050405020304" pitchFamily="18" charset="0"/>
                </a:rPr>
                <a:t>PCB4</a:t>
              </a:r>
            </a:p>
          </p:txBody>
        </p:sp>
        <p:sp>
          <p:nvSpPr>
            <p:cNvPr id="33" name="Rectangle 32"/>
            <p:cNvSpPr>
              <a:spLocks noChangeArrowheads="1"/>
            </p:cNvSpPr>
            <p:nvPr/>
          </p:nvSpPr>
          <p:spPr bwMode="auto">
            <a:xfrm>
              <a:off x="7069138" y="4381500"/>
              <a:ext cx="747712" cy="29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spcBef>
                  <a:spcPct val="0"/>
                </a:spcBef>
                <a:buClrTx/>
                <a:buSzTx/>
                <a:buFontTx/>
                <a:buNone/>
              </a:pPr>
              <a:r>
                <a:rPr lang="en-US" altLang="zh-CN" sz="1600">
                  <a:latin typeface="Times New Roman" panose="02020603050405020304" pitchFamily="18" charset="0"/>
                </a:rPr>
                <a:t>PCB5</a:t>
              </a:r>
            </a:p>
          </p:txBody>
        </p:sp>
        <p:sp>
          <p:nvSpPr>
            <p:cNvPr id="34" name="Rectangle 33"/>
            <p:cNvSpPr>
              <a:spLocks noChangeArrowheads="1"/>
            </p:cNvSpPr>
            <p:nvPr/>
          </p:nvSpPr>
          <p:spPr bwMode="auto">
            <a:xfrm>
              <a:off x="7069138" y="4743450"/>
              <a:ext cx="747712"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spcBef>
                  <a:spcPct val="0"/>
                </a:spcBef>
                <a:buClrTx/>
                <a:buSzTx/>
                <a:buFontTx/>
                <a:buNone/>
              </a:pPr>
              <a:r>
                <a:rPr lang="en-US" altLang="zh-CN" sz="1600">
                  <a:latin typeface="Times New Roman" panose="02020603050405020304" pitchFamily="18" charset="0"/>
                </a:rPr>
                <a:t>PCB6</a:t>
              </a:r>
              <a:endParaRPr lang="en-US" altLang="zh-CN" sz="1600"/>
            </a:p>
          </p:txBody>
        </p:sp>
        <p:sp>
          <p:nvSpPr>
            <p:cNvPr id="35" name="Rectangle 34"/>
            <p:cNvSpPr>
              <a:spLocks noChangeArrowheads="1"/>
            </p:cNvSpPr>
            <p:nvPr/>
          </p:nvSpPr>
          <p:spPr bwMode="auto">
            <a:xfrm>
              <a:off x="7069138" y="5176838"/>
              <a:ext cx="747712"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spcBef>
                  <a:spcPct val="0"/>
                </a:spcBef>
                <a:buClrTx/>
                <a:buSzTx/>
                <a:buFontTx/>
                <a:buNone/>
              </a:pPr>
              <a:r>
                <a:rPr lang="en-US" altLang="zh-CN" sz="1600">
                  <a:latin typeface="Times New Roman" panose="02020603050405020304" pitchFamily="18" charset="0"/>
                </a:rPr>
                <a:t>PCB7</a:t>
              </a:r>
              <a:endParaRPr lang="en-US" altLang="zh-CN" sz="1600"/>
            </a:p>
          </p:txBody>
        </p:sp>
        <p:sp>
          <p:nvSpPr>
            <p:cNvPr id="36" name="Rectangle 35"/>
            <p:cNvSpPr>
              <a:spLocks noChangeArrowheads="1"/>
            </p:cNvSpPr>
            <p:nvPr/>
          </p:nvSpPr>
          <p:spPr bwMode="auto">
            <a:xfrm>
              <a:off x="7069138" y="5516563"/>
              <a:ext cx="747712"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spcBef>
                  <a:spcPct val="0"/>
                </a:spcBef>
                <a:buClrTx/>
                <a:buSzTx/>
                <a:buFontTx/>
                <a:buNone/>
              </a:pPr>
              <a:r>
                <a:rPr lang="en-US" altLang="zh-CN" sz="1600">
                  <a:latin typeface="Times New Roman" panose="02020603050405020304" pitchFamily="18" charset="0"/>
                </a:rPr>
                <a:t>PCB8</a:t>
              </a:r>
              <a:endParaRPr lang="en-US" altLang="zh-CN" sz="1600"/>
            </a:p>
          </p:txBody>
        </p:sp>
        <p:sp>
          <p:nvSpPr>
            <p:cNvPr id="37" name="Rectangle 36"/>
            <p:cNvSpPr>
              <a:spLocks noChangeArrowheads="1"/>
            </p:cNvSpPr>
            <p:nvPr/>
          </p:nvSpPr>
          <p:spPr bwMode="auto">
            <a:xfrm>
              <a:off x="7064375" y="5875338"/>
              <a:ext cx="747713" cy="290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spcBef>
                  <a:spcPct val="0"/>
                </a:spcBef>
                <a:buClrTx/>
                <a:buSzTx/>
                <a:buFontTx/>
                <a:buNone/>
              </a:pPr>
              <a:r>
                <a:rPr lang="en-US" altLang="zh-CN" sz="1600">
                  <a:latin typeface="Times New Roman" panose="02020603050405020304" pitchFamily="18" charset="0"/>
                </a:rPr>
                <a:t>PCB9</a:t>
              </a:r>
            </a:p>
          </p:txBody>
        </p:sp>
        <p:sp>
          <p:nvSpPr>
            <p:cNvPr id="38" name="Line 37"/>
            <p:cNvSpPr>
              <a:spLocks noChangeShapeType="1"/>
            </p:cNvSpPr>
            <p:nvPr/>
          </p:nvSpPr>
          <p:spPr bwMode="auto">
            <a:xfrm>
              <a:off x="6751638" y="6165850"/>
              <a:ext cx="11334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 name="Rectangle 38"/>
            <p:cNvSpPr>
              <a:spLocks noChangeArrowheads="1"/>
            </p:cNvSpPr>
            <p:nvPr/>
          </p:nvSpPr>
          <p:spPr bwMode="auto">
            <a:xfrm>
              <a:off x="7250113" y="6164263"/>
              <a:ext cx="385762"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spcBef>
                  <a:spcPct val="0"/>
                </a:spcBef>
                <a:buClrTx/>
                <a:buSzTx/>
                <a:buFontTx/>
                <a:buNone/>
              </a:pPr>
              <a:r>
                <a:rPr lang="en-US" altLang="zh-CN" sz="1800">
                  <a:latin typeface="Times New Roman" panose="02020603050405020304" pitchFamily="18" charset="0"/>
                </a:rPr>
                <a:t>…</a:t>
              </a:r>
              <a:endParaRPr lang="en-US" altLang="zh-CN" sz="1800"/>
            </a:p>
          </p:txBody>
        </p:sp>
        <p:sp>
          <p:nvSpPr>
            <p:cNvPr id="40" name="Line 39"/>
            <p:cNvSpPr>
              <a:spLocks noChangeShapeType="1"/>
            </p:cNvSpPr>
            <p:nvPr/>
          </p:nvSpPr>
          <p:spPr bwMode="auto">
            <a:xfrm>
              <a:off x="3421063" y="4184650"/>
              <a:ext cx="106521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 name="Line 40"/>
            <p:cNvSpPr>
              <a:spLocks noChangeShapeType="1"/>
            </p:cNvSpPr>
            <p:nvPr/>
          </p:nvSpPr>
          <p:spPr bwMode="auto">
            <a:xfrm>
              <a:off x="4237038" y="4054475"/>
              <a:ext cx="2566987" cy="454025"/>
            </a:xfrm>
            <a:prstGeom prst="line">
              <a:avLst/>
            </a:prstGeom>
            <a:noFill/>
            <a:ln w="25400">
              <a:solidFill>
                <a:srgbClr val="000000"/>
              </a:solidFill>
              <a:round/>
              <a:headEnd type="oval" w="med" len="me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42" name="Rectangle 41"/>
            <p:cNvSpPr>
              <a:spLocks noChangeArrowheads="1"/>
            </p:cNvSpPr>
            <p:nvPr/>
          </p:nvSpPr>
          <p:spPr bwMode="auto">
            <a:xfrm>
              <a:off x="3829050" y="4521200"/>
              <a:ext cx="385763"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spcBef>
                  <a:spcPct val="0"/>
                </a:spcBef>
                <a:buClrTx/>
                <a:buSzTx/>
                <a:buFontTx/>
                <a:buNone/>
              </a:pPr>
              <a:r>
                <a:rPr lang="en-US" altLang="zh-CN" sz="1800">
                  <a:latin typeface="Times New Roman" panose="02020603050405020304" pitchFamily="18" charset="0"/>
                </a:rPr>
                <a:t>…</a:t>
              </a:r>
              <a:endParaRPr lang="en-US" altLang="zh-CN" sz="1800"/>
            </a:p>
          </p:txBody>
        </p:sp>
        <p:sp>
          <p:nvSpPr>
            <p:cNvPr id="43" name="Line 42"/>
            <p:cNvSpPr>
              <a:spLocks noChangeShapeType="1"/>
            </p:cNvSpPr>
            <p:nvPr/>
          </p:nvSpPr>
          <p:spPr bwMode="auto">
            <a:xfrm>
              <a:off x="3421063" y="4452938"/>
              <a:ext cx="106521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 name="Line 43"/>
            <p:cNvSpPr>
              <a:spLocks noChangeShapeType="1"/>
            </p:cNvSpPr>
            <p:nvPr/>
          </p:nvSpPr>
          <p:spPr bwMode="auto">
            <a:xfrm>
              <a:off x="4259263" y="4305300"/>
              <a:ext cx="2473325" cy="995363"/>
            </a:xfrm>
            <a:prstGeom prst="line">
              <a:avLst/>
            </a:prstGeom>
            <a:noFill/>
            <a:ln w="25400">
              <a:solidFill>
                <a:srgbClr val="000000"/>
              </a:solidFill>
              <a:round/>
              <a:headEnd type="oval" w="med" len="me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45" name="Rectangle 44"/>
            <p:cNvSpPr>
              <a:spLocks noChangeArrowheads="1"/>
            </p:cNvSpPr>
            <p:nvPr/>
          </p:nvSpPr>
          <p:spPr bwMode="auto">
            <a:xfrm>
              <a:off x="3421063" y="5394325"/>
              <a:ext cx="1065212" cy="1203325"/>
            </a:xfrm>
            <a:prstGeom prst="rect">
              <a:avLst/>
            </a:prstGeom>
            <a:solidFill>
              <a:srgbClr val="FFFFFF"/>
            </a:solidFill>
            <a:ln w="25400">
              <a:solidFill>
                <a:srgbClr val="000000"/>
              </a:solidFill>
              <a:miter lim="800000"/>
              <a:headEnd/>
              <a:tailEnd/>
            </a:ln>
          </p:spPr>
          <p:txBody>
            <a:bodyPr lIns="18000" tIns="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46" name="Line 45"/>
            <p:cNvSpPr>
              <a:spLocks noChangeShapeType="1"/>
            </p:cNvSpPr>
            <p:nvPr/>
          </p:nvSpPr>
          <p:spPr bwMode="auto">
            <a:xfrm>
              <a:off x="3421063" y="5654675"/>
              <a:ext cx="106521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 name="Line 46"/>
            <p:cNvSpPr>
              <a:spLocks noChangeShapeType="1"/>
            </p:cNvSpPr>
            <p:nvPr/>
          </p:nvSpPr>
          <p:spPr bwMode="auto">
            <a:xfrm flipV="1">
              <a:off x="4237038" y="3357563"/>
              <a:ext cx="2495550" cy="2166937"/>
            </a:xfrm>
            <a:prstGeom prst="line">
              <a:avLst/>
            </a:prstGeom>
            <a:noFill/>
            <a:ln w="25400">
              <a:solidFill>
                <a:srgbClr val="000000"/>
              </a:solidFill>
              <a:round/>
              <a:headEnd type="oval" w="med" len="me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48" name="Line 47"/>
            <p:cNvSpPr>
              <a:spLocks noChangeShapeType="1"/>
            </p:cNvSpPr>
            <p:nvPr/>
          </p:nvSpPr>
          <p:spPr bwMode="auto">
            <a:xfrm>
              <a:off x="3421063" y="5907088"/>
              <a:ext cx="106521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 name="Line 48"/>
            <p:cNvSpPr>
              <a:spLocks noChangeShapeType="1"/>
            </p:cNvSpPr>
            <p:nvPr/>
          </p:nvSpPr>
          <p:spPr bwMode="auto">
            <a:xfrm flipV="1">
              <a:off x="4237038" y="5661025"/>
              <a:ext cx="2495550" cy="115888"/>
            </a:xfrm>
            <a:prstGeom prst="line">
              <a:avLst/>
            </a:prstGeom>
            <a:noFill/>
            <a:ln w="25400">
              <a:solidFill>
                <a:srgbClr val="000000"/>
              </a:solidFill>
              <a:round/>
              <a:headEnd type="oval" w="med" len="me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50" name="Rectangle 49"/>
            <p:cNvSpPr>
              <a:spLocks noChangeArrowheads="1"/>
            </p:cNvSpPr>
            <p:nvPr/>
          </p:nvSpPr>
          <p:spPr bwMode="auto">
            <a:xfrm>
              <a:off x="3829050" y="6243638"/>
              <a:ext cx="385763"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spcBef>
                  <a:spcPct val="0"/>
                </a:spcBef>
                <a:buClrTx/>
                <a:buSzTx/>
                <a:buFontTx/>
                <a:buNone/>
              </a:pPr>
              <a:r>
                <a:rPr lang="en-US" altLang="zh-CN" sz="1800">
                  <a:latin typeface="Times New Roman" panose="02020603050405020304" pitchFamily="18" charset="0"/>
                </a:rPr>
                <a:t>…</a:t>
              </a:r>
              <a:endParaRPr lang="en-US" altLang="zh-CN" sz="1800"/>
            </a:p>
          </p:txBody>
        </p:sp>
        <p:sp>
          <p:nvSpPr>
            <p:cNvPr id="51" name="Line 50"/>
            <p:cNvSpPr>
              <a:spLocks noChangeShapeType="1"/>
            </p:cNvSpPr>
            <p:nvPr/>
          </p:nvSpPr>
          <p:spPr bwMode="auto">
            <a:xfrm>
              <a:off x="3421063" y="6175375"/>
              <a:ext cx="106521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 name="Line 51"/>
            <p:cNvSpPr>
              <a:spLocks noChangeShapeType="1"/>
            </p:cNvSpPr>
            <p:nvPr/>
          </p:nvSpPr>
          <p:spPr bwMode="auto">
            <a:xfrm flipV="1">
              <a:off x="4237038" y="4868863"/>
              <a:ext cx="2495550" cy="1158875"/>
            </a:xfrm>
            <a:prstGeom prst="line">
              <a:avLst/>
            </a:prstGeom>
            <a:noFill/>
            <a:ln w="25400">
              <a:solidFill>
                <a:srgbClr val="000000"/>
              </a:solidFill>
              <a:round/>
              <a:headEnd type="oval" w="med" len="med"/>
              <a:tailEnd type="triangle" w="med" len="lg"/>
            </a:ln>
            <a:extLst>
              <a:ext uri="{909E8E84-426E-40DD-AFC4-6F175D3DCCD1}">
                <a14:hiddenFill xmlns:a14="http://schemas.microsoft.com/office/drawing/2010/main">
                  <a:noFill/>
                </a14:hiddenFill>
              </a:ext>
            </a:extLst>
          </p:spPr>
          <p:txBody>
            <a:bodyPr/>
            <a:lstStyle/>
            <a:p>
              <a:endParaRPr lang="zh-CN" altLang="en-US"/>
            </a:p>
          </p:txBody>
        </p:sp>
      </p:grpSp>
    </p:spTree>
    <p:extLst>
      <p:ext uri="{BB962C8B-B14F-4D97-AF65-F5344CB8AC3E}">
        <p14:creationId xmlns:p14="http://schemas.microsoft.com/office/powerpoint/2010/main" val="330060576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Linux</a:t>
            </a:r>
            <a:r>
              <a:rPr lang="zh-CN" altLang="en-US" dirty="0" smtClean="0"/>
              <a:t>案例</a:t>
            </a:r>
            <a:endParaRPr lang="zh-CN" altLang="en-US" dirty="0"/>
          </a:p>
        </p:txBody>
      </p:sp>
      <p:sp>
        <p:nvSpPr>
          <p:cNvPr id="3" name="内容占位符 2"/>
          <p:cNvSpPr>
            <a:spLocks noGrp="1"/>
          </p:cNvSpPr>
          <p:nvPr>
            <p:ph idx="1"/>
          </p:nvPr>
        </p:nvSpPr>
        <p:spPr/>
        <p:txBody>
          <a:bodyPr/>
          <a:lstStyle/>
          <a:p>
            <a:r>
              <a:rPr lang="en-US" altLang="zh-CN" dirty="0" err="1" smtClean="0"/>
              <a:t>task_struct</a:t>
            </a:r>
            <a:r>
              <a:rPr lang="zh-CN" altLang="en-US" dirty="0"/>
              <a:t>，位于</a:t>
            </a:r>
            <a:r>
              <a:rPr lang="en-US" altLang="zh-CN" dirty="0" smtClean="0"/>
              <a:t>include/</a:t>
            </a:r>
            <a:r>
              <a:rPr lang="en-US" altLang="zh-CN" dirty="0" err="1" smtClean="0"/>
              <a:t>linux</a:t>
            </a:r>
            <a:r>
              <a:rPr lang="en-US" altLang="zh-CN" dirty="0" smtClean="0"/>
              <a:t>/</a:t>
            </a:r>
            <a:r>
              <a:rPr lang="en-US" altLang="zh-CN" dirty="0" err="1" smtClean="0"/>
              <a:t>sched.h</a:t>
            </a:r>
            <a:endParaRPr lang="en-US" altLang="zh-CN" dirty="0"/>
          </a:p>
        </p:txBody>
      </p:sp>
      <p:sp>
        <p:nvSpPr>
          <p:cNvPr id="4" name="灯片编号占位符 3"/>
          <p:cNvSpPr>
            <a:spLocks noGrp="1"/>
          </p:cNvSpPr>
          <p:nvPr>
            <p:ph type="sldNum" sz="quarter" idx="12"/>
          </p:nvPr>
        </p:nvSpPr>
        <p:spPr/>
        <p:txBody>
          <a:bodyPr/>
          <a:lstStyle/>
          <a:p>
            <a:fld id="{4093CC90-4002-504C-BD88-C9A1D374048E}" type="slidenum">
              <a:rPr lang="zh-CN" altLang="en-US" smtClean="0"/>
              <a:pPr/>
              <a:t>20</a:t>
            </a:fld>
            <a:endParaRPr lang="zh-CN" altLang="en-US" dirty="0"/>
          </a:p>
        </p:txBody>
      </p:sp>
      <p:sp>
        <p:nvSpPr>
          <p:cNvPr id="5" name="文本框 4"/>
          <p:cNvSpPr txBox="1"/>
          <p:nvPr/>
        </p:nvSpPr>
        <p:spPr>
          <a:xfrm>
            <a:off x="1157288" y="1825315"/>
            <a:ext cx="6676828" cy="3184590"/>
          </a:xfrm>
          <a:prstGeom prst="rect">
            <a:avLst/>
          </a:prstGeom>
          <a:noFill/>
        </p:spPr>
        <p:txBody>
          <a:bodyPr wrap="none" rtlCol="0">
            <a:spAutoFit/>
          </a:bodyPr>
          <a:lstStyle/>
          <a:p>
            <a:pPr>
              <a:tabLst>
                <a:tab pos="542925" algn="l"/>
                <a:tab pos="4305300" algn="l"/>
              </a:tabLst>
            </a:pPr>
            <a:r>
              <a:rPr lang="en-US" altLang="zh-CN" dirty="0" err="1">
                <a:latin typeface="Consolas" panose="020B0609020204030204" pitchFamily="49" charset="0"/>
              </a:rPr>
              <a:t>struct</a:t>
            </a:r>
            <a:r>
              <a:rPr lang="en-US" altLang="zh-CN" dirty="0">
                <a:latin typeface="Consolas" panose="020B0609020204030204" pitchFamily="49" charset="0"/>
              </a:rPr>
              <a:t> </a:t>
            </a:r>
            <a:r>
              <a:rPr lang="en-US" altLang="zh-CN" dirty="0" err="1">
                <a:latin typeface="Consolas" panose="020B0609020204030204" pitchFamily="49" charset="0"/>
              </a:rPr>
              <a:t>task_struct</a:t>
            </a:r>
            <a:r>
              <a:rPr lang="en-US" altLang="zh-CN" dirty="0">
                <a:latin typeface="Consolas" panose="020B0609020204030204" pitchFamily="49" charset="0"/>
              </a:rPr>
              <a:t> {</a:t>
            </a:r>
          </a:p>
          <a:p>
            <a:pPr>
              <a:tabLst>
                <a:tab pos="542925" algn="l"/>
                <a:tab pos="4305300" algn="l"/>
              </a:tabLst>
            </a:pPr>
            <a:r>
              <a:rPr lang="en-US" altLang="zh-CN" dirty="0" smtClean="0">
                <a:latin typeface="Consolas" panose="020B0609020204030204" pitchFamily="49" charset="0"/>
              </a:rPr>
              <a:t>	......</a:t>
            </a:r>
          </a:p>
          <a:p>
            <a:pPr>
              <a:tabLst>
                <a:tab pos="542925" algn="l"/>
                <a:tab pos="4305300" algn="l"/>
              </a:tabLst>
            </a:pPr>
            <a:r>
              <a:rPr lang="en-US" altLang="zh-CN" dirty="0">
                <a:latin typeface="Consolas" panose="020B0609020204030204" pitchFamily="49" charset="0"/>
              </a:rPr>
              <a:t>	long state;	</a:t>
            </a:r>
            <a:r>
              <a:rPr lang="en-US" altLang="zh-CN" dirty="0" smtClean="0">
                <a:latin typeface="Consolas" panose="020B0609020204030204" pitchFamily="49" charset="0"/>
              </a:rPr>
              <a:t>/* </a:t>
            </a:r>
            <a:r>
              <a:rPr lang="zh-CN" altLang="en-US" dirty="0">
                <a:latin typeface="Consolas" panose="020B0609020204030204" pitchFamily="49" charset="0"/>
              </a:rPr>
              <a:t>进程状态 *</a:t>
            </a:r>
            <a:r>
              <a:rPr lang="en-US" altLang="zh-CN" dirty="0">
                <a:latin typeface="Consolas" panose="020B0609020204030204" pitchFamily="49" charset="0"/>
              </a:rPr>
              <a:t>/</a:t>
            </a:r>
          </a:p>
          <a:p>
            <a:pPr>
              <a:tabLst>
                <a:tab pos="542925" algn="l"/>
                <a:tab pos="4305300" algn="l"/>
              </a:tabLst>
            </a:pPr>
            <a:r>
              <a:rPr lang="en-US" altLang="zh-CN" dirty="0">
                <a:latin typeface="Consolas" panose="020B0609020204030204" pitchFamily="49" charset="0"/>
              </a:rPr>
              <a:t>	</a:t>
            </a:r>
            <a:r>
              <a:rPr lang="en-US" altLang="zh-CN" dirty="0" err="1">
                <a:latin typeface="Consolas" panose="020B0609020204030204" pitchFamily="49" charset="0"/>
              </a:rPr>
              <a:t>struct</a:t>
            </a:r>
            <a:r>
              <a:rPr lang="en-US" altLang="zh-CN" dirty="0">
                <a:latin typeface="Consolas" panose="020B0609020204030204" pitchFamily="49" charset="0"/>
              </a:rPr>
              <a:t> </a:t>
            </a:r>
            <a:r>
              <a:rPr lang="en-US" altLang="zh-CN" dirty="0" err="1">
                <a:latin typeface="Consolas" panose="020B0609020204030204" pitchFamily="49" charset="0"/>
              </a:rPr>
              <a:t>sched_entity</a:t>
            </a:r>
            <a:r>
              <a:rPr lang="en-US" altLang="zh-CN" dirty="0">
                <a:latin typeface="Consolas" panose="020B0609020204030204" pitchFamily="49" charset="0"/>
              </a:rPr>
              <a:t> se;	/* </a:t>
            </a:r>
            <a:r>
              <a:rPr lang="zh-CN" altLang="en-US" dirty="0">
                <a:latin typeface="Consolas" panose="020B0609020204030204" pitchFamily="49" charset="0"/>
              </a:rPr>
              <a:t>调度信息 *</a:t>
            </a:r>
            <a:r>
              <a:rPr lang="en-US" altLang="zh-CN" dirty="0">
                <a:latin typeface="Consolas" panose="020B0609020204030204" pitchFamily="49" charset="0"/>
              </a:rPr>
              <a:t>/</a:t>
            </a:r>
          </a:p>
          <a:p>
            <a:pPr>
              <a:tabLst>
                <a:tab pos="542925" algn="l"/>
                <a:tab pos="4305300" algn="l"/>
              </a:tabLst>
            </a:pPr>
            <a:r>
              <a:rPr lang="en-US" altLang="zh-CN" dirty="0">
                <a:latin typeface="Consolas" panose="020B0609020204030204" pitchFamily="49" charset="0"/>
              </a:rPr>
              <a:t>	</a:t>
            </a:r>
            <a:r>
              <a:rPr lang="en-US" altLang="zh-CN" dirty="0" err="1">
                <a:latin typeface="Consolas" panose="020B0609020204030204" pitchFamily="49" charset="0"/>
              </a:rPr>
              <a:t>struct</a:t>
            </a:r>
            <a:r>
              <a:rPr lang="en-US" altLang="zh-CN" dirty="0">
                <a:latin typeface="Consolas" panose="020B0609020204030204" pitchFamily="49" charset="0"/>
              </a:rPr>
              <a:t> </a:t>
            </a:r>
            <a:r>
              <a:rPr lang="en-US" altLang="zh-CN" dirty="0" err="1">
                <a:latin typeface="Consolas" panose="020B0609020204030204" pitchFamily="49" charset="0"/>
              </a:rPr>
              <a:t>list_head</a:t>
            </a:r>
            <a:r>
              <a:rPr lang="en-US" altLang="zh-CN" dirty="0">
                <a:latin typeface="Consolas" panose="020B0609020204030204" pitchFamily="49" charset="0"/>
              </a:rPr>
              <a:t> tasks;	/* </a:t>
            </a:r>
            <a:r>
              <a:rPr lang="zh-CN" altLang="en-US" dirty="0">
                <a:latin typeface="Consolas" panose="020B0609020204030204" pitchFamily="49" charset="0"/>
              </a:rPr>
              <a:t>双向链表指针 *</a:t>
            </a:r>
            <a:r>
              <a:rPr lang="en-US" altLang="zh-CN" dirty="0">
                <a:latin typeface="Consolas" panose="020B0609020204030204" pitchFamily="49" charset="0"/>
              </a:rPr>
              <a:t>/</a:t>
            </a:r>
          </a:p>
          <a:p>
            <a:pPr>
              <a:tabLst>
                <a:tab pos="542925" algn="l"/>
                <a:tab pos="4305300" algn="l"/>
              </a:tabLst>
            </a:pPr>
            <a:r>
              <a:rPr lang="en-US" altLang="zh-CN" dirty="0">
                <a:latin typeface="Consolas" panose="020B0609020204030204" pitchFamily="49" charset="0"/>
              </a:rPr>
              <a:t>	</a:t>
            </a:r>
            <a:r>
              <a:rPr lang="en-US" altLang="zh-CN" dirty="0" err="1">
                <a:latin typeface="Consolas" panose="020B0609020204030204" pitchFamily="49" charset="0"/>
              </a:rPr>
              <a:t>struct</a:t>
            </a:r>
            <a:r>
              <a:rPr lang="en-US" altLang="zh-CN" dirty="0">
                <a:latin typeface="Consolas" panose="020B0609020204030204" pitchFamily="49" charset="0"/>
              </a:rPr>
              <a:t> </a:t>
            </a:r>
            <a:r>
              <a:rPr lang="en-US" altLang="zh-CN" dirty="0" err="1">
                <a:latin typeface="Consolas" panose="020B0609020204030204" pitchFamily="49" charset="0"/>
              </a:rPr>
              <a:t>task_struct</a:t>
            </a:r>
            <a:r>
              <a:rPr lang="en-US" altLang="zh-CN" dirty="0">
                <a:latin typeface="Consolas" panose="020B0609020204030204" pitchFamily="49" charset="0"/>
              </a:rPr>
              <a:t> *parent;	/* </a:t>
            </a:r>
            <a:r>
              <a:rPr lang="zh-CN" altLang="en-US" dirty="0">
                <a:latin typeface="Consolas" panose="020B0609020204030204" pitchFamily="49" charset="0"/>
              </a:rPr>
              <a:t>父进程 *</a:t>
            </a:r>
            <a:r>
              <a:rPr lang="en-US" altLang="zh-CN" dirty="0">
                <a:latin typeface="Consolas" panose="020B0609020204030204" pitchFamily="49" charset="0"/>
              </a:rPr>
              <a:t>/</a:t>
            </a:r>
          </a:p>
          <a:p>
            <a:pPr>
              <a:tabLst>
                <a:tab pos="542925" algn="l"/>
                <a:tab pos="4305300" algn="l"/>
              </a:tabLst>
            </a:pPr>
            <a:r>
              <a:rPr lang="en-US" altLang="zh-CN" dirty="0">
                <a:latin typeface="Consolas" panose="020B0609020204030204" pitchFamily="49" charset="0"/>
              </a:rPr>
              <a:t>	</a:t>
            </a:r>
            <a:r>
              <a:rPr lang="en-US" altLang="zh-CN" dirty="0" err="1">
                <a:latin typeface="Consolas" panose="020B0609020204030204" pitchFamily="49" charset="0"/>
              </a:rPr>
              <a:t>struct</a:t>
            </a:r>
            <a:r>
              <a:rPr lang="en-US" altLang="zh-CN" dirty="0">
                <a:latin typeface="Consolas" panose="020B0609020204030204" pitchFamily="49" charset="0"/>
              </a:rPr>
              <a:t> </a:t>
            </a:r>
            <a:r>
              <a:rPr lang="en-US" altLang="zh-CN" dirty="0" err="1">
                <a:latin typeface="Consolas" panose="020B0609020204030204" pitchFamily="49" charset="0"/>
              </a:rPr>
              <a:t>list_head</a:t>
            </a:r>
            <a:r>
              <a:rPr lang="en-US" altLang="zh-CN" dirty="0">
                <a:latin typeface="Consolas" panose="020B0609020204030204" pitchFamily="49" charset="0"/>
              </a:rPr>
              <a:t> children;	/* </a:t>
            </a:r>
            <a:r>
              <a:rPr lang="zh-CN" altLang="en-US" dirty="0">
                <a:latin typeface="Consolas" panose="020B0609020204030204" pitchFamily="49" charset="0"/>
              </a:rPr>
              <a:t>子进程链表 *</a:t>
            </a:r>
            <a:r>
              <a:rPr lang="en-US" altLang="zh-CN" dirty="0">
                <a:latin typeface="Consolas" panose="020B0609020204030204" pitchFamily="49" charset="0"/>
              </a:rPr>
              <a:t>/</a:t>
            </a:r>
          </a:p>
          <a:p>
            <a:pPr>
              <a:tabLst>
                <a:tab pos="542925" algn="l"/>
                <a:tab pos="4305300" algn="l"/>
              </a:tabLst>
            </a:pPr>
            <a:r>
              <a:rPr lang="en-US" altLang="zh-CN" dirty="0">
                <a:latin typeface="Consolas" panose="020B0609020204030204" pitchFamily="49" charset="0"/>
              </a:rPr>
              <a:t>	</a:t>
            </a:r>
            <a:r>
              <a:rPr lang="en-US" altLang="zh-CN" dirty="0" err="1">
                <a:latin typeface="Consolas" panose="020B0609020204030204" pitchFamily="49" charset="0"/>
              </a:rPr>
              <a:t>struct</a:t>
            </a:r>
            <a:r>
              <a:rPr lang="en-US" altLang="zh-CN" dirty="0">
                <a:latin typeface="Consolas" panose="020B0609020204030204" pitchFamily="49" charset="0"/>
              </a:rPr>
              <a:t> </a:t>
            </a:r>
            <a:r>
              <a:rPr lang="en-US" altLang="zh-CN" dirty="0" err="1">
                <a:latin typeface="Consolas" panose="020B0609020204030204" pitchFamily="49" charset="0"/>
              </a:rPr>
              <a:t>list_head</a:t>
            </a:r>
            <a:r>
              <a:rPr lang="en-US" altLang="zh-CN" dirty="0">
                <a:latin typeface="Consolas" panose="020B0609020204030204" pitchFamily="49" charset="0"/>
              </a:rPr>
              <a:t> sibling;	/* </a:t>
            </a:r>
            <a:r>
              <a:rPr lang="zh-CN" altLang="en-US" dirty="0">
                <a:latin typeface="Consolas" panose="020B0609020204030204" pitchFamily="49" charset="0"/>
              </a:rPr>
              <a:t>兄弟进程链表 *</a:t>
            </a:r>
            <a:r>
              <a:rPr lang="en-US" altLang="zh-CN" dirty="0">
                <a:latin typeface="Consolas" panose="020B0609020204030204" pitchFamily="49" charset="0"/>
              </a:rPr>
              <a:t>/</a:t>
            </a:r>
          </a:p>
          <a:p>
            <a:pPr>
              <a:tabLst>
                <a:tab pos="542925" algn="l"/>
                <a:tab pos="4305300" algn="l"/>
              </a:tabLst>
            </a:pPr>
            <a:r>
              <a:rPr lang="en-US" altLang="zh-CN" dirty="0">
                <a:latin typeface="Consolas" panose="020B0609020204030204" pitchFamily="49" charset="0"/>
              </a:rPr>
              <a:t>	</a:t>
            </a:r>
            <a:r>
              <a:rPr lang="en-US" altLang="zh-CN" dirty="0" err="1">
                <a:latin typeface="Consolas" panose="020B0609020204030204" pitchFamily="49" charset="0"/>
              </a:rPr>
              <a:t>struct</a:t>
            </a:r>
            <a:r>
              <a:rPr lang="en-US" altLang="zh-CN" dirty="0">
                <a:latin typeface="Consolas" panose="020B0609020204030204" pitchFamily="49" charset="0"/>
              </a:rPr>
              <a:t> </a:t>
            </a:r>
            <a:r>
              <a:rPr lang="en-US" altLang="zh-CN" dirty="0" err="1">
                <a:latin typeface="Consolas" panose="020B0609020204030204" pitchFamily="49" charset="0"/>
              </a:rPr>
              <a:t>files_struct</a:t>
            </a:r>
            <a:r>
              <a:rPr lang="en-US" altLang="zh-CN" dirty="0">
                <a:latin typeface="Consolas" panose="020B0609020204030204" pitchFamily="49" charset="0"/>
              </a:rPr>
              <a:t> *files;	/* </a:t>
            </a:r>
            <a:r>
              <a:rPr lang="zh-CN" altLang="en-US" dirty="0">
                <a:latin typeface="Consolas" panose="020B0609020204030204" pitchFamily="49" charset="0"/>
              </a:rPr>
              <a:t>打开的文件 *</a:t>
            </a:r>
            <a:r>
              <a:rPr lang="en-US" altLang="zh-CN" dirty="0">
                <a:latin typeface="Consolas" panose="020B0609020204030204" pitchFamily="49" charset="0"/>
              </a:rPr>
              <a:t>/</a:t>
            </a:r>
          </a:p>
          <a:p>
            <a:pPr>
              <a:tabLst>
                <a:tab pos="542925" algn="l"/>
                <a:tab pos="4305300" algn="l"/>
              </a:tabLst>
            </a:pPr>
            <a:r>
              <a:rPr lang="en-US" altLang="zh-CN" dirty="0">
                <a:latin typeface="Consolas" panose="020B0609020204030204" pitchFamily="49" charset="0"/>
              </a:rPr>
              <a:t>	</a:t>
            </a:r>
            <a:r>
              <a:rPr lang="en-US" altLang="zh-CN" dirty="0" err="1">
                <a:latin typeface="Consolas" panose="020B0609020204030204" pitchFamily="49" charset="0"/>
              </a:rPr>
              <a:t>struct</a:t>
            </a:r>
            <a:r>
              <a:rPr lang="en-US" altLang="zh-CN" dirty="0">
                <a:latin typeface="Consolas" panose="020B0609020204030204" pitchFamily="49" charset="0"/>
              </a:rPr>
              <a:t> </a:t>
            </a:r>
            <a:r>
              <a:rPr lang="en-US" altLang="zh-CN" dirty="0" err="1">
                <a:latin typeface="Consolas" panose="020B0609020204030204" pitchFamily="49" charset="0"/>
              </a:rPr>
              <a:t>mm_struct</a:t>
            </a:r>
            <a:r>
              <a:rPr lang="en-US" altLang="zh-CN" dirty="0">
                <a:latin typeface="Consolas" panose="020B0609020204030204" pitchFamily="49" charset="0"/>
              </a:rPr>
              <a:t> *mm;	/* </a:t>
            </a:r>
            <a:r>
              <a:rPr lang="zh-CN" altLang="en-US" dirty="0">
                <a:latin typeface="Consolas" panose="020B0609020204030204" pitchFamily="49" charset="0"/>
              </a:rPr>
              <a:t>内存管理 *</a:t>
            </a:r>
            <a:r>
              <a:rPr lang="en-US" altLang="zh-CN" dirty="0">
                <a:latin typeface="Consolas" panose="020B0609020204030204" pitchFamily="49" charset="0"/>
              </a:rPr>
              <a:t>/</a:t>
            </a:r>
          </a:p>
          <a:p>
            <a:pPr>
              <a:tabLst>
                <a:tab pos="542925" algn="l"/>
                <a:tab pos="4305300" algn="l"/>
              </a:tabLst>
            </a:pPr>
            <a:r>
              <a:rPr lang="en-US" altLang="zh-CN" dirty="0">
                <a:latin typeface="Consolas" panose="020B0609020204030204" pitchFamily="49" charset="0"/>
              </a:rPr>
              <a:t>};</a:t>
            </a:r>
            <a:endParaRPr lang="zh-CN" altLang="en-US" dirty="0">
              <a:latin typeface="Consolas" panose="020B0609020204030204" pitchFamily="49" charset="0"/>
            </a:endParaRPr>
          </a:p>
        </p:txBody>
      </p:sp>
      <p:pic>
        <p:nvPicPr>
          <p:cNvPr id="7" name="图片 6"/>
          <p:cNvPicPr>
            <a:picLocks noChangeAspect="1"/>
          </p:cNvPicPr>
          <p:nvPr/>
        </p:nvPicPr>
        <p:blipFill>
          <a:blip r:embed="rId2"/>
          <a:stretch>
            <a:fillRect/>
          </a:stretch>
        </p:blipFill>
        <p:spPr>
          <a:xfrm>
            <a:off x="1738116" y="4876555"/>
            <a:ext cx="5981700" cy="1813560"/>
          </a:xfrm>
          <a:prstGeom prst="rect">
            <a:avLst/>
          </a:prstGeom>
        </p:spPr>
      </p:pic>
    </p:spTree>
    <p:extLst>
      <p:ext uri="{BB962C8B-B14F-4D97-AF65-F5344CB8AC3E}">
        <p14:creationId xmlns:p14="http://schemas.microsoft.com/office/powerpoint/2010/main" val="371940700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a:t>
            </a:r>
            <a:r>
              <a:rPr lang="en-US" altLang="zh-CN" dirty="0"/>
              <a:t>3</a:t>
            </a:r>
            <a:r>
              <a:rPr lang="zh-CN" altLang="en-US" dirty="0"/>
              <a:t>章 进程</a:t>
            </a:r>
          </a:p>
        </p:txBody>
      </p:sp>
      <p:sp>
        <p:nvSpPr>
          <p:cNvPr id="3" name="内容占位符 2"/>
          <p:cNvSpPr>
            <a:spLocks noGrp="1"/>
          </p:cNvSpPr>
          <p:nvPr>
            <p:ph idx="1"/>
          </p:nvPr>
        </p:nvSpPr>
        <p:spPr/>
        <p:txBody>
          <a:bodyPr/>
          <a:lstStyle/>
          <a:p>
            <a:r>
              <a:rPr lang="zh-CN" altLang="en-US" dirty="0"/>
              <a:t>本章内容</a:t>
            </a:r>
            <a:endParaRPr lang="en-US" altLang="zh-CN" dirty="0"/>
          </a:p>
          <a:p>
            <a:r>
              <a:rPr lang="en-US" altLang="zh-CN" dirty="0"/>
              <a:t>1.</a:t>
            </a:r>
            <a:r>
              <a:rPr lang="zh-CN" altLang="en-US" dirty="0"/>
              <a:t> 进程的概念</a:t>
            </a:r>
            <a:endParaRPr lang="zh-CN" altLang="zh-CN" dirty="0"/>
          </a:p>
          <a:p>
            <a:r>
              <a:rPr lang="en-US" altLang="zh-CN" dirty="0">
                <a:solidFill>
                  <a:srgbClr val="FF0000"/>
                </a:solidFill>
              </a:rPr>
              <a:t>2.</a:t>
            </a:r>
            <a:r>
              <a:rPr lang="zh-CN" altLang="en-US" dirty="0">
                <a:solidFill>
                  <a:srgbClr val="FF0000"/>
                </a:solidFill>
              </a:rPr>
              <a:t> 进程调度</a:t>
            </a:r>
            <a:endParaRPr lang="zh-CN" altLang="zh-CN" dirty="0">
              <a:solidFill>
                <a:srgbClr val="FF0000"/>
              </a:solidFill>
            </a:endParaRPr>
          </a:p>
          <a:p>
            <a:r>
              <a:rPr lang="en-US" altLang="zh-CN" dirty="0"/>
              <a:t>3.</a:t>
            </a:r>
            <a:r>
              <a:rPr lang="zh-CN" altLang="en-US" dirty="0"/>
              <a:t> 进程操作</a:t>
            </a:r>
            <a:endParaRPr lang="en-US" altLang="zh-CN" dirty="0"/>
          </a:p>
          <a:p>
            <a:r>
              <a:rPr lang="en-US" altLang="zh-CN" dirty="0"/>
              <a:t>4.</a:t>
            </a:r>
            <a:r>
              <a:rPr lang="zh-CN" altLang="en-US" dirty="0"/>
              <a:t> 进程间通信</a:t>
            </a:r>
          </a:p>
        </p:txBody>
      </p:sp>
      <p:sp>
        <p:nvSpPr>
          <p:cNvPr id="4" name="灯片编号占位符 3"/>
          <p:cNvSpPr>
            <a:spLocks noGrp="1"/>
          </p:cNvSpPr>
          <p:nvPr>
            <p:ph type="sldNum" sz="quarter" idx="12"/>
          </p:nvPr>
        </p:nvSpPr>
        <p:spPr/>
        <p:txBody>
          <a:bodyPr/>
          <a:lstStyle/>
          <a:p>
            <a:fld id="{4093CC90-4002-504C-BD88-C9A1D374048E}" type="slidenum">
              <a:rPr lang="zh-CN" altLang="en-US" smtClean="0"/>
              <a:pPr/>
              <a:t>21</a:t>
            </a:fld>
            <a:endParaRPr lang="zh-CN" altLang="en-US" dirty="0"/>
          </a:p>
        </p:txBody>
      </p:sp>
    </p:spTree>
    <p:extLst>
      <p:ext uri="{BB962C8B-B14F-4D97-AF65-F5344CB8AC3E}">
        <p14:creationId xmlns:p14="http://schemas.microsoft.com/office/powerpoint/2010/main" val="330308282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调度队列</a:t>
            </a:r>
          </a:p>
        </p:txBody>
      </p:sp>
      <p:sp>
        <p:nvSpPr>
          <p:cNvPr id="3" name="内容占位符 2"/>
          <p:cNvSpPr>
            <a:spLocks noGrp="1"/>
          </p:cNvSpPr>
          <p:nvPr>
            <p:ph idx="1"/>
          </p:nvPr>
        </p:nvSpPr>
        <p:spPr/>
        <p:txBody>
          <a:bodyPr/>
          <a:lstStyle/>
          <a:p>
            <a:r>
              <a:rPr lang="zh-CN" altLang="en-US" dirty="0"/>
              <a:t>就绪队列：所有就绪进程</a:t>
            </a:r>
            <a:r>
              <a:rPr lang="zh-CN" altLang="en-US" dirty="0" smtClean="0"/>
              <a:t>的</a:t>
            </a:r>
            <a:r>
              <a:rPr lang="en-US" altLang="zh-CN" dirty="0" smtClean="0"/>
              <a:t>PCB</a:t>
            </a:r>
            <a:r>
              <a:rPr lang="zh-CN" altLang="en-US" dirty="0" smtClean="0"/>
              <a:t>集合</a:t>
            </a:r>
            <a:endParaRPr lang="zh-CN" altLang="en-US" dirty="0"/>
          </a:p>
          <a:p>
            <a:r>
              <a:rPr lang="zh-CN" altLang="en-US" dirty="0"/>
              <a:t>阻塞队列：阻塞态</a:t>
            </a:r>
            <a:r>
              <a:rPr lang="zh-CN" altLang="en-US" dirty="0" smtClean="0"/>
              <a:t>进程</a:t>
            </a:r>
            <a:r>
              <a:rPr lang="en-US" altLang="zh-CN" dirty="0" smtClean="0"/>
              <a:t>PCB</a:t>
            </a:r>
            <a:r>
              <a:rPr lang="zh-CN" altLang="en-US" dirty="0" smtClean="0"/>
              <a:t>构成</a:t>
            </a:r>
            <a:r>
              <a:rPr lang="zh-CN" altLang="en-US" dirty="0"/>
              <a:t>的</a:t>
            </a:r>
            <a:r>
              <a:rPr lang="zh-CN" altLang="en-US" dirty="0" smtClean="0"/>
              <a:t>队列</a:t>
            </a:r>
            <a:endParaRPr lang="en-US" altLang="zh-CN" dirty="0" smtClean="0"/>
          </a:p>
        </p:txBody>
      </p:sp>
      <p:sp>
        <p:nvSpPr>
          <p:cNvPr id="4" name="灯片编号占位符 3"/>
          <p:cNvSpPr>
            <a:spLocks noGrp="1"/>
          </p:cNvSpPr>
          <p:nvPr>
            <p:ph type="sldNum" sz="quarter" idx="12"/>
          </p:nvPr>
        </p:nvSpPr>
        <p:spPr/>
        <p:txBody>
          <a:bodyPr/>
          <a:lstStyle/>
          <a:p>
            <a:fld id="{4093CC90-4002-504C-BD88-C9A1D374048E}" type="slidenum">
              <a:rPr lang="zh-CN" altLang="en-US" smtClean="0"/>
              <a:pPr/>
              <a:t>22</a:t>
            </a:fld>
            <a:endParaRPr lang="zh-CN" altLang="en-US" dirty="0"/>
          </a:p>
        </p:txBody>
      </p:sp>
      <p:pic>
        <p:nvPicPr>
          <p:cNvPr id="10" name="图片 9"/>
          <p:cNvPicPr>
            <a:picLocks noChangeAspect="1"/>
          </p:cNvPicPr>
          <p:nvPr/>
        </p:nvPicPr>
        <p:blipFill>
          <a:blip r:embed="rId3"/>
          <a:stretch>
            <a:fillRect/>
          </a:stretch>
        </p:blipFill>
        <p:spPr>
          <a:xfrm>
            <a:off x="1597502" y="2962275"/>
            <a:ext cx="5646420" cy="2895600"/>
          </a:xfrm>
          <a:prstGeom prst="rect">
            <a:avLst/>
          </a:prstGeom>
        </p:spPr>
      </p:pic>
    </p:spTree>
    <p:extLst>
      <p:ext uri="{BB962C8B-B14F-4D97-AF65-F5344CB8AC3E}">
        <p14:creationId xmlns:p14="http://schemas.microsoft.com/office/powerpoint/2010/main" val="172532288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调度</a:t>
            </a:r>
            <a:r>
              <a:rPr lang="zh-CN" altLang="en-US" dirty="0"/>
              <a:t>队列</a:t>
            </a:r>
          </a:p>
        </p:txBody>
      </p:sp>
      <p:sp>
        <p:nvSpPr>
          <p:cNvPr id="3" name="内容占位符 2"/>
          <p:cNvSpPr>
            <a:spLocks noGrp="1"/>
          </p:cNvSpPr>
          <p:nvPr>
            <p:ph idx="1"/>
          </p:nvPr>
        </p:nvSpPr>
        <p:spPr/>
        <p:txBody>
          <a:bodyPr/>
          <a:lstStyle/>
          <a:p>
            <a:r>
              <a:rPr lang="zh-CN" altLang="en-US" dirty="0"/>
              <a:t>思考：就绪和阻塞队列需要一个还是多个？</a:t>
            </a:r>
          </a:p>
          <a:p>
            <a:pPr lvl="1"/>
            <a:r>
              <a:rPr lang="zh-CN" altLang="en-US" dirty="0"/>
              <a:t>就绪队列：可以一个，但通常每个</a:t>
            </a:r>
            <a:r>
              <a:rPr lang="en-US" altLang="zh-CN" dirty="0"/>
              <a:t>CPU</a:t>
            </a:r>
            <a:r>
              <a:rPr lang="zh-CN" altLang="en-US" dirty="0"/>
              <a:t>一个</a:t>
            </a:r>
            <a:endParaRPr lang="en-US" altLang="zh-CN" dirty="0"/>
          </a:p>
          <a:p>
            <a:pPr lvl="1"/>
            <a:r>
              <a:rPr lang="zh-CN" altLang="en-US" dirty="0"/>
              <a:t>阻塞队列：每种阻塞原因一个以方便唤醒时查找</a:t>
            </a:r>
          </a:p>
        </p:txBody>
      </p:sp>
      <p:sp>
        <p:nvSpPr>
          <p:cNvPr id="4" name="灯片编号占位符 3"/>
          <p:cNvSpPr>
            <a:spLocks noGrp="1"/>
          </p:cNvSpPr>
          <p:nvPr>
            <p:ph type="sldNum" sz="quarter" idx="12"/>
          </p:nvPr>
        </p:nvSpPr>
        <p:spPr/>
        <p:txBody>
          <a:bodyPr/>
          <a:lstStyle/>
          <a:p>
            <a:fld id="{4093CC90-4002-504C-BD88-C9A1D374048E}" type="slidenum">
              <a:rPr lang="zh-CN" altLang="en-US" smtClean="0"/>
              <a:pPr/>
              <a:t>23</a:t>
            </a:fld>
            <a:endParaRPr lang="zh-CN" altLang="en-US" dirty="0"/>
          </a:p>
        </p:txBody>
      </p:sp>
      <p:pic>
        <p:nvPicPr>
          <p:cNvPr id="5" name="Picture 4"/>
          <p:cNvPicPr>
            <a:picLocks noChangeAspect="1" noChangeArrowheads="1"/>
          </p:cNvPicPr>
          <p:nvPr/>
        </p:nvPicPr>
        <p:blipFill>
          <a:blip r:embed="rId3">
            <a:extLst>
              <a:ext uri="{28A0092B-C50C-407E-A947-70E740481C1C}">
                <a14:useLocalDpi xmlns:a14="http://schemas.microsoft.com/office/drawing/2010/main" val="0"/>
              </a:ext>
            </a:extLst>
          </a:blip>
          <a:srcRect l="4250" t="540" r="4106" b="690"/>
          <a:stretch>
            <a:fillRect/>
          </a:stretch>
        </p:blipFill>
        <p:spPr bwMode="auto">
          <a:xfrm>
            <a:off x="2733122" y="2928829"/>
            <a:ext cx="4469918" cy="3852971"/>
          </a:xfrm>
          <a:prstGeom prst="rect">
            <a:avLst/>
          </a:prstGeom>
          <a:noFill/>
          <a:ln w="57150" cmpd="thickThin">
            <a:noFill/>
            <a:miter lim="800000"/>
            <a:headEnd/>
            <a:tailEnd/>
          </a:ln>
          <a:extLst>
            <a:ext uri="{909E8E84-426E-40DD-AFC4-6F175D3DCCD1}">
              <a14:hiddenFill xmlns:a14="http://schemas.microsoft.com/office/drawing/2010/main">
                <a:solidFill>
                  <a:srgbClr val="FFFFFF"/>
                </a:solidFill>
              </a14:hiddenFill>
            </a:ext>
          </a:extLst>
        </p:spPr>
      </p:pic>
      <p:sp>
        <p:nvSpPr>
          <p:cNvPr id="6" name="圆角矩形标注 5"/>
          <p:cNvSpPr/>
          <p:nvPr/>
        </p:nvSpPr>
        <p:spPr bwMode="auto">
          <a:xfrm>
            <a:off x="152399" y="2928829"/>
            <a:ext cx="2409825" cy="497794"/>
          </a:xfrm>
          <a:prstGeom prst="wedgeRoundRectCallout">
            <a:avLst>
              <a:gd name="adj1" fmla="val -2449"/>
              <a:gd name="adj2" fmla="val -180325"/>
              <a:gd name="adj3" fmla="val 16667"/>
            </a:avLst>
          </a:prstGeom>
          <a:solidFill>
            <a:schemeClr val="accent5"/>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0" compatLnSpc="1"/>
          <a:lstStyle/>
          <a:p>
            <a:pPr fontAlgn="base">
              <a:lnSpc>
                <a:spcPct val="90000"/>
              </a:lnSpc>
              <a:spcBef>
                <a:spcPct val="20000"/>
              </a:spcBef>
              <a:spcAft>
                <a:spcPct val="0"/>
              </a:spcAft>
              <a:buClr>
                <a:schemeClr val="folHlink"/>
              </a:buClr>
              <a:buSzPct val="60000"/>
            </a:pPr>
            <a:r>
              <a:rPr lang="zh-CN" altLang="en-US" sz="2000" dirty="0" smtClean="0"/>
              <a:t>问题</a:t>
            </a:r>
            <a:r>
              <a:rPr lang="en-US" altLang="zh-CN" sz="2000" dirty="0" smtClean="0"/>
              <a:t>3.1</a:t>
            </a:r>
            <a:r>
              <a:rPr lang="zh-CN" altLang="en-US" sz="2000" dirty="0" smtClean="0"/>
              <a:t>：为什么？</a:t>
            </a:r>
            <a:endParaRPr kumimoji="1" lang="zh-CN" altLang="en-US" sz="2000" b="0" i="0" u="none" strike="noStrike" cap="none" normalizeH="0" baseline="0" dirty="0" smtClean="0">
              <a:ln>
                <a:noFill/>
              </a:ln>
              <a:solidFill>
                <a:schemeClr val="tx1"/>
              </a:solidFill>
              <a:effectLst/>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1632378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FA478220-5F10-3448-53B0-A082ACF36790}"/>
              </a:ext>
            </a:extLst>
          </p:cNvPr>
          <p:cNvSpPr>
            <a:spLocks noGrp="1"/>
          </p:cNvSpPr>
          <p:nvPr>
            <p:ph type="title"/>
          </p:nvPr>
        </p:nvSpPr>
        <p:spPr>
          <a:xfrm>
            <a:off x="1042988" y="225431"/>
            <a:ext cx="7850187" cy="746125"/>
          </a:xfrm>
        </p:spPr>
        <p:txBody>
          <a:bodyPr/>
          <a:lstStyle/>
          <a:p>
            <a:r>
              <a:rPr lang="zh-CN" altLang="en-US" dirty="0"/>
              <a:t>调度队列</a:t>
            </a:r>
          </a:p>
        </p:txBody>
      </p:sp>
      <p:sp>
        <p:nvSpPr>
          <p:cNvPr id="4" name="灯片编号占位符 3">
            <a:extLst>
              <a:ext uri="{FF2B5EF4-FFF2-40B4-BE49-F238E27FC236}">
                <a16:creationId xmlns:a16="http://schemas.microsoft.com/office/drawing/2014/main" xmlns="" id="{F5A8B553-02AE-2219-C59A-8B5B36D12789}"/>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24</a:t>
            </a:fld>
            <a:endParaRPr lang="zh-CN" altLang="en-US" dirty="0"/>
          </a:p>
        </p:txBody>
      </p:sp>
      <p:pic>
        <p:nvPicPr>
          <p:cNvPr id="6" name="图片 5"/>
          <p:cNvPicPr>
            <a:picLocks noChangeAspect="1"/>
          </p:cNvPicPr>
          <p:nvPr/>
        </p:nvPicPr>
        <p:blipFill>
          <a:blip r:embed="rId3"/>
          <a:stretch>
            <a:fillRect/>
          </a:stretch>
        </p:blipFill>
        <p:spPr>
          <a:xfrm>
            <a:off x="704853" y="1546860"/>
            <a:ext cx="7659053" cy="4458176"/>
          </a:xfrm>
          <a:prstGeom prst="rect">
            <a:avLst/>
          </a:prstGeom>
        </p:spPr>
      </p:pic>
    </p:spTree>
    <p:extLst>
      <p:ext uri="{BB962C8B-B14F-4D97-AF65-F5344CB8AC3E}">
        <p14:creationId xmlns:p14="http://schemas.microsoft.com/office/powerpoint/2010/main" val="347455121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CPU</a:t>
            </a:r>
            <a:r>
              <a:rPr lang="zh-CN" altLang="en-US" dirty="0"/>
              <a:t>调度</a:t>
            </a:r>
          </a:p>
        </p:txBody>
      </p:sp>
      <p:sp>
        <p:nvSpPr>
          <p:cNvPr id="3" name="内容占位符 2"/>
          <p:cNvSpPr>
            <a:spLocks noGrp="1"/>
          </p:cNvSpPr>
          <p:nvPr>
            <p:ph idx="1"/>
          </p:nvPr>
        </p:nvSpPr>
        <p:spPr/>
        <p:txBody>
          <a:bodyPr/>
          <a:lstStyle/>
          <a:p>
            <a:r>
              <a:rPr lang="zh-CN" altLang="en-US" dirty="0">
                <a:solidFill>
                  <a:srgbClr val="FF0000"/>
                </a:solidFill>
              </a:rPr>
              <a:t>长程调度</a:t>
            </a:r>
            <a:r>
              <a:rPr lang="zh-CN" altLang="en-US" dirty="0"/>
              <a:t>（或</a:t>
            </a:r>
            <a:r>
              <a:rPr lang="zh-CN" altLang="en-US" dirty="0">
                <a:solidFill>
                  <a:srgbClr val="FF0000"/>
                </a:solidFill>
              </a:rPr>
              <a:t>作业调度</a:t>
            </a:r>
            <a:r>
              <a:rPr lang="zh-CN" altLang="en-US" dirty="0"/>
              <a:t>）</a:t>
            </a:r>
            <a:r>
              <a:rPr lang="zh-CN" altLang="en-US" dirty="0" smtClean="0"/>
              <a:t>：从后备队列选择作业装入内存，变为就绪的进程</a:t>
            </a:r>
            <a:endParaRPr lang="en-US" altLang="zh-CN" dirty="0" smtClean="0"/>
          </a:p>
          <a:p>
            <a:pPr lvl="1"/>
            <a:r>
              <a:rPr lang="zh-CN" altLang="en-US" dirty="0" smtClean="0"/>
              <a:t>内存的守门员，控制进程启动，控制多道程序度</a:t>
            </a:r>
            <a:endParaRPr lang="en-US" altLang="zh-CN" dirty="0" smtClean="0"/>
          </a:p>
          <a:p>
            <a:pPr lvl="1"/>
            <a:r>
              <a:rPr lang="zh-CN" altLang="en-US" dirty="0" smtClean="0"/>
              <a:t>注意：只有计算任务才</a:t>
            </a:r>
            <a:r>
              <a:rPr lang="zh-CN" altLang="en-US" dirty="0"/>
              <a:t>接受</a:t>
            </a:r>
            <a:r>
              <a:rPr lang="zh-CN" altLang="en-US" dirty="0" smtClean="0"/>
              <a:t>作业调度，交互任务必须立刻启动，生来就是进程</a:t>
            </a:r>
            <a:endParaRPr lang="en-US" altLang="zh-CN" dirty="0" smtClean="0"/>
          </a:p>
          <a:p>
            <a:pPr lvl="1"/>
            <a:r>
              <a:rPr lang="zh-CN" altLang="en-US" dirty="0" smtClean="0"/>
              <a:t>多道批处理系统有长程调度，分时系统可能有</a:t>
            </a:r>
            <a:endParaRPr lang="en-US" altLang="zh-CN" dirty="0" smtClean="0"/>
          </a:p>
          <a:p>
            <a:r>
              <a:rPr lang="zh-CN" altLang="en-US" dirty="0" smtClean="0">
                <a:solidFill>
                  <a:srgbClr val="FF0000"/>
                </a:solidFill>
              </a:rPr>
              <a:t>短程</a:t>
            </a:r>
            <a:r>
              <a:rPr lang="zh-CN" altLang="en-US" dirty="0">
                <a:solidFill>
                  <a:srgbClr val="FF0000"/>
                </a:solidFill>
              </a:rPr>
              <a:t>调度</a:t>
            </a:r>
            <a:r>
              <a:rPr lang="zh-CN" altLang="en-US" dirty="0"/>
              <a:t>（或</a:t>
            </a:r>
            <a:r>
              <a:rPr lang="en-US" altLang="zh-CN" dirty="0">
                <a:solidFill>
                  <a:srgbClr val="FF0000"/>
                </a:solidFill>
              </a:rPr>
              <a:t>CPU</a:t>
            </a:r>
            <a:r>
              <a:rPr lang="zh-CN" altLang="en-US" dirty="0">
                <a:solidFill>
                  <a:srgbClr val="FF0000"/>
                </a:solidFill>
              </a:rPr>
              <a:t>调度</a:t>
            </a:r>
            <a:r>
              <a:rPr lang="zh-CN" altLang="en-US" dirty="0"/>
              <a:t>）</a:t>
            </a:r>
            <a:r>
              <a:rPr lang="zh-CN" altLang="en-US" dirty="0" smtClean="0"/>
              <a:t>：从就绪队列选择下</a:t>
            </a:r>
            <a:r>
              <a:rPr lang="zh-CN" altLang="en-US" dirty="0"/>
              <a:t>一个</a:t>
            </a:r>
            <a:r>
              <a:rPr lang="zh-CN" altLang="en-US" dirty="0" smtClean="0"/>
              <a:t>执行的进程</a:t>
            </a:r>
            <a:endParaRPr lang="en-US" altLang="zh-CN" dirty="0" smtClean="0"/>
          </a:p>
          <a:p>
            <a:pPr lvl="1"/>
            <a:r>
              <a:rPr lang="zh-CN" altLang="en-US" dirty="0" smtClean="0"/>
              <a:t>所有类型的</a:t>
            </a:r>
            <a:r>
              <a:rPr lang="en-US" altLang="zh-CN" dirty="0" smtClean="0"/>
              <a:t>OS</a:t>
            </a:r>
            <a:r>
              <a:rPr lang="zh-CN" altLang="en-US" dirty="0" smtClean="0"/>
              <a:t>（</a:t>
            </a:r>
            <a:r>
              <a:rPr lang="zh-CN" altLang="en-US" dirty="0"/>
              <a:t>多道</a:t>
            </a:r>
            <a:r>
              <a:rPr lang="zh-CN" altLang="en-US" dirty="0" smtClean="0"/>
              <a:t>批处理、分时）必然有</a:t>
            </a:r>
            <a:endParaRPr lang="en-US" altLang="zh-CN" dirty="0" smtClean="0"/>
          </a:p>
        </p:txBody>
      </p:sp>
      <p:sp>
        <p:nvSpPr>
          <p:cNvPr id="4" name="灯片编号占位符 3"/>
          <p:cNvSpPr>
            <a:spLocks noGrp="1"/>
          </p:cNvSpPr>
          <p:nvPr>
            <p:ph type="sldNum" sz="quarter" idx="12"/>
          </p:nvPr>
        </p:nvSpPr>
        <p:spPr/>
        <p:txBody>
          <a:bodyPr/>
          <a:lstStyle/>
          <a:p>
            <a:fld id="{4093CC90-4002-504C-BD88-C9A1D374048E}" type="slidenum">
              <a:rPr lang="zh-CN" altLang="en-US" smtClean="0"/>
              <a:pPr/>
              <a:t>25</a:t>
            </a:fld>
            <a:endParaRPr lang="zh-CN" altLang="en-US" dirty="0"/>
          </a:p>
        </p:txBody>
      </p:sp>
    </p:spTree>
    <p:extLst>
      <p:ext uri="{BB962C8B-B14F-4D97-AF65-F5344CB8AC3E}">
        <p14:creationId xmlns:p14="http://schemas.microsoft.com/office/powerpoint/2010/main" val="112445381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CPU</a:t>
            </a:r>
            <a:r>
              <a:rPr lang="zh-CN" altLang="en-US" dirty="0"/>
              <a:t>调度</a:t>
            </a:r>
          </a:p>
        </p:txBody>
      </p:sp>
      <p:sp>
        <p:nvSpPr>
          <p:cNvPr id="4" name="灯片编号占位符 3"/>
          <p:cNvSpPr>
            <a:spLocks noGrp="1"/>
          </p:cNvSpPr>
          <p:nvPr>
            <p:ph type="sldNum" sz="quarter" idx="12"/>
          </p:nvPr>
        </p:nvSpPr>
        <p:spPr/>
        <p:txBody>
          <a:bodyPr/>
          <a:lstStyle/>
          <a:p>
            <a:fld id="{4093CC90-4002-504C-BD88-C9A1D374048E}" type="slidenum">
              <a:rPr lang="zh-CN" altLang="en-US" smtClean="0"/>
              <a:pPr/>
              <a:t>26</a:t>
            </a:fld>
            <a:endParaRPr lang="zh-CN" altLang="en-US" dirty="0"/>
          </a:p>
        </p:txBody>
      </p:sp>
      <p:sp>
        <p:nvSpPr>
          <p:cNvPr id="5" name="内容占位符 4"/>
          <p:cNvSpPr>
            <a:spLocks noGrp="1"/>
          </p:cNvSpPr>
          <p:nvPr>
            <p:ph idx="1"/>
          </p:nvPr>
        </p:nvSpPr>
        <p:spPr/>
        <p:txBody>
          <a:bodyPr/>
          <a:lstStyle/>
          <a:p>
            <a:r>
              <a:rPr lang="zh-CN" altLang="en-US" dirty="0" smtClean="0"/>
              <a:t>作业调度与进程调度的关系</a:t>
            </a:r>
            <a:endParaRPr lang="en-US" altLang="zh-CN" dirty="0" smtClean="0"/>
          </a:p>
          <a:p>
            <a:pPr lvl="1"/>
            <a:r>
              <a:rPr lang="zh-CN" altLang="en-US" dirty="0"/>
              <a:t>计算任务提交后只是作业，经过作业调度装入内存，才变为进程接受</a:t>
            </a:r>
            <a:r>
              <a:rPr lang="en-US" altLang="zh-CN" dirty="0"/>
              <a:t>CPU</a:t>
            </a:r>
            <a:r>
              <a:rPr lang="zh-CN" altLang="en-US" dirty="0"/>
              <a:t>调度，直至计算</a:t>
            </a:r>
            <a:r>
              <a:rPr lang="zh-CN" altLang="en-US" dirty="0" smtClean="0"/>
              <a:t>完成</a:t>
            </a:r>
            <a:endParaRPr lang="en-US" altLang="zh-CN" dirty="0"/>
          </a:p>
        </p:txBody>
      </p:sp>
      <p:grpSp>
        <p:nvGrpSpPr>
          <p:cNvPr id="31" name="组合 30"/>
          <p:cNvGrpSpPr>
            <a:grpSpLocks noChangeAspect="1"/>
          </p:cNvGrpSpPr>
          <p:nvPr/>
        </p:nvGrpSpPr>
        <p:grpSpPr>
          <a:xfrm>
            <a:off x="628650" y="2968625"/>
            <a:ext cx="7886700" cy="3160713"/>
            <a:chOff x="676275" y="3621087"/>
            <a:chExt cx="7886700" cy="3160713"/>
          </a:xfrm>
        </p:grpSpPr>
        <p:sp>
          <p:nvSpPr>
            <p:cNvPr id="32" name="Line 3"/>
            <p:cNvSpPr>
              <a:spLocks noChangeShapeType="1"/>
            </p:cNvSpPr>
            <p:nvPr/>
          </p:nvSpPr>
          <p:spPr bwMode="auto">
            <a:xfrm>
              <a:off x="1465263" y="5275262"/>
              <a:ext cx="800100" cy="0"/>
            </a:xfrm>
            <a:prstGeom prst="line">
              <a:avLst/>
            </a:prstGeom>
            <a:noFill/>
            <a:ln w="28575">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33" name="Line 4"/>
            <p:cNvSpPr>
              <a:spLocks noChangeShapeType="1"/>
            </p:cNvSpPr>
            <p:nvPr/>
          </p:nvSpPr>
          <p:spPr bwMode="auto">
            <a:xfrm>
              <a:off x="3046413" y="5257800"/>
              <a:ext cx="792162"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 name="Rectangle 5"/>
            <p:cNvSpPr>
              <a:spLocks noChangeArrowheads="1"/>
            </p:cNvSpPr>
            <p:nvPr/>
          </p:nvSpPr>
          <p:spPr bwMode="auto">
            <a:xfrm>
              <a:off x="3838575" y="4114800"/>
              <a:ext cx="2998788" cy="2667000"/>
            </a:xfrm>
            <a:prstGeom prst="rect">
              <a:avLst/>
            </a:prstGeom>
            <a:solidFill>
              <a:srgbClr val="FFFFFF"/>
            </a:solidFill>
            <a:ln w="28575">
              <a:solidFill>
                <a:srgbClr val="000000"/>
              </a:solidFill>
              <a:prstDash val="sysDot"/>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35" name="Oval 6"/>
            <p:cNvSpPr>
              <a:spLocks noChangeArrowheads="1"/>
            </p:cNvSpPr>
            <p:nvPr/>
          </p:nvSpPr>
          <p:spPr bwMode="auto">
            <a:xfrm>
              <a:off x="5086350" y="4384675"/>
              <a:ext cx="798513" cy="492125"/>
            </a:xfrm>
            <a:prstGeom prst="ellipse">
              <a:avLst/>
            </a:prstGeom>
            <a:solidFill>
              <a:srgbClr val="FFFFFF"/>
            </a:solidFill>
            <a:ln w="28575">
              <a:solidFill>
                <a:srgbClr val="000000"/>
              </a:solidFill>
              <a:round/>
              <a:headEnd/>
              <a:tailEnd/>
            </a:ln>
          </p:spPr>
          <p:txBody>
            <a:bodyPr lIns="36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a:spcBef>
                  <a:spcPct val="0"/>
                </a:spcBef>
                <a:buClrTx/>
                <a:buSzTx/>
                <a:buFontTx/>
                <a:buNone/>
              </a:pPr>
              <a:r>
                <a:rPr lang="zh-CN" altLang="en-US" sz="1800">
                  <a:latin typeface="Times New Roman" panose="02020603050405020304" pitchFamily="18" charset="0"/>
                </a:rPr>
                <a:t>阻塞</a:t>
              </a:r>
            </a:p>
          </p:txBody>
        </p:sp>
        <p:sp>
          <p:nvSpPr>
            <p:cNvPr id="36" name="Oval 7"/>
            <p:cNvSpPr>
              <a:spLocks noChangeArrowheads="1"/>
            </p:cNvSpPr>
            <p:nvPr/>
          </p:nvSpPr>
          <p:spPr bwMode="auto">
            <a:xfrm>
              <a:off x="4086225" y="5943600"/>
              <a:ext cx="800100" cy="493712"/>
            </a:xfrm>
            <a:prstGeom prst="ellipse">
              <a:avLst/>
            </a:prstGeom>
            <a:solidFill>
              <a:srgbClr val="FFFFFF"/>
            </a:solidFill>
            <a:ln w="28575">
              <a:solidFill>
                <a:srgbClr val="000000"/>
              </a:solidFill>
              <a:round/>
              <a:headEnd/>
              <a:tailEnd/>
            </a:ln>
          </p:spPr>
          <p:txBody>
            <a:bodyPr lIns="36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a:spcBef>
                  <a:spcPct val="0"/>
                </a:spcBef>
                <a:buClrTx/>
                <a:buSzTx/>
                <a:buFontTx/>
                <a:buNone/>
              </a:pPr>
              <a:r>
                <a:rPr lang="zh-CN" altLang="en-US" sz="1800">
                  <a:latin typeface="Times New Roman" panose="02020603050405020304" pitchFamily="18" charset="0"/>
                </a:rPr>
                <a:t>就绪</a:t>
              </a:r>
            </a:p>
          </p:txBody>
        </p:sp>
        <p:sp>
          <p:nvSpPr>
            <p:cNvPr id="37" name="Oval 8"/>
            <p:cNvSpPr>
              <a:spLocks noChangeArrowheads="1"/>
            </p:cNvSpPr>
            <p:nvPr/>
          </p:nvSpPr>
          <p:spPr bwMode="auto">
            <a:xfrm>
              <a:off x="5884863" y="5943600"/>
              <a:ext cx="800100" cy="493712"/>
            </a:xfrm>
            <a:prstGeom prst="ellipse">
              <a:avLst/>
            </a:prstGeom>
            <a:solidFill>
              <a:srgbClr val="FFFFFF"/>
            </a:solidFill>
            <a:ln w="28575">
              <a:solidFill>
                <a:srgbClr val="000000"/>
              </a:solidFill>
              <a:round/>
              <a:headEnd/>
              <a:tailEnd/>
            </a:ln>
          </p:spPr>
          <p:txBody>
            <a:bodyPr lIns="36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a:spcBef>
                  <a:spcPct val="0"/>
                </a:spcBef>
                <a:buClrTx/>
                <a:buSzTx/>
                <a:buFontTx/>
                <a:buNone/>
              </a:pPr>
              <a:r>
                <a:rPr lang="zh-CN" altLang="en-US" sz="1800">
                  <a:latin typeface="Times New Roman" panose="02020603050405020304" pitchFamily="18" charset="0"/>
                </a:rPr>
                <a:t>执行</a:t>
              </a:r>
            </a:p>
          </p:txBody>
        </p:sp>
        <p:sp>
          <p:nvSpPr>
            <p:cNvPr id="38" name="Line 9"/>
            <p:cNvSpPr>
              <a:spLocks noChangeShapeType="1"/>
            </p:cNvSpPr>
            <p:nvPr/>
          </p:nvSpPr>
          <p:spPr bwMode="auto">
            <a:xfrm flipH="1">
              <a:off x="4886325" y="6149975"/>
              <a:ext cx="998538" cy="0"/>
            </a:xfrm>
            <a:prstGeom prst="line">
              <a:avLst/>
            </a:prstGeom>
            <a:noFill/>
            <a:ln w="28575">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39" name="Line 10"/>
            <p:cNvSpPr>
              <a:spLocks noChangeShapeType="1"/>
            </p:cNvSpPr>
            <p:nvPr/>
          </p:nvSpPr>
          <p:spPr bwMode="auto">
            <a:xfrm>
              <a:off x="4886325" y="6313487"/>
              <a:ext cx="998538" cy="0"/>
            </a:xfrm>
            <a:prstGeom prst="line">
              <a:avLst/>
            </a:prstGeom>
            <a:noFill/>
            <a:ln w="28575">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40" name="Line 11"/>
            <p:cNvSpPr>
              <a:spLocks noChangeShapeType="1"/>
            </p:cNvSpPr>
            <p:nvPr/>
          </p:nvSpPr>
          <p:spPr bwMode="auto">
            <a:xfrm flipH="1" flipV="1">
              <a:off x="5884863" y="4643437"/>
              <a:ext cx="392112" cy="1300163"/>
            </a:xfrm>
            <a:prstGeom prst="line">
              <a:avLst/>
            </a:prstGeom>
            <a:noFill/>
            <a:ln w="28575">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41" name="Line 12"/>
            <p:cNvSpPr>
              <a:spLocks noChangeShapeType="1"/>
            </p:cNvSpPr>
            <p:nvPr/>
          </p:nvSpPr>
          <p:spPr bwMode="auto">
            <a:xfrm flipH="1">
              <a:off x="4524375" y="4643437"/>
              <a:ext cx="561975" cy="1300163"/>
            </a:xfrm>
            <a:prstGeom prst="line">
              <a:avLst/>
            </a:prstGeom>
            <a:noFill/>
            <a:ln w="28575">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42" name="Line 13"/>
            <p:cNvSpPr>
              <a:spLocks noChangeShapeType="1"/>
            </p:cNvSpPr>
            <p:nvPr/>
          </p:nvSpPr>
          <p:spPr bwMode="auto">
            <a:xfrm>
              <a:off x="6880225" y="5257800"/>
              <a:ext cx="920750" cy="0"/>
            </a:xfrm>
            <a:prstGeom prst="line">
              <a:avLst/>
            </a:prstGeom>
            <a:noFill/>
            <a:ln w="28575">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43" name="Rectangle 14"/>
            <p:cNvSpPr>
              <a:spLocks noChangeArrowheads="1"/>
            </p:cNvSpPr>
            <p:nvPr/>
          </p:nvSpPr>
          <p:spPr bwMode="auto">
            <a:xfrm>
              <a:off x="6154738" y="4789487"/>
              <a:ext cx="503237" cy="46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a:spcBef>
                  <a:spcPct val="0"/>
                </a:spcBef>
                <a:buClrTx/>
                <a:buSzTx/>
                <a:buFontTx/>
                <a:buNone/>
              </a:pPr>
              <a:r>
                <a:rPr lang="en-US" altLang="zh-CN" sz="1800">
                  <a:latin typeface="Times New Roman" panose="02020603050405020304" pitchFamily="18" charset="0"/>
                </a:rPr>
                <a:t>I/O</a:t>
              </a:r>
              <a:r>
                <a:rPr lang="zh-CN" altLang="en-US" sz="1800">
                  <a:latin typeface="Times New Roman" panose="02020603050405020304" pitchFamily="18" charset="0"/>
                </a:rPr>
                <a:t>请求</a:t>
              </a:r>
            </a:p>
          </p:txBody>
        </p:sp>
        <p:sp>
          <p:nvSpPr>
            <p:cNvPr id="44" name="Rectangle 15"/>
            <p:cNvSpPr>
              <a:spLocks noChangeArrowheads="1"/>
            </p:cNvSpPr>
            <p:nvPr/>
          </p:nvSpPr>
          <p:spPr bwMode="auto">
            <a:xfrm>
              <a:off x="4249738" y="4713287"/>
              <a:ext cx="503237" cy="46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a:spcBef>
                  <a:spcPct val="0"/>
                </a:spcBef>
                <a:buClrTx/>
                <a:buSzTx/>
                <a:buFontTx/>
                <a:buNone/>
              </a:pPr>
              <a:r>
                <a:rPr lang="en-US" altLang="zh-CN" sz="1800">
                  <a:latin typeface="Times New Roman" panose="02020603050405020304" pitchFamily="18" charset="0"/>
                </a:rPr>
                <a:t>I/O</a:t>
              </a:r>
              <a:r>
                <a:rPr lang="zh-CN" altLang="en-US" sz="1800">
                  <a:latin typeface="Times New Roman" panose="02020603050405020304" pitchFamily="18" charset="0"/>
                </a:rPr>
                <a:t>完成</a:t>
              </a:r>
            </a:p>
          </p:txBody>
        </p:sp>
        <p:sp>
          <p:nvSpPr>
            <p:cNvPr id="45" name="Line 16"/>
            <p:cNvSpPr>
              <a:spLocks noChangeShapeType="1"/>
            </p:cNvSpPr>
            <p:nvPr/>
          </p:nvSpPr>
          <p:spPr bwMode="auto">
            <a:xfrm>
              <a:off x="3819525" y="5208587"/>
              <a:ext cx="400050" cy="811213"/>
            </a:xfrm>
            <a:prstGeom prst="line">
              <a:avLst/>
            </a:prstGeom>
            <a:noFill/>
            <a:ln w="28575">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46" name="Line 17"/>
            <p:cNvSpPr>
              <a:spLocks noChangeShapeType="1"/>
            </p:cNvSpPr>
            <p:nvPr/>
          </p:nvSpPr>
          <p:spPr bwMode="auto">
            <a:xfrm flipV="1">
              <a:off x="6581775" y="5216525"/>
              <a:ext cx="287338" cy="803275"/>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 name="Rectangle 18"/>
            <p:cNvSpPr>
              <a:spLocks noChangeArrowheads="1"/>
            </p:cNvSpPr>
            <p:nvPr/>
          </p:nvSpPr>
          <p:spPr bwMode="auto">
            <a:xfrm>
              <a:off x="4973638" y="5767387"/>
              <a:ext cx="971550" cy="303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a:spcBef>
                  <a:spcPct val="0"/>
                </a:spcBef>
                <a:buClrTx/>
                <a:buSzTx/>
                <a:buFontTx/>
                <a:buNone/>
              </a:pPr>
              <a:r>
                <a:rPr lang="zh-CN" altLang="en-US" sz="1800">
                  <a:latin typeface="Times New Roman" panose="02020603050405020304" pitchFamily="18" charset="0"/>
                </a:rPr>
                <a:t>时间片完</a:t>
              </a:r>
            </a:p>
          </p:txBody>
        </p:sp>
        <p:sp>
          <p:nvSpPr>
            <p:cNvPr id="48" name="Oval 19"/>
            <p:cNvSpPr>
              <a:spLocks noChangeArrowheads="1"/>
            </p:cNvSpPr>
            <p:nvPr/>
          </p:nvSpPr>
          <p:spPr bwMode="auto">
            <a:xfrm>
              <a:off x="676275" y="4992687"/>
              <a:ext cx="800100" cy="493713"/>
            </a:xfrm>
            <a:prstGeom prst="ellipse">
              <a:avLst/>
            </a:prstGeom>
            <a:solidFill>
              <a:srgbClr val="FFFFFF"/>
            </a:solidFill>
            <a:ln w="28575">
              <a:solidFill>
                <a:srgbClr val="000000"/>
              </a:solidFill>
              <a:round/>
              <a:headEnd/>
              <a:tailEnd/>
            </a:ln>
          </p:spPr>
          <p:txBody>
            <a:bodyPr lIns="36000" rIns="180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a:spcBef>
                  <a:spcPct val="0"/>
                </a:spcBef>
                <a:buClrTx/>
                <a:buSzTx/>
                <a:buFontTx/>
                <a:buNone/>
              </a:pPr>
              <a:r>
                <a:rPr lang="zh-CN" altLang="en-US" sz="1800">
                  <a:latin typeface="Times New Roman" panose="02020603050405020304" pitchFamily="18" charset="0"/>
                </a:rPr>
                <a:t>提交</a:t>
              </a:r>
            </a:p>
          </p:txBody>
        </p:sp>
        <p:sp>
          <p:nvSpPr>
            <p:cNvPr id="49" name="Rectangle 20"/>
            <p:cNvSpPr>
              <a:spLocks noChangeArrowheads="1"/>
            </p:cNvSpPr>
            <p:nvPr/>
          </p:nvSpPr>
          <p:spPr bwMode="auto">
            <a:xfrm>
              <a:off x="1617663" y="4678362"/>
              <a:ext cx="468312"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a:spcBef>
                  <a:spcPct val="0"/>
                </a:spcBef>
                <a:buClrTx/>
                <a:buSzTx/>
                <a:buFontTx/>
                <a:buNone/>
              </a:pPr>
              <a:r>
                <a:rPr lang="zh-CN" altLang="en-US" sz="1800">
                  <a:latin typeface="Times New Roman" panose="02020603050405020304" pitchFamily="18" charset="0"/>
                </a:rPr>
                <a:t>作业录入</a:t>
              </a:r>
            </a:p>
          </p:txBody>
        </p:sp>
        <p:sp>
          <p:nvSpPr>
            <p:cNvPr id="50" name="Oval 21"/>
            <p:cNvSpPr>
              <a:spLocks noChangeArrowheads="1"/>
            </p:cNvSpPr>
            <p:nvPr/>
          </p:nvSpPr>
          <p:spPr bwMode="auto">
            <a:xfrm>
              <a:off x="2276475" y="4992687"/>
              <a:ext cx="800100" cy="493713"/>
            </a:xfrm>
            <a:prstGeom prst="ellipse">
              <a:avLst/>
            </a:prstGeom>
            <a:solidFill>
              <a:srgbClr val="FFFFFF"/>
            </a:solidFill>
            <a:ln w="28575">
              <a:solidFill>
                <a:srgbClr val="000000"/>
              </a:solidFill>
              <a:round/>
              <a:headEnd/>
              <a:tailEnd/>
            </a:ln>
          </p:spPr>
          <p:txBody>
            <a:bodyPr lIns="36000" rIns="180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a:spcBef>
                  <a:spcPct val="0"/>
                </a:spcBef>
                <a:buClrTx/>
                <a:buSzTx/>
                <a:buFontTx/>
                <a:buNone/>
              </a:pPr>
              <a:r>
                <a:rPr lang="zh-CN" altLang="en-US" sz="1800">
                  <a:latin typeface="Times New Roman" panose="02020603050405020304" pitchFamily="18" charset="0"/>
                </a:rPr>
                <a:t>后备</a:t>
              </a:r>
            </a:p>
          </p:txBody>
        </p:sp>
        <p:sp>
          <p:nvSpPr>
            <p:cNvPr id="51" name="Rectangle 22"/>
            <p:cNvSpPr>
              <a:spLocks noChangeArrowheads="1"/>
            </p:cNvSpPr>
            <p:nvPr/>
          </p:nvSpPr>
          <p:spPr bwMode="auto">
            <a:xfrm>
              <a:off x="3217863" y="4648200"/>
              <a:ext cx="468312"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a:spcBef>
                  <a:spcPct val="0"/>
                </a:spcBef>
                <a:buClrTx/>
                <a:buSzTx/>
                <a:buFontTx/>
                <a:buNone/>
              </a:pPr>
              <a:r>
                <a:rPr lang="zh-CN" altLang="en-US" sz="1800">
                  <a:latin typeface="Times New Roman" panose="02020603050405020304" pitchFamily="18" charset="0"/>
                </a:rPr>
                <a:t>作业调度</a:t>
              </a:r>
            </a:p>
          </p:txBody>
        </p:sp>
        <p:sp>
          <p:nvSpPr>
            <p:cNvPr id="52" name="Rectangle 23"/>
            <p:cNvSpPr>
              <a:spLocks noChangeArrowheads="1"/>
            </p:cNvSpPr>
            <p:nvPr/>
          </p:nvSpPr>
          <p:spPr bwMode="auto">
            <a:xfrm>
              <a:off x="4981575" y="6326187"/>
              <a:ext cx="971550" cy="303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a:spcBef>
                  <a:spcPct val="0"/>
                </a:spcBef>
                <a:buClrTx/>
                <a:buSzTx/>
                <a:buFontTx/>
                <a:buNone/>
              </a:pPr>
              <a:r>
                <a:rPr lang="zh-CN" altLang="en-US" sz="1800" dirty="0">
                  <a:latin typeface="Times New Roman" panose="02020603050405020304" pitchFamily="18" charset="0"/>
                </a:rPr>
                <a:t>进程调度</a:t>
              </a:r>
            </a:p>
          </p:txBody>
        </p:sp>
        <p:sp>
          <p:nvSpPr>
            <p:cNvPr id="53" name="Oval 24"/>
            <p:cNvSpPr>
              <a:spLocks noChangeArrowheads="1"/>
            </p:cNvSpPr>
            <p:nvPr/>
          </p:nvSpPr>
          <p:spPr bwMode="auto">
            <a:xfrm>
              <a:off x="4676775" y="3621087"/>
              <a:ext cx="1411288" cy="493713"/>
            </a:xfrm>
            <a:prstGeom prst="ellipse">
              <a:avLst/>
            </a:prstGeom>
            <a:solidFill>
              <a:srgbClr val="FFFFFF"/>
            </a:solidFill>
            <a:ln w="28575">
              <a:solidFill>
                <a:srgbClr val="000000"/>
              </a:solidFill>
              <a:round/>
              <a:headEnd/>
              <a:tailEnd/>
            </a:ln>
          </p:spPr>
          <p:txBody>
            <a:bodyPr lIns="36000" rIns="180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a:spcBef>
                  <a:spcPct val="0"/>
                </a:spcBef>
                <a:buClrTx/>
                <a:buSzTx/>
                <a:buFontTx/>
                <a:buNone/>
              </a:pPr>
              <a:r>
                <a:rPr lang="zh-CN" altLang="en-US" sz="1800">
                  <a:latin typeface="Times New Roman" panose="02020603050405020304" pitchFamily="18" charset="0"/>
                </a:rPr>
                <a:t>运行状态</a:t>
              </a:r>
            </a:p>
          </p:txBody>
        </p:sp>
        <p:sp>
          <p:nvSpPr>
            <p:cNvPr id="54" name="Oval 25"/>
            <p:cNvSpPr>
              <a:spLocks noChangeArrowheads="1"/>
            </p:cNvSpPr>
            <p:nvPr/>
          </p:nvSpPr>
          <p:spPr bwMode="auto">
            <a:xfrm>
              <a:off x="7762875" y="4992687"/>
              <a:ext cx="800100" cy="493713"/>
            </a:xfrm>
            <a:prstGeom prst="ellipse">
              <a:avLst/>
            </a:prstGeom>
            <a:solidFill>
              <a:srgbClr val="FFFFFF"/>
            </a:solidFill>
            <a:ln w="28575">
              <a:solidFill>
                <a:srgbClr val="000000"/>
              </a:solidFill>
              <a:round/>
              <a:headEnd/>
              <a:tailEnd/>
            </a:ln>
          </p:spPr>
          <p:txBody>
            <a:bodyPr lIns="36000" rIns="180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a:spcBef>
                  <a:spcPct val="0"/>
                </a:spcBef>
                <a:buClrTx/>
                <a:buSzTx/>
                <a:buFontTx/>
                <a:buNone/>
              </a:pPr>
              <a:r>
                <a:rPr lang="zh-CN" altLang="en-US" sz="1800">
                  <a:latin typeface="Times New Roman" panose="02020603050405020304" pitchFamily="18" charset="0"/>
                </a:rPr>
                <a:t>完成</a:t>
              </a:r>
            </a:p>
          </p:txBody>
        </p:sp>
        <p:sp>
          <p:nvSpPr>
            <p:cNvPr id="55" name="Rectangle 26"/>
            <p:cNvSpPr>
              <a:spLocks noChangeArrowheads="1"/>
            </p:cNvSpPr>
            <p:nvPr/>
          </p:nvSpPr>
          <p:spPr bwMode="auto">
            <a:xfrm>
              <a:off x="7104063" y="4648200"/>
              <a:ext cx="468312"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a:spcBef>
                  <a:spcPct val="0"/>
                </a:spcBef>
                <a:buClrTx/>
                <a:buSzTx/>
                <a:buFontTx/>
                <a:buNone/>
              </a:pPr>
              <a:r>
                <a:rPr lang="zh-CN" altLang="en-US" sz="1800">
                  <a:latin typeface="Times New Roman" panose="02020603050405020304" pitchFamily="18" charset="0"/>
                </a:rPr>
                <a:t>作业调度</a:t>
              </a:r>
            </a:p>
          </p:txBody>
        </p:sp>
      </p:grpSp>
    </p:spTree>
    <p:extLst>
      <p:ext uri="{BB962C8B-B14F-4D97-AF65-F5344CB8AC3E}">
        <p14:creationId xmlns:p14="http://schemas.microsoft.com/office/powerpoint/2010/main" val="374834552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CPU</a:t>
            </a:r>
            <a:r>
              <a:rPr lang="zh-CN" altLang="en-US" dirty="0"/>
              <a:t>调度</a:t>
            </a:r>
          </a:p>
        </p:txBody>
      </p:sp>
      <p:sp>
        <p:nvSpPr>
          <p:cNvPr id="3" name="内容占位符 2"/>
          <p:cNvSpPr>
            <a:spLocks noGrp="1"/>
          </p:cNvSpPr>
          <p:nvPr>
            <p:ph idx="1"/>
          </p:nvPr>
        </p:nvSpPr>
        <p:spPr/>
        <p:txBody>
          <a:bodyPr/>
          <a:lstStyle/>
          <a:p>
            <a:r>
              <a:rPr lang="zh-CN" altLang="en-US" dirty="0"/>
              <a:t>进程可以分为</a:t>
            </a:r>
          </a:p>
          <a:p>
            <a:pPr lvl="1"/>
            <a:r>
              <a:rPr lang="en-US" altLang="zh-CN" dirty="0"/>
              <a:t>I/O</a:t>
            </a:r>
            <a:r>
              <a:rPr lang="zh-CN" altLang="en-US" dirty="0"/>
              <a:t>型进程：花费</a:t>
            </a:r>
            <a:r>
              <a:rPr lang="en-US" altLang="zh-CN" dirty="0"/>
              <a:t>I/O </a:t>
            </a:r>
            <a:r>
              <a:rPr lang="zh-CN" altLang="en-US" dirty="0"/>
              <a:t>时间多于计算</a:t>
            </a:r>
          </a:p>
          <a:p>
            <a:pPr lvl="1"/>
            <a:r>
              <a:rPr lang="en-US" altLang="zh-CN" dirty="0" smtClean="0"/>
              <a:t>CPU</a:t>
            </a:r>
            <a:r>
              <a:rPr lang="zh-CN" altLang="en-US" dirty="0" smtClean="0"/>
              <a:t>型</a:t>
            </a:r>
            <a:r>
              <a:rPr lang="zh-CN" altLang="en-US" dirty="0"/>
              <a:t>进程：花费更多时间用于计算</a:t>
            </a:r>
          </a:p>
          <a:p>
            <a:r>
              <a:rPr lang="zh-CN" altLang="en-US" dirty="0"/>
              <a:t>有的系统还引入了中程</a:t>
            </a:r>
            <a:r>
              <a:rPr lang="zh-CN" altLang="en-US" dirty="0" smtClean="0"/>
              <a:t>调度</a:t>
            </a:r>
            <a:endParaRPr lang="en-US" altLang="zh-CN" dirty="0" smtClean="0"/>
          </a:p>
          <a:p>
            <a:pPr lvl="1"/>
            <a:r>
              <a:rPr lang="zh-CN" altLang="zh-CN" dirty="0"/>
              <a:t>本质上是内存管理手段，将某些进程整体临时换出内存（挂起），被虚拟内存机制淘汰</a:t>
            </a:r>
            <a:endParaRPr lang="zh-CN" altLang="en-US" dirty="0"/>
          </a:p>
        </p:txBody>
      </p:sp>
      <p:sp>
        <p:nvSpPr>
          <p:cNvPr id="4" name="灯片编号占位符 3"/>
          <p:cNvSpPr>
            <a:spLocks noGrp="1"/>
          </p:cNvSpPr>
          <p:nvPr>
            <p:ph type="sldNum" sz="quarter" idx="12"/>
          </p:nvPr>
        </p:nvSpPr>
        <p:spPr/>
        <p:txBody>
          <a:bodyPr/>
          <a:lstStyle/>
          <a:p>
            <a:fld id="{4093CC90-4002-504C-BD88-C9A1D374048E}" type="slidenum">
              <a:rPr lang="zh-CN" altLang="en-US" smtClean="0"/>
              <a:pPr/>
              <a:t>27</a:t>
            </a:fld>
            <a:endParaRPr lang="zh-CN" altLang="en-US" dirty="0"/>
          </a:p>
        </p:txBody>
      </p:sp>
      <p:pic>
        <p:nvPicPr>
          <p:cNvPr id="5" name="Picture 4"/>
          <p:cNvPicPr>
            <a:picLocks noChangeAspect="1" noChangeArrowheads="1"/>
          </p:cNvPicPr>
          <p:nvPr/>
        </p:nvPicPr>
        <p:blipFill>
          <a:blip r:embed="rId2">
            <a:extLst>
              <a:ext uri="{28A0092B-C50C-407E-A947-70E740481C1C}">
                <a14:useLocalDpi xmlns:a14="http://schemas.microsoft.com/office/drawing/2010/main" val="0"/>
              </a:ext>
            </a:extLst>
          </a:blip>
          <a:srcRect l="580" t="27388" r="580" b="27545"/>
          <a:stretch>
            <a:fillRect/>
          </a:stretch>
        </p:blipFill>
        <p:spPr bwMode="auto">
          <a:xfrm>
            <a:off x="1506540" y="4536967"/>
            <a:ext cx="6026128" cy="2197553"/>
          </a:xfrm>
          <a:prstGeom prst="rect">
            <a:avLst/>
          </a:prstGeom>
          <a:noFill/>
          <a:ln w="57150" cmpd="thickThin">
            <a:no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394074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上下文</a:t>
            </a:r>
            <a:r>
              <a:rPr lang="zh-CN" altLang="en-US" dirty="0" smtClean="0"/>
              <a:t>切换</a:t>
            </a:r>
            <a:r>
              <a:rPr lang="zh-CN" altLang="en-US" dirty="0"/>
              <a:t>（</a:t>
            </a:r>
            <a:r>
              <a:rPr lang="en-US" altLang="zh-CN" dirty="0" smtClean="0"/>
              <a:t>Context Switch</a:t>
            </a:r>
            <a:r>
              <a:rPr lang="zh-CN" altLang="en-US" dirty="0" smtClean="0"/>
              <a:t>）</a:t>
            </a:r>
            <a:endParaRPr lang="zh-CN" altLang="en-US" dirty="0"/>
          </a:p>
        </p:txBody>
      </p:sp>
      <p:sp>
        <p:nvSpPr>
          <p:cNvPr id="3" name="内容占位符 2"/>
          <p:cNvSpPr>
            <a:spLocks noGrp="1"/>
          </p:cNvSpPr>
          <p:nvPr>
            <p:ph idx="1"/>
          </p:nvPr>
        </p:nvSpPr>
        <p:spPr/>
        <p:txBody>
          <a:bodyPr/>
          <a:lstStyle/>
          <a:p>
            <a:r>
              <a:rPr lang="zh-CN" altLang="en-US" dirty="0"/>
              <a:t>将</a:t>
            </a:r>
            <a:r>
              <a:rPr lang="en-US" altLang="zh-CN" dirty="0"/>
              <a:t>CPU</a:t>
            </a:r>
            <a:r>
              <a:rPr lang="zh-CN" altLang="en-US" dirty="0"/>
              <a:t>切换到另一个进程需要保存当前进程的状态并恢复另一个进程的状态，这一任务称为上下文</a:t>
            </a:r>
            <a:r>
              <a:rPr lang="zh-CN" altLang="en-US" dirty="0" smtClean="0"/>
              <a:t>切换</a:t>
            </a:r>
            <a:endParaRPr lang="en-US" altLang="zh-CN" dirty="0" smtClean="0"/>
          </a:p>
          <a:p>
            <a:pPr lvl="1"/>
            <a:r>
              <a:rPr lang="zh-CN" altLang="en-US" dirty="0"/>
              <a:t>进程的上下文保存在</a:t>
            </a:r>
            <a:r>
              <a:rPr lang="en-US" altLang="zh-CN" dirty="0"/>
              <a:t>PCB</a:t>
            </a:r>
            <a:r>
              <a:rPr lang="zh-CN" altLang="en-US" dirty="0"/>
              <a:t>中</a:t>
            </a:r>
          </a:p>
          <a:p>
            <a:r>
              <a:rPr lang="zh-CN" altLang="en-US" dirty="0"/>
              <a:t>上下文切换的时间开销较</a:t>
            </a:r>
            <a:r>
              <a:rPr lang="zh-CN" altLang="en-US" dirty="0" smtClean="0"/>
              <a:t>重</a:t>
            </a:r>
            <a:endParaRPr lang="en-US" altLang="zh-CN" dirty="0" smtClean="0"/>
          </a:p>
          <a:p>
            <a:pPr lvl="1"/>
            <a:r>
              <a:rPr lang="zh-CN" altLang="en-US" dirty="0" smtClean="0"/>
              <a:t>在</a:t>
            </a:r>
            <a:r>
              <a:rPr lang="zh-CN" altLang="en-US" dirty="0"/>
              <a:t>切换时，系统没有做有用的</a:t>
            </a:r>
            <a:r>
              <a:rPr lang="zh-CN" altLang="en-US" dirty="0" smtClean="0"/>
              <a:t>工作</a:t>
            </a:r>
            <a:endParaRPr lang="en-US" altLang="zh-CN" dirty="0" smtClean="0"/>
          </a:p>
          <a:p>
            <a:pPr lvl="1"/>
            <a:r>
              <a:rPr lang="zh-CN" altLang="en-US" dirty="0" smtClean="0"/>
              <a:t>时间</a:t>
            </a:r>
            <a:r>
              <a:rPr lang="zh-CN" altLang="en-US" dirty="0"/>
              <a:t>取决于硬件的支持</a:t>
            </a:r>
          </a:p>
        </p:txBody>
      </p:sp>
      <p:sp>
        <p:nvSpPr>
          <p:cNvPr id="4" name="灯片编号占位符 3"/>
          <p:cNvSpPr>
            <a:spLocks noGrp="1"/>
          </p:cNvSpPr>
          <p:nvPr>
            <p:ph type="sldNum" sz="quarter" idx="12"/>
          </p:nvPr>
        </p:nvSpPr>
        <p:spPr/>
        <p:txBody>
          <a:bodyPr/>
          <a:lstStyle/>
          <a:p>
            <a:fld id="{4093CC90-4002-504C-BD88-C9A1D374048E}" type="slidenum">
              <a:rPr lang="zh-CN" altLang="en-US" smtClean="0"/>
              <a:pPr/>
              <a:t>28</a:t>
            </a:fld>
            <a:endParaRPr lang="zh-CN" altLang="en-US" dirty="0"/>
          </a:p>
        </p:txBody>
      </p:sp>
    </p:spTree>
    <p:extLst>
      <p:ext uri="{BB962C8B-B14F-4D97-AF65-F5344CB8AC3E}">
        <p14:creationId xmlns:p14="http://schemas.microsoft.com/office/powerpoint/2010/main" val="156649323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FA478220-5F10-3448-53B0-A082ACF36790}"/>
              </a:ext>
            </a:extLst>
          </p:cNvPr>
          <p:cNvSpPr>
            <a:spLocks noGrp="1"/>
          </p:cNvSpPr>
          <p:nvPr>
            <p:ph type="title"/>
          </p:nvPr>
        </p:nvSpPr>
        <p:spPr>
          <a:xfrm>
            <a:off x="1042988" y="225431"/>
            <a:ext cx="7850187" cy="746125"/>
          </a:xfrm>
        </p:spPr>
        <p:txBody>
          <a:bodyPr/>
          <a:lstStyle/>
          <a:p>
            <a:r>
              <a:rPr lang="zh-CN" altLang="en-US" dirty="0"/>
              <a:t>上下文切换（</a:t>
            </a:r>
            <a:r>
              <a:rPr lang="en-US" altLang="zh-CN" dirty="0"/>
              <a:t>Context Switch</a:t>
            </a:r>
            <a:r>
              <a:rPr lang="zh-CN" altLang="en-US" dirty="0"/>
              <a:t>）</a:t>
            </a:r>
          </a:p>
        </p:txBody>
      </p:sp>
      <p:sp>
        <p:nvSpPr>
          <p:cNvPr id="4" name="灯片编号占位符 3">
            <a:extLst>
              <a:ext uri="{FF2B5EF4-FFF2-40B4-BE49-F238E27FC236}">
                <a16:creationId xmlns:a16="http://schemas.microsoft.com/office/drawing/2014/main" xmlns="" id="{F5A8B553-02AE-2219-C59A-8B5B36D12789}"/>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29</a:t>
            </a:fld>
            <a:endParaRPr lang="zh-CN" altLang="en-US" dirty="0"/>
          </a:p>
        </p:txBody>
      </p:sp>
      <p:pic>
        <p:nvPicPr>
          <p:cNvPr id="6" name="图片 5"/>
          <p:cNvPicPr>
            <a:picLocks noChangeAspect="1"/>
          </p:cNvPicPr>
          <p:nvPr/>
        </p:nvPicPr>
        <p:blipFill>
          <a:blip r:embed="rId3"/>
          <a:stretch>
            <a:fillRect/>
          </a:stretch>
        </p:blipFill>
        <p:spPr>
          <a:xfrm>
            <a:off x="1042988" y="1147762"/>
            <a:ext cx="6853238" cy="5567363"/>
          </a:xfrm>
          <a:prstGeom prst="rect">
            <a:avLst/>
          </a:prstGeom>
        </p:spPr>
      </p:pic>
      <p:sp>
        <p:nvSpPr>
          <p:cNvPr id="7" name="圆角矩形标注 6"/>
          <p:cNvSpPr/>
          <p:nvPr/>
        </p:nvSpPr>
        <p:spPr bwMode="auto">
          <a:xfrm>
            <a:off x="2571750" y="2785954"/>
            <a:ext cx="1647825" cy="497794"/>
          </a:xfrm>
          <a:prstGeom prst="wedgeRoundRectCallout">
            <a:avLst>
              <a:gd name="adj1" fmla="val 71539"/>
              <a:gd name="adj2" fmla="val 1452"/>
              <a:gd name="adj3" fmla="val 16667"/>
            </a:avLst>
          </a:prstGeom>
          <a:solidFill>
            <a:schemeClr val="accent5"/>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0" compatLnSpc="1"/>
          <a:lstStyle/>
          <a:p>
            <a:pPr fontAlgn="base">
              <a:lnSpc>
                <a:spcPct val="90000"/>
              </a:lnSpc>
              <a:spcBef>
                <a:spcPct val="20000"/>
              </a:spcBef>
              <a:spcAft>
                <a:spcPct val="0"/>
              </a:spcAft>
              <a:buClr>
                <a:schemeClr val="folHlink"/>
              </a:buClr>
              <a:buSzPct val="60000"/>
            </a:pPr>
            <a:r>
              <a:rPr lang="zh-CN" altLang="en-US" dirty="0"/>
              <a:t>调度决策计算</a:t>
            </a:r>
            <a:endParaRPr kumimoji="1" lang="zh-CN" altLang="en-US" b="0" i="0" u="none" strike="noStrike" cap="none" normalizeH="0" baseline="0" dirty="0" smtClean="0">
              <a:ln>
                <a:noFill/>
              </a:ln>
              <a:solidFill>
                <a:schemeClr val="tx1"/>
              </a:solidFill>
              <a:effectLst/>
              <a:latin typeface="Tahoma" panose="020B0604030504040204" pitchFamily="34" charset="0"/>
              <a:ea typeface="宋体" panose="02010600030101010101" pitchFamily="2" charset="-122"/>
            </a:endParaRPr>
          </a:p>
        </p:txBody>
      </p:sp>
      <p:sp>
        <p:nvSpPr>
          <p:cNvPr id="8" name="圆角矩形标注 7"/>
          <p:cNvSpPr/>
          <p:nvPr/>
        </p:nvSpPr>
        <p:spPr bwMode="auto">
          <a:xfrm>
            <a:off x="781050" y="3776554"/>
            <a:ext cx="1000125" cy="662096"/>
          </a:xfrm>
          <a:prstGeom prst="wedgeRoundRectCallout">
            <a:avLst>
              <a:gd name="adj1" fmla="val 76301"/>
              <a:gd name="adj2" fmla="val 1452"/>
              <a:gd name="adj3" fmla="val 16667"/>
            </a:avLst>
          </a:prstGeom>
          <a:solidFill>
            <a:schemeClr val="accent5"/>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0" compatLnSpc="1"/>
          <a:lstStyle/>
          <a:p>
            <a:pPr fontAlgn="base">
              <a:lnSpc>
                <a:spcPct val="90000"/>
              </a:lnSpc>
              <a:spcBef>
                <a:spcPct val="20000"/>
              </a:spcBef>
              <a:spcAft>
                <a:spcPct val="0"/>
              </a:spcAft>
              <a:buClr>
                <a:schemeClr val="folHlink"/>
              </a:buClr>
              <a:buSzPct val="60000"/>
            </a:pPr>
            <a:r>
              <a:rPr lang="zh-CN" altLang="en-US" dirty="0"/>
              <a:t>就绪或阻塞态</a:t>
            </a:r>
            <a:endParaRPr kumimoji="1" lang="zh-CN" altLang="en-US" b="0" i="0" u="none" strike="noStrike" cap="none" normalizeH="0" baseline="0" dirty="0" smtClean="0">
              <a:ln>
                <a:noFill/>
              </a:ln>
              <a:solidFill>
                <a:schemeClr val="tx1"/>
              </a:solidFill>
              <a:effectLst/>
              <a:latin typeface="Tahoma" panose="020B0604030504040204" pitchFamily="34" charset="0"/>
              <a:ea typeface="宋体" panose="02010600030101010101" pitchFamily="2" charset="-122"/>
            </a:endParaRPr>
          </a:p>
        </p:txBody>
      </p:sp>
      <p:sp>
        <p:nvSpPr>
          <p:cNvPr id="9" name="圆角矩形标注 8"/>
          <p:cNvSpPr/>
          <p:nvPr/>
        </p:nvSpPr>
        <p:spPr bwMode="auto">
          <a:xfrm>
            <a:off x="6257926" y="2756132"/>
            <a:ext cx="2428874" cy="1020422"/>
          </a:xfrm>
          <a:prstGeom prst="wedgeRoundRectCallout">
            <a:avLst>
              <a:gd name="adj1" fmla="val -70030"/>
              <a:gd name="adj2" fmla="val 24788"/>
              <a:gd name="adj3" fmla="val 16667"/>
            </a:avLst>
          </a:prstGeom>
          <a:solidFill>
            <a:schemeClr val="accent5"/>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0" compatLnSpc="1"/>
          <a:lstStyle/>
          <a:p>
            <a:pPr fontAlgn="base">
              <a:lnSpc>
                <a:spcPct val="90000"/>
              </a:lnSpc>
              <a:spcBef>
                <a:spcPct val="20000"/>
              </a:spcBef>
              <a:spcAft>
                <a:spcPct val="0"/>
              </a:spcAft>
              <a:buClr>
                <a:schemeClr val="folHlink"/>
              </a:buClr>
              <a:buSzPct val="60000"/>
            </a:pPr>
            <a:r>
              <a:rPr lang="zh-CN" altLang="en-US" dirty="0"/>
              <a:t>细节繁杂，涉及</a:t>
            </a:r>
            <a:r>
              <a:rPr lang="en-US" altLang="zh-CN" dirty="0"/>
              <a:t>CPU</a:t>
            </a:r>
            <a:r>
              <a:rPr lang="zh-CN" altLang="en-US" dirty="0"/>
              <a:t>的众多特殊寄存器，以及内核</a:t>
            </a:r>
            <a:r>
              <a:rPr lang="zh-CN" altLang="en-US" dirty="0" smtClean="0"/>
              <a:t>栈、</a:t>
            </a:r>
            <a:r>
              <a:rPr lang="en-US" altLang="zh-CN" dirty="0"/>
              <a:t>PCB</a:t>
            </a:r>
            <a:r>
              <a:rPr lang="zh-CN" altLang="en-US" dirty="0"/>
              <a:t>等</a:t>
            </a:r>
            <a:endParaRPr kumimoji="1" lang="zh-CN" altLang="en-US" b="0" i="0" u="none" strike="noStrike" cap="none" normalizeH="0" baseline="0" dirty="0" smtClean="0">
              <a:ln>
                <a:noFill/>
              </a:ln>
              <a:solidFill>
                <a:schemeClr val="tx1"/>
              </a:solidFill>
              <a:effectLst/>
              <a:latin typeface="Tahoma" panose="020B0604030504040204" pitchFamily="34" charset="0"/>
              <a:ea typeface="宋体" panose="02010600030101010101" pitchFamily="2" charset="-122"/>
            </a:endParaRPr>
          </a:p>
        </p:txBody>
      </p:sp>
      <p:sp>
        <p:nvSpPr>
          <p:cNvPr id="10" name="文本框 9"/>
          <p:cNvSpPr txBox="1"/>
          <p:nvPr/>
        </p:nvSpPr>
        <p:spPr>
          <a:xfrm>
            <a:off x="326628" y="2462094"/>
            <a:ext cx="1432719" cy="985955"/>
          </a:xfrm>
          <a:prstGeom prst="rect">
            <a:avLst/>
          </a:prstGeom>
          <a:solidFill>
            <a:schemeClr val="accent5"/>
          </a:solidFill>
          <a:ln>
            <a:solidFill>
              <a:schemeClr val="tx1"/>
            </a:solidFill>
          </a:ln>
        </p:spPr>
        <p:txBody>
          <a:bodyPr wrap="square" rtlCol="0" anchor="ctr" anchorCtr="1">
            <a:noAutofit/>
          </a:bodyPr>
          <a:lstStyle/>
          <a:p>
            <a:r>
              <a:rPr lang="zh-CN" altLang="en-US" dirty="0"/>
              <a:t>过程类似于保存</a:t>
            </a:r>
            <a:r>
              <a:rPr lang="en-US" altLang="zh-CN" dirty="0"/>
              <a:t>/</a:t>
            </a:r>
            <a:r>
              <a:rPr lang="zh-CN" altLang="en-US" dirty="0"/>
              <a:t>装载游戏进度</a:t>
            </a:r>
          </a:p>
        </p:txBody>
      </p:sp>
    </p:spTree>
    <p:extLst>
      <p:ext uri="{BB962C8B-B14F-4D97-AF65-F5344CB8AC3E}">
        <p14:creationId xmlns:p14="http://schemas.microsoft.com/office/powerpoint/2010/main" val="142570601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10"/>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1" nodeType="clickEffect">
                                  <p:stCondLst>
                                    <p:cond delay="0"/>
                                  </p:stCondLst>
                                  <p:childTnLst>
                                    <p:set>
                                      <p:cBhvr>
                                        <p:cTn id="18" dur="1" fill="hold">
                                          <p:stCondLst>
                                            <p:cond delay="0"/>
                                          </p:stCondLst>
                                        </p:cTn>
                                        <p:tgtEl>
                                          <p:spTgt spid="8"/>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1" nodeType="clickEffect">
                                  <p:stCondLst>
                                    <p:cond delay="0"/>
                                  </p:stCondLst>
                                  <p:childTnLst>
                                    <p:set>
                                      <p:cBhvr>
                                        <p:cTn id="26" dur="1" fill="hold">
                                          <p:stCondLst>
                                            <p:cond delay="0"/>
                                          </p:stCondLst>
                                        </p:cTn>
                                        <p:tgtEl>
                                          <p:spTgt spid="9"/>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grpId="1" nodeType="clickEffect">
                                  <p:stCondLst>
                                    <p:cond delay="0"/>
                                  </p:stCondLst>
                                  <p:childTnLst>
                                    <p:set>
                                      <p:cBhvr>
                                        <p:cTn id="34" dur="1" fill="hold">
                                          <p:stCondLst>
                                            <p:cond delay="0"/>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8" grpId="0" animBg="1"/>
      <p:bldP spid="8" grpId="1" animBg="1"/>
      <p:bldP spid="9" grpId="0" animBg="1"/>
      <p:bldP spid="9" grpId="1" animBg="1"/>
      <p:bldP spid="10" grpId="0" animBg="1"/>
      <p:bldP spid="10" grpId="1"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两种“切换”的讨论</a:t>
            </a:r>
          </a:p>
        </p:txBody>
      </p:sp>
      <p:sp>
        <p:nvSpPr>
          <p:cNvPr id="3" name="内容占位符 2"/>
          <p:cNvSpPr>
            <a:spLocks noGrp="1"/>
          </p:cNvSpPr>
          <p:nvPr>
            <p:ph idx="1"/>
          </p:nvPr>
        </p:nvSpPr>
        <p:spPr/>
        <p:txBody>
          <a:bodyPr/>
          <a:lstStyle/>
          <a:p>
            <a:r>
              <a:rPr lang="zh-CN" altLang="en-US" dirty="0"/>
              <a:t>重要常识：</a:t>
            </a:r>
            <a:r>
              <a:rPr lang="en-US" altLang="zh-CN" dirty="0"/>
              <a:t>OS</a:t>
            </a:r>
            <a:r>
              <a:rPr lang="zh-CN" altLang="en-US" dirty="0"/>
              <a:t>在内核中为每个进程准备了一个栈，称为该进程的内核栈</a:t>
            </a:r>
          </a:p>
          <a:p>
            <a:r>
              <a:rPr lang="zh-CN" altLang="en-US" dirty="0"/>
              <a:t>两种切换都导致程序的跳转</a:t>
            </a:r>
          </a:p>
          <a:p>
            <a:pPr lvl="1"/>
            <a:r>
              <a:rPr lang="zh-CN" altLang="en-US" dirty="0" smtClean="0"/>
              <a:t>纵向</a:t>
            </a:r>
            <a:r>
              <a:rPr lang="zh-CN" altLang="en-US" dirty="0"/>
              <a:t>：内核态与用户态的切换</a:t>
            </a:r>
          </a:p>
          <a:p>
            <a:pPr lvl="1"/>
            <a:r>
              <a:rPr lang="zh-CN" altLang="en-US" dirty="0" smtClean="0"/>
              <a:t>横向</a:t>
            </a:r>
            <a:r>
              <a:rPr lang="zh-CN" altLang="en-US" dirty="0"/>
              <a:t>：进程间的切换</a:t>
            </a:r>
          </a:p>
        </p:txBody>
      </p:sp>
      <p:sp>
        <p:nvSpPr>
          <p:cNvPr id="4" name="灯片编号占位符 3"/>
          <p:cNvSpPr>
            <a:spLocks noGrp="1"/>
          </p:cNvSpPr>
          <p:nvPr>
            <p:ph type="sldNum" sz="quarter" idx="12"/>
          </p:nvPr>
        </p:nvSpPr>
        <p:spPr/>
        <p:txBody>
          <a:bodyPr/>
          <a:lstStyle/>
          <a:p>
            <a:fld id="{4093CC90-4002-504C-BD88-C9A1D374048E}" type="slidenum">
              <a:rPr lang="zh-CN" altLang="en-US" smtClean="0"/>
              <a:pPr/>
              <a:t>30</a:t>
            </a:fld>
            <a:endParaRPr lang="zh-CN" altLang="en-US" dirty="0"/>
          </a:p>
        </p:txBody>
      </p:sp>
      <p:cxnSp>
        <p:nvCxnSpPr>
          <p:cNvPr id="5" name="直接连接符 4"/>
          <p:cNvCxnSpPr/>
          <p:nvPr/>
        </p:nvCxnSpPr>
        <p:spPr>
          <a:xfrm>
            <a:off x="590550" y="5524500"/>
            <a:ext cx="770572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1123950" y="4400549"/>
            <a:ext cx="714375" cy="1123951"/>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 name="组合 6"/>
          <p:cNvGrpSpPr/>
          <p:nvPr/>
        </p:nvGrpSpPr>
        <p:grpSpPr>
          <a:xfrm>
            <a:off x="1309687" y="4600575"/>
            <a:ext cx="342900" cy="762000"/>
            <a:chOff x="3095625" y="1028700"/>
            <a:chExt cx="342900" cy="762000"/>
          </a:xfrm>
        </p:grpSpPr>
        <p:sp>
          <p:nvSpPr>
            <p:cNvPr id="8" name="矩形 7"/>
            <p:cNvSpPr/>
            <p:nvPr/>
          </p:nvSpPr>
          <p:spPr>
            <a:xfrm>
              <a:off x="3095625" y="1352550"/>
              <a:ext cx="342900" cy="438150"/>
            </a:xfrm>
            <a:prstGeom prst="rect">
              <a:avLst/>
            </a:prstGeom>
            <a:pattFill prst="wdUpDiag">
              <a:fgClr>
                <a:schemeClr val="tx1"/>
              </a:fgClr>
              <a:bgClr>
                <a:schemeClr val="bg1"/>
              </a:bgClr>
            </a:patt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p:cNvCxnSpPr>
              <a:stCxn id="8" idx="1"/>
            </p:cNvCxnSpPr>
            <p:nvPr/>
          </p:nvCxnSpPr>
          <p:spPr>
            <a:xfrm flipV="1">
              <a:off x="3095625" y="1028700"/>
              <a:ext cx="0" cy="54292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a:stCxn id="8" idx="3"/>
            </p:cNvCxnSpPr>
            <p:nvPr/>
          </p:nvCxnSpPr>
          <p:spPr>
            <a:xfrm flipV="1">
              <a:off x="3438525" y="1028700"/>
              <a:ext cx="0" cy="54292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1" name="组合 10"/>
          <p:cNvGrpSpPr/>
          <p:nvPr/>
        </p:nvGrpSpPr>
        <p:grpSpPr>
          <a:xfrm>
            <a:off x="1309687" y="5705475"/>
            <a:ext cx="342900" cy="762000"/>
            <a:chOff x="3095625" y="1028700"/>
            <a:chExt cx="342900" cy="762000"/>
          </a:xfrm>
        </p:grpSpPr>
        <p:sp>
          <p:nvSpPr>
            <p:cNvPr id="12" name="矩形 11"/>
            <p:cNvSpPr/>
            <p:nvPr/>
          </p:nvSpPr>
          <p:spPr>
            <a:xfrm>
              <a:off x="3095625" y="1352550"/>
              <a:ext cx="342900" cy="438150"/>
            </a:xfrm>
            <a:prstGeom prst="rect">
              <a:avLst/>
            </a:prstGeom>
            <a:pattFill prst="wdUpDiag">
              <a:fgClr>
                <a:schemeClr val="tx1"/>
              </a:fgClr>
              <a:bgClr>
                <a:schemeClr val="bg1"/>
              </a:bgClr>
            </a:patt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 name="直接连接符 12"/>
            <p:cNvCxnSpPr>
              <a:stCxn id="12" idx="1"/>
            </p:cNvCxnSpPr>
            <p:nvPr/>
          </p:nvCxnSpPr>
          <p:spPr>
            <a:xfrm flipV="1">
              <a:off x="3095625" y="1028700"/>
              <a:ext cx="0" cy="54292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a:stCxn id="12" idx="3"/>
            </p:cNvCxnSpPr>
            <p:nvPr/>
          </p:nvCxnSpPr>
          <p:spPr>
            <a:xfrm flipV="1">
              <a:off x="3438525" y="1028700"/>
              <a:ext cx="0" cy="54292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5" name="矩形 14"/>
          <p:cNvSpPr/>
          <p:nvPr/>
        </p:nvSpPr>
        <p:spPr>
          <a:xfrm>
            <a:off x="5976934" y="4400549"/>
            <a:ext cx="714375" cy="1123951"/>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6" name="组合 15"/>
          <p:cNvGrpSpPr/>
          <p:nvPr/>
        </p:nvGrpSpPr>
        <p:grpSpPr>
          <a:xfrm>
            <a:off x="6162671" y="4600575"/>
            <a:ext cx="342900" cy="762000"/>
            <a:chOff x="3095625" y="1028700"/>
            <a:chExt cx="342900" cy="762000"/>
          </a:xfrm>
        </p:grpSpPr>
        <p:sp>
          <p:nvSpPr>
            <p:cNvPr id="17" name="矩形 16"/>
            <p:cNvSpPr/>
            <p:nvPr/>
          </p:nvSpPr>
          <p:spPr>
            <a:xfrm>
              <a:off x="3095625" y="1352550"/>
              <a:ext cx="342900" cy="438150"/>
            </a:xfrm>
            <a:prstGeom prst="rect">
              <a:avLst/>
            </a:prstGeom>
            <a:pattFill prst="wdUpDiag">
              <a:fgClr>
                <a:schemeClr val="tx1"/>
              </a:fgClr>
              <a:bgClr>
                <a:schemeClr val="bg1"/>
              </a:bgClr>
            </a:patt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8" name="直接连接符 17"/>
            <p:cNvCxnSpPr>
              <a:stCxn id="17" idx="1"/>
            </p:cNvCxnSpPr>
            <p:nvPr/>
          </p:nvCxnSpPr>
          <p:spPr>
            <a:xfrm flipV="1">
              <a:off x="3095625" y="1028700"/>
              <a:ext cx="0" cy="54292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a:stCxn id="17" idx="3"/>
            </p:cNvCxnSpPr>
            <p:nvPr/>
          </p:nvCxnSpPr>
          <p:spPr>
            <a:xfrm flipV="1">
              <a:off x="3438525" y="1028700"/>
              <a:ext cx="0" cy="54292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 name="组合 19"/>
          <p:cNvGrpSpPr/>
          <p:nvPr/>
        </p:nvGrpSpPr>
        <p:grpSpPr>
          <a:xfrm>
            <a:off x="6162671" y="5705475"/>
            <a:ext cx="342900" cy="762000"/>
            <a:chOff x="3095625" y="1028700"/>
            <a:chExt cx="342900" cy="762000"/>
          </a:xfrm>
        </p:grpSpPr>
        <p:sp>
          <p:nvSpPr>
            <p:cNvPr id="21" name="矩形 20"/>
            <p:cNvSpPr/>
            <p:nvPr/>
          </p:nvSpPr>
          <p:spPr>
            <a:xfrm>
              <a:off x="3095625" y="1352550"/>
              <a:ext cx="342900" cy="438150"/>
            </a:xfrm>
            <a:prstGeom prst="rect">
              <a:avLst/>
            </a:prstGeom>
            <a:pattFill prst="wdUpDiag">
              <a:fgClr>
                <a:schemeClr val="tx1"/>
              </a:fgClr>
              <a:bgClr>
                <a:schemeClr val="bg1"/>
              </a:bgClr>
            </a:patt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2" name="直接连接符 21"/>
            <p:cNvCxnSpPr>
              <a:stCxn id="21" idx="1"/>
            </p:cNvCxnSpPr>
            <p:nvPr/>
          </p:nvCxnSpPr>
          <p:spPr>
            <a:xfrm flipV="1">
              <a:off x="3095625" y="1028700"/>
              <a:ext cx="0" cy="54292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a:stCxn id="21" idx="3"/>
            </p:cNvCxnSpPr>
            <p:nvPr/>
          </p:nvCxnSpPr>
          <p:spPr>
            <a:xfrm flipV="1">
              <a:off x="3438525" y="1028700"/>
              <a:ext cx="0" cy="54292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4" name="矩形 23"/>
          <p:cNvSpPr/>
          <p:nvPr/>
        </p:nvSpPr>
        <p:spPr>
          <a:xfrm>
            <a:off x="3067050" y="4400549"/>
            <a:ext cx="714375" cy="1123951"/>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5" name="组合 24"/>
          <p:cNvGrpSpPr/>
          <p:nvPr/>
        </p:nvGrpSpPr>
        <p:grpSpPr>
          <a:xfrm>
            <a:off x="3252787" y="4600575"/>
            <a:ext cx="342900" cy="762000"/>
            <a:chOff x="3095625" y="1028700"/>
            <a:chExt cx="342900" cy="762000"/>
          </a:xfrm>
        </p:grpSpPr>
        <p:sp>
          <p:nvSpPr>
            <p:cNvPr id="26" name="矩形 25"/>
            <p:cNvSpPr/>
            <p:nvPr/>
          </p:nvSpPr>
          <p:spPr>
            <a:xfrm>
              <a:off x="3095625" y="1352550"/>
              <a:ext cx="342900" cy="438150"/>
            </a:xfrm>
            <a:prstGeom prst="rect">
              <a:avLst/>
            </a:prstGeom>
            <a:pattFill prst="wdUpDiag">
              <a:fgClr>
                <a:schemeClr val="tx1"/>
              </a:fgClr>
              <a:bgClr>
                <a:schemeClr val="bg1"/>
              </a:bgClr>
            </a:patt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7" name="直接连接符 26"/>
            <p:cNvCxnSpPr>
              <a:stCxn id="26" idx="1"/>
            </p:cNvCxnSpPr>
            <p:nvPr/>
          </p:nvCxnSpPr>
          <p:spPr>
            <a:xfrm flipV="1">
              <a:off x="3095625" y="1028700"/>
              <a:ext cx="0" cy="54292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a:stCxn id="26" idx="3"/>
            </p:cNvCxnSpPr>
            <p:nvPr/>
          </p:nvCxnSpPr>
          <p:spPr>
            <a:xfrm flipV="1">
              <a:off x="3438525" y="1028700"/>
              <a:ext cx="0" cy="54292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9" name="组合 28"/>
          <p:cNvGrpSpPr/>
          <p:nvPr/>
        </p:nvGrpSpPr>
        <p:grpSpPr>
          <a:xfrm>
            <a:off x="3252787" y="5705475"/>
            <a:ext cx="342900" cy="762000"/>
            <a:chOff x="3095625" y="1028700"/>
            <a:chExt cx="342900" cy="762000"/>
          </a:xfrm>
        </p:grpSpPr>
        <p:sp>
          <p:nvSpPr>
            <p:cNvPr id="30" name="矩形 29"/>
            <p:cNvSpPr/>
            <p:nvPr/>
          </p:nvSpPr>
          <p:spPr>
            <a:xfrm>
              <a:off x="3095625" y="1352550"/>
              <a:ext cx="342900" cy="438150"/>
            </a:xfrm>
            <a:prstGeom prst="rect">
              <a:avLst/>
            </a:prstGeom>
            <a:pattFill prst="wdUpDiag">
              <a:fgClr>
                <a:schemeClr val="tx1"/>
              </a:fgClr>
              <a:bgClr>
                <a:schemeClr val="bg1"/>
              </a:bgClr>
            </a:patt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1" name="直接连接符 30"/>
            <p:cNvCxnSpPr>
              <a:stCxn id="30" idx="1"/>
            </p:cNvCxnSpPr>
            <p:nvPr/>
          </p:nvCxnSpPr>
          <p:spPr>
            <a:xfrm flipV="1">
              <a:off x="3095625" y="1028700"/>
              <a:ext cx="0" cy="54292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a:stCxn id="30" idx="3"/>
            </p:cNvCxnSpPr>
            <p:nvPr/>
          </p:nvCxnSpPr>
          <p:spPr>
            <a:xfrm flipV="1">
              <a:off x="3438525" y="1028700"/>
              <a:ext cx="0" cy="54292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3" name="组合 32"/>
          <p:cNvGrpSpPr/>
          <p:nvPr/>
        </p:nvGrpSpPr>
        <p:grpSpPr>
          <a:xfrm>
            <a:off x="4471990" y="5705475"/>
            <a:ext cx="342900" cy="762000"/>
            <a:chOff x="3095625" y="1028700"/>
            <a:chExt cx="342900" cy="762000"/>
          </a:xfrm>
        </p:grpSpPr>
        <p:sp>
          <p:nvSpPr>
            <p:cNvPr id="34" name="矩形 33"/>
            <p:cNvSpPr/>
            <p:nvPr/>
          </p:nvSpPr>
          <p:spPr>
            <a:xfrm>
              <a:off x="3095625" y="1352550"/>
              <a:ext cx="342900" cy="438150"/>
            </a:xfrm>
            <a:prstGeom prst="rect">
              <a:avLst/>
            </a:prstGeom>
            <a:pattFill prst="wdUpDiag">
              <a:fgClr>
                <a:schemeClr val="tx1"/>
              </a:fgClr>
              <a:bgClr>
                <a:schemeClr val="bg1"/>
              </a:bgClr>
            </a:patt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5" name="直接连接符 34"/>
            <p:cNvCxnSpPr>
              <a:stCxn id="34" idx="1"/>
            </p:cNvCxnSpPr>
            <p:nvPr/>
          </p:nvCxnSpPr>
          <p:spPr>
            <a:xfrm flipV="1">
              <a:off x="3095625" y="1028700"/>
              <a:ext cx="0" cy="54292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a:stCxn id="34" idx="3"/>
            </p:cNvCxnSpPr>
            <p:nvPr/>
          </p:nvCxnSpPr>
          <p:spPr>
            <a:xfrm flipV="1">
              <a:off x="3438525" y="1028700"/>
              <a:ext cx="0" cy="54292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7" name="组合 36"/>
          <p:cNvGrpSpPr/>
          <p:nvPr/>
        </p:nvGrpSpPr>
        <p:grpSpPr>
          <a:xfrm>
            <a:off x="5253038" y="5705475"/>
            <a:ext cx="342900" cy="762000"/>
            <a:chOff x="3095625" y="1028700"/>
            <a:chExt cx="342900" cy="762000"/>
          </a:xfrm>
        </p:grpSpPr>
        <p:sp>
          <p:nvSpPr>
            <p:cNvPr id="38" name="矩形 37"/>
            <p:cNvSpPr/>
            <p:nvPr/>
          </p:nvSpPr>
          <p:spPr>
            <a:xfrm>
              <a:off x="3095625" y="1352550"/>
              <a:ext cx="342900" cy="438150"/>
            </a:xfrm>
            <a:prstGeom prst="rect">
              <a:avLst/>
            </a:prstGeom>
            <a:pattFill prst="wdUpDiag">
              <a:fgClr>
                <a:schemeClr val="tx1"/>
              </a:fgClr>
              <a:bgClr>
                <a:schemeClr val="bg1"/>
              </a:bgClr>
            </a:patt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9" name="直接连接符 38"/>
            <p:cNvCxnSpPr>
              <a:stCxn id="38" idx="1"/>
            </p:cNvCxnSpPr>
            <p:nvPr/>
          </p:nvCxnSpPr>
          <p:spPr>
            <a:xfrm flipV="1">
              <a:off x="3095625" y="1028700"/>
              <a:ext cx="0" cy="54292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a:stCxn id="38" idx="3"/>
            </p:cNvCxnSpPr>
            <p:nvPr/>
          </p:nvCxnSpPr>
          <p:spPr>
            <a:xfrm flipV="1">
              <a:off x="3438525" y="1028700"/>
              <a:ext cx="0" cy="54292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1" name="上下箭头 40"/>
          <p:cNvSpPr/>
          <p:nvPr/>
        </p:nvSpPr>
        <p:spPr bwMode="auto">
          <a:xfrm>
            <a:off x="670718" y="4829173"/>
            <a:ext cx="331787" cy="1381125"/>
          </a:xfrm>
          <a:prstGeom prst="upDownArrow">
            <a:avLst/>
          </a:prstGeom>
          <a:solidFill>
            <a:schemeClr val="accent5"/>
          </a:solidFill>
          <a:ln w="9525" cap="flat" cmpd="sng" algn="ctr">
            <a:solidFill>
              <a:schemeClr val="tx1"/>
            </a:solidFill>
            <a:prstDash val="solid"/>
            <a:round/>
            <a:headEnd type="none" w="med" len="med"/>
            <a:tailEnd type="none" w="med" len="med"/>
          </a:ln>
        </p:spPr>
        <p:txBody>
          <a:bodyPr vert="horz" wrap="none" lIns="91440" tIns="45720" rIns="91440" bIns="45720" numCol="1" rtlCol="0" anchor="ctr" anchorCtr="0" compatLnSpc="1"/>
          <a:lstStyle/>
          <a:p>
            <a:pPr marL="342900" marR="0" indent="-342900" algn="ctr"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Char char="n"/>
            </a:pPr>
            <a:endParaRPr kumimoji="1" lang="zh-CN" altLang="en-US" sz="28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endParaRPr>
          </a:p>
        </p:txBody>
      </p:sp>
      <p:sp>
        <p:nvSpPr>
          <p:cNvPr id="42" name="上下箭头 41"/>
          <p:cNvSpPr/>
          <p:nvPr/>
        </p:nvSpPr>
        <p:spPr bwMode="auto">
          <a:xfrm>
            <a:off x="3897319" y="4833937"/>
            <a:ext cx="331787" cy="1381125"/>
          </a:xfrm>
          <a:prstGeom prst="upDownArrow">
            <a:avLst/>
          </a:prstGeom>
          <a:solidFill>
            <a:schemeClr val="accent5"/>
          </a:solidFill>
          <a:ln w="9525" cap="flat" cmpd="sng" algn="ctr">
            <a:solidFill>
              <a:schemeClr val="tx1"/>
            </a:solidFill>
            <a:prstDash val="solid"/>
            <a:round/>
            <a:headEnd type="none" w="med" len="med"/>
            <a:tailEnd type="none" w="med" len="med"/>
          </a:ln>
        </p:spPr>
        <p:txBody>
          <a:bodyPr vert="horz" wrap="none" lIns="91440" tIns="45720" rIns="91440" bIns="45720" numCol="1" rtlCol="0" anchor="ctr" anchorCtr="0" compatLnSpc="1"/>
          <a:lstStyle/>
          <a:p>
            <a:pPr marL="342900" marR="0" indent="-342900" algn="ctr"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Char char="n"/>
            </a:pPr>
            <a:endParaRPr kumimoji="1" lang="zh-CN" altLang="en-US" sz="28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endParaRPr>
          </a:p>
        </p:txBody>
      </p:sp>
      <p:sp>
        <p:nvSpPr>
          <p:cNvPr id="43" name="左右箭头 42"/>
          <p:cNvSpPr/>
          <p:nvPr/>
        </p:nvSpPr>
        <p:spPr bwMode="auto">
          <a:xfrm>
            <a:off x="1978818" y="6124575"/>
            <a:ext cx="933450" cy="323850"/>
          </a:xfrm>
          <a:prstGeom prst="leftRightArrow">
            <a:avLst/>
          </a:prstGeom>
          <a:solidFill>
            <a:schemeClr val="accent5"/>
          </a:solidFill>
          <a:ln w="9525" cap="flat" cmpd="sng" algn="ctr">
            <a:solidFill>
              <a:schemeClr val="tx1"/>
            </a:solidFill>
            <a:prstDash val="solid"/>
            <a:round/>
            <a:headEnd type="none" w="med" len="med"/>
            <a:tailEnd type="none" w="med" len="med"/>
          </a:ln>
        </p:spPr>
        <p:txBody>
          <a:bodyPr vert="horz" wrap="none" lIns="91440" tIns="45720" rIns="91440" bIns="45720" numCol="1" rtlCol="0" anchor="ctr" anchorCtr="0" compatLnSpc="1"/>
          <a:lstStyle/>
          <a:p>
            <a:pPr marL="342900" marR="0" indent="-342900" algn="ctr"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Char char="n"/>
            </a:pPr>
            <a:endParaRPr kumimoji="1" lang="zh-CN" altLang="en-US" sz="28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endParaRPr>
          </a:p>
        </p:txBody>
      </p:sp>
      <p:sp>
        <p:nvSpPr>
          <p:cNvPr id="44" name="矩形 43"/>
          <p:cNvSpPr/>
          <p:nvPr/>
        </p:nvSpPr>
        <p:spPr>
          <a:xfrm>
            <a:off x="1121577" y="5524500"/>
            <a:ext cx="714375" cy="1123951"/>
          </a:xfrm>
          <a:prstGeom prst="rect">
            <a:avLst/>
          </a:prstGeom>
          <a:no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矩形 44"/>
          <p:cNvSpPr/>
          <p:nvPr/>
        </p:nvSpPr>
        <p:spPr>
          <a:xfrm>
            <a:off x="3064675" y="5524500"/>
            <a:ext cx="714375" cy="1123951"/>
          </a:xfrm>
          <a:prstGeom prst="rect">
            <a:avLst/>
          </a:prstGeom>
          <a:no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矩形 45"/>
          <p:cNvSpPr/>
          <p:nvPr/>
        </p:nvSpPr>
        <p:spPr>
          <a:xfrm>
            <a:off x="5972193" y="5524500"/>
            <a:ext cx="714375" cy="1123951"/>
          </a:xfrm>
          <a:prstGeom prst="rect">
            <a:avLst/>
          </a:prstGeom>
          <a:no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文本框 46"/>
          <p:cNvSpPr txBox="1"/>
          <p:nvPr/>
        </p:nvSpPr>
        <p:spPr>
          <a:xfrm>
            <a:off x="1259794" y="4034907"/>
            <a:ext cx="437940" cy="369332"/>
          </a:xfrm>
          <a:prstGeom prst="rect">
            <a:avLst/>
          </a:prstGeom>
          <a:noFill/>
        </p:spPr>
        <p:txBody>
          <a:bodyPr wrap="none" rtlCol="0">
            <a:spAutoFit/>
          </a:bodyPr>
          <a:lstStyle/>
          <a:p>
            <a:r>
              <a:rPr lang="en-US" altLang="zh-CN" dirty="0" smtClean="0"/>
              <a:t>P0</a:t>
            </a:r>
            <a:endParaRPr lang="zh-CN" altLang="en-US" dirty="0"/>
          </a:p>
        </p:txBody>
      </p:sp>
      <p:sp>
        <p:nvSpPr>
          <p:cNvPr id="48" name="文本框 47"/>
          <p:cNvSpPr txBox="1"/>
          <p:nvPr/>
        </p:nvSpPr>
        <p:spPr>
          <a:xfrm>
            <a:off x="3202892" y="4024313"/>
            <a:ext cx="437940" cy="369332"/>
          </a:xfrm>
          <a:prstGeom prst="rect">
            <a:avLst/>
          </a:prstGeom>
          <a:noFill/>
        </p:spPr>
        <p:txBody>
          <a:bodyPr wrap="none" rtlCol="0">
            <a:spAutoFit/>
          </a:bodyPr>
          <a:lstStyle/>
          <a:p>
            <a:r>
              <a:rPr lang="en-US" altLang="zh-CN" dirty="0" smtClean="0"/>
              <a:t>P1</a:t>
            </a:r>
            <a:endParaRPr lang="zh-CN" altLang="en-US" dirty="0"/>
          </a:p>
        </p:txBody>
      </p:sp>
      <p:sp>
        <p:nvSpPr>
          <p:cNvPr id="49" name="文本框 48"/>
          <p:cNvSpPr txBox="1"/>
          <p:nvPr/>
        </p:nvSpPr>
        <p:spPr>
          <a:xfrm>
            <a:off x="6110410" y="4034907"/>
            <a:ext cx="437940" cy="369332"/>
          </a:xfrm>
          <a:prstGeom prst="rect">
            <a:avLst/>
          </a:prstGeom>
          <a:noFill/>
        </p:spPr>
        <p:txBody>
          <a:bodyPr wrap="none" rtlCol="0">
            <a:spAutoFit/>
          </a:bodyPr>
          <a:lstStyle/>
          <a:p>
            <a:r>
              <a:rPr lang="en-US" altLang="zh-CN" dirty="0" err="1" smtClean="0"/>
              <a:t>Pn</a:t>
            </a:r>
            <a:endParaRPr lang="zh-CN" altLang="en-US" dirty="0"/>
          </a:p>
        </p:txBody>
      </p:sp>
      <p:sp>
        <p:nvSpPr>
          <p:cNvPr id="50" name="文本框 49"/>
          <p:cNvSpPr txBox="1"/>
          <p:nvPr/>
        </p:nvSpPr>
        <p:spPr>
          <a:xfrm>
            <a:off x="6802466" y="4763870"/>
            <a:ext cx="1446184" cy="646331"/>
          </a:xfrm>
          <a:prstGeom prst="rect">
            <a:avLst/>
          </a:prstGeom>
          <a:noFill/>
        </p:spPr>
        <p:txBody>
          <a:bodyPr wrap="square" rtlCol="0">
            <a:spAutoFit/>
          </a:bodyPr>
          <a:lstStyle/>
          <a:p>
            <a:r>
              <a:rPr lang="zh-CN" altLang="en-US" dirty="0" smtClean="0"/>
              <a:t>内存低地址，用户态</a:t>
            </a:r>
            <a:endParaRPr lang="zh-CN" altLang="en-US" dirty="0"/>
          </a:p>
        </p:txBody>
      </p:sp>
      <p:sp>
        <p:nvSpPr>
          <p:cNvPr id="51" name="文本框 50"/>
          <p:cNvSpPr txBox="1"/>
          <p:nvPr/>
        </p:nvSpPr>
        <p:spPr>
          <a:xfrm>
            <a:off x="6802466" y="5583022"/>
            <a:ext cx="1446184" cy="646331"/>
          </a:xfrm>
          <a:prstGeom prst="rect">
            <a:avLst/>
          </a:prstGeom>
          <a:noFill/>
        </p:spPr>
        <p:txBody>
          <a:bodyPr wrap="square" rtlCol="0">
            <a:spAutoFit/>
          </a:bodyPr>
          <a:lstStyle/>
          <a:p>
            <a:r>
              <a:rPr lang="zh-CN" altLang="en-US" dirty="0" smtClean="0"/>
              <a:t>内存高地址，内核态</a:t>
            </a:r>
            <a:endParaRPr lang="zh-CN" altLang="en-US" dirty="0"/>
          </a:p>
        </p:txBody>
      </p:sp>
      <p:sp>
        <p:nvSpPr>
          <p:cNvPr id="52" name="左右箭头 51"/>
          <p:cNvSpPr/>
          <p:nvPr/>
        </p:nvSpPr>
        <p:spPr bwMode="auto">
          <a:xfrm>
            <a:off x="1978818" y="4393645"/>
            <a:ext cx="933450" cy="323850"/>
          </a:xfrm>
          <a:prstGeom prst="leftRightArrow">
            <a:avLst/>
          </a:prstGeom>
          <a:solidFill>
            <a:schemeClr val="accent5"/>
          </a:solidFill>
          <a:ln w="9525" cap="flat" cmpd="sng" algn="ctr">
            <a:solidFill>
              <a:schemeClr val="tx1"/>
            </a:solidFill>
            <a:prstDash val="solid"/>
            <a:round/>
            <a:headEnd type="none" w="med" len="med"/>
            <a:tailEnd type="none" w="med" len="med"/>
          </a:ln>
        </p:spPr>
        <p:txBody>
          <a:bodyPr vert="horz" wrap="none" lIns="91440" tIns="45720" rIns="91440" bIns="45720" numCol="1" rtlCol="0" anchor="ctr" anchorCtr="0" compatLnSpc="1"/>
          <a:lstStyle/>
          <a:p>
            <a:pPr marL="342900" marR="0" indent="-342900" algn="ctr"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Char char="n"/>
            </a:pPr>
            <a:endParaRPr kumimoji="1" lang="zh-CN" altLang="en-US" sz="28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endParaRPr>
          </a:p>
        </p:txBody>
      </p:sp>
      <p:sp>
        <p:nvSpPr>
          <p:cNvPr id="53" name="乘号 52"/>
          <p:cNvSpPr>
            <a:spLocks noChangeAspect="1"/>
          </p:cNvSpPr>
          <p:nvPr/>
        </p:nvSpPr>
        <p:spPr>
          <a:xfrm>
            <a:off x="2121934" y="4218504"/>
            <a:ext cx="661736" cy="661736"/>
          </a:xfrm>
          <a:prstGeom prst="mathMultiply">
            <a:avLst>
              <a:gd name="adj1" fmla="val 14309"/>
            </a:avLst>
          </a:prstGeom>
          <a:solidFill>
            <a:srgbClr val="FF0000"/>
          </a:solid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上下箭头 53"/>
          <p:cNvSpPr/>
          <p:nvPr/>
        </p:nvSpPr>
        <p:spPr bwMode="auto">
          <a:xfrm rot="18900000">
            <a:off x="2287443" y="4837639"/>
            <a:ext cx="331787" cy="1381125"/>
          </a:xfrm>
          <a:prstGeom prst="upDownArrow">
            <a:avLst/>
          </a:prstGeom>
          <a:solidFill>
            <a:schemeClr val="accent5"/>
          </a:solidFill>
          <a:ln w="9525" cap="flat" cmpd="sng" algn="ctr">
            <a:solidFill>
              <a:schemeClr val="tx1"/>
            </a:solidFill>
            <a:prstDash val="solid"/>
            <a:round/>
            <a:headEnd type="none" w="med" len="med"/>
            <a:tailEnd type="none" w="med" len="med"/>
          </a:ln>
        </p:spPr>
        <p:txBody>
          <a:bodyPr vert="horz" wrap="none" lIns="91440" tIns="45720" rIns="91440" bIns="45720" numCol="1" rtlCol="0" anchor="ctr" anchorCtr="0" compatLnSpc="1"/>
          <a:lstStyle/>
          <a:p>
            <a:pPr marL="342900" marR="0" indent="-342900" algn="ctr"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Char char="n"/>
            </a:pPr>
            <a:endParaRPr kumimoji="1" lang="zh-CN" altLang="en-US" sz="28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endParaRPr>
          </a:p>
        </p:txBody>
      </p:sp>
      <p:sp>
        <p:nvSpPr>
          <p:cNvPr id="55" name="乘号 54"/>
          <p:cNvSpPr>
            <a:spLocks noChangeAspect="1"/>
          </p:cNvSpPr>
          <p:nvPr/>
        </p:nvSpPr>
        <p:spPr>
          <a:xfrm>
            <a:off x="2122019" y="5197303"/>
            <a:ext cx="661736" cy="661736"/>
          </a:xfrm>
          <a:prstGeom prst="mathMultiply">
            <a:avLst>
              <a:gd name="adj1" fmla="val 14309"/>
            </a:avLst>
          </a:prstGeom>
          <a:solidFill>
            <a:srgbClr val="FF0000"/>
          </a:solid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97879902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1" nodeType="clickEffect">
                                  <p:stCondLst>
                                    <p:cond delay="0"/>
                                  </p:stCondLst>
                                  <p:childTnLst>
                                    <p:set>
                                      <p:cBhvr>
                                        <p:cTn id="14" dur="1" fill="hold">
                                          <p:stCondLst>
                                            <p:cond delay="0"/>
                                          </p:stCondLst>
                                        </p:cTn>
                                        <p:tgtEl>
                                          <p:spTgt spid="52"/>
                                        </p:tgtEl>
                                        <p:attrNameLst>
                                          <p:attrName>style.visibility</p:attrName>
                                        </p:attrNameLst>
                                      </p:cBhvr>
                                      <p:to>
                                        <p:strVal val="hidden"/>
                                      </p:to>
                                    </p:set>
                                  </p:childTnLst>
                                </p:cTn>
                              </p:par>
                              <p:par>
                                <p:cTn id="15" presetID="1" presetClass="exit" presetSubtype="0" fill="hold" grpId="1" nodeType="withEffect">
                                  <p:stCondLst>
                                    <p:cond delay="0"/>
                                  </p:stCondLst>
                                  <p:childTnLst>
                                    <p:set>
                                      <p:cBhvr>
                                        <p:cTn id="16" dur="1" fill="hold">
                                          <p:stCondLst>
                                            <p:cond delay="0"/>
                                          </p:stCondLst>
                                        </p:cTn>
                                        <p:tgtEl>
                                          <p:spTgt spid="53"/>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grpId="1" nodeType="clickEffect">
                                  <p:stCondLst>
                                    <p:cond delay="0"/>
                                  </p:stCondLst>
                                  <p:childTnLst>
                                    <p:set>
                                      <p:cBhvr>
                                        <p:cTn id="28" dur="1" fill="hold">
                                          <p:stCondLst>
                                            <p:cond delay="0"/>
                                          </p:stCondLst>
                                        </p:cTn>
                                        <p:tgtEl>
                                          <p:spTgt spid="54"/>
                                        </p:tgtEl>
                                        <p:attrNameLst>
                                          <p:attrName>style.visibility</p:attrName>
                                        </p:attrNameLst>
                                      </p:cBhvr>
                                      <p:to>
                                        <p:strVal val="hidden"/>
                                      </p:to>
                                    </p:set>
                                  </p:childTnLst>
                                </p:cTn>
                              </p:par>
                              <p:par>
                                <p:cTn id="29" presetID="1" presetClass="exit" presetSubtype="0" fill="hold" grpId="1" nodeType="withEffect">
                                  <p:stCondLst>
                                    <p:cond delay="0"/>
                                  </p:stCondLst>
                                  <p:childTnLst>
                                    <p:set>
                                      <p:cBhvr>
                                        <p:cTn id="30" dur="1" fill="hold">
                                          <p:stCondLst>
                                            <p:cond delay="0"/>
                                          </p:stCondLst>
                                        </p:cTn>
                                        <p:tgtEl>
                                          <p:spTgt spid="5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P spid="52" grpId="1" animBg="1"/>
      <p:bldP spid="53" grpId="0" animBg="1"/>
      <p:bldP spid="53" grpId="1" animBg="1"/>
      <p:bldP spid="54" grpId="0" animBg="1"/>
      <p:bldP spid="54" grpId="1" animBg="1"/>
      <p:bldP spid="55" grpId="0" animBg="1"/>
      <p:bldP spid="55" grpId="1"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两种“切换”的讨论</a:t>
            </a:r>
          </a:p>
        </p:txBody>
      </p:sp>
      <p:sp>
        <p:nvSpPr>
          <p:cNvPr id="3" name="内容占位符 2"/>
          <p:cNvSpPr>
            <a:spLocks noGrp="1"/>
          </p:cNvSpPr>
          <p:nvPr>
            <p:ph idx="1"/>
          </p:nvPr>
        </p:nvSpPr>
        <p:spPr/>
        <p:txBody>
          <a:bodyPr/>
          <a:lstStyle/>
          <a:p>
            <a:r>
              <a:rPr lang="zh-CN" altLang="en-US" dirty="0" smtClean="0"/>
              <a:t>用户</a:t>
            </a:r>
            <a:r>
              <a:rPr lang="zh-CN" altLang="en-US" dirty="0"/>
              <a:t>态程序失去</a:t>
            </a:r>
            <a:r>
              <a:rPr lang="en-US" altLang="zh-CN" dirty="0"/>
              <a:t>CPU</a:t>
            </a:r>
            <a:r>
              <a:rPr lang="zh-CN" altLang="en-US" dirty="0"/>
              <a:t>，只有两种原因：</a:t>
            </a:r>
          </a:p>
          <a:p>
            <a:pPr lvl="1"/>
            <a:r>
              <a:rPr lang="en-US" altLang="zh-CN" dirty="0" smtClean="0"/>
              <a:t>1. </a:t>
            </a:r>
            <a:r>
              <a:rPr lang="zh-CN" altLang="en-US" dirty="0" smtClean="0"/>
              <a:t>还</a:t>
            </a:r>
            <a:r>
              <a:rPr lang="zh-CN" altLang="en-US" dirty="0"/>
              <a:t>能继续执行，但发生中断，</a:t>
            </a:r>
            <a:r>
              <a:rPr lang="en-US" altLang="zh-CN" dirty="0"/>
              <a:t>CPU</a:t>
            </a:r>
            <a:r>
              <a:rPr lang="zh-CN" altLang="en-US" dirty="0"/>
              <a:t>被</a:t>
            </a:r>
            <a:r>
              <a:rPr lang="en-US" altLang="zh-CN" dirty="0"/>
              <a:t>OS</a:t>
            </a:r>
            <a:r>
              <a:rPr lang="zh-CN" altLang="en-US" dirty="0"/>
              <a:t>抢走，转就绪态</a:t>
            </a:r>
          </a:p>
          <a:p>
            <a:pPr lvl="2"/>
            <a:r>
              <a:rPr lang="zh-CN" altLang="en-US" dirty="0" smtClean="0"/>
              <a:t>中断</a:t>
            </a:r>
            <a:r>
              <a:rPr lang="zh-CN" altLang="en-US" dirty="0"/>
              <a:t>那一刻，纵向切换至内核态</a:t>
            </a:r>
          </a:p>
          <a:p>
            <a:pPr lvl="1"/>
            <a:r>
              <a:rPr lang="en-US" altLang="zh-CN" dirty="0" smtClean="0"/>
              <a:t>2. </a:t>
            </a:r>
            <a:r>
              <a:rPr lang="zh-CN" altLang="en-US" dirty="0" smtClean="0"/>
              <a:t>发起系统</a:t>
            </a:r>
            <a:r>
              <a:rPr lang="zh-CN" altLang="en-US" dirty="0"/>
              <a:t>调用，</a:t>
            </a:r>
            <a:r>
              <a:rPr lang="en-US" altLang="zh-CN" dirty="0" smtClean="0"/>
              <a:t>OS</a:t>
            </a:r>
            <a:r>
              <a:rPr lang="zh-CN" altLang="en-US" dirty="0" smtClean="0"/>
              <a:t>无法</a:t>
            </a:r>
            <a:r>
              <a:rPr lang="zh-CN" altLang="en-US" dirty="0"/>
              <a:t>立即完成，转阻塞态</a:t>
            </a:r>
          </a:p>
          <a:p>
            <a:pPr lvl="2"/>
            <a:r>
              <a:rPr lang="zh-CN" altLang="en-US" dirty="0" smtClean="0"/>
              <a:t>系统</a:t>
            </a:r>
            <a:r>
              <a:rPr lang="zh-CN" altLang="en-US" dirty="0"/>
              <a:t>调用那一刻，纵向切换至内核态</a:t>
            </a:r>
          </a:p>
          <a:p>
            <a:pPr lvl="1"/>
            <a:r>
              <a:rPr lang="zh-CN" altLang="en-US" dirty="0"/>
              <a:t>内核处理完中断或系统调用，若决定切换进程，则发生横向切换</a:t>
            </a:r>
          </a:p>
          <a:p>
            <a:r>
              <a:rPr lang="zh-CN" altLang="en-US" dirty="0"/>
              <a:t>因此，切换到内核态是进程切换的前提，用户态程序不可能横向切换</a:t>
            </a:r>
          </a:p>
        </p:txBody>
      </p:sp>
      <p:sp>
        <p:nvSpPr>
          <p:cNvPr id="4" name="灯片编号占位符 3"/>
          <p:cNvSpPr>
            <a:spLocks noGrp="1"/>
          </p:cNvSpPr>
          <p:nvPr>
            <p:ph type="sldNum" sz="quarter" idx="12"/>
          </p:nvPr>
        </p:nvSpPr>
        <p:spPr/>
        <p:txBody>
          <a:bodyPr/>
          <a:lstStyle/>
          <a:p>
            <a:fld id="{4093CC90-4002-504C-BD88-C9A1D374048E}" type="slidenum">
              <a:rPr lang="zh-CN" altLang="en-US" smtClean="0"/>
              <a:pPr/>
              <a:t>31</a:t>
            </a:fld>
            <a:endParaRPr lang="zh-CN" altLang="en-US" dirty="0"/>
          </a:p>
        </p:txBody>
      </p:sp>
    </p:spTree>
    <p:extLst>
      <p:ext uri="{BB962C8B-B14F-4D97-AF65-F5344CB8AC3E}">
        <p14:creationId xmlns:p14="http://schemas.microsoft.com/office/powerpoint/2010/main" val="181547921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a:t>
            </a:r>
            <a:r>
              <a:rPr lang="en-US" altLang="zh-CN" dirty="0"/>
              <a:t>3</a:t>
            </a:r>
            <a:r>
              <a:rPr lang="zh-CN" altLang="en-US" dirty="0"/>
              <a:t>章 进程</a:t>
            </a:r>
          </a:p>
        </p:txBody>
      </p:sp>
      <p:sp>
        <p:nvSpPr>
          <p:cNvPr id="3" name="内容占位符 2"/>
          <p:cNvSpPr>
            <a:spLocks noGrp="1"/>
          </p:cNvSpPr>
          <p:nvPr>
            <p:ph idx="1"/>
          </p:nvPr>
        </p:nvSpPr>
        <p:spPr/>
        <p:txBody>
          <a:bodyPr/>
          <a:lstStyle/>
          <a:p>
            <a:r>
              <a:rPr lang="zh-CN" altLang="en-US" dirty="0"/>
              <a:t>本章内容</a:t>
            </a:r>
            <a:endParaRPr lang="en-US" altLang="zh-CN" dirty="0"/>
          </a:p>
          <a:p>
            <a:r>
              <a:rPr lang="en-US" altLang="zh-CN" dirty="0"/>
              <a:t>1.</a:t>
            </a:r>
            <a:r>
              <a:rPr lang="zh-CN" altLang="en-US" dirty="0"/>
              <a:t> 进程的概念</a:t>
            </a:r>
            <a:endParaRPr lang="zh-CN" altLang="zh-CN" dirty="0"/>
          </a:p>
          <a:p>
            <a:r>
              <a:rPr lang="en-US" altLang="zh-CN" dirty="0"/>
              <a:t>2.</a:t>
            </a:r>
            <a:r>
              <a:rPr lang="zh-CN" altLang="en-US" dirty="0"/>
              <a:t> 进程调度</a:t>
            </a:r>
            <a:endParaRPr lang="zh-CN" altLang="zh-CN" dirty="0"/>
          </a:p>
          <a:p>
            <a:r>
              <a:rPr lang="en-US" altLang="zh-CN" dirty="0">
                <a:solidFill>
                  <a:srgbClr val="FF0000"/>
                </a:solidFill>
              </a:rPr>
              <a:t>3.</a:t>
            </a:r>
            <a:r>
              <a:rPr lang="zh-CN" altLang="en-US" dirty="0">
                <a:solidFill>
                  <a:srgbClr val="FF0000"/>
                </a:solidFill>
              </a:rPr>
              <a:t> 进程操作</a:t>
            </a:r>
            <a:endParaRPr lang="en-US" altLang="zh-CN" dirty="0">
              <a:solidFill>
                <a:srgbClr val="FF0000"/>
              </a:solidFill>
            </a:endParaRPr>
          </a:p>
          <a:p>
            <a:r>
              <a:rPr lang="en-US" altLang="zh-CN" dirty="0"/>
              <a:t>4.</a:t>
            </a:r>
            <a:r>
              <a:rPr lang="zh-CN" altLang="en-US" dirty="0"/>
              <a:t> 进程间通信</a:t>
            </a:r>
          </a:p>
        </p:txBody>
      </p:sp>
      <p:sp>
        <p:nvSpPr>
          <p:cNvPr id="4" name="灯片编号占位符 3"/>
          <p:cNvSpPr>
            <a:spLocks noGrp="1"/>
          </p:cNvSpPr>
          <p:nvPr>
            <p:ph type="sldNum" sz="quarter" idx="12"/>
          </p:nvPr>
        </p:nvSpPr>
        <p:spPr/>
        <p:txBody>
          <a:bodyPr/>
          <a:lstStyle/>
          <a:p>
            <a:fld id="{4093CC90-4002-504C-BD88-C9A1D374048E}" type="slidenum">
              <a:rPr lang="zh-CN" altLang="en-US" smtClean="0"/>
              <a:pPr/>
              <a:t>32</a:t>
            </a:fld>
            <a:endParaRPr lang="zh-CN" altLang="en-US" dirty="0"/>
          </a:p>
        </p:txBody>
      </p:sp>
    </p:spTree>
    <p:extLst>
      <p:ext uri="{BB962C8B-B14F-4D97-AF65-F5344CB8AC3E}">
        <p14:creationId xmlns:p14="http://schemas.microsoft.com/office/powerpoint/2010/main" val="223486954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补充：前趋图</a:t>
            </a:r>
            <a:endParaRPr lang="zh-CN" altLang="en-US" dirty="0"/>
          </a:p>
        </p:txBody>
      </p:sp>
      <p:sp>
        <p:nvSpPr>
          <p:cNvPr id="3" name="内容占位符 2"/>
          <p:cNvSpPr>
            <a:spLocks noGrp="1"/>
          </p:cNvSpPr>
          <p:nvPr>
            <p:ph idx="1"/>
          </p:nvPr>
        </p:nvSpPr>
        <p:spPr/>
        <p:txBody>
          <a:bodyPr/>
          <a:lstStyle/>
          <a:p>
            <a:r>
              <a:rPr lang="zh-CN" altLang="en-US" dirty="0"/>
              <a:t>前趋图是一个有向无</a:t>
            </a:r>
            <a:r>
              <a:rPr lang="zh-CN" altLang="en-US" dirty="0" smtClean="0"/>
              <a:t>循环图</a:t>
            </a:r>
            <a:endParaRPr lang="en-US" altLang="zh-CN" dirty="0" smtClean="0"/>
          </a:p>
          <a:p>
            <a:pPr lvl="1"/>
            <a:r>
              <a:rPr lang="zh-CN" altLang="en-US" dirty="0" smtClean="0"/>
              <a:t>用于</a:t>
            </a:r>
            <a:r>
              <a:rPr lang="zh-CN" altLang="en-US" dirty="0"/>
              <a:t>描述程序、程序段或语句执行的先后</a:t>
            </a:r>
            <a:r>
              <a:rPr lang="zh-CN" altLang="en-US" dirty="0" smtClean="0"/>
              <a:t>次序</a:t>
            </a:r>
            <a:endParaRPr lang="en-US" altLang="zh-CN" dirty="0" smtClean="0"/>
          </a:p>
          <a:p>
            <a:pPr lvl="1"/>
            <a:r>
              <a:rPr lang="en-US" altLang="zh-CN" dirty="0"/>
              <a:t>A→B</a:t>
            </a:r>
            <a:r>
              <a:rPr lang="zh-CN" altLang="en-US" dirty="0"/>
              <a:t>：</a:t>
            </a:r>
            <a:r>
              <a:rPr lang="en-US" altLang="zh-CN" dirty="0"/>
              <a:t>A</a:t>
            </a:r>
            <a:r>
              <a:rPr lang="zh-CN" altLang="en-US" dirty="0"/>
              <a:t>必须在</a:t>
            </a:r>
            <a:r>
              <a:rPr lang="en-US" altLang="zh-CN" dirty="0"/>
              <a:t>B</a:t>
            </a:r>
            <a:r>
              <a:rPr lang="zh-CN" altLang="en-US" dirty="0"/>
              <a:t>开始执行之前完成</a:t>
            </a:r>
            <a:endParaRPr lang="en-US" altLang="zh-CN" dirty="0" smtClean="0"/>
          </a:p>
        </p:txBody>
      </p:sp>
      <p:sp>
        <p:nvSpPr>
          <p:cNvPr id="4" name="灯片编号占位符 3"/>
          <p:cNvSpPr>
            <a:spLocks noGrp="1"/>
          </p:cNvSpPr>
          <p:nvPr>
            <p:ph type="sldNum" sz="quarter" idx="12"/>
          </p:nvPr>
        </p:nvSpPr>
        <p:spPr/>
        <p:txBody>
          <a:bodyPr/>
          <a:lstStyle/>
          <a:p>
            <a:fld id="{4093CC90-4002-504C-BD88-C9A1D374048E}" type="slidenum">
              <a:rPr lang="zh-CN" altLang="en-US" smtClean="0"/>
              <a:pPr/>
              <a:t>33</a:t>
            </a:fld>
            <a:endParaRPr lang="zh-CN" altLang="en-US" dirty="0"/>
          </a:p>
        </p:txBody>
      </p:sp>
      <p:sp>
        <p:nvSpPr>
          <p:cNvPr id="5" name="Oval 3"/>
          <p:cNvSpPr>
            <a:spLocks noChangeArrowheads="1"/>
          </p:cNvSpPr>
          <p:nvPr/>
        </p:nvSpPr>
        <p:spPr bwMode="auto">
          <a:xfrm rot="10800000" flipV="1">
            <a:off x="1698625" y="4349750"/>
            <a:ext cx="673100" cy="673100"/>
          </a:xfrm>
          <a:prstGeom prst="ellipse">
            <a:avLst/>
          </a:prstGeom>
          <a:solidFill>
            <a:srgbClr val="FFFFFF"/>
          </a:solidFill>
          <a:ln w="25400">
            <a:solidFill>
              <a:srgbClr val="000000"/>
            </a:solidFill>
            <a:round/>
            <a:headEnd/>
            <a:tailEnd/>
          </a:ln>
        </p:spPr>
        <p:txBody>
          <a:bodyPr lIns="0" tIns="46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a:lnSpc>
                <a:spcPct val="96000"/>
              </a:lnSpc>
              <a:spcBef>
                <a:spcPct val="0"/>
              </a:spcBef>
              <a:buClrTx/>
              <a:buSzTx/>
              <a:buFontTx/>
              <a:buNone/>
            </a:pPr>
            <a:r>
              <a:rPr lang="en-US" altLang="zh-CN" sz="2400">
                <a:latin typeface="Times New Roman" panose="02020603050405020304" pitchFamily="18" charset="0"/>
              </a:rPr>
              <a:t>S</a:t>
            </a:r>
            <a:r>
              <a:rPr lang="en-US" altLang="zh-CN" sz="2400" baseline="-25000">
                <a:latin typeface="Times New Roman" panose="02020603050405020304" pitchFamily="18" charset="0"/>
              </a:rPr>
              <a:t>1</a:t>
            </a:r>
            <a:endParaRPr lang="en-US" altLang="zh-CN" sz="2400">
              <a:latin typeface="Times New Roman" panose="02020603050405020304" pitchFamily="18" charset="0"/>
            </a:endParaRPr>
          </a:p>
        </p:txBody>
      </p:sp>
      <p:sp>
        <p:nvSpPr>
          <p:cNvPr id="6" name="Oval 4"/>
          <p:cNvSpPr>
            <a:spLocks noChangeArrowheads="1"/>
          </p:cNvSpPr>
          <p:nvPr/>
        </p:nvSpPr>
        <p:spPr bwMode="auto">
          <a:xfrm rot="10800000" flipV="1">
            <a:off x="3460750" y="3641725"/>
            <a:ext cx="673100" cy="673100"/>
          </a:xfrm>
          <a:prstGeom prst="ellipse">
            <a:avLst/>
          </a:prstGeom>
          <a:solidFill>
            <a:srgbClr val="FFFFFF"/>
          </a:solidFill>
          <a:ln w="25400">
            <a:solidFill>
              <a:srgbClr val="000000"/>
            </a:solidFill>
            <a:round/>
            <a:headEnd/>
            <a:tailEnd/>
          </a:ln>
        </p:spPr>
        <p:txBody>
          <a:bodyPr lIns="0" tIns="46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a:lnSpc>
                <a:spcPct val="96000"/>
              </a:lnSpc>
              <a:spcBef>
                <a:spcPct val="0"/>
              </a:spcBef>
              <a:buClrTx/>
              <a:buSzTx/>
              <a:buFontTx/>
              <a:buNone/>
            </a:pPr>
            <a:r>
              <a:rPr lang="en-US" altLang="zh-CN" sz="2400">
                <a:latin typeface="Times New Roman" panose="02020603050405020304" pitchFamily="18" charset="0"/>
              </a:rPr>
              <a:t>S</a:t>
            </a:r>
            <a:r>
              <a:rPr lang="en-US" altLang="zh-CN" sz="2400" baseline="-25000">
                <a:latin typeface="Times New Roman" panose="02020603050405020304" pitchFamily="18" charset="0"/>
              </a:rPr>
              <a:t>2</a:t>
            </a:r>
            <a:endParaRPr lang="en-US" altLang="zh-CN" sz="2400">
              <a:latin typeface="Times New Roman" panose="02020603050405020304" pitchFamily="18" charset="0"/>
            </a:endParaRPr>
          </a:p>
        </p:txBody>
      </p:sp>
      <p:sp>
        <p:nvSpPr>
          <p:cNvPr id="7" name="Oval 5"/>
          <p:cNvSpPr>
            <a:spLocks noChangeArrowheads="1"/>
          </p:cNvSpPr>
          <p:nvPr/>
        </p:nvSpPr>
        <p:spPr bwMode="auto">
          <a:xfrm rot="10800000" flipV="1">
            <a:off x="3484563" y="5456238"/>
            <a:ext cx="673100" cy="673100"/>
          </a:xfrm>
          <a:prstGeom prst="ellipse">
            <a:avLst/>
          </a:prstGeom>
          <a:solidFill>
            <a:srgbClr val="FFFFFF"/>
          </a:solidFill>
          <a:ln w="25400">
            <a:solidFill>
              <a:srgbClr val="000000"/>
            </a:solidFill>
            <a:round/>
            <a:headEnd/>
            <a:tailEnd/>
          </a:ln>
        </p:spPr>
        <p:txBody>
          <a:bodyPr lIns="0" tIns="46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a:lnSpc>
                <a:spcPct val="96000"/>
              </a:lnSpc>
              <a:spcBef>
                <a:spcPct val="0"/>
              </a:spcBef>
              <a:buClrTx/>
              <a:buSzTx/>
              <a:buFontTx/>
              <a:buNone/>
            </a:pPr>
            <a:r>
              <a:rPr lang="en-US" altLang="zh-CN" sz="2400">
                <a:latin typeface="Times New Roman" panose="02020603050405020304" pitchFamily="18" charset="0"/>
              </a:rPr>
              <a:t>S</a:t>
            </a:r>
            <a:r>
              <a:rPr lang="en-US" altLang="zh-CN" sz="2400" baseline="-25000">
                <a:latin typeface="Times New Roman" panose="02020603050405020304" pitchFamily="18" charset="0"/>
              </a:rPr>
              <a:t>3</a:t>
            </a:r>
            <a:endParaRPr lang="en-US" altLang="zh-CN" sz="2400">
              <a:latin typeface="Times New Roman" panose="02020603050405020304" pitchFamily="18" charset="0"/>
            </a:endParaRPr>
          </a:p>
        </p:txBody>
      </p:sp>
      <p:sp>
        <p:nvSpPr>
          <p:cNvPr id="8" name="Oval 6"/>
          <p:cNvSpPr>
            <a:spLocks noChangeArrowheads="1"/>
          </p:cNvSpPr>
          <p:nvPr/>
        </p:nvSpPr>
        <p:spPr bwMode="auto">
          <a:xfrm rot="10800000" flipV="1">
            <a:off x="6892925" y="4470400"/>
            <a:ext cx="673100" cy="673100"/>
          </a:xfrm>
          <a:prstGeom prst="ellipse">
            <a:avLst/>
          </a:prstGeom>
          <a:solidFill>
            <a:srgbClr val="FFFFFF"/>
          </a:solidFill>
          <a:ln w="25400">
            <a:solidFill>
              <a:srgbClr val="000000"/>
            </a:solidFill>
            <a:round/>
            <a:headEnd/>
            <a:tailEnd/>
          </a:ln>
        </p:spPr>
        <p:txBody>
          <a:bodyPr lIns="0" tIns="46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a:lnSpc>
                <a:spcPct val="96000"/>
              </a:lnSpc>
              <a:spcBef>
                <a:spcPct val="0"/>
              </a:spcBef>
              <a:buClrTx/>
              <a:buSzTx/>
              <a:buFontTx/>
              <a:buNone/>
            </a:pPr>
            <a:r>
              <a:rPr lang="en-US" altLang="zh-CN" sz="2400">
                <a:latin typeface="Times New Roman" panose="02020603050405020304" pitchFamily="18" charset="0"/>
              </a:rPr>
              <a:t>S</a:t>
            </a:r>
            <a:r>
              <a:rPr lang="en-US" altLang="zh-CN" sz="2400" baseline="-25000">
                <a:latin typeface="Times New Roman" panose="02020603050405020304" pitchFamily="18" charset="0"/>
              </a:rPr>
              <a:t>6</a:t>
            </a:r>
            <a:endParaRPr lang="en-US" altLang="zh-CN" sz="2400">
              <a:latin typeface="Times New Roman" panose="02020603050405020304" pitchFamily="18" charset="0"/>
            </a:endParaRPr>
          </a:p>
        </p:txBody>
      </p:sp>
      <p:sp>
        <p:nvSpPr>
          <p:cNvPr id="9" name="Oval 7"/>
          <p:cNvSpPr>
            <a:spLocks noChangeArrowheads="1"/>
          </p:cNvSpPr>
          <p:nvPr/>
        </p:nvSpPr>
        <p:spPr bwMode="auto">
          <a:xfrm rot="10800000" flipV="1">
            <a:off x="5329238" y="5454650"/>
            <a:ext cx="673100" cy="673100"/>
          </a:xfrm>
          <a:prstGeom prst="ellipse">
            <a:avLst/>
          </a:prstGeom>
          <a:solidFill>
            <a:srgbClr val="FFFFFF"/>
          </a:solidFill>
          <a:ln w="25400">
            <a:solidFill>
              <a:srgbClr val="000000"/>
            </a:solidFill>
            <a:round/>
            <a:headEnd/>
            <a:tailEnd/>
          </a:ln>
        </p:spPr>
        <p:txBody>
          <a:bodyPr lIns="0" tIns="46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a:lnSpc>
                <a:spcPct val="96000"/>
              </a:lnSpc>
              <a:spcBef>
                <a:spcPct val="0"/>
              </a:spcBef>
              <a:buClrTx/>
              <a:buSzTx/>
              <a:buFontTx/>
              <a:buNone/>
            </a:pPr>
            <a:r>
              <a:rPr lang="en-US" altLang="zh-CN" sz="2400">
                <a:latin typeface="Times New Roman" panose="02020603050405020304" pitchFamily="18" charset="0"/>
              </a:rPr>
              <a:t>S</a:t>
            </a:r>
            <a:r>
              <a:rPr lang="en-US" altLang="zh-CN" sz="2400" baseline="-25000">
                <a:latin typeface="Times New Roman" panose="02020603050405020304" pitchFamily="18" charset="0"/>
              </a:rPr>
              <a:t>4</a:t>
            </a:r>
            <a:endParaRPr lang="en-US" altLang="zh-CN" sz="2400">
              <a:latin typeface="Times New Roman" panose="02020603050405020304" pitchFamily="18" charset="0"/>
            </a:endParaRPr>
          </a:p>
        </p:txBody>
      </p:sp>
      <p:sp>
        <p:nvSpPr>
          <p:cNvPr id="10" name="Line 8"/>
          <p:cNvSpPr>
            <a:spLocks noChangeShapeType="1"/>
          </p:cNvSpPr>
          <p:nvPr/>
        </p:nvSpPr>
        <p:spPr bwMode="auto">
          <a:xfrm rot="5400000" flipV="1">
            <a:off x="2540000" y="4635501"/>
            <a:ext cx="815975" cy="1206500"/>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1" name="Line 9"/>
          <p:cNvSpPr>
            <a:spLocks noChangeShapeType="1"/>
          </p:cNvSpPr>
          <p:nvPr/>
        </p:nvSpPr>
        <p:spPr bwMode="auto">
          <a:xfrm rot="16200000">
            <a:off x="4667250" y="2851150"/>
            <a:ext cx="431800" cy="1511300"/>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2" name="Line 11"/>
          <p:cNvSpPr>
            <a:spLocks noChangeShapeType="1"/>
          </p:cNvSpPr>
          <p:nvPr/>
        </p:nvSpPr>
        <p:spPr bwMode="auto">
          <a:xfrm rot="16200000">
            <a:off x="2649538" y="3713163"/>
            <a:ext cx="504825" cy="1152525"/>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3" name="Line 12"/>
          <p:cNvSpPr>
            <a:spLocks noChangeShapeType="1"/>
          </p:cNvSpPr>
          <p:nvPr/>
        </p:nvSpPr>
        <p:spPr bwMode="auto">
          <a:xfrm rot="5400000" flipH="1" flipV="1">
            <a:off x="4723606" y="5228432"/>
            <a:ext cx="11113" cy="1206500"/>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4" name="Line 13"/>
          <p:cNvSpPr>
            <a:spLocks noChangeShapeType="1"/>
          </p:cNvSpPr>
          <p:nvPr/>
        </p:nvSpPr>
        <p:spPr bwMode="auto">
          <a:xfrm rot="16200000">
            <a:off x="6107113" y="4938713"/>
            <a:ext cx="792162" cy="1008062"/>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5" name="Oval 14"/>
          <p:cNvSpPr>
            <a:spLocks noChangeArrowheads="1"/>
          </p:cNvSpPr>
          <p:nvPr/>
        </p:nvSpPr>
        <p:spPr bwMode="auto">
          <a:xfrm rot="10800000" flipV="1">
            <a:off x="5638800" y="3030538"/>
            <a:ext cx="673100" cy="673100"/>
          </a:xfrm>
          <a:prstGeom prst="ellipse">
            <a:avLst/>
          </a:prstGeom>
          <a:solidFill>
            <a:srgbClr val="FFFFFF"/>
          </a:solidFill>
          <a:ln w="25400">
            <a:solidFill>
              <a:srgbClr val="000000"/>
            </a:solidFill>
            <a:round/>
            <a:headEnd/>
            <a:tailEnd/>
          </a:ln>
        </p:spPr>
        <p:txBody>
          <a:bodyPr lIns="0" tIns="46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a:lnSpc>
                <a:spcPct val="96000"/>
              </a:lnSpc>
              <a:spcBef>
                <a:spcPct val="0"/>
              </a:spcBef>
              <a:buClrTx/>
              <a:buSzTx/>
              <a:buFontTx/>
              <a:buNone/>
            </a:pPr>
            <a:r>
              <a:rPr lang="en-US" altLang="zh-CN" sz="2400">
                <a:latin typeface="Times New Roman" panose="02020603050405020304" pitchFamily="18" charset="0"/>
              </a:rPr>
              <a:t>S</a:t>
            </a:r>
            <a:r>
              <a:rPr lang="en-US" altLang="zh-CN" sz="2400" baseline="-25000">
                <a:latin typeface="Times New Roman" panose="02020603050405020304" pitchFamily="18" charset="0"/>
              </a:rPr>
              <a:t>5</a:t>
            </a:r>
            <a:endParaRPr lang="en-US" altLang="zh-CN" sz="2400">
              <a:latin typeface="Times New Roman" panose="02020603050405020304" pitchFamily="18" charset="0"/>
            </a:endParaRPr>
          </a:p>
        </p:txBody>
      </p:sp>
      <p:sp>
        <p:nvSpPr>
          <p:cNvPr id="16" name="Line 15"/>
          <p:cNvSpPr>
            <a:spLocks noChangeShapeType="1"/>
          </p:cNvSpPr>
          <p:nvPr/>
        </p:nvSpPr>
        <p:spPr bwMode="auto">
          <a:xfrm rot="5400000" flipV="1">
            <a:off x="6251575" y="3570288"/>
            <a:ext cx="936625" cy="863600"/>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Tree>
    <p:extLst>
      <p:ext uri="{BB962C8B-B14F-4D97-AF65-F5344CB8AC3E}">
        <p14:creationId xmlns:p14="http://schemas.microsoft.com/office/powerpoint/2010/main" val="341467949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补充：前趋图</a:t>
            </a:r>
          </a:p>
        </p:txBody>
      </p:sp>
      <p:sp>
        <p:nvSpPr>
          <p:cNvPr id="3" name="内容占位符 2"/>
          <p:cNvSpPr>
            <a:spLocks noGrp="1"/>
          </p:cNvSpPr>
          <p:nvPr>
            <p:ph idx="1"/>
          </p:nvPr>
        </p:nvSpPr>
        <p:spPr/>
        <p:txBody>
          <a:bodyPr/>
          <a:lstStyle/>
          <a:p>
            <a:r>
              <a:rPr lang="zh-CN" altLang="en-US" dirty="0"/>
              <a:t>并发</a:t>
            </a:r>
            <a:r>
              <a:rPr lang="zh-CN" altLang="en-US" dirty="0" smtClean="0"/>
              <a:t>执行的代码往往存在制约，须设法控制执行速度，不可放任</a:t>
            </a:r>
            <a:endParaRPr lang="zh-CN" altLang="en-US" dirty="0"/>
          </a:p>
        </p:txBody>
      </p:sp>
      <p:sp>
        <p:nvSpPr>
          <p:cNvPr id="4" name="灯片编号占位符 3"/>
          <p:cNvSpPr>
            <a:spLocks noGrp="1"/>
          </p:cNvSpPr>
          <p:nvPr>
            <p:ph type="sldNum" sz="quarter" idx="12"/>
          </p:nvPr>
        </p:nvSpPr>
        <p:spPr/>
        <p:txBody>
          <a:bodyPr/>
          <a:lstStyle/>
          <a:p>
            <a:fld id="{4093CC90-4002-504C-BD88-C9A1D374048E}" type="slidenum">
              <a:rPr lang="zh-CN" altLang="en-US" smtClean="0"/>
              <a:pPr/>
              <a:t>34</a:t>
            </a:fld>
            <a:endParaRPr lang="zh-CN" altLang="en-US" dirty="0"/>
          </a:p>
        </p:txBody>
      </p:sp>
      <p:grpSp>
        <p:nvGrpSpPr>
          <p:cNvPr id="5" name="组合 26"/>
          <p:cNvGrpSpPr>
            <a:grpSpLocks noChangeAspect="1"/>
          </p:cNvGrpSpPr>
          <p:nvPr/>
        </p:nvGrpSpPr>
        <p:grpSpPr bwMode="auto">
          <a:xfrm>
            <a:off x="5034915" y="2500948"/>
            <a:ext cx="3074670" cy="3628390"/>
            <a:chOff x="5265738" y="1484313"/>
            <a:chExt cx="3843337" cy="4535487"/>
          </a:xfrm>
        </p:grpSpPr>
        <p:sp>
          <p:nvSpPr>
            <p:cNvPr id="6" name="Oval 5"/>
            <p:cNvSpPr>
              <a:spLocks noChangeArrowheads="1"/>
            </p:cNvSpPr>
            <p:nvPr/>
          </p:nvSpPr>
          <p:spPr bwMode="auto">
            <a:xfrm>
              <a:off x="5265738" y="1484313"/>
              <a:ext cx="719137" cy="676345"/>
            </a:xfrm>
            <a:prstGeom prst="ellipse">
              <a:avLst/>
            </a:prstGeom>
            <a:solidFill>
              <a:srgbClr val="FFFFFF"/>
            </a:solidFill>
            <a:ln w="28575">
              <a:solidFill>
                <a:srgbClr val="000000"/>
              </a:solidFill>
              <a:round/>
              <a:headEnd/>
              <a:tailEnd/>
            </a:ln>
          </p:spPr>
          <p:txBody>
            <a:bodyPr lIns="0" tIns="0" rIns="0" bIns="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lang="en-US" altLang="zh-CN" sz="2000" b="1" dirty="0">
                  <a:latin typeface="Times New Roman" panose="02020603050405020304" pitchFamily="18" charset="0"/>
                </a:rPr>
                <a:t>I</a:t>
              </a:r>
              <a:r>
                <a:rPr lang="en-US" altLang="zh-CN" sz="2000" b="1" baseline="-25000" dirty="0">
                  <a:latin typeface="Times New Roman" panose="02020603050405020304" pitchFamily="18" charset="0"/>
                </a:rPr>
                <a:t>1</a:t>
              </a:r>
              <a:endParaRPr lang="en-US" altLang="zh-CN" sz="2000" b="1" dirty="0">
                <a:latin typeface="Times New Roman" panose="02020603050405020304" pitchFamily="18" charset="0"/>
              </a:endParaRPr>
            </a:p>
          </p:txBody>
        </p:sp>
        <p:sp>
          <p:nvSpPr>
            <p:cNvPr id="7" name="Oval 6"/>
            <p:cNvSpPr>
              <a:spLocks noChangeArrowheads="1"/>
            </p:cNvSpPr>
            <p:nvPr/>
          </p:nvSpPr>
          <p:spPr bwMode="auto">
            <a:xfrm>
              <a:off x="5265738" y="2762405"/>
              <a:ext cx="719137" cy="676345"/>
            </a:xfrm>
            <a:prstGeom prst="ellipse">
              <a:avLst/>
            </a:prstGeom>
            <a:solidFill>
              <a:srgbClr val="FFFFFF"/>
            </a:solidFill>
            <a:ln w="28575">
              <a:solidFill>
                <a:srgbClr val="000000"/>
              </a:solidFill>
              <a:round/>
              <a:headEnd/>
              <a:tailEnd/>
            </a:ln>
          </p:spPr>
          <p:txBody>
            <a:bodyPr lIns="0" tIns="0" rIns="0" bIns="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lang="en-US" altLang="zh-CN" sz="2000" b="1">
                  <a:latin typeface="Times New Roman" panose="02020603050405020304" pitchFamily="18" charset="0"/>
                </a:rPr>
                <a:t>I</a:t>
              </a:r>
              <a:r>
                <a:rPr lang="en-US" altLang="zh-CN" sz="2000" b="1" baseline="-25000">
                  <a:latin typeface="Times New Roman" panose="02020603050405020304" pitchFamily="18" charset="0"/>
                </a:rPr>
                <a:t>2</a:t>
              </a:r>
              <a:endParaRPr lang="en-US" altLang="zh-CN" sz="2000" b="1">
                <a:latin typeface="Times New Roman" panose="02020603050405020304" pitchFamily="18" charset="0"/>
              </a:endParaRPr>
            </a:p>
          </p:txBody>
        </p:sp>
        <p:sp>
          <p:nvSpPr>
            <p:cNvPr id="8" name="Oval 7"/>
            <p:cNvSpPr>
              <a:spLocks noChangeArrowheads="1"/>
            </p:cNvSpPr>
            <p:nvPr/>
          </p:nvSpPr>
          <p:spPr bwMode="auto">
            <a:xfrm>
              <a:off x="5265738" y="4055417"/>
              <a:ext cx="719137" cy="676345"/>
            </a:xfrm>
            <a:prstGeom prst="ellipse">
              <a:avLst/>
            </a:prstGeom>
            <a:solidFill>
              <a:srgbClr val="FFFFFF"/>
            </a:solidFill>
            <a:ln w="28575">
              <a:solidFill>
                <a:srgbClr val="000000"/>
              </a:solidFill>
              <a:round/>
              <a:headEnd/>
              <a:tailEnd/>
            </a:ln>
          </p:spPr>
          <p:txBody>
            <a:bodyPr lIns="0" tIns="0" rIns="0" bIns="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lang="en-US" altLang="zh-CN" sz="2000" b="1">
                  <a:latin typeface="Times New Roman" panose="02020603050405020304" pitchFamily="18" charset="0"/>
                </a:rPr>
                <a:t>I</a:t>
              </a:r>
              <a:r>
                <a:rPr lang="en-US" altLang="zh-CN" sz="2000" b="1" baseline="-25000">
                  <a:latin typeface="Times New Roman" panose="02020603050405020304" pitchFamily="18" charset="0"/>
                </a:rPr>
                <a:t>3</a:t>
              </a:r>
              <a:endParaRPr lang="en-US" altLang="zh-CN" sz="2000" b="1">
                <a:latin typeface="Times New Roman" panose="02020603050405020304" pitchFamily="18" charset="0"/>
              </a:endParaRPr>
            </a:p>
          </p:txBody>
        </p:sp>
        <p:sp>
          <p:nvSpPr>
            <p:cNvPr id="9" name="Oval 8"/>
            <p:cNvSpPr>
              <a:spLocks noChangeArrowheads="1"/>
            </p:cNvSpPr>
            <p:nvPr/>
          </p:nvSpPr>
          <p:spPr bwMode="auto">
            <a:xfrm>
              <a:off x="6842125" y="2124188"/>
              <a:ext cx="719137" cy="676345"/>
            </a:xfrm>
            <a:prstGeom prst="ellipse">
              <a:avLst/>
            </a:prstGeom>
            <a:solidFill>
              <a:srgbClr val="FFFFFF"/>
            </a:solidFill>
            <a:ln w="28575">
              <a:solidFill>
                <a:srgbClr val="000000"/>
              </a:solidFill>
              <a:round/>
              <a:headEnd/>
              <a:tailEnd/>
            </a:ln>
          </p:spPr>
          <p:txBody>
            <a:bodyPr lIns="0" tIns="0" rIns="0" bIns="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lang="en-US" altLang="zh-CN" sz="2000" b="1" dirty="0">
                  <a:latin typeface="Times New Roman" panose="02020603050405020304" pitchFamily="18" charset="0"/>
                </a:rPr>
                <a:t>C</a:t>
              </a:r>
              <a:r>
                <a:rPr lang="en-US" altLang="zh-CN" sz="2000" b="1" baseline="-25000" dirty="0">
                  <a:latin typeface="Times New Roman" panose="02020603050405020304" pitchFamily="18" charset="0"/>
                </a:rPr>
                <a:t>1</a:t>
              </a:r>
              <a:endParaRPr lang="en-US" altLang="zh-CN" sz="2000" b="1" dirty="0">
                <a:latin typeface="Times New Roman" panose="02020603050405020304" pitchFamily="18" charset="0"/>
              </a:endParaRPr>
            </a:p>
          </p:txBody>
        </p:sp>
        <p:sp>
          <p:nvSpPr>
            <p:cNvPr id="10" name="Oval 9"/>
            <p:cNvSpPr>
              <a:spLocks noChangeArrowheads="1"/>
            </p:cNvSpPr>
            <p:nvPr/>
          </p:nvSpPr>
          <p:spPr bwMode="auto">
            <a:xfrm>
              <a:off x="6870700" y="4746681"/>
              <a:ext cx="719137" cy="676345"/>
            </a:xfrm>
            <a:prstGeom prst="ellipse">
              <a:avLst/>
            </a:prstGeom>
            <a:solidFill>
              <a:srgbClr val="FFFFFF"/>
            </a:solidFill>
            <a:ln w="28575">
              <a:solidFill>
                <a:srgbClr val="000000"/>
              </a:solidFill>
              <a:round/>
              <a:headEnd/>
              <a:tailEnd/>
            </a:ln>
          </p:spPr>
          <p:txBody>
            <a:bodyPr lIns="0" tIns="0" rIns="0" bIns="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lang="en-US" altLang="zh-CN" sz="2000" b="1">
                  <a:latin typeface="Times New Roman" panose="02020603050405020304" pitchFamily="18" charset="0"/>
                </a:rPr>
                <a:t>C</a:t>
              </a:r>
              <a:r>
                <a:rPr lang="en-US" altLang="zh-CN" sz="2000" b="1" baseline="-25000">
                  <a:latin typeface="Times New Roman" panose="02020603050405020304" pitchFamily="18" charset="0"/>
                </a:rPr>
                <a:t>3</a:t>
              </a:r>
              <a:endParaRPr lang="en-US" altLang="zh-CN" sz="2000" b="1">
                <a:latin typeface="Times New Roman" panose="02020603050405020304" pitchFamily="18" charset="0"/>
              </a:endParaRPr>
            </a:p>
          </p:txBody>
        </p:sp>
        <p:sp>
          <p:nvSpPr>
            <p:cNvPr id="11" name="Oval 10"/>
            <p:cNvSpPr>
              <a:spLocks noChangeArrowheads="1"/>
            </p:cNvSpPr>
            <p:nvPr/>
          </p:nvSpPr>
          <p:spPr bwMode="auto">
            <a:xfrm>
              <a:off x="6842125" y="3403938"/>
              <a:ext cx="719137" cy="676345"/>
            </a:xfrm>
            <a:prstGeom prst="ellipse">
              <a:avLst/>
            </a:prstGeom>
            <a:solidFill>
              <a:srgbClr val="FFFFFF"/>
            </a:solidFill>
            <a:ln w="28575">
              <a:solidFill>
                <a:srgbClr val="000000"/>
              </a:solidFill>
              <a:round/>
              <a:headEnd/>
              <a:tailEnd/>
            </a:ln>
          </p:spPr>
          <p:txBody>
            <a:bodyPr lIns="0" tIns="0" rIns="0" bIns="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lang="en-US" altLang="zh-CN" sz="2000" b="1">
                  <a:latin typeface="Times New Roman" panose="02020603050405020304" pitchFamily="18" charset="0"/>
                </a:rPr>
                <a:t>C</a:t>
              </a:r>
              <a:r>
                <a:rPr lang="en-US" altLang="zh-CN" sz="2000" b="1" baseline="-25000">
                  <a:latin typeface="Times New Roman" panose="02020603050405020304" pitchFamily="18" charset="0"/>
                </a:rPr>
                <a:t>2</a:t>
              </a:r>
              <a:endParaRPr lang="en-US" altLang="zh-CN" sz="2000" b="1">
                <a:latin typeface="Times New Roman" panose="02020603050405020304" pitchFamily="18" charset="0"/>
              </a:endParaRPr>
            </a:p>
          </p:txBody>
        </p:sp>
        <p:sp>
          <p:nvSpPr>
            <p:cNvPr id="12" name="Oval 11"/>
            <p:cNvSpPr>
              <a:spLocks noChangeArrowheads="1"/>
            </p:cNvSpPr>
            <p:nvPr/>
          </p:nvSpPr>
          <p:spPr bwMode="auto">
            <a:xfrm>
              <a:off x="8389938" y="2858552"/>
              <a:ext cx="719137" cy="676345"/>
            </a:xfrm>
            <a:prstGeom prst="ellipse">
              <a:avLst/>
            </a:prstGeom>
            <a:solidFill>
              <a:srgbClr val="FFFFFF"/>
            </a:solidFill>
            <a:ln w="28575">
              <a:solidFill>
                <a:srgbClr val="000000"/>
              </a:solidFill>
              <a:round/>
              <a:headEnd/>
              <a:tailEnd/>
            </a:ln>
          </p:spPr>
          <p:txBody>
            <a:bodyPr lIns="0" tIns="0" rIns="0" bIns="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lang="en-US" altLang="zh-CN" sz="2000" b="1">
                  <a:latin typeface="Times New Roman" panose="02020603050405020304" pitchFamily="18" charset="0"/>
                </a:rPr>
                <a:t>P</a:t>
              </a:r>
              <a:r>
                <a:rPr lang="en-US" altLang="zh-CN" sz="2000" b="1" baseline="-25000">
                  <a:latin typeface="Times New Roman" panose="02020603050405020304" pitchFamily="18" charset="0"/>
                </a:rPr>
                <a:t>1</a:t>
              </a:r>
              <a:endParaRPr lang="en-US" altLang="zh-CN" sz="2000" b="1">
                <a:latin typeface="Times New Roman" panose="02020603050405020304" pitchFamily="18" charset="0"/>
              </a:endParaRPr>
            </a:p>
          </p:txBody>
        </p:sp>
        <p:sp>
          <p:nvSpPr>
            <p:cNvPr id="13" name="Oval 12"/>
            <p:cNvSpPr>
              <a:spLocks noChangeArrowheads="1"/>
            </p:cNvSpPr>
            <p:nvPr/>
          </p:nvSpPr>
          <p:spPr bwMode="auto">
            <a:xfrm>
              <a:off x="8389938" y="4120068"/>
              <a:ext cx="719137" cy="676345"/>
            </a:xfrm>
            <a:prstGeom prst="ellipse">
              <a:avLst/>
            </a:prstGeom>
            <a:solidFill>
              <a:srgbClr val="FFFFFF"/>
            </a:solidFill>
            <a:ln w="28575">
              <a:solidFill>
                <a:srgbClr val="000000"/>
              </a:solidFill>
              <a:round/>
              <a:headEnd/>
              <a:tailEnd/>
            </a:ln>
          </p:spPr>
          <p:txBody>
            <a:bodyPr lIns="0" tIns="0" rIns="0" bIns="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lang="en-US" altLang="zh-CN" sz="2000" b="1">
                  <a:latin typeface="Times New Roman" panose="02020603050405020304" pitchFamily="18" charset="0"/>
                </a:rPr>
                <a:t>P</a:t>
              </a:r>
              <a:r>
                <a:rPr lang="en-US" altLang="zh-CN" sz="2000" b="1" baseline="-25000">
                  <a:latin typeface="Times New Roman" panose="02020603050405020304" pitchFamily="18" charset="0"/>
                </a:rPr>
                <a:t>2</a:t>
              </a:r>
              <a:endParaRPr lang="en-US" altLang="zh-CN" sz="2000" b="1">
                <a:latin typeface="Times New Roman" panose="02020603050405020304" pitchFamily="18" charset="0"/>
              </a:endParaRPr>
            </a:p>
          </p:txBody>
        </p:sp>
        <p:sp>
          <p:nvSpPr>
            <p:cNvPr id="14" name="Line 13"/>
            <p:cNvSpPr>
              <a:spLocks noChangeShapeType="1"/>
            </p:cNvSpPr>
            <p:nvPr/>
          </p:nvSpPr>
          <p:spPr bwMode="auto">
            <a:xfrm>
              <a:off x="5961063" y="1890451"/>
              <a:ext cx="896937" cy="445923"/>
            </a:xfrm>
            <a:prstGeom prst="line">
              <a:avLst/>
            </a:prstGeom>
            <a:noFill/>
            <a:ln w="2857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sz="1600"/>
            </a:p>
          </p:txBody>
        </p:sp>
        <p:sp>
          <p:nvSpPr>
            <p:cNvPr id="15" name="Line 14"/>
            <p:cNvSpPr>
              <a:spLocks noChangeShapeType="1"/>
            </p:cNvSpPr>
            <p:nvPr/>
          </p:nvSpPr>
          <p:spPr bwMode="auto">
            <a:xfrm>
              <a:off x="5961063" y="3163570"/>
              <a:ext cx="896937" cy="450896"/>
            </a:xfrm>
            <a:prstGeom prst="line">
              <a:avLst/>
            </a:prstGeom>
            <a:noFill/>
            <a:ln w="2857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sz="1600"/>
            </a:p>
          </p:txBody>
        </p:sp>
        <p:sp>
          <p:nvSpPr>
            <p:cNvPr id="16" name="Line 15"/>
            <p:cNvSpPr>
              <a:spLocks noChangeShapeType="1"/>
            </p:cNvSpPr>
            <p:nvPr/>
          </p:nvSpPr>
          <p:spPr bwMode="auto">
            <a:xfrm>
              <a:off x="5961063" y="4464871"/>
              <a:ext cx="942975" cy="490681"/>
            </a:xfrm>
            <a:prstGeom prst="line">
              <a:avLst/>
            </a:prstGeom>
            <a:noFill/>
            <a:ln w="2857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sz="1600"/>
            </a:p>
          </p:txBody>
        </p:sp>
        <p:sp>
          <p:nvSpPr>
            <p:cNvPr id="17" name="Line 16"/>
            <p:cNvSpPr>
              <a:spLocks noChangeShapeType="1"/>
            </p:cNvSpPr>
            <p:nvPr/>
          </p:nvSpPr>
          <p:spPr bwMode="auto">
            <a:xfrm>
              <a:off x="5608638" y="3453669"/>
              <a:ext cx="0" cy="586828"/>
            </a:xfrm>
            <a:prstGeom prst="line">
              <a:avLst/>
            </a:prstGeom>
            <a:noFill/>
            <a:ln w="2857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sz="1600"/>
            </a:p>
          </p:txBody>
        </p:sp>
        <p:sp>
          <p:nvSpPr>
            <p:cNvPr id="18" name="Line 17"/>
            <p:cNvSpPr>
              <a:spLocks noChangeShapeType="1"/>
            </p:cNvSpPr>
            <p:nvPr/>
          </p:nvSpPr>
          <p:spPr bwMode="auto">
            <a:xfrm>
              <a:off x="5608638" y="2170604"/>
              <a:ext cx="0" cy="586828"/>
            </a:xfrm>
            <a:prstGeom prst="line">
              <a:avLst/>
            </a:prstGeom>
            <a:noFill/>
            <a:ln w="2857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sz="1600"/>
            </a:p>
          </p:txBody>
        </p:sp>
        <p:sp>
          <p:nvSpPr>
            <p:cNvPr id="19" name="Line 18"/>
            <p:cNvSpPr>
              <a:spLocks noChangeShapeType="1"/>
            </p:cNvSpPr>
            <p:nvPr/>
          </p:nvSpPr>
          <p:spPr bwMode="auto">
            <a:xfrm>
              <a:off x="5608638" y="4741708"/>
              <a:ext cx="0" cy="611694"/>
            </a:xfrm>
            <a:prstGeom prst="line">
              <a:avLst/>
            </a:prstGeom>
            <a:noFill/>
            <a:ln w="2857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sz="1600"/>
            </a:p>
          </p:txBody>
        </p:sp>
        <p:sp>
          <p:nvSpPr>
            <p:cNvPr id="20" name="Line 22"/>
            <p:cNvSpPr>
              <a:spLocks noChangeShapeType="1"/>
            </p:cNvSpPr>
            <p:nvPr/>
          </p:nvSpPr>
          <p:spPr bwMode="auto">
            <a:xfrm>
              <a:off x="7208838" y="4110121"/>
              <a:ext cx="9525" cy="633244"/>
            </a:xfrm>
            <a:prstGeom prst="line">
              <a:avLst/>
            </a:prstGeom>
            <a:noFill/>
            <a:ln w="2857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sz="1600"/>
            </a:p>
          </p:txBody>
        </p:sp>
        <p:sp>
          <p:nvSpPr>
            <p:cNvPr id="21" name="Line 23"/>
            <p:cNvSpPr>
              <a:spLocks noChangeShapeType="1"/>
            </p:cNvSpPr>
            <p:nvPr/>
          </p:nvSpPr>
          <p:spPr bwMode="auto">
            <a:xfrm>
              <a:off x="7204075" y="2837002"/>
              <a:ext cx="0" cy="586828"/>
            </a:xfrm>
            <a:prstGeom prst="line">
              <a:avLst/>
            </a:prstGeom>
            <a:noFill/>
            <a:ln w="2857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sz="1600"/>
            </a:p>
          </p:txBody>
        </p:sp>
        <p:sp>
          <p:nvSpPr>
            <p:cNvPr id="22" name="Line 24"/>
            <p:cNvSpPr>
              <a:spLocks noChangeShapeType="1"/>
            </p:cNvSpPr>
            <p:nvPr/>
          </p:nvSpPr>
          <p:spPr bwMode="auto">
            <a:xfrm>
              <a:off x="7246938" y="5432972"/>
              <a:ext cx="0" cy="586828"/>
            </a:xfrm>
            <a:prstGeom prst="line">
              <a:avLst/>
            </a:prstGeom>
            <a:noFill/>
            <a:ln w="2857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sz="1600"/>
            </a:p>
          </p:txBody>
        </p:sp>
        <p:sp>
          <p:nvSpPr>
            <p:cNvPr id="23" name="Line 27"/>
            <p:cNvSpPr>
              <a:spLocks noChangeShapeType="1"/>
            </p:cNvSpPr>
            <p:nvPr/>
          </p:nvSpPr>
          <p:spPr bwMode="auto">
            <a:xfrm>
              <a:off x="7513638" y="2648022"/>
              <a:ext cx="874786" cy="492945"/>
            </a:xfrm>
            <a:prstGeom prst="line">
              <a:avLst/>
            </a:prstGeom>
            <a:noFill/>
            <a:ln w="2857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sz="1600"/>
            </a:p>
          </p:txBody>
        </p:sp>
        <p:sp>
          <p:nvSpPr>
            <p:cNvPr id="24" name="Line 28"/>
            <p:cNvSpPr>
              <a:spLocks noChangeShapeType="1"/>
            </p:cNvSpPr>
            <p:nvPr/>
          </p:nvSpPr>
          <p:spPr bwMode="auto">
            <a:xfrm>
              <a:off x="7513638" y="3894619"/>
              <a:ext cx="928687" cy="472447"/>
            </a:xfrm>
            <a:prstGeom prst="line">
              <a:avLst/>
            </a:prstGeom>
            <a:noFill/>
            <a:ln w="2857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sz="1600"/>
            </a:p>
          </p:txBody>
        </p:sp>
        <p:sp>
          <p:nvSpPr>
            <p:cNvPr id="25" name="Line 29"/>
            <p:cNvSpPr>
              <a:spLocks noChangeShapeType="1"/>
            </p:cNvSpPr>
            <p:nvPr/>
          </p:nvSpPr>
          <p:spPr bwMode="auto">
            <a:xfrm>
              <a:off x="7561263" y="5230731"/>
              <a:ext cx="942975" cy="490681"/>
            </a:xfrm>
            <a:prstGeom prst="line">
              <a:avLst/>
            </a:prstGeom>
            <a:noFill/>
            <a:ln w="2857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sz="1600"/>
            </a:p>
          </p:txBody>
        </p:sp>
        <p:sp>
          <p:nvSpPr>
            <p:cNvPr id="26" name="Line 30"/>
            <p:cNvSpPr>
              <a:spLocks noChangeShapeType="1"/>
            </p:cNvSpPr>
            <p:nvPr/>
          </p:nvSpPr>
          <p:spPr bwMode="auto">
            <a:xfrm>
              <a:off x="8732838" y="4766573"/>
              <a:ext cx="0" cy="586828"/>
            </a:xfrm>
            <a:prstGeom prst="line">
              <a:avLst/>
            </a:prstGeom>
            <a:noFill/>
            <a:ln w="2857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sz="1600"/>
            </a:p>
          </p:txBody>
        </p:sp>
        <p:sp>
          <p:nvSpPr>
            <p:cNvPr id="27" name="Line 31"/>
            <p:cNvSpPr>
              <a:spLocks noChangeShapeType="1"/>
            </p:cNvSpPr>
            <p:nvPr/>
          </p:nvSpPr>
          <p:spPr bwMode="auto">
            <a:xfrm>
              <a:off x="8728075" y="3553132"/>
              <a:ext cx="0" cy="586828"/>
            </a:xfrm>
            <a:prstGeom prst="line">
              <a:avLst/>
            </a:prstGeom>
            <a:noFill/>
            <a:ln w="2857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sz="1600"/>
            </a:p>
          </p:txBody>
        </p:sp>
      </p:grpSp>
      <p:sp>
        <p:nvSpPr>
          <p:cNvPr id="28" name="文本框 27"/>
          <p:cNvSpPr txBox="1"/>
          <p:nvPr/>
        </p:nvSpPr>
        <p:spPr>
          <a:xfrm>
            <a:off x="682115" y="3148533"/>
            <a:ext cx="3908174" cy="1938992"/>
          </a:xfrm>
          <a:prstGeom prst="rect">
            <a:avLst/>
          </a:prstGeom>
          <a:solidFill>
            <a:schemeClr val="accent5"/>
          </a:solidFill>
          <a:ln>
            <a:solidFill>
              <a:schemeClr val="tx1"/>
            </a:solidFill>
          </a:ln>
        </p:spPr>
        <p:txBody>
          <a:bodyPr wrap="square" rtlCol="0">
            <a:spAutoFit/>
          </a:bodyPr>
          <a:lstStyle/>
          <a:p>
            <a:r>
              <a:rPr lang="zh-CN" altLang="en-US" sz="2400" dirty="0" smtClean="0"/>
              <a:t>本例中，进程</a:t>
            </a:r>
            <a:r>
              <a:rPr lang="en-US" altLang="zh-CN" sz="2400" dirty="0"/>
              <a:t>1</a:t>
            </a:r>
            <a:r>
              <a:rPr lang="zh-CN" altLang="en-US" sz="2400" dirty="0"/>
              <a:t>、</a:t>
            </a:r>
            <a:r>
              <a:rPr lang="en-US" altLang="zh-CN" sz="2400" dirty="0"/>
              <a:t>2</a:t>
            </a:r>
            <a:r>
              <a:rPr lang="zh-CN" altLang="en-US" sz="2400" dirty="0"/>
              <a:t>、</a:t>
            </a:r>
            <a:r>
              <a:rPr lang="en-US" altLang="zh-CN" sz="2400" dirty="0"/>
              <a:t>3</a:t>
            </a:r>
            <a:r>
              <a:rPr lang="zh-CN" altLang="en-US" sz="2400" dirty="0"/>
              <a:t>并发</a:t>
            </a:r>
            <a:r>
              <a:rPr lang="zh-CN" altLang="en-US" sz="2400" dirty="0" smtClean="0"/>
              <a:t>执行</a:t>
            </a:r>
            <a:endParaRPr lang="en-US" altLang="zh-CN" sz="2400" dirty="0" smtClean="0"/>
          </a:p>
          <a:p>
            <a:r>
              <a:rPr lang="zh-CN" altLang="en-US" sz="2400" dirty="0" smtClean="0"/>
              <a:t>对</a:t>
            </a:r>
            <a:r>
              <a:rPr lang="zh-CN" altLang="en-US" sz="2400" dirty="0"/>
              <a:t>每个进程而言，其输入、计算和输出这三个操作必须顺序</a:t>
            </a:r>
            <a:r>
              <a:rPr lang="zh-CN" altLang="en-US" sz="2400" dirty="0" smtClean="0"/>
              <a:t>执行，且相互受制约</a:t>
            </a:r>
            <a:endParaRPr lang="zh-CN" altLang="en-US" sz="2400" dirty="0"/>
          </a:p>
        </p:txBody>
      </p:sp>
    </p:spTree>
    <p:extLst>
      <p:ext uri="{BB962C8B-B14F-4D97-AF65-F5344CB8AC3E}">
        <p14:creationId xmlns:p14="http://schemas.microsoft.com/office/powerpoint/2010/main" val="336087673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补充</a:t>
            </a:r>
            <a:r>
              <a:rPr lang="zh-CN" altLang="en-US" dirty="0"/>
              <a:t>：并发错误例</a:t>
            </a:r>
          </a:p>
        </p:txBody>
      </p:sp>
      <p:sp>
        <p:nvSpPr>
          <p:cNvPr id="3" name="内容占位符 2"/>
          <p:cNvSpPr>
            <a:spLocks noGrp="1"/>
          </p:cNvSpPr>
          <p:nvPr>
            <p:ph idx="1"/>
          </p:nvPr>
        </p:nvSpPr>
        <p:spPr/>
        <p:txBody>
          <a:bodyPr/>
          <a:lstStyle/>
          <a:p>
            <a:r>
              <a:rPr lang="zh-CN" altLang="en-US" dirty="0"/>
              <a:t>程序并发</a:t>
            </a:r>
            <a:r>
              <a:rPr lang="zh-CN" altLang="en-US" dirty="0" smtClean="0"/>
              <a:t>执行可能</a:t>
            </a:r>
            <a:r>
              <a:rPr lang="zh-CN" altLang="en-US" dirty="0"/>
              <a:t>出现与时间有关的</a:t>
            </a:r>
            <a:r>
              <a:rPr lang="zh-CN" altLang="en-US" dirty="0" smtClean="0"/>
              <a:t>错误</a:t>
            </a:r>
            <a:endParaRPr lang="zh-CN" altLang="en-US" dirty="0"/>
          </a:p>
          <a:p>
            <a:r>
              <a:rPr lang="zh-CN" altLang="en-US" dirty="0" smtClean="0"/>
              <a:t>例</a:t>
            </a:r>
            <a:endParaRPr lang="zh-CN" altLang="en-US" dirty="0"/>
          </a:p>
          <a:p>
            <a:pPr marL="0" indent="0">
              <a:buNone/>
              <a:tabLst>
                <a:tab pos="1438275" algn="l"/>
                <a:tab pos="3228975" algn="l"/>
                <a:tab pos="4667250" algn="l"/>
              </a:tabLst>
            </a:pPr>
            <a:r>
              <a:rPr lang="zh-CN" altLang="en-US" dirty="0">
                <a:latin typeface="Consolas" panose="020B0609020204030204" pitchFamily="49" charset="0"/>
              </a:rPr>
              <a:t>进程</a:t>
            </a:r>
            <a:r>
              <a:rPr lang="en-US" altLang="zh-CN" dirty="0">
                <a:latin typeface="Consolas" panose="020B0609020204030204" pitchFamily="49" charset="0"/>
              </a:rPr>
              <a:t>1</a:t>
            </a:r>
            <a:r>
              <a:rPr lang="zh-CN" altLang="en-US" dirty="0" smtClean="0">
                <a:latin typeface="Consolas" panose="020B0609020204030204" pitchFamily="49" charset="0"/>
              </a:rPr>
              <a:t>：</a:t>
            </a:r>
            <a:r>
              <a:rPr lang="en-US" altLang="zh-CN" dirty="0" smtClean="0">
                <a:latin typeface="Consolas" panose="020B0609020204030204" pitchFamily="49" charset="0"/>
              </a:rPr>
              <a:t>	r1=x;	</a:t>
            </a:r>
            <a:r>
              <a:rPr lang="zh-CN" altLang="en-US" dirty="0" smtClean="0">
                <a:latin typeface="Consolas" panose="020B0609020204030204" pitchFamily="49" charset="0"/>
              </a:rPr>
              <a:t>进程</a:t>
            </a:r>
            <a:r>
              <a:rPr lang="en-US" altLang="zh-CN" dirty="0">
                <a:latin typeface="Consolas" panose="020B0609020204030204" pitchFamily="49" charset="0"/>
              </a:rPr>
              <a:t>2</a:t>
            </a:r>
            <a:r>
              <a:rPr lang="zh-CN" altLang="en-US" dirty="0" smtClean="0">
                <a:latin typeface="Consolas" panose="020B0609020204030204" pitchFamily="49" charset="0"/>
              </a:rPr>
              <a:t>：</a:t>
            </a:r>
            <a:r>
              <a:rPr lang="en-US" altLang="zh-CN" dirty="0" smtClean="0">
                <a:latin typeface="Consolas" panose="020B0609020204030204" pitchFamily="49" charset="0"/>
              </a:rPr>
              <a:t>	r2=x;</a:t>
            </a:r>
            <a:endParaRPr lang="zh-CN" altLang="en-US" dirty="0">
              <a:latin typeface="Consolas" panose="020B0609020204030204" pitchFamily="49" charset="0"/>
            </a:endParaRPr>
          </a:p>
          <a:p>
            <a:pPr marL="0" indent="0">
              <a:buNone/>
              <a:tabLst>
                <a:tab pos="1438275" algn="l"/>
                <a:tab pos="3228975" algn="l"/>
                <a:tab pos="4667250" algn="l"/>
              </a:tabLst>
            </a:pPr>
            <a:r>
              <a:rPr lang="en-US" altLang="zh-CN" dirty="0" smtClean="0">
                <a:latin typeface="Consolas" panose="020B0609020204030204" pitchFamily="49" charset="0"/>
              </a:rPr>
              <a:t>	r1++;		r2++;</a:t>
            </a:r>
            <a:endParaRPr lang="zh-CN" altLang="en-US" dirty="0">
              <a:latin typeface="Consolas" panose="020B0609020204030204" pitchFamily="49" charset="0"/>
            </a:endParaRPr>
          </a:p>
          <a:p>
            <a:pPr marL="0" indent="0">
              <a:buNone/>
              <a:tabLst>
                <a:tab pos="1438275" algn="l"/>
                <a:tab pos="3228975" algn="l"/>
                <a:tab pos="4667250" algn="l"/>
              </a:tabLst>
            </a:pPr>
            <a:r>
              <a:rPr lang="en-US" altLang="zh-CN" dirty="0" smtClean="0">
                <a:latin typeface="Consolas" panose="020B0609020204030204" pitchFamily="49" charset="0"/>
              </a:rPr>
              <a:t>	x=r1;		x=r2;</a:t>
            </a:r>
            <a:endParaRPr lang="zh-CN" altLang="en-US" dirty="0">
              <a:latin typeface="Consolas" panose="020B0609020204030204" pitchFamily="49" charset="0"/>
            </a:endParaRPr>
          </a:p>
          <a:p>
            <a:r>
              <a:rPr lang="zh-CN" altLang="en-US" dirty="0"/>
              <a:t>设在两进程运行之前，</a:t>
            </a:r>
            <a:r>
              <a:rPr lang="en-US" altLang="zh-CN" dirty="0"/>
              <a:t>x</a:t>
            </a:r>
            <a:r>
              <a:rPr lang="zh-CN" altLang="en-US" dirty="0"/>
              <a:t>的值为</a:t>
            </a:r>
            <a:r>
              <a:rPr lang="en-US" altLang="zh-CN" dirty="0"/>
              <a:t>0</a:t>
            </a:r>
            <a:r>
              <a:rPr lang="zh-CN" altLang="en-US" dirty="0"/>
              <a:t>。则两进程运行结束后，</a:t>
            </a:r>
            <a:r>
              <a:rPr lang="en-US" altLang="zh-CN" dirty="0"/>
              <a:t>x</a:t>
            </a:r>
            <a:r>
              <a:rPr lang="zh-CN" altLang="en-US" dirty="0" smtClean="0"/>
              <a:t>值</a:t>
            </a:r>
            <a:r>
              <a:rPr lang="zh-CN" altLang="en-US" dirty="0"/>
              <a:t>可能</a:t>
            </a:r>
            <a:r>
              <a:rPr lang="zh-CN" altLang="en-US" dirty="0" smtClean="0"/>
              <a:t>为</a:t>
            </a:r>
            <a:r>
              <a:rPr lang="zh-CN" altLang="en-US" dirty="0"/>
              <a:t>：</a:t>
            </a:r>
          </a:p>
        </p:txBody>
      </p:sp>
      <p:sp>
        <p:nvSpPr>
          <p:cNvPr id="4" name="灯片编号占位符 3"/>
          <p:cNvSpPr>
            <a:spLocks noGrp="1"/>
          </p:cNvSpPr>
          <p:nvPr>
            <p:ph type="sldNum" sz="quarter" idx="12"/>
          </p:nvPr>
        </p:nvSpPr>
        <p:spPr/>
        <p:txBody>
          <a:bodyPr/>
          <a:lstStyle/>
          <a:p>
            <a:fld id="{4093CC90-4002-504C-BD88-C9A1D374048E}" type="slidenum">
              <a:rPr lang="zh-CN" altLang="en-US" smtClean="0"/>
              <a:pPr/>
              <a:t>35</a:t>
            </a:fld>
            <a:endParaRPr lang="zh-CN" altLang="en-US" dirty="0"/>
          </a:p>
        </p:txBody>
      </p:sp>
      <p:sp>
        <p:nvSpPr>
          <p:cNvPr id="6" name="Text Box 5"/>
          <p:cNvSpPr txBox="1">
            <a:spLocks noChangeArrowheads="1"/>
          </p:cNvSpPr>
          <p:nvPr/>
        </p:nvSpPr>
        <p:spPr bwMode="auto">
          <a:xfrm>
            <a:off x="5867400" y="5143500"/>
            <a:ext cx="18288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zh-CN" altLang="en-US" dirty="0" smtClean="0">
                <a:solidFill>
                  <a:srgbClr val="9900CC"/>
                </a:solidFill>
              </a:rPr>
              <a:t>1</a:t>
            </a:r>
            <a:r>
              <a:rPr lang="en-US" altLang="zh-CN" dirty="0" smtClean="0">
                <a:solidFill>
                  <a:srgbClr val="9900CC"/>
                </a:solidFill>
              </a:rPr>
              <a:t>	</a:t>
            </a:r>
            <a:r>
              <a:rPr lang="zh-CN" altLang="en-US" dirty="0" smtClean="0">
                <a:solidFill>
                  <a:srgbClr val="9900CC"/>
                </a:solidFill>
              </a:rPr>
              <a:t>2</a:t>
            </a:r>
            <a:endParaRPr lang="zh-CN" altLang="en-US" dirty="0">
              <a:solidFill>
                <a:srgbClr val="9900CC"/>
              </a:solidFill>
            </a:endParaRPr>
          </a:p>
        </p:txBody>
      </p:sp>
      <p:sp>
        <p:nvSpPr>
          <p:cNvPr id="7" name="文本框 6"/>
          <p:cNvSpPr txBox="1"/>
          <p:nvPr/>
        </p:nvSpPr>
        <p:spPr>
          <a:xfrm>
            <a:off x="1266824" y="5842298"/>
            <a:ext cx="4791075" cy="461665"/>
          </a:xfrm>
          <a:prstGeom prst="rect">
            <a:avLst/>
          </a:prstGeom>
          <a:solidFill>
            <a:schemeClr val="accent5"/>
          </a:solidFill>
          <a:ln>
            <a:solidFill>
              <a:schemeClr val="tx1"/>
            </a:solidFill>
          </a:ln>
        </p:spPr>
        <p:txBody>
          <a:bodyPr wrap="square" rtlCol="0">
            <a:spAutoFit/>
          </a:bodyPr>
          <a:lstStyle/>
          <a:p>
            <a:r>
              <a:rPr lang="zh-CN" altLang="en-US" sz="2400" dirty="0" smtClean="0"/>
              <a:t>并发一旦涉及共享，须格外小心</a:t>
            </a:r>
            <a:endParaRPr lang="zh-CN" altLang="en-US" sz="2400" dirty="0"/>
          </a:p>
        </p:txBody>
      </p:sp>
    </p:spTree>
    <p:extLst>
      <p:ext uri="{BB962C8B-B14F-4D97-AF65-F5344CB8AC3E}">
        <p14:creationId xmlns:p14="http://schemas.microsoft.com/office/powerpoint/2010/main" val="205479451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P spid="7"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补充：并发错误例</a:t>
            </a:r>
          </a:p>
        </p:txBody>
      </p:sp>
      <p:sp>
        <p:nvSpPr>
          <p:cNvPr id="3" name="内容占位符 2"/>
          <p:cNvSpPr>
            <a:spLocks noGrp="1"/>
          </p:cNvSpPr>
          <p:nvPr>
            <p:ph idx="1"/>
          </p:nvPr>
        </p:nvSpPr>
        <p:spPr/>
        <p:txBody>
          <a:bodyPr/>
          <a:lstStyle/>
          <a:p>
            <a:r>
              <a:rPr lang="zh-CN" altLang="en-US" dirty="0"/>
              <a:t>读集</a:t>
            </a:r>
            <a:r>
              <a:rPr lang="zh-CN" altLang="en-US" dirty="0" smtClean="0"/>
              <a:t>：</a:t>
            </a:r>
            <a:r>
              <a:rPr lang="zh-CN" altLang="en-US" dirty="0"/>
              <a:t>程序段</a:t>
            </a:r>
            <a:r>
              <a:rPr lang="en-US" altLang="zh-CN" dirty="0" smtClean="0"/>
              <a:t>S</a:t>
            </a:r>
            <a:r>
              <a:rPr lang="zh-CN" altLang="en-US" dirty="0" smtClean="0"/>
              <a:t>执行</a:t>
            </a:r>
            <a:r>
              <a:rPr lang="zh-CN" altLang="en-US" dirty="0"/>
              <a:t>期间要引用的变量集合，记为</a:t>
            </a:r>
            <a:r>
              <a:rPr lang="en-US" altLang="zh-CN" dirty="0" smtClean="0"/>
              <a:t>R(S) = {a</a:t>
            </a:r>
            <a:r>
              <a:rPr lang="en-US" altLang="zh-CN" baseline="-25000" dirty="0" smtClean="0"/>
              <a:t>1</a:t>
            </a:r>
            <a:r>
              <a:rPr lang="en-US" altLang="zh-CN" dirty="0" smtClean="0"/>
              <a:t>, ..., a</a:t>
            </a:r>
            <a:r>
              <a:rPr lang="en-US" altLang="zh-CN" baseline="-25000" dirty="0" smtClean="0"/>
              <a:t>m</a:t>
            </a:r>
            <a:r>
              <a:rPr lang="en-US" altLang="zh-CN" dirty="0"/>
              <a:t>}</a:t>
            </a:r>
          </a:p>
          <a:p>
            <a:r>
              <a:rPr lang="zh-CN" altLang="en-US" dirty="0"/>
              <a:t>写集</a:t>
            </a:r>
            <a:r>
              <a:rPr lang="zh-CN" altLang="en-US" dirty="0" smtClean="0"/>
              <a:t>：</a:t>
            </a:r>
            <a:r>
              <a:rPr lang="zh-CN" altLang="en-US" dirty="0"/>
              <a:t>程序段</a:t>
            </a:r>
            <a:r>
              <a:rPr lang="en-US" altLang="zh-CN" dirty="0"/>
              <a:t>S</a:t>
            </a:r>
            <a:r>
              <a:rPr lang="zh-CN" altLang="en-US" dirty="0" smtClean="0"/>
              <a:t>执行</a:t>
            </a:r>
            <a:r>
              <a:rPr lang="zh-CN" altLang="en-US" dirty="0"/>
              <a:t>期间要改变的变量集合，记为</a:t>
            </a:r>
            <a:r>
              <a:rPr lang="en-US" altLang="zh-CN" dirty="0" smtClean="0"/>
              <a:t>W(S) = {b</a:t>
            </a:r>
            <a:r>
              <a:rPr lang="en-US" altLang="zh-CN" baseline="-25000" dirty="0" smtClean="0"/>
              <a:t>1</a:t>
            </a:r>
            <a:r>
              <a:rPr lang="en-US" altLang="zh-CN" dirty="0" smtClean="0"/>
              <a:t>, </a:t>
            </a:r>
            <a:r>
              <a:rPr lang="en-US" altLang="zh-CN" dirty="0"/>
              <a:t>..., </a:t>
            </a:r>
            <a:r>
              <a:rPr lang="en-US" altLang="zh-CN" dirty="0" err="1" smtClean="0"/>
              <a:t>b</a:t>
            </a:r>
            <a:r>
              <a:rPr lang="en-US" altLang="zh-CN" baseline="-25000" dirty="0" err="1" smtClean="0"/>
              <a:t>n</a:t>
            </a:r>
            <a:r>
              <a:rPr lang="en-US" altLang="zh-CN" dirty="0" smtClean="0"/>
              <a:t>}</a:t>
            </a:r>
          </a:p>
          <a:p>
            <a:r>
              <a:rPr lang="en-US" altLang="zh-CN" dirty="0"/>
              <a:t>Bernstein</a:t>
            </a:r>
            <a:r>
              <a:rPr lang="zh-CN" altLang="en-US" dirty="0"/>
              <a:t>条件能保证两个</a:t>
            </a:r>
            <a:r>
              <a:rPr lang="zh-CN" altLang="en-US" dirty="0" smtClean="0"/>
              <a:t>程序段</a:t>
            </a:r>
            <a:r>
              <a:rPr lang="en-US" altLang="zh-CN" dirty="0" smtClean="0"/>
              <a:t>P</a:t>
            </a:r>
            <a:r>
              <a:rPr lang="zh-CN" altLang="en-US" dirty="0" smtClean="0"/>
              <a:t>、</a:t>
            </a:r>
            <a:r>
              <a:rPr lang="en-US" altLang="zh-CN" dirty="0" smtClean="0"/>
              <a:t>Q</a:t>
            </a:r>
            <a:r>
              <a:rPr lang="zh-CN" altLang="en-US" dirty="0" smtClean="0"/>
              <a:t>并发</a:t>
            </a:r>
            <a:r>
              <a:rPr lang="zh-CN" altLang="en-US" dirty="0"/>
              <a:t>执行而不会产生与时间有关的</a:t>
            </a:r>
            <a:r>
              <a:rPr lang="zh-CN" altLang="en-US" dirty="0" smtClean="0"/>
              <a:t>错误</a:t>
            </a:r>
            <a:endParaRPr lang="zh-CN" altLang="en-US" dirty="0"/>
          </a:p>
          <a:p>
            <a:pPr lvl="1"/>
            <a:r>
              <a:rPr lang="en-US" altLang="zh-CN" dirty="0" smtClean="0"/>
              <a:t>R(P) </a:t>
            </a:r>
            <a:r>
              <a:rPr lang="zh-CN" altLang="en-US" dirty="0" smtClean="0"/>
              <a:t>∩ </a:t>
            </a:r>
            <a:r>
              <a:rPr lang="en-US" altLang="zh-CN" dirty="0" smtClean="0"/>
              <a:t>W(Q) = { }</a:t>
            </a:r>
            <a:endParaRPr lang="zh-CN" altLang="en-US" dirty="0"/>
          </a:p>
          <a:p>
            <a:pPr lvl="1"/>
            <a:r>
              <a:rPr lang="en-US" altLang="zh-CN" dirty="0" smtClean="0"/>
              <a:t>R(Q) </a:t>
            </a:r>
            <a:r>
              <a:rPr lang="zh-CN" altLang="en-US" dirty="0" smtClean="0"/>
              <a:t>∩ </a:t>
            </a:r>
            <a:r>
              <a:rPr lang="en-US" altLang="zh-CN" dirty="0" smtClean="0"/>
              <a:t>W(P) = { }</a:t>
            </a:r>
            <a:endParaRPr lang="zh-CN" altLang="en-US" dirty="0"/>
          </a:p>
          <a:p>
            <a:pPr lvl="1"/>
            <a:r>
              <a:rPr lang="en-US" altLang="zh-CN" dirty="0" smtClean="0"/>
              <a:t>W(P) </a:t>
            </a:r>
            <a:r>
              <a:rPr lang="zh-CN" altLang="en-US" dirty="0" smtClean="0"/>
              <a:t>∩ </a:t>
            </a:r>
            <a:r>
              <a:rPr lang="en-US" altLang="zh-CN" dirty="0" smtClean="0"/>
              <a:t>W(Q) = { }</a:t>
            </a:r>
          </a:p>
        </p:txBody>
      </p:sp>
      <p:sp>
        <p:nvSpPr>
          <p:cNvPr id="4" name="灯片编号占位符 3"/>
          <p:cNvSpPr>
            <a:spLocks noGrp="1"/>
          </p:cNvSpPr>
          <p:nvPr>
            <p:ph type="sldNum" sz="quarter" idx="12"/>
          </p:nvPr>
        </p:nvSpPr>
        <p:spPr/>
        <p:txBody>
          <a:bodyPr/>
          <a:lstStyle/>
          <a:p>
            <a:fld id="{4093CC90-4002-504C-BD88-C9A1D374048E}" type="slidenum">
              <a:rPr lang="zh-CN" altLang="en-US" smtClean="0"/>
              <a:pPr/>
              <a:t>36</a:t>
            </a:fld>
            <a:endParaRPr lang="zh-CN" altLang="en-US" dirty="0"/>
          </a:p>
        </p:txBody>
      </p:sp>
      <p:sp>
        <p:nvSpPr>
          <p:cNvPr id="13" name="文本框 12"/>
          <p:cNvSpPr txBox="1"/>
          <p:nvPr/>
        </p:nvSpPr>
        <p:spPr>
          <a:xfrm>
            <a:off x="4470651" y="4800304"/>
            <a:ext cx="3908174" cy="1323439"/>
          </a:xfrm>
          <a:prstGeom prst="rect">
            <a:avLst/>
          </a:prstGeom>
          <a:solidFill>
            <a:schemeClr val="accent5"/>
          </a:solidFill>
          <a:ln>
            <a:solidFill>
              <a:schemeClr val="tx1"/>
            </a:solidFill>
          </a:ln>
        </p:spPr>
        <p:txBody>
          <a:bodyPr wrap="square" rtlCol="0">
            <a:spAutoFit/>
          </a:bodyPr>
          <a:lstStyle/>
          <a:p>
            <a:r>
              <a:rPr lang="zh-CN" altLang="en-US" sz="2000" dirty="0"/>
              <a:t>例：</a:t>
            </a:r>
          </a:p>
          <a:p>
            <a:r>
              <a:rPr lang="en-US" altLang="zh-CN" sz="2000" dirty="0"/>
              <a:t>S1</a:t>
            </a:r>
            <a:r>
              <a:rPr lang="zh-CN" altLang="en-US" sz="2000" dirty="0"/>
              <a:t>：</a:t>
            </a:r>
            <a:r>
              <a:rPr lang="en-US" altLang="zh-CN" sz="2000" dirty="0"/>
              <a:t>a=</a:t>
            </a:r>
            <a:r>
              <a:rPr lang="en-US" altLang="zh-CN" sz="2000" dirty="0" err="1"/>
              <a:t>x+y</a:t>
            </a:r>
            <a:r>
              <a:rPr lang="zh-CN" altLang="en-US" sz="2000" dirty="0"/>
              <a:t>，</a:t>
            </a:r>
            <a:r>
              <a:rPr lang="en-US" altLang="zh-CN" sz="2000" dirty="0"/>
              <a:t>R={</a:t>
            </a:r>
            <a:r>
              <a:rPr lang="en-US" altLang="zh-CN" sz="2000" dirty="0" err="1"/>
              <a:t>x,y</a:t>
            </a:r>
            <a:r>
              <a:rPr lang="en-US" altLang="zh-CN" sz="2000" dirty="0"/>
              <a:t>}</a:t>
            </a:r>
            <a:r>
              <a:rPr lang="zh-CN" altLang="en-US" sz="2000" dirty="0"/>
              <a:t>，</a:t>
            </a:r>
            <a:r>
              <a:rPr lang="en-US" altLang="zh-CN" sz="2000" dirty="0"/>
              <a:t>W={a}</a:t>
            </a:r>
          </a:p>
          <a:p>
            <a:r>
              <a:rPr lang="en-US" altLang="zh-CN" sz="2000" dirty="0"/>
              <a:t>S2</a:t>
            </a:r>
            <a:r>
              <a:rPr lang="zh-CN" altLang="en-US" sz="2000" dirty="0"/>
              <a:t>：</a:t>
            </a:r>
            <a:r>
              <a:rPr lang="en-US" altLang="zh-CN" sz="2000" dirty="0"/>
              <a:t>b=z+1</a:t>
            </a:r>
            <a:r>
              <a:rPr lang="zh-CN" altLang="en-US" sz="2000" dirty="0"/>
              <a:t>，</a:t>
            </a:r>
            <a:r>
              <a:rPr lang="en-US" altLang="zh-CN" sz="2000" dirty="0"/>
              <a:t>R={z}</a:t>
            </a:r>
            <a:r>
              <a:rPr lang="zh-CN" altLang="en-US" sz="2000" dirty="0"/>
              <a:t>，</a:t>
            </a:r>
            <a:r>
              <a:rPr lang="en-US" altLang="zh-CN" sz="2000" dirty="0"/>
              <a:t>W={b}</a:t>
            </a:r>
          </a:p>
          <a:p>
            <a:r>
              <a:rPr lang="en-US" altLang="zh-CN" sz="2000" dirty="0"/>
              <a:t>S3</a:t>
            </a:r>
            <a:r>
              <a:rPr lang="zh-CN" altLang="en-US" sz="2000" dirty="0"/>
              <a:t>：</a:t>
            </a:r>
            <a:r>
              <a:rPr lang="en-US" altLang="zh-CN" sz="2000" dirty="0"/>
              <a:t>c=a-b</a:t>
            </a:r>
            <a:r>
              <a:rPr lang="zh-CN" altLang="en-US" sz="2000" dirty="0"/>
              <a:t>，</a:t>
            </a:r>
            <a:r>
              <a:rPr lang="en-US" altLang="zh-CN" sz="2000" dirty="0"/>
              <a:t>R={</a:t>
            </a:r>
            <a:r>
              <a:rPr lang="en-US" altLang="zh-CN" sz="2000" dirty="0" err="1"/>
              <a:t>a,b</a:t>
            </a:r>
            <a:r>
              <a:rPr lang="en-US" altLang="zh-CN" sz="2000" dirty="0"/>
              <a:t>}</a:t>
            </a:r>
            <a:r>
              <a:rPr lang="zh-CN" altLang="en-US" sz="2000" dirty="0"/>
              <a:t>，</a:t>
            </a:r>
            <a:r>
              <a:rPr lang="en-US" altLang="zh-CN" sz="2000" dirty="0"/>
              <a:t>W={c}</a:t>
            </a:r>
            <a:endParaRPr lang="zh-CN" altLang="en-US" sz="2000" dirty="0"/>
          </a:p>
        </p:txBody>
      </p:sp>
      <p:sp>
        <p:nvSpPr>
          <p:cNvPr id="14" name="文本框 13"/>
          <p:cNvSpPr txBox="1"/>
          <p:nvPr/>
        </p:nvSpPr>
        <p:spPr>
          <a:xfrm>
            <a:off x="4470651" y="4794709"/>
            <a:ext cx="3908174" cy="1323439"/>
          </a:xfrm>
          <a:prstGeom prst="rect">
            <a:avLst/>
          </a:prstGeom>
          <a:solidFill>
            <a:schemeClr val="accent5"/>
          </a:solidFill>
          <a:ln>
            <a:solidFill>
              <a:schemeClr val="tx1"/>
            </a:solidFill>
          </a:ln>
        </p:spPr>
        <p:txBody>
          <a:bodyPr wrap="square" rtlCol="0">
            <a:spAutoFit/>
          </a:bodyPr>
          <a:lstStyle/>
          <a:p>
            <a:r>
              <a:rPr lang="zh-CN" altLang="en-US" sz="2000" dirty="0" smtClean="0"/>
              <a:t>然而，现实中</a:t>
            </a:r>
            <a:r>
              <a:rPr lang="en-US" altLang="zh-CN" sz="2000" dirty="0"/>
              <a:t>Bernstein</a:t>
            </a:r>
            <a:r>
              <a:rPr lang="zh-CN" altLang="en-US" sz="2000" dirty="0" smtClean="0"/>
              <a:t>条件往往不</a:t>
            </a:r>
            <a:r>
              <a:rPr lang="zh-CN" altLang="en-US" sz="2000" dirty="0"/>
              <a:t>满足</a:t>
            </a:r>
            <a:r>
              <a:rPr lang="zh-CN" altLang="en-US" sz="2000" dirty="0" smtClean="0"/>
              <a:t>，</a:t>
            </a:r>
            <a:endParaRPr lang="en-US" altLang="zh-CN" sz="2000" dirty="0" smtClean="0"/>
          </a:p>
          <a:p>
            <a:r>
              <a:rPr lang="zh-CN" altLang="en-US" sz="2000" dirty="0" smtClean="0"/>
              <a:t>例如</a:t>
            </a:r>
            <a:r>
              <a:rPr lang="zh-CN" altLang="en-US" sz="2000" dirty="0"/>
              <a:t>：后台进程负责计算，前台</a:t>
            </a:r>
            <a:r>
              <a:rPr lang="en-US" altLang="zh-CN" sz="2000" dirty="0"/>
              <a:t>UI</a:t>
            </a:r>
            <a:r>
              <a:rPr lang="zh-CN" altLang="en-US" sz="2000" dirty="0"/>
              <a:t>进程展示结果</a:t>
            </a:r>
          </a:p>
        </p:txBody>
      </p:sp>
    </p:spTree>
    <p:extLst>
      <p:ext uri="{BB962C8B-B14F-4D97-AF65-F5344CB8AC3E}">
        <p14:creationId xmlns:p14="http://schemas.microsoft.com/office/powerpoint/2010/main" val="335090663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fade">
                                      <p:cBhvr>
                                        <p:cTn id="11"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进程</a:t>
            </a:r>
            <a:r>
              <a:rPr lang="zh-CN" altLang="en-US" dirty="0" smtClean="0"/>
              <a:t>操作与原语</a:t>
            </a:r>
            <a:endParaRPr lang="zh-CN" altLang="en-US" dirty="0"/>
          </a:p>
        </p:txBody>
      </p:sp>
      <p:sp>
        <p:nvSpPr>
          <p:cNvPr id="3" name="内容占位符 2"/>
          <p:cNvSpPr>
            <a:spLocks noGrp="1"/>
          </p:cNvSpPr>
          <p:nvPr>
            <p:ph idx="1"/>
          </p:nvPr>
        </p:nvSpPr>
        <p:spPr/>
        <p:txBody>
          <a:bodyPr/>
          <a:lstStyle/>
          <a:p>
            <a:r>
              <a:rPr lang="zh-CN" altLang="en-US" dirty="0"/>
              <a:t>常见</a:t>
            </a:r>
            <a:r>
              <a:rPr lang="zh-CN" altLang="en-US" dirty="0" smtClean="0"/>
              <a:t>的功能：创建</a:t>
            </a:r>
            <a:r>
              <a:rPr lang="zh-CN" altLang="en-US" dirty="0"/>
              <a:t>、撤消、</a:t>
            </a:r>
            <a:r>
              <a:rPr lang="zh-CN" altLang="en-US" dirty="0" smtClean="0"/>
              <a:t>阻塞、唤醒等</a:t>
            </a:r>
            <a:endParaRPr lang="zh-CN" altLang="en-US" dirty="0"/>
          </a:p>
          <a:p>
            <a:r>
              <a:rPr lang="zh-CN" altLang="en-US" dirty="0"/>
              <a:t>这些功能一般由操作系统内核</a:t>
            </a:r>
            <a:r>
              <a:rPr lang="zh-CN" altLang="en-US" dirty="0">
                <a:solidFill>
                  <a:srgbClr val="FF0000"/>
                </a:solidFill>
              </a:rPr>
              <a:t>原语</a:t>
            </a:r>
            <a:r>
              <a:rPr lang="zh-CN" altLang="en-US" dirty="0"/>
              <a:t>来</a:t>
            </a:r>
            <a:r>
              <a:rPr lang="zh-CN" altLang="en-US" dirty="0" smtClean="0"/>
              <a:t>实现</a:t>
            </a:r>
            <a:endParaRPr lang="en-US" altLang="zh-CN" dirty="0" smtClean="0"/>
          </a:p>
          <a:p>
            <a:pPr lvl="1"/>
            <a:r>
              <a:rPr lang="zh-CN" altLang="en-US" dirty="0" smtClean="0"/>
              <a:t>原语是一段程序，在</a:t>
            </a:r>
            <a:r>
              <a:rPr lang="zh-CN" altLang="en-US" dirty="0"/>
              <a:t>执行期间</a:t>
            </a:r>
            <a:r>
              <a:rPr lang="zh-CN" altLang="en-US" dirty="0" smtClean="0">
                <a:solidFill>
                  <a:srgbClr val="FF0000"/>
                </a:solidFill>
              </a:rPr>
              <a:t>不可分割</a:t>
            </a:r>
            <a:endParaRPr lang="en-US" altLang="zh-CN" dirty="0" smtClean="0">
              <a:solidFill>
                <a:srgbClr val="FF0000"/>
              </a:solidFill>
            </a:endParaRPr>
          </a:p>
          <a:p>
            <a:pPr lvl="2"/>
            <a:r>
              <a:rPr lang="zh-CN" altLang="en-US" dirty="0" smtClean="0"/>
              <a:t>不可分割：即一股脑执行完，中间不发生切换</a:t>
            </a:r>
            <a:endParaRPr lang="en-US" altLang="zh-CN" dirty="0" smtClean="0"/>
          </a:p>
          <a:p>
            <a:pPr lvl="1"/>
            <a:r>
              <a:rPr lang="zh-CN" altLang="en-US" dirty="0" smtClean="0"/>
              <a:t>原语用途：访问共享的、敏感的资源</a:t>
            </a:r>
            <a:endParaRPr lang="en-US" altLang="zh-CN" dirty="0" smtClean="0"/>
          </a:p>
          <a:p>
            <a:pPr lvl="1"/>
            <a:r>
              <a:rPr lang="zh-CN" altLang="en-US" dirty="0" smtClean="0"/>
              <a:t>为什么进程操作要使用</a:t>
            </a:r>
            <a:r>
              <a:rPr lang="zh-CN" altLang="en-US" dirty="0"/>
              <a:t>原语</a:t>
            </a:r>
            <a:r>
              <a:rPr lang="zh-CN" altLang="en-US" dirty="0" smtClean="0"/>
              <a:t>？</a:t>
            </a:r>
            <a:endParaRPr lang="en-US" altLang="zh-CN" dirty="0" smtClean="0"/>
          </a:p>
          <a:p>
            <a:pPr lvl="2"/>
            <a:r>
              <a:rPr lang="zh-CN" altLang="en-US" dirty="0" smtClean="0"/>
              <a:t>涉及全局</a:t>
            </a:r>
            <a:r>
              <a:rPr lang="en-US" altLang="zh-CN" dirty="0"/>
              <a:t>PCB</a:t>
            </a:r>
            <a:r>
              <a:rPr lang="zh-CN" altLang="en-US" dirty="0"/>
              <a:t>链表，若</a:t>
            </a:r>
            <a:r>
              <a:rPr lang="zh-CN" altLang="en-US" dirty="0" smtClean="0"/>
              <a:t>操作中途打断，并切换执行其它进程操作，可能造成链表错乱</a:t>
            </a:r>
            <a:endParaRPr lang="en-US" altLang="zh-CN" dirty="0" smtClean="0"/>
          </a:p>
        </p:txBody>
      </p:sp>
      <p:sp>
        <p:nvSpPr>
          <p:cNvPr id="4" name="灯片编号占位符 3"/>
          <p:cNvSpPr>
            <a:spLocks noGrp="1"/>
          </p:cNvSpPr>
          <p:nvPr>
            <p:ph type="sldNum" sz="quarter" idx="12"/>
          </p:nvPr>
        </p:nvSpPr>
        <p:spPr/>
        <p:txBody>
          <a:bodyPr/>
          <a:lstStyle/>
          <a:p>
            <a:fld id="{4093CC90-4002-504C-BD88-C9A1D374048E}" type="slidenum">
              <a:rPr lang="zh-CN" altLang="en-US" smtClean="0"/>
              <a:pPr/>
              <a:t>37</a:t>
            </a:fld>
            <a:endParaRPr lang="zh-CN" altLang="en-US" dirty="0"/>
          </a:p>
        </p:txBody>
      </p:sp>
    </p:spTree>
    <p:extLst>
      <p:ext uri="{BB962C8B-B14F-4D97-AF65-F5344CB8AC3E}">
        <p14:creationId xmlns:p14="http://schemas.microsoft.com/office/powerpoint/2010/main" val="176055252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进程操作与原语</a:t>
            </a:r>
          </a:p>
        </p:txBody>
      </p:sp>
      <p:sp>
        <p:nvSpPr>
          <p:cNvPr id="3" name="内容占位符 2"/>
          <p:cNvSpPr>
            <a:spLocks noGrp="1"/>
          </p:cNvSpPr>
          <p:nvPr>
            <p:ph idx="1"/>
          </p:nvPr>
        </p:nvSpPr>
        <p:spPr/>
        <p:txBody>
          <a:bodyPr/>
          <a:lstStyle/>
          <a:p>
            <a:r>
              <a:rPr lang="zh-CN" altLang="en-US" dirty="0" smtClean="0"/>
              <a:t>原语实现：</a:t>
            </a:r>
            <a:r>
              <a:rPr lang="zh-CN" altLang="en-US" dirty="0"/>
              <a:t>开头关中断，完成后重开中断</a:t>
            </a:r>
            <a:endParaRPr lang="en-US" altLang="zh-CN" dirty="0"/>
          </a:p>
          <a:p>
            <a:pPr lvl="1"/>
            <a:r>
              <a:rPr lang="zh-CN" altLang="en-US" dirty="0"/>
              <a:t>关中断是特殊指令，使</a:t>
            </a:r>
            <a:r>
              <a:rPr lang="en-US" altLang="zh-CN" dirty="0"/>
              <a:t>CPU</a:t>
            </a:r>
            <a:r>
              <a:rPr lang="zh-CN" altLang="en-US" dirty="0"/>
              <a:t>不</a:t>
            </a:r>
            <a:r>
              <a:rPr lang="zh-CN" altLang="en-US" dirty="0" smtClean="0"/>
              <a:t>理会外部中断</a:t>
            </a:r>
            <a:endParaRPr lang="en-US" altLang="zh-CN" dirty="0" smtClean="0"/>
          </a:p>
          <a:p>
            <a:pPr lvl="2"/>
            <a:r>
              <a:rPr lang="zh-CN" altLang="en-US" dirty="0" smtClean="0"/>
              <a:t>注意</a:t>
            </a:r>
            <a:r>
              <a:rPr lang="en-US" altLang="zh-CN" dirty="0" smtClean="0"/>
              <a:t>1</a:t>
            </a:r>
            <a:r>
              <a:rPr lang="zh-CN" altLang="en-US" dirty="0" smtClean="0"/>
              <a:t>：中断仍然会产生，只是</a:t>
            </a:r>
            <a:r>
              <a:rPr lang="en-US" altLang="zh-CN" dirty="0" smtClean="0"/>
              <a:t>CPU</a:t>
            </a:r>
            <a:r>
              <a:rPr lang="zh-CN" altLang="en-US" dirty="0" smtClean="0"/>
              <a:t>不理会</a:t>
            </a:r>
            <a:endParaRPr lang="en-US" altLang="zh-CN" dirty="0" smtClean="0"/>
          </a:p>
          <a:p>
            <a:pPr lvl="2"/>
            <a:r>
              <a:rPr lang="zh-CN" altLang="en-US" dirty="0" smtClean="0"/>
              <a:t>注意</a:t>
            </a:r>
            <a:r>
              <a:rPr lang="en-US" altLang="zh-CN" dirty="0" smtClean="0"/>
              <a:t>2</a:t>
            </a:r>
            <a:r>
              <a:rPr lang="zh-CN" altLang="en-US" dirty="0" smtClean="0"/>
              <a:t>：仅限</a:t>
            </a:r>
            <a:r>
              <a:rPr lang="zh-CN" altLang="en-US" dirty="0" smtClean="0">
                <a:solidFill>
                  <a:srgbClr val="FF0000"/>
                </a:solidFill>
              </a:rPr>
              <a:t>外部</a:t>
            </a:r>
            <a:r>
              <a:rPr lang="zh-CN" altLang="en-US" dirty="0" smtClean="0"/>
              <a:t>中断（包括定时器）</a:t>
            </a:r>
            <a:endParaRPr lang="en-US" altLang="zh-CN" dirty="0" smtClean="0"/>
          </a:p>
          <a:p>
            <a:pPr lvl="2"/>
            <a:r>
              <a:rPr lang="zh-CN" altLang="en-US" dirty="0" smtClean="0"/>
              <a:t>不受中断打扰，</a:t>
            </a:r>
            <a:r>
              <a:rPr lang="en-US" altLang="zh-CN" dirty="0" smtClean="0"/>
              <a:t>CPU</a:t>
            </a:r>
            <a:r>
              <a:rPr lang="zh-CN" altLang="en-US" dirty="0" smtClean="0"/>
              <a:t>自然不会</a:t>
            </a:r>
            <a:r>
              <a:rPr lang="zh-CN" altLang="en-US" dirty="0"/>
              <a:t>被</a:t>
            </a:r>
            <a:r>
              <a:rPr lang="zh-CN" altLang="en-US" dirty="0" smtClean="0"/>
              <a:t>切换</a:t>
            </a:r>
            <a:endParaRPr lang="en-US" altLang="zh-CN" dirty="0" smtClean="0"/>
          </a:p>
          <a:p>
            <a:pPr lvl="2"/>
            <a:r>
              <a:rPr lang="zh-CN" altLang="en-US" dirty="0"/>
              <a:t>思考：开关中断是特权指令还是普通指令？原语是内核程序还是用户态程序</a:t>
            </a:r>
            <a:r>
              <a:rPr lang="zh-CN" altLang="en-US" dirty="0" smtClean="0"/>
              <a:t>？</a:t>
            </a:r>
            <a:endParaRPr lang="en-US" altLang="zh-CN" dirty="0" smtClean="0"/>
          </a:p>
          <a:p>
            <a:pPr lvl="1"/>
            <a:r>
              <a:rPr lang="zh-CN" altLang="en-US" dirty="0" smtClean="0"/>
              <a:t>问题</a:t>
            </a:r>
            <a:r>
              <a:rPr lang="zh-CN" altLang="en-US" dirty="0"/>
              <a:t>：仅适用单</a:t>
            </a:r>
            <a:r>
              <a:rPr lang="en-US" altLang="zh-CN" dirty="0"/>
              <a:t>CPU</a:t>
            </a:r>
            <a:r>
              <a:rPr lang="zh-CN" altLang="en-US" dirty="0"/>
              <a:t>，多</a:t>
            </a:r>
            <a:r>
              <a:rPr lang="en-US" altLang="zh-CN" dirty="0"/>
              <a:t>CPU</a:t>
            </a:r>
            <a:r>
              <a:rPr lang="zh-CN" altLang="en-US" dirty="0"/>
              <a:t>时，关中断仅影响当前</a:t>
            </a:r>
            <a:r>
              <a:rPr lang="en-US" altLang="zh-CN" dirty="0"/>
              <a:t>CPU</a:t>
            </a:r>
            <a:r>
              <a:rPr lang="zh-CN" altLang="en-US" dirty="0"/>
              <a:t>，其它</a:t>
            </a:r>
            <a:r>
              <a:rPr lang="en-US" altLang="zh-CN" dirty="0"/>
              <a:t>CPU</a:t>
            </a:r>
            <a:r>
              <a:rPr lang="zh-CN" altLang="en-US" dirty="0"/>
              <a:t>仍可同时执行危险</a:t>
            </a:r>
            <a:r>
              <a:rPr lang="zh-CN" altLang="en-US" dirty="0" smtClean="0"/>
              <a:t>操作</a:t>
            </a:r>
            <a:endParaRPr lang="zh-CN" altLang="en-US" dirty="0"/>
          </a:p>
        </p:txBody>
      </p:sp>
      <p:sp>
        <p:nvSpPr>
          <p:cNvPr id="4" name="灯片编号占位符 3"/>
          <p:cNvSpPr>
            <a:spLocks noGrp="1"/>
          </p:cNvSpPr>
          <p:nvPr>
            <p:ph type="sldNum" sz="quarter" idx="12"/>
          </p:nvPr>
        </p:nvSpPr>
        <p:spPr/>
        <p:txBody>
          <a:bodyPr/>
          <a:lstStyle/>
          <a:p>
            <a:fld id="{4093CC90-4002-504C-BD88-C9A1D374048E}" type="slidenum">
              <a:rPr lang="zh-CN" altLang="en-US" smtClean="0"/>
              <a:pPr/>
              <a:t>38</a:t>
            </a:fld>
            <a:endParaRPr lang="zh-CN" altLang="en-US" dirty="0"/>
          </a:p>
        </p:txBody>
      </p:sp>
      <p:sp>
        <p:nvSpPr>
          <p:cNvPr id="8" name="圆角矩形标注 7"/>
          <p:cNvSpPr/>
          <p:nvPr/>
        </p:nvSpPr>
        <p:spPr bwMode="auto">
          <a:xfrm>
            <a:off x="4371975" y="5712618"/>
            <a:ext cx="3130549" cy="514351"/>
          </a:xfrm>
          <a:prstGeom prst="wedgeRoundRectCallout">
            <a:avLst>
              <a:gd name="adj1" fmla="val 4815"/>
              <a:gd name="adj2" fmla="val -88647"/>
              <a:gd name="adj3" fmla="val 16667"/>
            </a:avLst>
          </a:prstGeom>
          <a:solidFill>
            <a:schemeClr val="accent5"/>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0" compatLnSpc="1"/>
          <a:lstStyle/>
          <a:p>
            <a:pPr fontAlgn="base">
              <a:lnSpc>
                <a:spcPct val="90000"/>
              </a:lnSpc>
              <a:spcBef>
                <a:spcPct val="20000"/>
              </a:spcBef>
              <a:spcAft>
                <a:spcPct val="0"/>
              </a:spcAft>
              <a:buClr>
                <a:schemeClr val="folHlink"/>
              </a:buClr>
              <a:buSzPct val="60000"/>
            </a:pPr>
            <a:r>
              <a:rPr kumimoji="1" lang="zh-CN" altLang="en-US" sz="2000" dirty="0">
                <a:latin typeface="Tahoma" panose="020B0604030504040204" pitchFamily="34" charset="0"/>
                <a:ea typeface="宋体" panose="02010600030101010101" pitchFamily="2" charset="-122"/>
              </a:rPr>
              <a:t>问题</a:t>
            </a:r>
            <a:r>
              <a:rPr kumimoji="1" lang="en-US" altLang="zh-CN" sz="2000" dirty="0">
                <a:latin typeface="Tahoma" panose="020B0604030504040204" pitchFamily="34" charset="0"/>
                <a:ea typeface="宋体" panose="02010600030101010101" pitchFamily="2" charset="-122"/>
              </a:rPr>
              <a:t>3.2</a:t>
            </a:r>
            <a:r>
              <a:rPr kumimoji="1" lang="zh-CN" altLang="en-US" sz="2000" dirty="0">
                <a:latin typeface="Tahoma" panose="020B0604030504040204" pitchFamily="34" charset="0"/>
                <a:ea typeface="宋体" panose="02010600030101010101" pitchFamily="2" charset="-122"/>
              </a:rPr>
              <a:t>：多</a:t>
            </a:r>
            <a:r>
              <a:rPr kumimoji="1" lang="en-US" altLang="zh-CN" sz="2000" dirty="0">
                <a:latin typeface="Tahoma" panose="020B0604030504040204" pitchFamily="34" charset="0"/>
                <a:ea typeface="宋体" panose="02010600030101010101" pitchFamily="2" charset="-122"/>
              </a:rPr>
              <a:t>CPU</a:t>
            </a:r>
            <a:r>
              <a:rPr kumimoji="1" lang="zh-CN" altLang="en-US" sz="2000" dirty="0">
                <a:latin typeface="Tahoma" panose="020B0604030504040204" pitchFamily="34" charset="0"/>
                <a:ea typeface="宋体" panose="02010600030101010101" pitchFamily="2" charset="-122"/>
              </a:rPr>
              <a:t>怎么办？</a:t>
            </a:r>
            <a:endParaRPr kumimoji="1" lang="zh-CN" altLang="en-US" sz="2000" b="0" i="0" u="none" strike="noStrike" cap="none" normalizeH="0" baseline="0" dirty="0" smtClean="0">
              <a:ln>
                <a:noFill/>
              </a:ln>
              <a:solidFill>
                <a:schemeClr val="tx1"/>
              </a:solidFill>
              <a:effectLst/>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23748511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进程创建</a:t>
            </a:r>
          </a:p>
        </p:txBody>
      </p:sp>
      <p:sp>
        <p:nvSpPr>
          <p:cNvPr id="3" name="内容占位符 2"/>
          <p:cNvSpPr>
            <a:spLocks noGrp="1"/>
          </p:cNvSpPr>
          <p:nvPr>
            <p:ph idx="1"/>
          </p:nvPr>
        </p:nvSpPr>
        <p:spPr/>
        <p:txBody>
          <a:bodyPr/>
          <a:lstStyle/>
          <a:p>
            <a:r>
              <a:rPr lang="zh-CN" altLang="en-US" dirty="0"/>
              <a:t>通过</a:t>
            </a:r>
            <a:r>
              <a:rPr lang="zh-CN" altLang="en-US" dirty="0">
                <a:solidFill>
                  <a:srgbClr val="FF0000"/>
                </a:solidFill>
              </a:rPr>
              <a:t>创建进程系统调用</a:t>
            </a:r>
            <a:r>
              <a:rPr lang="zh-CN" altLang="en-US" dirty="0"/>
              <a:t>可以</a:t>
            </a:r>
            <a:r>
              <a:rPr lang="zh-CN" altLang="en-US" dirty="0" smtClean="0"/>
              <a:t>创建新</a:t>
            </a:r>
            <a:r>
              <a:rPr lang="zh-CN" altLang="en-US" dirty="0"/>
              <a:t>进程，</a:t>
            </a:r>
            <a:r>
              <a:rPr lang="zh-CN" altLang="en-US" dirty="0" smtClean="0"/>
              <a:t>创建方称为</a:t>
            </a:r>
            <a:r>
              <a:rPr lang="zh-CN" altLang="en-US" dirty="0">
                <a:solidFill>
                  <a:srgbClr val="FF0000"/>
                </a:solidFill>
              </a:rPr>
              <a:t>父进程</a:t>
            </a:r>
            <a:r>
              <a:rPr lang="zh-CN" altLang="en-US" dirty="0"/>
              <a:t>，被</a:t>
            </a:r>
            <a:r>
              <a:rPr lang="zh-CN" altLang="en-US" dirty="0" smtClean="0"/>
              <a:t>创建方称为</a:t>
            </a:r>
            <a:r>
              <a:rPr lang="zh-CN" altLang="en-US" dirty="0">
                <a:solidFill>
                  <a:srgbClr val="FF0000"/>
                </a:solidFill>
              </a:rPr>
              <a:t>子进程</a:t>
            </a:r>
          </a:p>
          <a:p>
            <a:pPr lvl="1"/>
            <a:r>
              <a:rPr lang="zh-CN" altLang="en-US" dirty="0" smtClean="0"/>
              <a:t>新</a:t>
            </a:r>
            <a:r>
              <a:rPr lang="zh-CN" altLang="en-US" dirty="0"/>
              <a:t>进程可以再创建新进程，从而</a:t>
            </a:r>
            <a:r>
              <a:rPr lang="zh-CN" altLang="en-US" dirty="0" smtClean="0"/>
              <a:t>形成进程</a:t>
            </a:r>
            <a:r>
              <a:rPr lang="zh-CN" altLang="en-US" dirty="0"/>
              <a:t>树</a:t>
            </a:r>
          </a:p>
          <a:p>
            <a:pPr lvl="1"/>
            <a:r>
              <a:rPr lang="zh-CN" altLang="en-US" dirty="0"/>
              <a:t>进程树又称进程图或进程家族树</a:t>
            </a:r>
          </a:p>
          <a:p>
            <a:r>
              <a:rPr lang="zh-CN" altLang="en-US" dirty="0"/>
              <a:t>理解</a:t>
            </a:r>
          </a:p>
          <a:p>
            <a:pPr lvl="1"/>
            <a:r>
              <a:rPr lang="zh-CN" altLang="en-US" dirty="0"/>
              <a:t>进程的创建需要</a:t>
            </a:r>
            <a:r>
              <a:rPr lang="en-US" altLang="zh-CN" dirty="0"/>
              <a:t>OS</a:t>
            </a:r>
            <a:r>
              <a:rPr lang="zh-CN" altLang="en-US" dirty="0">
                <a:solidFill>
                  <a:srgbClr val="FF0000"/>
                </a:solidFill>
              </a:rPr>
              <a:t>执行</a:t>
            </a:r>
            <a:r>
              <a:rPr lang="zh-CN" altLang="en-US" dirty="0"/>
              <a:t>，但多数进程都是在现有进程的</a:t>
            </a:r>
            <a:r>
              <a:rPr lang="zh-CN" altLang="en-US" dirty="0">
                <a:solidFill>
                  <a:srgbClr val="FF0000"/>
                </a:solidFill>
              </a:rPr>
              <a:t>要求</a:t>
            </a:r>
            <a:r>
              <a:rPr lang="zh-CN" altLang="en-US" dirty="0"/>
              <a:t>下创建的</a:t>
            </a:r>
          </a:p>
          <a:p>
            <a:pPr lvl="1"/>
            <a:r>
              <a:rPr lang="en-US" altLang="zh-CN" dirty="0"/>
              <a:t>Linux</a:t>
            </a:r>
            <a:r>
              <a:rPr lang="zh-CN" altLang="en-US" dirty="0"/>
              <a:t>的</a:t>
            </a:r>
            <a:r>
              <a:rPr lang="en-US" altLang="zh-CN" dirty="0"/>
              <a:t>bash</a:t>
            </a:r>
            <a:r>
              <a:rPr lang="zh-CN" altLang="en-US" dirty="0"/>
              <a:t>进程创建</a:t>
            </a:r>
            <a:r>
              <a:rPr lang="en-US" altLang="zh-CN" dirty="0"/>
              <a:t>vim</a:t>
            </a:r>
            <a:r>
              <a:rPr lang="zh-CN" altLang="en-US" dirty="0"/>
              <a:t>进程</a:t>
            </a:r>
          </a:p>
          <a:p>
            <a:pPr lvl="1"/>
            <a:r>
              <a:rPr lang="en-US" altLang="zh-CN" dirty="0"/>
              <a:t>Windows</a:t>
            </a:r>
            <a:r>
              <a:rPr lang="zh-CN" altLang="en-US" dirty="0"/>
              <a:t>的</a:t>
            </a:r>
            <a:r>
              <a:rPr lang="en-US" altLang="zh-CN" dirty="0"/>
              <a:t>Explorer</a:t>
            </a:r>
            <a:r>
              <a:rPr lang="zh-CN" altLang="en-US" dirty="0"/>
              <a:t>创建</a:t>
            </a:r>
            <a:r>
              <a:rPr lang="en-US" altLang="zh-CN" dirty="0"/>
              <a:t>QQ</a:t>
            </a:r>
            <a:r>
              <a:rPr lang="zh-CN" altLang="en-US" dirty="0"/>
              <a:t>进程</a:t>
            </a:r>
            <a:endParaRPr lang="en-US" altLang="zh-CN" dirty="0" smtClean="0"/>
          </a:p>
        </p:txBody>
      </p:sp>
      <p:sp>
        <p:nvSpPr>
          <p:cNvPr id="4" name="灯片编号占位符 3"/>
          <p:cNvSpPr>
            <a:spLocks noGrp="1"/>
          </p:cNvSpPr>
          <p:nvPr>
            <p:ph type="sldNum" sz="quarter" idx="12"/>
          </p:nvPr>
        </p:nvSpPr>
        <p:spPr/>
        <p:txBody>
          <a:bodyPr/>
          <a:lstStyle/>
          <a:p>
            <a:fld id="{4093CC90-4002-504C-BD88-C9A1D374048E}" type="slidenum">
              <a:rPr lang="zh-CN" altLang="en-US" smtClean="0"/>
              <a:pPr/>
              <a:t>39</a:t>
            </a:fld>
            <a:endParaRPr lang="zh-CN" altLang="en-US" dirty="0"/>
          </a:p>
        </p:txBody>
      </p:sp>
    </p:spTree>
    <p:extLst>
      <p:ext uri="{BB962C8B-B14F-4D97-AF65-F5344CB8AC3E}">
        <p14:creationId xmlns:p14="http://schemas.microsoft.com/office/powerpoint/2010/main" val="15535071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进程创建</a:t>
            </a:r>
          </a:p>
        </p:txBody>
      </p:sp>
      <p:sp>
        <p:nvSpPr>
          <p:cNvPr id="3" name="内容占位符 2"/>
          <p:cNvSpPr>
            <a:spLocks noGrp="1"/>
          </p:cNvSpPr>
          <p:nvPr>
            <p:ph idx="1"/>
          </p:nvPr>
        </p:nvSpPr>
        <p:spPr/>
        <p:txBody>
          <a:bodyPr/>
          <a:lstStyle/>
          <a:p>
            <a:r>
              <a:rPr lang="zh-CN" altLang="en-US" dirty="0"/>
              <a:t>资源共享</a:t>
            </a:r>
          </a:p>
          <a:p>
            <a:pPr lvl="1"/>
            <a:r>
              <a:rPr lang="zh-CN" altLang="en-US" dirty="0"/>
              <a:t>父子进程共享所有资源</a:t>
            </a:r>
          </a:p>
          <a:p>
            <a:pPr lvl="1"/>
            <a:r>
              <a:rPr lang="zh-CN" altLang="en-US" dirty="0"/>
              <a:t>子进程共享父进程资源的子集</a:t>
            </a:r>
          </a:p>
          <a:p>
            <a:pPr lvl="1"/>
            <a:r>
              <a:rPr lang="zh-CN" altLang="en-US" dirty="0"/>
              <a:t>父子进程无资源共享</a:t>
            </a:r>
            <a:endParaRPr lang="en-US" altLang="zh-CN" dirty="0"/>
          </a:p>
          <a:p>
            <a:r>
              <a:rPr lang="zh-CN" altLang="en-US" dirty="0" smtClean="0"/>
              <a:t>执行方式</a:t>
            </a:r>
            <a:endParaRPr lang="zh-CN" altLang="en-US" dirty="0"/>
          </a:p>
          <a:p>
            <a:pPr lvl="1"/>
            <a:r>
              <a:rPr lang="zh-CN" altLang="en-US" dirty="0"/>
              <a:t>父进程和子进程并发执行</a:t>
            </a:r>
          </a:p>
          <a:p>
            <a:pPr lvl="1"/>
            <a:r>
              <a:rPr lang="zh-CN" altLang="en-US" dirty="0"/>
              <a:t>父进程等待，直到子进程</a:t>
            </a:r>
            <a:r>
              <a:rPr lang="zh-CN" altLang="en-US" dirty="0" smtClean="0"/>
              <a:t>终止</a:t>
            </a:r>
            <a:endParaRPr lang="zh-CN" altLang="en-US" dirty="0"/>
          </a:p>
        </p:txBody>
      </p:sp>
      <p:sp>
        <p:nvSpPr>
          <p:cNvPr id="4" name="灯片编号占位符 3"/>
          <p:cNvSpPr>
            <a:spLocks noGrp="1"/>
          </p:cNvSpPr>
          <p:nvPr>
            <p:ph type="sldNum" sz="quarter" idx="12"/>
          </p:nvPr>
        </p:nvSpPr>
        <p:spPr/>
        <p:txBody>
          <a:bodyPr/>
          <a:lstStyle/>
          <a:p>
            <a:fld id="{4093CC90-4002-504C-BD88-C9A1D374048E}" type="slidenum">
              <a:rPr lang="zh-CN" altLang="en-US" smtClean="0"/>
              <a:pPr/>
              <a:t>40</a:t>
            </a:fld>
            <a:endParaRPr lang="zh-CN" altLang="en-US" dirty="0"/>
          </a:p>
        </p:txBody>
      </p:sp>
    </p:spTree>
    <p:extLst>
      <p:ext uri="{BB962C8B-B14F-4D97-AF65-F5344CB8AC3E}">
        <p14:creationId xmlns:p14="http://schemas.microsoft.com/office/powerpoint/2010/main" val="401007601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2">
            <a:extLst>
              <a:ext uri="{FF2B5EF4-FFF2-40B4-BE49-F238E27FC236}">
                <a16:creationId xmlns:a16="http://schemas.microsoft.com/office/drawing/2014/main" xmlns="" id="{FF7637A7-EA02-0DDE-39E4-372EFEBA27A2}"/>
              </a:ext>
            </a:extLst>
          </p:cNvPr>
          <p:cNvSpPr>
            <a:spLocks noGrp="1" noChangeArrowheads="1"/>
          </p:cNvSpPr>
          <p:nvPr>
            <p:ph type="title"/>
          </p:nvPr>
        </p:nvSpPr>
        <p:spPr/>
        <p:txBody>
          <a:bodyPr/>
          <a:lstStyle/>
          <a:p>
            <a:r>
              <a:rPr lang="zh-CN" altLang="en-US" dirty="0"/>
              <a:t>进程创建</a:t>
            </a:r>
            <a:endParaRPr lang="en-US" altLang="zh-CN" dirty="0"/>
          </a:p>
        </p:txBody>
      </p:sp>
      <p:sp>
        <p:nvSpPr>
          <p:cNvPr id="56322" name="Rectangle 3">
            <a:extLst>
              <a:ext uri="{FF2B5EF4-FFF2-40B4-BE49-F238E27FC236}">
                <a16:creationId xmlns:a16="http://schemas.microsoft.com/office/drawing/2014/main" xmlns="" id="{12C421F3-F715-979C-79F8-A8C09B6DEFD7}"/>
              </a:ext>
            </a:extLst>
          </p:cNvPr>
          <p:cNvSpPr>
            <a:spLocks noGrp="1" noChangeArrowheads="1"/>
          </p:cNvSpPr>
          <p:nvPr>
            <p:ph idx="1"/>
          </p:nvPr>
        </p:nvSpPr>
        <p:spPr/>
        <p:txBody>
          <a:bodyPr/>
          <a:lstStyle/>
          <a:p>
            <a:r>
              <a:rPr lang="zh-CN" altLang="en-US" dirty="0"/>
              <a:t>地址空间</a:t>
            </a:r>
          </a:p>
          <a:p>
            <a:pPr lvl="1"/>
            <a:r>
              <a:rPr lang="zh-CN" altLang="en-US" dirty="0"/>
              <a:t>子进程是父进程的复制品</a:t>
            </a:r>
          </a:p>
          <a:p>
            <a:pPr lvl="1"/>
            <a:r>
              <a:rPr lang="zh-CN" altLang="en-US" dirty="0"/>
              <a:t>子进程装入一个新程序</a:t>
            </a:r>
          </a:p>
          <a:p>
            <a:r>
              <a:rPr lang="zh-CN" altLang="en-US" dirty="0" smtClean="0"/>
              <a:t>导致</a:t>
            </a:r>
            <a:r>
              <a:rPr lang="zh-CN" altLang="en-US" dirty="0"/>
              <a:t>进程创建的原因</a:t>
            </a:r>
          </a:p>
          <a:p>
            <a:pPr lvl="1"/>
            <a:r>
              <a:rPr lang="zh-CN" altLang="en-US" dirty="0"/>
              <a:t>用户登录：用户登录后，若合法则为用户创建一个进程</a:t>
            </a:r>
          </a:p>
          <a:p>
            <a:pPr lvl="1"/>
            <a:r>
              <a:rPr lang="zh-CN" altLang="en-US" dirty="0"/>
              <a:t>作业调度：为调度到的作业分配资源并创建进程</a:t>
            </a:r>
          </a:p>
          <a:p>
            <a:pPr lvl="1"/>
            <a:r>
              <a:rPr lang="en-US" altLang="zh-CN" dirty="0"/>
              <a:t>OS</a:t>
            </a:r>
            <a:r>
              <a:rPr lang="zh-CN" altLang="en-US" dirty="0"/>
              <a:t>服务：创建服务进程</a:t>
            </a:r>
          </a:p>
          <a:p>
            <a:pPr lvl="1"/>
            <a:r>
              <a:rPr lang="zh-CN" altLang="en-US" dirty="0"/>
              <a:t>应用需要：应用程序根据需要创建子进程</a:t>
            </a:r>
            <a:endParaRPr lang="en-US" altLang="zh-CN" dirty="0"/>
          </a:p>
        </p:txBody>
      </p:sp>
      <p:sp>
        <p:nvSpPr>
          <p:cNvPr id="2" name="灯片编号占位符 1">
            <a:extLst>
              <a:ext uri="{FF2B5EF4-FFF2-40B4-BE49-F238E27FC236}">
                <a16:creationId xmlns:a16="http://schemas.microsoft.com/office/drawing/2014/main" xmlns="" id="{10308D5D-9657-2165-1202-EA72B24FC7DC}"/>
              </a:ext>
            </a:extLst>
          </p:cNvPr>
          <p:cNvSpPr>
            <a:spLocks noGrp="1"/>
          </p:cNvSpPr>
          <p:nvPr>
            <p:ph type="sldNum" sz="quarter" idx="12"/>
          </p:nvPr>
        </p:nvSpPr>
        <p:spPr/>
        <p:txBody>
          <a:bodyPr/>
          <a:lstStyle/>
          <a:p>
            <a:fld id="{748647BC-2A60-7146-8956-E61BEEDE2B56}" type="slidenum">
              <a:rPr lang="zh-CN" altLang="en-US" smtClean="0"/>
              <a:pPr/>
              <a:t>41</a:t>
            </a:fld>
            <a:endParaRPr lang="zh-CN" altLang="en-US"/>
          </a:p>
        </p:txBody>
      </p:sp>
    </p:spTree>
    <p:extLst>
      <p:ext uri="{BB962C8B-B14F-4D97-AF65-F5344CB8AC3E}">
        <p14:creationId xmlns:p14="http://schemas.microsoft.com/office/powerpoint/2010/main" val="10512536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A699B5F0-C9C5-4220-9915-119B9B89A103}"/>
              </a:ext>
            </a:extLst>
          </p:cNvPr>
          <p:cNvSpPr>
            <a:spLocks noGrp="1"/>
          </p:cNvSpPr>
          <p:nvPr>
            <p:ph type="title"/>
          </p:nvPr>
        </p:nvSpPr>
        <p:spPr/>
        <p:txBody>
          <a:bodyPr/>
          <a:lstStyle/>
          <a:p>
            <a:r>
              <a:rPr lang="zh-CN" altLang="en-US" dirty="0"/>
              <a:t>进程创建</a:t>
            </a:r>
            <a:endParaRPr kumimoji="1" lang="zh-CN" altLang="en-US" dirty="0"/>
          </a:p>
        </p:txBody>
      </p:sp>
      <p:sp>
        <p:nvSpPr>
          <p:cNvPr id="3" name="内容占位符 2">
            <a:extLst>
              <a:ext uri="{FF2B5EF4-FFF2-40B4-BE49-F238E27FC236}">
                <a16:creationId xmlns:a16="http://schemas.microsoft.com/office/drawing/2014/main" xmlns="" id="{7C124F35-16C5-03DF-0578-844BF952222A}"/>
              </a:ext>
            </a:extLst>
          </p:cNvPr>
          <p:cNvSpPr>
            <a:spLocks noGrp="1"/>
          </p:cNvSpPr>
          <p:nvPr>
            <p:ph idx="1"/>
          </p:nvPr>
        </p:nvSpPr>
        <p:spPr/>
        <p:txBody>
          <a:bodyPr/>
          <a:lstStyle/>
          <a:p>
            <a:r>
              <a:rPr lang="zh-CN" altLang="en-US" dirty="0"/>
              <a:t>创建原语</a:t>
            </a:r>
          </a:p>
          <a:p>
            <a:pPr lvl="1"/>
            <a:r>
              <a:rPr lang="zh-CN" altLang="en-US" dirty="0" smtClean="0"/>
              <a:t>向</a:t>
            </a:r>
            <a:r>
              <a:rPr lang="zh-CN" altLang="en-US" dirty="0"/>
              <a:t>系统申请一个空闲</a:t>
            </a:r>
            <a:r>
              <a:rPr lang="en-US" altLang="zh-CN" dirty="0"/>
              <a:t>PCB</a:t>
            </a:r>
          </a:p>
          <a:p>
            <a:pPr lvl="1"/>
            <a:r>
              <a:rPr lang="zh-CN" altLang="en-US" dirty="0"/>
              <a:t>为新进程分配资源。如分配内存</a:t>
            </a:r>
            <a:r>
              <a:rPr lang="zh-CN" altLang="en-US" dirty="0" smtClean="0"/>
              <a:t>空间</a:t>
            </a:r>
            <a:endParaRPr lang="zh-CN" altLang="en-US" dirty="0"/>
          </a:p>
          <a:p>
            <a:pPr lvl="1"/>
            <a:r>
              <a:rPr lang="zh-CN" altLang="en-US" dirty="0"/>
              <a:t>初始化新进程的</a:t>
            </a:r>
            <a:r>
              <a:rPr lang="en-US" altLang="zh-CN" dirty="0"/>
              <a:t>PCB</a:t>
            </a:r>
            <a:r>
              <a:rPr lang="zh-CN" altLang="en-US" dirty="0"/>
              <a:t>。在其</a:t>
            </a:r>
            <a:r>
              <a:rPr lang="en-US" altLang="zh-CN" dirty="0"/>
              <a:t>PCB</a:t>
            </a:r>
            <a:r>
              <a:rPr lang="zh-CN" altLang="en-US" dirty="0"/>
              <a:t>中填入进程名、家族信息、程序和数据地址、进程优先级、资源清单及进程状态</a:t>
            </a:r>
            <a:r>
              <a:rPr lang="zh-CN" altLang="en-US" dirty="0" smtClean="0"/>
              <a:t>等</a:t>
            </a:r>
            <a:endParaRPr lang="zh-CN" altLang="en-US" dirty="0"/>
          </a:p>
          <a:p>
            <a:pPr lvl="1"/>
            <a:r>
              <a:rPr lang="zh-CN" altLang="en-US" dirty="0"/>
              <a:t>将新进程的</a:t>
            </a:r>
            <a:r>
              <a:rPr lang="en-US" altLang="zh-CN" dirty="0"/>
              <a:t>PCB</a:t>
            </a:r>
            <a:r>
              <a:rPr lang="zh-CN" altLang="en-US" dirty="0"/>
              <a:t>插入就绪队列</a:t>
            </a:r>
            <a:endParaRPr kumimoji="1" lang="zh-CN" altLang="en-US" dirty="0"/>
          </a:p>
        </p:txBody>
      </p:sp>
      <p:sp>
        <p:nvSpPr>
          <p:cNvPr id="4" name="灯片编号占位符 3">
            <a:extLst>
              <a:ext uri="{FF2B5EF4-FFF2-40B4-BE49-F238E27FC236}">
                <a16:creationId xmlns:a16="http://schemas.microsoft.com/office/drawing/2014/main" xmlns="" id="{A0028986-3F5E-9460-137C-A366FD4A6510}"/>
              </a:ext>
            </a:extLst>
          </p:cNvPr>
          <p:cNvSpPr>
            <a:spLocks noGrp="1"/>
          </p:cNvSpPr>
          <p:nvPr>
            <p:ph type="sldNum" sz="quarter" idx="12"/>
          </p:nvPr>
        </p:nvSpPr>
        <p:spPr/>
        <p:txBody>
          <a:bodyPr/>
          <a:lstStyle/>
          <a:p>
            <a:fld id="{4093CC90-4002-504C-BD88-C9A1D374048E}" type="slidenum">
              <a:rPr lang="zh-CN" altLang="en-US" smtClean="0"/>
              <a:pPr/>
              <a:t>42</a:t>
            </a:fld>
            <a:endParaRPr lang="zh-CN" altLang="en-US" dirty="0"/>
          </a:p>
        </p:txBody>
      </p:sp>
    </p:spTree>
    <p:extLst>
      <p:ext uri="{BB962C8B-B14F-4D97-AF65-F5344CB8AC3E}">
        <p14:creationId xmlns:p14="http://schemas.microsoft.com/office/powerpoint/2010/main" val="78957316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p:txBody>
          <a:bodyPr/>
          <a:lstStyle/>
          <a:p>
            <a:r>
              <a:rPr lang="zh-CN" altLang="en-US" dirty="0"/>
              <a:t>进程终止</a:t>
            </a:r>
            <a:endParaRPr lang="en-US" altLang="zh-CN" dirty="0" smtClean="0"/>
          </a:p>
        </p:txBody>
      </p:sp>
      <p:sp>
        <p:nvSpPr>
          <p:cNvPr id="58371" name="Rectangle 3"/>
          <p:cNvSpPr>
            <a:spLocks noGrp="1" noChangeArrowheads="1"/>
          </p:cNvSpPr>
          <p:nvPr>
            <p:ph idx="1"/>
          </p:nvPr>
        </p:nvSpPr>
        <p:spPr/>
        <p:txBody>
          <a:bodyPr/>
          <a:lstStyle/>
          <a:p>
            <a:pPr algn="just"/>
            <a:r>
              <a:rPr lang="zh-CN" altLang="en-US" dirty="0">
                <a:latin typeface="Times New Roman" panose="02020603050405020304" pitchFamily="18" charset="0"/>
              </a:rPr>
              <a:t>当</a:t>
            </a:r>
            <a:r>
              <a:rPr lang="zh-CN" altLang="en-US" dirty="0" smtClean="0">
                <a:latin typeface="Times New Roman" panose="02020603050405020304" pitchFamily="18" charset="0"/>
              </a:rPr>
              <a:t>进程使用</a:t>
            </a:r>
            <a:r>
              <a:rPr lang="zh-CN" altLang="en-US" dirty="0">
                <a:latin typeface="Times New Roman" panose="02020603050405020304" pitchFamily="18" charset="0"/>
              </a:rPr>
              <a:t>系统</a:t>
            </a:r>
            <a:r>
              <a:rPr lang="zh-CN" altLang="en-US" dirty="0" smtClean="0">
                <a:latin typeface="Times New Roman" panose="02020603050405020304" pitchFamily="18" charset="0"/>
              </a:rPr>
              <a:t>调用请求</a:t>
            </a:r>
            <a:r>
              <a:rPr lang="zh-CN" altLang="en-US" dirty="0">
                <a:latin typeface="Times New Roman" panose="02020603050405020304" pitchFamily="18" charset="0"/>
              </a:rPr>
              <a:t>操作系统删除自身时，进程终止，也称为进程撤消</a:t>
            </a:r>
          </a:p>
          <a:p>
            <a:pPr lvl="1" algn="just"/>
            <a:r>
              <a:rPr lang="zh-CN" altLang="en-US" dirty="0" smtClean="0">
                <a:latin typeface="Times New Roman" panose="02020603050405020304" pitchFamily="18" charset="0"/>
              </a:rPr>
              <a:t>所有</a:t>
            </a:r>
            <a:r>
              <a:rPr lang="zh-CN" altLang="en-US" dirty="0">
                <a:latin typeface="Times New Roman" panose="02020603050405020304" pitchFamily="18" charset="0"/>
              </a:rPr>
              <a:t>进程资源由操作系统回收</a:t>
            </a:r>
          </a:p>
          <a:p>
            <a:r>
              <a:rPr lang="zh-CN" altLang="en-US" dirty="0"/>
              <a:t>引起进程撤销的原因</a:t>
            </a:r>
          </a:p>
          <a:p>
            <a:pPr lvl="1"/>
            <a:r>
              <a:rPr lang="zh-CN" altLang="en-US" dirty="0"/>
              <a:t>正常结束</a:t>
            </a:r>
          </a:p>
          <a:p>
            <a:pPr lvl="1"/>
            <a:r>
              <a:rPr lang="zh-CN" altLang="en-US" dirty="0"/>
              <a:t>异常结束：超时、内存不足、地址越界、算术错、</a:t>
            </a:r>
            <a:r>
              <a:rPr lang="en-US" altLang="zh-CN" dirty="0"/>
              <a:t>I/O</a:t>
            </a:r>
            <a:r>
              <a:rPr lang="zh-CN" altLang="en-US" dirty="0"/>
              <a:t>故障、非法指令等</a:t>
            </a:r>
          </a:p>
          <a:p>
            <a:pPr lvl="1"/>
            <a:r>
              <a:rPr lang="zh-CN" altLang="en-US" dirty="0"/>
              <a:t>外界干预：包括操作员或系统干预，父进程</a:t>
            </a:r>
            <a:r>
              <a:rPr lang="zh-CN" altLang="en-US" dirty="0" smtClean="0"/>
              <a:t>请求</a:t>
            </a:r>
            <a:endParaRPr lang="zh-CN" altLang="en-US" dirty="0"/>
          </a:p>
        </p:txBody>
      </p:sp>
      <p:sp>
        <p:nvSpPr>
          <p:cNvPr id="2" name="灯片编号占位符 1"/>
          <p:cNvSpPr>
            <a:spLocks noGrp="1"/>
          </p:cNvSpPr>
          <p:nvPr>
            <p:ph type="sldNum" sz="quarter" idx="12"/>
          </p:nvPr>
        </p:nvSpPr>
        <p:spPr/>
        <p:txBody>
          <a:bodyPr/>
          <a:lstStyle/>
          <a:p>
            <a:pPr>
              <a:defRPr/>
            </a:pPr>
            <a:fld id="{51E51618-4F6B-4938-BCBF-99F9773DF1A0}" type="slidenum">
              <a:rPr lang="zh-CN" altLang="en-US"/>
              <a:pPr>
                <a:defRPr/>
              </a:pPr>
              <a:t>43</a:t>
            </a:fld>
            <a:endParaRPr lang="zh-CN" altLang="en-US"/>
          </a:p>
        </p:txBody>
      </p:sp>
    </p:spTree>
    <p:extLst>
      <p:ext uri="{BB962C8B-B14F-4D97-AF65-F5344CB8AC3E}">
        <p14:creationId xmlns:p14="http://schemas.microsoft.com/office/powerpoint/2010/main" val="161485430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进程终止</a:t>
            </a:r>
          </a:p>
        </p:txBody>
      </p:sp>
      <p:sp>
        <p:nvSpPr>
          <p:cNvPr id="4" name="内容占位符 3"/>
          <p:cNvSpPr>
            <a:spLocks noGrp="1"/>
          </p:cNvSpPr>
          <p:nvPr>
            <p:ph idx="1"/>
          </p:nvPr>
        </p:nvSpPr>
        <p:spPr/>
        <p:txBody>
          <a:bodyPr/>
          <a:lstStyle/>
          <a:p>
            <a:pPr algn="just"/>
            <a:r>
              <a:rPr lang="zh-CN" altLang="en-US" dirty="0">
                <a:latin typeface="Times New Roman" panose="02020603050405020304" pitchFamily="18" charset="0"/>
              </a:rPr>
              <a:t>父进程终止子进程的原因</a:t>
            </a:r>
          </a:p>
          <a:p>
            <a:pPr lvl="1" algn="just"/>
            <a:r>
              <a:rPr lang="zh-CN" altLang="en-US" dirty="0">
                <a:latin typeface="Times New Roman" panose="02020603050405020304" pitchFamily="18" charset="0"/>
              </a:rPr>
              <a:t>子进程超量使用分配的资源</a:t>
            </a:r>
          </a:p>
          <a:p>
            <a:pPr lvl="1" algn="just"/>
            <a:r>
              <a:rPr lang="zh-CN" altLang="en-US" dirty="0">
                <a:latin typeface="Times New Roman" panose="02020603050405020304" pitchFamily="18" charset="0"/>
              </a:rPr>
              <a:t>赋予子进程的任务不再需要</a:t>
            </a:r>
          </a:p>
          <a:p>
            <a:pPr lvl="1" algn="just"/>
            <a:r>
              <a:rPr lang="zh-CN" altLang="en-US" dirty="0">
                <a:latin typeface="Times New Roman" panose="02020603050405020304" pitchFamily="18" charset="0"/>
              </a:rPr>
              <a:t>父进程退出</a:t>
            </a:r>
            <a:endParaRPr lang="en-US" altLang="zh-CN" dirty="0">
              <a:latin typeface="Times New Roman" panose="02020603050405020304" pitchFamily="18" charset="0"/>
            </a:endParaRPr>
          </a:p>
          <a:p>
            <a:pPr lvl="2" algn="just"/>
            <a:r>
              <a:rPr lang="zh-CN" altLang="en-US" dirty="0">
                <a:latin typeface="Times New Roman" panose="02020603050405020304" pitchFamily="18" charset="0"/>
              </a:rPr>
              <a:t>有些系统中，若父进程终止，不允许子进程继续</a:t>
            </a:r>
          </a:p>
          <a:p>
            <a:pPr lvl="2" algn="just"/>
            <a:r>
              <a:rPr lang="zh-CN" altLang="en-US" dirty="0">
                <a:latin typeface="Times New Roman" panose="02020603050405020304" pitchFamily="18" charset="0"/>
              </a:rPr>
              <a:t>这种现象，称为级联终止</a:t>
            </a:r>
          </a:p>
          <a:p>
            <a:r>
              <a:rPr lang="zh-CN" altLang="en-US" dirty="0" smtClean="0"/>
              <a:t>撤消</a:t>
            </a:r>
            <a:r>
              <a:rPr lang="zh-CN" altLang="en-US" dirty="0"/>
              <a:t>的两种策略</a:t>
            </a:r>
          </a:p>
          <a:p>
            <a:pPr lvl="1"/>
            <a:r>
              <a:rPr lang="zh-CN" altLang="en-US" dirty="0"/>
              <a:t>撤消指定标识符的进程</a:t>
            </a:r>
          </a:p>
          <a:p>
            <a:pPr lvl="1"/>
            <a:r>
              <a:rPr lang="zh-CN" altLang="en-US" dirty="0"/>
              <a:t>撤消指定进程及其所有子孙</a:t>
            </a:r>
            <a:r>
              <a:rPr lang="zh-CN" altLang="en-US" dirty="0" smtClean="0"/>
              <a:t>进程</a:t>
            </a:r>
            <a:endParaRPr lang="zh-CN" altLang="en-US" dirty="0"/>
          </a:p>
        </p:txBody>
      </p:sp>
      <p:sp>
        <p:nvSpPr>
          <p:cNvPr id="2" name="灯片编号占位符 1"/>
          <p:cNvSpPr>
            <a:spLocks noGrp="1"/>
          </p:cNvSpPr>
          <p:nvPr>
            <p:ph type="sldNum" sz="quarter" idx="12"/>
          </p:nvPr>
        </p:nvSpPr>
        <p:spPr/>
        <p:txBody>
          <a:bodyPr/>
          <a:lstStyle/>
          <a:p>
            <a:pPr>
              <a:defRPr/>
            </a:pPr>
            <a:fld id="{45672BA7-E3F0-438A-AABB-959F8FC304DD}" type="slidenum">
              <a:rPr lang="zh-CN" altLang="en-US"/>
              <a:pPr>
                <a:defRPr/>
              </a:pPr>
              <a:t>44</a:t>
            </a:fld>
            <a:endParaRPr lang="zh-CN" altLang="en-US"/>
          </a:p>
        </p:txBody>
      </p:sp>
    </p:spTree>
    <p:extLst>
      <p:ext uri="{BB962C8B-B14F-4D97-AF65-F5344CB8AC3E}">
        <p14:creationId xmlns:p14="http://schemas.microsoft.com/office/powerpoint/2010/main" val="196802832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进程终止</a:t>
            </a:r>
          </a:p>
        </p:txBody>
      </p:sp>
      <p:sp>
        <p:nvSpPr>
          <p:cNvPr id="3" name="内容占位符 2"/>
          <p:cNvSpPr>
            <a:spLocks noGrp="1"/>
          </p:cNvSpPr>
          <p:nvPr>
            <p:ph idx="1"/>
          </p:nvPr>
        </p:nvSpPr>
        <p:spPr/>
        <p:txBody>
          <a:bodyPr/>
          <a:lstStyle/>
          <a:p>
            <a:r>
              <a:rPr lang="zh-CN" altLang="en-US" dirty="0">
                <a:cs typeface="Calibri Light" panose="020F0302020204030204" pitchFamily="34" charset="0"/>
              </a:rPr>
              <a:t>撤消原语</a:t>
            </a:r>
          </a:p>
          <a:p>
            <a:pPr lvl="1"/>
            <a:r>
              <a:rPr lang="zh-CN" altLang="en-US" dirty="0">
                <a:cs typeface="Calibri Light" panose="020F0302020204030204" pitchFamily="34" charset="0"/>
              </a:rPr>
              <a:t>从系统的</a:t>
            </a:r>
            <a:r>
              <a:rPr lang="en-US" altLang="zh-CN" dirty="0">
                <a:cs typeface="Calibri Light" panose="020F0302020204030204" pitchFamily="34" charset="0"/>
              </a:rPr>
              <a:t>PCB</a:t>
            </a:r>
            <a:r>
              <a:rPr lang="zh-CN" altLang="en-US" dirty="0">
                <a:cs typeface="Calibri Light" panose="020F0302020204030204" pitchFamily="34" charset="0"/>
              </a:rPr>
              <a:t>表中找到被撤消进程的</a:t>
            </a:r>
            <a:r>
              <a:rPr lang="en-US" altLang="zh-CN" dirty="0">
                <a:cs typeface="Calibri Light" panose="020F0302020204030204" pitchFamily="34" charset="0"/>
              </a:rPr>
              <a:t>PCB</a:t>
            </a:r>
          </a:p>
          <a:p>
            <a:pPr lvl="1"/>
            <a:r>
              <a:rPr lang="zh-CN" altLang="en-US" dirty="0">
                <a:cs typeface="Calibri Light" panose="020F0302020204030204" pitchFamily="34" charset="0"/>
              </a:rPr>
              <a:t>检查被撤消进程的状态是否为执行状态，若是则立即停止该进程的执行，设置重新调度标志</a:t>
            </a:r>
          </a:p>
          <a:p>
            <a:pPr lvl="1"/>
            <a:r>
              <a:rPr lang="zh-CN" altLang="en-US" dirty="0">
                <a:cs typeface="Calibri Light" panose="020F0302020204030204" pitchFamily="34" charset="0"/>
              </a:rPr>
              <a:t>检查被撤消进程是否有子孙进程，若有子孙进程还应撤消该进程的子孙进程</a:t>
            </a:r>
          </a:p>
          <a:p>
            <a:pPr lvl="1"/>
            <a:r>
              <a:rPr lang="zh-CN" altLang="en-US" dirty="0">
                <a:cs typeface="Calibri Light" panose="020F0302020204030204" pitchFamily="34" charset="0"/>
              </a:rPr>
              <a:t>回收该进程占有的全部资源并回收其</a:t>
            </a:r>
            <a:r>
              <a:rPr lang="en-US" altLang="zh-CN" dirty="0">
                <a:cs typeface="Calibri Light" panose="020F0302020204030204" pitchFamily="34" charset="0"/>
              </a:rPr>
              <a:t>PCB</a:t>
            </a:r>
            <a:endParaRPr lang="en-US" altLang="zh-CN" dirty="0" smtClean="0">
              <a:cs typeface="Calibri Light" panose="020F0302020204030204" pitchFamily="34" charset="0"/>
            </a:endParaRPr>
          </a:p>
        </p:txBody>
      </p:sp>
      <p:sp>
        <p:nvSpPr>
          <p:cNvPr id="4" name="灯片编号占位符 3"/>
          <p:cNvSpPr>
            <a:spLocks noGrp="1"/>
          </p:cNvSpPr>
          <p:nvPr>
            <p:ph type="sldNum" sz="quarter" idx="12"/>
          </p:nvPr>
        </p:nvSpPr>
        <p:spPr/>
        <p:txBody>
          <a:bodyPr/>
          <a:lstStyle/>
          <a:p>
            <a:fld id="{A2C77EB3-02C0-4470-866D-D490C6B1E316}" type="slidenum">
              <a:rPr lang="zh-CN" altLang="en-US" smtClean="0"/>
              <a:pPr/>
              <a:t>45</a:t>
            </a:fld>
            <a:endParaRPr lang="zh-CN" altLang="en-US" dirty="0"/>
          </a:p>
        </p:txBody>
      </p:sp>
    </p:spTree>
    <p:extLst>
      <p:ext uri="{BB962C8B-B14F-4D97-AF65-F5344CB8AC3E}">
        <p14:creationId xmlns:p14="http://schemas.microsoft.com/office/powerpoint/2010/main" val="253494481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进程阻塞与唤醒</a:t>
            </a:r>
          </a:p>
        </p:txBody>
      </p:sp>
      <p:sp>
        <p:nvSpPr>
          <p:cNvPr id="3" name="内容占位符 2"/>
          <p:cNvSpPr>
            <a:spLocks noGrp="1"/>
          </p:cNvSpPr>
          <p:nvPr>
            <p:ph idx="1"/>
          </p:nvPr>
        </p:nvSpPr>
        <p:spPr/>
        <p:txBody>
          <a:bodyPr/>
          <a:lstStyle/>
          <a:p>
            <a:r>
              <a:rPr lang="zh-CN" altLang="en-US" dirty="0">
                <a:cs typeface="Calibri Light" panose="020F0302020204030204" pitchFamily="34" charset="0"/>
              </a:rPr>
              <a:t>引起进程阻塞及唤醒的事件</a:t>
            </a:r>
          </a:p>
          <a:p>
            <a:pPr lvl="1"/>
            <a:r>
              <a:rPr lang="zh-CN" altLang="en-US" dirty="0">
                <a:cs typeface="Calibri Light" panose="020F0302020204030204" pitchFamily="34" charset="0"/>
              </a:rPr>
              <a:t>请求系统服务</a:t>
            </a:r>
          </a:p>
          <a:p>
            <a:pPr lvl="2"/>
            <a:r>
              <a:rPr lang="zh-CN" altLang="en-US" dirty="0">
                <a:cs typeface="Calibri Light" panose="020F0302020204030204" pitchFamily="34" charset="0"/>
              </a:rPr>
              <a:t>如</a:t>
            </a:r>
            <a:r>
              <a:rPr lang="zh-CN" altLang="en-US" dirty="0" smtClean="0">
                <a:cs typeface="Calibri Light" panose="020F0302020204030204" pitchFamily="34" charset="0"/>
              </a:rPr>
              <a:t>请求打印但打印机忙则阻塞；打印机空闲</a:t>
            </a:r>
            <a:r>
              <a:rPr lang="zh-CN" altLang="en-US" dirty="0">
                <a:cs typeface="Calibri Light" panose="020F0302020204030204" pitchFamily="34" charset="0"/>
              </a:rPr>
              <a:t>时应</a:t>
            </a:r>
            <a:r>
              <a:rPr lang="zh-CN" altLang="en-US" dirty="0" smtClean="0">
                <a:cs typeface="Calibri Light" panose="020F0302020204030204" pitchFamily="34" charset="0"/>
              </a:rPr>
              <a:t>唤醒</a:t>
            </a:r>
            <a:endParaRPr lang="zh-CN" altLang="en-US" dirty="0">
              <a:cs typeface="Calibri Light" panose="020F0302020204030204" pitchFamily="34" charset="0"/>
            </a:endParaRPr>
          </a:p>
          <a:p>
            <a:pPr lvl="1"/>
            <a:r>
              <a:rPr lang="zh-CN" altLang="en-US" dirty="0">
                <a:cs typeface="Calibri Light" panose="020F0302020204030204" pitchFamily="34" charset="0"/>
              </a:rPr>
              <a:t>启动某种操作并等待操作完成</a:t>
            </a:r>
          </a:p>
          <a:p>
            <a:pPr lvl="2"/>
            <a:r>
              <a:rPr lang="zh-CN" altLang="en-US" dirty="0">
                <a:cs typeface="Calibri Light" panose="020F0302020204030204" pitchFamily="34" charset="0"/>
              </a:rPr>
              <a:t>如启动</a:t>
            </a:r>
            <a:r>
              <a:rPr lang="en-US" altLang="zh-CN" dirty="0">
                <a:cs typeface="Calibri Light" panose="020F0302020204030204" pitchFamily="34" charset="0"/>
              </a:rPr>
              <a:t>I/O</a:t>
            </a:r>
            <a:r>
              <a:rPr lang="zh-CN" altLang="en-US" dirty="0">
                <a:cs typeface="Calibri Light" panose="020F0302020204030204" pitchFamily="34" charset="0"/>
              </a:rPr>
              <a:t>操作，进程阻塞；</a:t>
            </a:r>
            <a:r>
              <a:rPr lang="en-US" altLang="zh-CN" dirty="0">
                <a:cs typeface="Calibri Light" panose="020F0302020204030204" pitchFamily="34" charset="0"/>
              </a:rPr>
              <a:t>I/O</a:t>
            </a:r>
            <a:r>
              <a:rPr lang="zh-CN" altLang="en-US" dirty="0">
                <a:cs typeface="Calibri Light" panose="020F0302020204030204" pitchFamily="34" charset="0"/>
              </a:rPr>
              <a:t>完成则唤醒进程</a:t>
            </a:r>
          </a:p>
          <a:p>
            <a:pPr lvl="1"/>
            <a:r>
              <a:rPr lang="zh-CN" altLang="en-US" dirty="0">
                <a:cs typeface="Calibri Light" panose="020F0302020204030204" pitchFamily="34" charset="0"/>
              </a:rPr>
              <a:t>等待合作进程的协同配合</a:t>
            </a:r>
          </a:p>
          <a:p>
            <a:pPr lvl="2"/>
            <a:r>
              <a:rPr lang="zh-CN" altLang="en-US" dirty="0">
                <a:cs typeface="Calibri Light" panose="020F0302020204030204" pitchFamily="34" charset="0"/>
              </a:rPr>
              <a:t>如计算</a:t>
            </a:r>
            <a:r>
              <a:rPr lang="zh-CN" altLang="en-US" dirty="0" smtClean="0">
                <a:cs typeface="Calibri Light" panose="020F0302020204030204" pitchFamily="34" charset="0"/>
              </a:rPr>
              <a:t>进程未算完则</a:t>
            </a:r>
            <a:r>
              <a:rPr lang="zh-CN" altLang="en-US" dirty="0">
                <a:cs typeface="Calibri Light" panose="020F0302020204030204" pitchFamily="34" charset="0"/>
              </a:rPr>
              <a:t>打印进程阻塞</a:t>
            </a:r>
            <a:r>
              <a:rPr lang="zh-CN" altLang="en-US" dirty="0" smtClean="0">
                <a:cs typeface="Calibri Light" panose="020F0302020204030204" pitchFamily="34" charset="0"/>
              </a:rPr>
              <a:t>；算完后应唤醒</a:t>
            </a:r>
            <a:endParaRPr lang="zh-CN" altLang="en-US" dirty="0">
              <a:cs typeface="Calibri Light" panose="020F0302020204030204" pitchFamily="34" charset="0"/>
            </a:endParaRPr>
          </a:p>
          <a:p>
            <a:pPr lvl="1"/>
            <a:r>
              <a:rPr lang="zh-CN" altLang="en-US" dirty="0">
                <a:cs typeface="Calibri Light" panose="020F0302020204030204" pitchFamily="34" charset="0"/>
              </a:rPr>
              <a:t>系统进程无新工作可做</a:t>
            </a:r>
          </a:p>
          <a:p>
            <a:pPr lvl="2"/>
            <a:r>
              <a:rPr lang="zh-CN" altLang="en-US" dirty="0">
                <a:cs typeface="Calibri Light" panose="020F0302020204030204" pitchFamily="34" charset="0"/>
              </a:rPr>
              <a:t>如没有信息可供发送，则发送请求阻塞</a:t>
            </a:r>
            <a:r>
              <a:rPr lang="zh-CN" altLang="en-US" dirty="0" smtClean="0">
                <a:cs typeface="Calibri Light" panose="020F0302020204030204" pitchFamily="34" charset="0"/>
              </a:rPr>
              <a:t>；收到</a:t>
            </a:r>
            <a:r>
              <a:rPr lang="zh-CN" altLang="en-US" dirty="0">
                <a:cs typeface="Calibri Light" panose="020F0302020204030204" pitchFamily="34" charset="0"/>
              </a:rPr>
              <a:t>新的发送请求时，</a:t>
            </a:r>
            <a:r>
              <a:rPr lang="zh-CN" altLang="en-US" dirty="0" smtClean="0">
                <a:cs typeface="Calibri Light" panose="020F0302020204030204" pitchFamily="34" charset="0"/>
              </a:rPr>
              <a:t>应唤醒</a:t>
            </a:r>
            <a:endParaRPr lang="zh-CN" altLang="en-US" dirty="0">
              <a:cs typeface="Calibri Light" panose="020F0302020204030204" pitchFamily="34" charset="0"/>
            </a:endParaRPr>
          </a:p>
        </p:txBody>
      </p:sp>
      <p:sp>
        <p:nvSpPr>
          <p:cNvPr id="4" name="灯片编号占位符 3"/>
          <p:cNvSpPr>
            <a:spLocks noGrp="1"/>
          </p:cNvSpPr>
          <p:nvPr>
            <p:ph type="sldNum" sz="quarter" idx="12"/>
          </p:nvPr>
        </p:nvSpPr>
        <p:spPr/>
        <p:txBody>
          <a:bodyPr/>
          <a:lstStyle/>
          <a:p>
            <a:fld id="{A2C77EB3-02C0-4470-866D-D490C6B1E316}" type="slidenum">
              <a:rPr lang="zh-CN" altLang="en-US" smtClean="0"/>
              <a:pPr/>
              <a:t>46</a:t>
            </a:fld>
            <a:endParaRPr lang="zh-CN" altLang="en-US" dirty="0"/>
          </a:p>
        </p:txBody>
      </p:sp>
    </p:spTree>
    <p:extLst>
      <p:ext uri="{BB962C8B-B14F-4D97-AF65-F5344CB8AC3E}">
        <p14:creationId xmlns:p14="http://schemas.microsoft.com/office/powerpoint/2010/main" val="239708216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进程阻塞与唤醒</a:t>
            </a:r>
          </a:p>
        </p:txBody>
      </p:sp>
      <p:sp>
        <p:nvSpPr>
          <p:cNvPr id="3" name="内容占位符 2"/>
          <p:cNvSpPr>
            <a:spLocks noGrp="1"/>
          </p:cNvSpPr>
          <p:nvPr>
            <p:ph idx="1"/>
          </p:nvPr>
        </p:nvSpPr>
        <p:spPr/>
        <p:txBody>
          <a:bodyPr/>
          <a:lstStyle/>
          <a:p>
            <a:r>
              <a:rPr lang="zh-CN" altLang="en-US" dirty="0" smtClean="0"/>
              <a:t>进程</a:t>
            </a:r>
            <a:r>
              <a:rPr lang="zh-CN" altLang="en-US" dirty="0"/>
              <a:t>由</a:t>
            </a:r>
            <a:r>
              <a:rPr lang="zh-CN" altLang="en-US" dirty="0" smtClean="0"/>
              <a:t>执行变为</a:t>
            </a:r>
            <a:r>
              <a:rPr lang="zh-CN" altLang="en-US" dirty="0"/>
              <a:t>阻塞状态，</a:t>
            </a:r>
            <a:r>
              <a:rPr lang="zh-CN" altLang="en-US" dirty="0" smtClean="0"/>
              <a:t>是其主动导致</a:t>
            </a:r>
            <a:endParaRPr lang="en-US" altLang="zh-CN" dirty="0" smtClean="0"/>
          </a:p>
          <a:p>
            <a:pPr lvl="1"/>
            <a:r>
              <a:rPr lang="zh-CN" altLang="en-US" dirty="0" smtClean="0"/>
              <a:t>该进程发起</a:t>
            </a:r>
            <a:r>
              <a:rPr lang="zh-CN" altLang="en-US" dirty="0"/>
              <a:t>系统调用</a:t>
            </a:r>
            <a:r>
              <a:rPr lang="zh-CN" altLang="en-US" dirty="0" smtClean="0"/>
              <a:t>，</a:t>
            </a:r>
            <a:r>
              <a:rPr lang="zh-CN" altLang="en-US" dirty="0"/>
              <a:t>进而</a:t>
            </a:r>
            <a:r>
              <a:rPr lang="zh-CN" altLang="en-US" dirty="0" smtClean="0"/>
              <a:t>触发阻塞原语</a:t>
            </a:r>
            <a:endParaRPr lang="en-US" altLang="zh-CN" dirty="0" smtClean="0"/>
          </a:p>
          <a:p>
            <a:r>
              <a:rPr lang="zh-CN" altLang="en-US" dirty="0" smtClean="0"/>
              <a:t>阻塞原语</a:t>
            </a:r>
            <a:endParaRPr lang="zh-CN" altLang="en-US" dirty="0"/>
          </a:p>
          <a:p>
            <a:pPr lvl="1"/>
            <a:r>
              <a:rPr lang="zh-CN" altLang="en-US" dirty="0"/>
              <a:t>停止当前进程的执行</a:t>
            </a:r>
          </a:p>
          <a:p>
            <a:pPr lvl="1"/>
            <a:r>
              <a:rPr lang="zh-CN" altLang="en-US" dirty="0"/>
              <a:t>保存该进程的</a:t>
            </a:r>
            <a:r>
              <a:rPr lang="en-US" altLang="zh-CN" dirty="0"/>
              <a:t>CPU</a:t>
            </a:r>
            <a:r>
              <a:rPr lang="zh-CN" altLang="en-US" dirty="0"/>
              <a:t>现场信息</a:t>
            </a:r>
          </a:p>
          <a:p>
            <a:pPr lvl="1"/>
            <a:r>
              <a:rPr lang="zh-CN" altLang="en-US" dirty="0"/>
              <a:t>将进程状态改为阻塞，并插入到相应事件的等待队列中</a:t>
            </a:r>
          </a:p>
          <a:p>
            <a:pPr lvl="1"/>
            <a:r>
              <a:rPr lang="zh-CN" altLang="en-US" dirty="0"/>
              <a:t>转进程调度程序，从就绪队列中选择一个新的进程投入运行</a:t>
            </a:r>
          </a:p>
        </p:txBody>
      </p:sp>
      <p:sp>
        <p:nvSpPr>
          <p:cNvPr id="4" name="灯片编号占位符 3"/>
          <p:cNvSpPr>
            <a:spLocks noGrp="1"/>
          </p:cNvSpPr>
          <p:nvPr>
            <p:ph type="sldNum" sz="quarter" idx="12"/>
          </p:nvPr>
        </p:nvSpPr>
        <p:spPr/>
        <p:txBody>
          <a:bodyPr/>
          <a:lstStyle/>
          <a:p>
            <a:fld id="{A2C77EB3-02C0-4470-866D-D490C6B1E316}" type="slidenum">
              <a:rPr lang="zh-CN" altLang="en-US" smtClean="0"/>
              <a:pPr/>
              <a:t>47</a:t>
            </a:fld>
            <a:endParaRPr lang="zh-CN" altLang="en-US" dirty="0"/>
          </a:p>
        </p:txBody>
      </p:sp>
    </p:spTree>
    <p:extLst>
      <p:ext uri="{BB962C8B-B14F-4D97-AF65-F5344CB8AC3E}">
        <p14:creationId xmlns:p14="http://schemas.microsoft.com/office/powerpoint/2010/main" val="203371443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进程阻塞与唤醒</a:t>
            </a:r>
          </a:p>
        </p:txBody>
      </p:sp>
      <p:sp>
        <p:nvSpPr>
          <p:cNvPr id="7" name="内容占位符 6"/>
          <p:cNvSpPr>
            <a:spLocks noGrp="1"/>
          </p:cNvSpPr>
          <p:nvPr>
            <p:ph idx="1"/>
          </p:nvPr>
        </p:nvSpPr>
        <p:spPr/>
        <p:txBody>
          <a:bodyPr/>
          <a:lstStyle/>
          <a:p>
            <a:r>
              <a:rPr lang="zh-CN" altLang="en-US" dirty="0"/>
              <a:t>当进程等待的事件发生时，由发现</a:t>
            </a:r>
            <a:r>
              <a:rPr lang="zh-CN" altLang="en-US" dirty="0" smtClean="0"/>
              <a:t>者将</a:t>
            </a:r>
            <a:r>
              <a:rPr lang="zh-CN" altLang="en-US" dirty="0"/>
              <a:t>其唤醒</a:t>
            </a:r>
          </a:p>
          <a:p>
            <a:pPr lvl="1"/>
            <a:r>
              <a:rPr lang="zh-CN" altLang="en-US" dirty="0"/>
              <a:t>发现</a:t>
            </a:r>
            <a:r>
              <a:rPr lang="zh-CN" altLang="en-US" dirty="0" smtClean="0"/>
              <a:t>者可能</a:t>
            </a:r>
            <a:r>
              <a:rPr lang="zh-CN" altLang="en-US" dirty="0"/>
              <a:t>是进程，如计算</a:t>
            </a:r>
            <a:r>
              <a:rPr lang="zh-CN" altLang="en-US" dirty="0" smtClean="0"/>
              <a:t>完成</a:t>
            </a:r>
            <a:endParaRPr lang="en-US" altLang="zh-CN" dirty="0" smtClean="0"/>
          </a:p>
          <a:p>
            <a:pPr lvl="1"/>
            <a:r>
              <a:rPr lang="zh-CN" altLang="en-US" dirty="0"/>
              <a:t>也</a:t>
            </a:r>
            <a:r>
              <a:rPr lang="zh-CN" altLang="en-US" dirty="0" smtClean="0"/>
              <a:t>可能</a:t>
            </a:r>
            <a:r>
              <a:rPr lang="zh-CN" altLang="en-US" dirty="0"/>
              <a:t>是系统，如收到设备中断</a:t>
            </a:r>
          </a:p>
          <a:p>
            <a:r>
              <a:rPr lang="zh-CN" altLang="en-US" dirty="0"/>
              <a:t>唤醒原语</a:t>
            </a:r>
          </a:p>
          <a:p>
            <a:pPr lvl="1"/>
            <a:r>
              <a:rPr lang="zh-CN" altLang="en-US" dirty="0"/>
              <a:t>将被唤醒进程从相应的等待队列中移出</a:t>
            </a:r>
          </a:p>
          <a:p>
            <a:pPr lvl="1"/>
            <a:r>
              <a:rPr lang="zh-CN" altLang="en-US" dirty="0"/>
              <a:t>将进程状态改为就绪，并将该进程插入就绪队列</a:t>
            </a:r>
          </a:p>
          <a:p>
            <a:pPr lvl="1"/>
            <a:r>
              <a:rPr lang="zh-CN" altLang="en-US" dirty="0"/>
              <a:t>转进程调度或返回</a:t>
            </a:r>
          </a:p>
        </p:txBody>
      </p:sp>
      <p:sp>
        <p:nvSpPr>
          <p:cNvPr id="4" name="灯片编号占位符 3"/>
          <p:cNvSpPr>
            <a:spLocks noGrp="1"/>
          </p:cNvSpPr>
          <p:nvPr>
            <p:ph type="sldNum" sz="quarter" idx="12"/>
          </p:nvPr>
        </p:nvSpPr>
        <p:spPr/>
        <p:txBody>
          <a:bodyPr/>
          <a:lstStyle/>
          <a:p>
            <a:fld id="{A2C77EB3-02C0-4470-866D-D490C6B1E316}" type="slidenum">
              <a:rPr lang="zh-CN" altLang="en-US" smtClean="0"/>
              <a:pPr/>
              <a:t>48</a:t>
            </a:fld>
            <a:endParaRPr lang="zh-CN" altLang="en-US" dirty="0"/>
          </a:p>
        </p:txBody>
      </p:sp>
    </p:spTree>
    <p:extLst>
      <p:ext uri="{BB962C8B-B14F-4D97-AF65-F5344CB8AC3E}">
        <p14:creationId xmlns:p14="http://schemas.microsoft.com/office/powerpoint/2010/main" val="169193226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进程挂起</a:t>
            </a:r>
            <a:r>
              <a:rPr lang="zh-CN" altLang="en-US" dirty="0"/>
              <a:t>与激活</a:t>
            </a:r>
          </a:p>
        </p:txBody>
      </p:sp>
      <p:sp>
        <p:nvSpPr>
          <p:cNvPr id="8" name="内容占位符 7"/>
          <p:cNvSpPr>
            <a:spLocks noGrp="1"/>
          </p:cNvSpPr>
          <p:nvPr>
            <p:ph idx="1"/>
          </p:nvPr>
        </p:nvSpPr>
        <p:spPr/>
        <p:txBody>
          <a:bodyPr/>
          <a:lstStyle/>
          <a:p>
            <a:r>
              <a:rPr lang="zh-CN" altLang="en-US" dirty="0"/>
              <a:t>挂起原语和</a:t>
            </a:r>
            <a:r>
              <a:rPr lang="zh-CN" altLang="en-US" dirty="0" smtClean="0"/>
              <a:t>激活都</a:t>
            </a:r>
            <a:r>
              <a:rPr lang="zh-CN" altLang="en-US" dirty="0"/>
              <a:t>有多种实现方式，如</a:t>
            </a:r>
          </a:p>
          <a:p>
            <a:pPr lvl="1"/>
            <a:r>
              <a:rPr lang="zh-CN" altLang="en-US" dirty="0" smtClean="0"/>
              <a:t>把请求挂起的</a:t>
            </a:r>
            <a:r>
              <a:rPr lang="zh-CN" altLang="en-US" dirty="0"/>
              <a:t>进程自身挂起</a:t>
            </a:r>
          </a:p>
          <a:p>
            <a:pPr lvl="1"/>
            <a:r>
              <a:rPr lang="zh-CN" altLang="en-US" dirty="0"/>
              <a:t>挂起具有指定标识符的进程</a:t>
            </a:r>
          </a:p>
          <a:p>
            <a:pPr lvl="1"/>
            <a:r>
              <a:rPr lang="zh-CN" altLang="en-US" dirty="0"/>
              <a:t>把某进程及其子孙进程挂起</a:t>
            </a:r>
          </a:p>
          <a:p>
            <a:pPr lvl="1"/>
            <a:r>
              <a:rPr lang="zh-CN" altLang="en-US" dirty="0"/>
              <a:t>激活一个具有指定标识名的进程</a:t>
            </a:r>
          </a:p>
          <a:p>
            <a:pPr lvl="1"/>
            <a:r>
              <a:rPr lang="zh-CN" altLang="en-US" dirty="0"/>
              <a:t>激活某进程及其子孙进程</a:t>
            </a:r>
          </a:p>
        </p:txBody>
      </p:sp>
      <p:sp>
        <p:nvSpPr>
          <p:cNvPr id="4" name="灯片编号占位符 3"/>
          <p:cNvSpPr>
            <a:spLocks noGrp="1"/>
          </p:cNvSpPr>
          <p:nvPr>
            <p:ph type="sldNum" sz="quarter" idx="12"/>
          </p:nvPr>
        </p:nvSpPr>
        <p:spPr/>
        <p:txBody>
          <a:bodyPr/>
          <a:lstStyle/>
          <a:p>
            <a:fld id="{A2C77EB3-02C0-4470-866D-D490C6B1E316}" type="slidenum">
              <a:rPr lang="zh-CN" altLang="en-US" smtClean="0"/>
              <a:pPr/>
              <a:t>49</a:t>
            </a:fld>
            <a:endParaRPr lang="zh-CN" altLang="en-US" dirty="0"/>
          </a:p>
        </p:txBody>
      </p:sp>
    </p:spTree>
    <p:extLst>
      <p:ext uri="{BB962C8B-B14F-4D97-AF65-F5344CB8AC3E}">
        <p14:creationId xmlns:p14="http://schemas.microsoft.com/office/powerpoint/2010/main" val="226794127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进程挂起与激活</a:t>
            </a:r>
          </a:p>
        </p:txBody>
      </p:sp>
      <p:sp>
        <p:nvSpPr>
          <p:cNvPr id="6" name="内容占位符 5"/>
          <p:cNvSpPr>
            <a:spLocks noGrp="1"/>
          </p:cNvSpPr>
          <p:nvPr>
            <p:ph idx="1"/>
          </p:nvPr>
        </p:nvSpPr>
        <p:spPr/>
        <p:txBody>
          <a:bodyPr/>
          <a:lstStyle/>
          <a:p>
            <a:r>
              <a:rPr lang="zh-CN" altLang="en-US" dirty="0"/>
              <a:t>挂起原语</a:t>
            </a:r>
          </a:p>
          <a:p>
            <a:pPr lvl="1"/>
            <a:r>
              <a:rPr lang="zh-CN" altLang="en-US" dirty="0"/>
              <a:t>到</a:t>
            </a:r>
            <a:r>
              <a:rPr lang="en-US" altLang="zh-CN" dirty="0"/>
              <a:t>PCB</a:t>
            </a:r>
            <a:r>
              <a:rPr lang="zh-CN" altLang="en-US" dirty="0"/>
              <a:t>表中查找该进程的</a:t>
            </a:r>
            <a:r>
              <a:rPr lang="en-US" altLang="zh-CN" dirty="0"/>
              <a:t>PCB</a:t>
            </a:r>
          </a:p>
          <a:p>
            <a:pPr lvl="1"/>
            <a:r>
              <a:rPr lang="zh-CN" altLang="en-US" dirty="0"/>
              <a:t>检查该进程的状态，若为执行则停止执行并保护</a:t>
            </a:r>
            <a:r>
              <a:rPr lang="en-US" altLang="zh-CN" dirty="0"/>
              <a:t>CPU</a:t>
            </a:r>
            <a:r>
              <a:rPr lang="zh-CN" altLang="en-US" dirty="0"/>
              <a:t>现场信息，将该进程状态改为挂起就绪</a:t>
            </a:r>
          </a:p>
          <a:p>
            <a:pPr lvl="1"/>
            <a:r>
              <a:rPr lang="zh-CN" altLang="en-US" dirty="0"/>
              <a:t>若为活动阻塞，则将该进程状态改为挂起阻塞</a:t>
            </a:r>
          </a:p>
          <a:p>
            <a:pPr lvl="1"/>
            <a:r>
              <a:rPr lang="zh-CN" altLang="en-US" dirty="0"/>
              <a:t>若为活动就绪，则将该进程状态改为挂起就绪</a:t>
            </a:r>
          </a:p>
          <a:p>
            <a:pPr lvl="1"/>
            <a:r>
              <a:rPr lang="zh-CN" altLang="en-US" dirty="0"/>
              <a:t>若进程挂起前为执行状态，则转进程调度，从就绪队列中选择一个进程投入运行</a:t>
            </a:r>
          </a:p>
        </p:txBody>
      </p:sp>
      <p:sp>
        <p:nvSpPr>
          <p:cNvPr id="4" name="灯片编号占位符 3"/>
          <p:cNvSpPr>
            <a:spLocks noGrp="1"/>
          </p:cNvSpPr>
          <p:nvPr>
            <p:ph type="sldNum" sz="quarter" idx="12"/>
          </p:nvPr>
        </p:nvSpPr>
        <p:spPr/>
        <p:txBody>
          <a:bodyPr/>
          <a:lstStyle/>
          <a:p>
            <a:fld id="{A2C77EB3-02C0-4470-866D-D490C6B1E316}" type="slidenum">
              <a:rPr lang="zh-CN" altLang="en-US" smtClean="0"/>
              <a:pPr/>
              <a:t>50</a:t>
            </a:fld>
            <a:endParaRPr lang="zh-CN" altLang="en-US" dirty="0"/>
          </a:p>
        </p:txBody>
      </p:sp>
    </p:spTree>
    <p:extLst>
      <p:ext uri="{BB962C8B-B14F-4D97-AF65-F5344CB8AC3E}">
        <p14:creationId xmlns:p14="http://schemas.microsoft.com/office/powerpoint/2010/main" val="59306458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进程挂起与激活</a:t>
            </a:r>
          </a:p>
        </p:txBody>
      </p:sp>
      <p:sp>
        <p:nvSpPr>
          <p:cNvPr id="6" name="内容占位符 5"/>
          <p:cNvSpPr>
            <a:spLocks noGrp="1"/>
          </p:cNvSpPr>
          <p:nvPr>
            <p:ph idx="1"/>
          </p:nvPr>
        </p:nvSpPr>
        <p:spPr/>
        <p:txBody>
          <a:bodyPr/>
          <a:lstStyle/>
          <a:p>
            <a:r>
              <a:rPr lang="zh-CN" altLang="en-US" dirty="0"/>
              <a:t>激活原语</a:t>
            </a:r>
          </a:p>
          <a:p>
            <a:pPr lvl="1"/>
            <a:r>
              <a:rPr lang="zh-CN" altLang="en-US" dirty="0"/>
              <a:t>到</a:t>
            </a:r>
            <a:r>
              <a:rPr lang="en-US" altLang="zh-CN" dirty="0"/>
              <a:t>PCB</a:t>
            </a:r>
            <a:r>
              <a:rPr lang="zh-CN" altLang="en-US" dirty="0"/>
              <a:t>表中查找该进程的</a:t>
            </a:r>
            <a:r>
              <a:rPr lang="en-US" altLang="zh-CN" dirty="0"/>
              <a:t>PCB</a:t>
            </a:r>
          </a:p>
          <a:p>
            <a:pPr lvl="1"/>
            <a:r>
              <a:rPr lang="zh-CN" altLang="en-US" dirty="0"/>
              <a:t>检查该进程的状态。若状态为挂起阻塞，则将该进程状态改为活动阻塞</a:t>
            </a:r>
          </a:p>
          <a:p>
            <a:pPr lvl="1"/>
            <a:r>
              <a:rPr lang="zh-CN" altLang="en-US" dirty="0"/>
              <a:t>若状态为挂起就绪，则将该进程状态改为活动就绪</a:t>
            </a:r>
          </a:p>
          <a:p>
            <a:pPr lvl="1"/>
            <a:r>
              <a:rPr lang="zh-CN" altLang="en-US" dirty="0"/>
              <a:t>若进程激活后为活动就绪状态，可能需要转进程调度</a:t>
            </a:r>
          </a:p>
        </p:txBody>
      </p:sp>
      <p:sp>
        <p:nvSpPr>
          <p:cNvPr id="4" name="灯片编号占位符 3"/>
          <p:cNvSpPr>
            <a:spLocks noGrp="1"/>
          </p:cNvSpPr>
          <p:nvPr>
            <p:ph type="sldNum" sz="quarter" idx="12"/>
          </p:nvPr>
        </p:nvSpPr>
        <p:spPr/>
        <p:txBody>
          <a:bodyPr/>
          <a:lstStyle/>
          <a:p>
            <a:fld id="{A2C77EB3-02C0-4470-866D-D490C6B1E316}" type="slidenum">
              <a:rPr lang="zh-CN" altLang="en-US" smtClean="0"/>
              <a:pPr/>
              <a:t>51</a:t>
            </a:fld>
            <a:endParaRPr lang="zh-CN" altLang="en-US" dirty="0"/>
          </a:p>
        </p:txBody>
      </p:sp>
    </p:spTree>
    <p:extLst>
      <p:ext uri="{BB962C8B-B14F-4D97-AF65-F5344CB8AC3E}">
        <p14:creationId xmlns:p14="http://schemas.microsoft.com/office/powerpoint/2010/main" val="301160822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Linux</a:t>
            </a:r>
            <a:r>
              <a:rPr lang="zh-CN" altLang="en-US" dirty="0"/>
              <a:t>案例</a:t>
            </a:r>
          </a:p>
        </p:txBody>
      </p:sp>
      <p:sp>
        <p:nvSpPr>
          <p:cNvPr id="3" name="内容占位符 2"/>
          <p:cNvSpPr>
            <a:spLocks noGrp="1"/>
          </p:cNvSpPr>
          <p:nvPr>
            <p:ph idx="1"/>
          </p:nvPr>
        </p:nvSpPr>
        <p:spPr/>
        <p:txBody>
          <a:bodyPr/>
          <a:lstStyle/>
          <a:p>
            <a:r>
              <a:rPr lang="zh-CN" altLang="en-US" dirty="0"/>
              <a:t>进程树</a:t>
            </a:r>
          </a:p>
        </p:txBody>
      </p:sp>
      <p:sp>
        <p:nvSpPr>
          <p:cNvPr id="4" name="灯片编号占位符 3"/>
          <p:cNvSpPr>
            <a:spLocks noGrp="1"/>
          </p:cNvSpPr>
          <p:nvPr>
            <p:ph type="sldNum" sz="quarter" idx="12"/>
          </p:nvPr>
        </p:nvSpPr>
        <p:spPr/>
        <p:txBody>
          <a:bodyPr/>
          <a:lstStyle/>
          <a:p>
            <a:fld id="{4093CC90-4002-504C-BD88-C9A1D374048E}" type="slidenum">
              <a:rPr lang="zh-CN" altLang="en-US" smtClean="0"/>
              <a:pPr/>
              <a:t>52</a:t>
            </a:fld>
            <a:endParaRPr lang="zh-CN" altLang="en-US" dirty="0"/>
          </a:p>
        </p:txBody>
      </p:sp>
      <p:pic>
        <p:nvPicPr>
          <p:cNvPr id="5" name="图片 4"/>
          <p:cNvPicPr>
            <a:picLocks noChangeAspect="1"/>
          </p:cNvPicPr>
          <p:nvPr/>
        </p:nvPicPr>
        <p:blipFill>
          <a:blip r:embed="rId2"/>
          <a:stretch>
            <a:fillRect/>
          </a:stretch>
        </p:blipFill>
        <p:spPr>
          <a:xfrm>
            <a:off x="619125" y="2181685"/>
            <a:ext cx="7881938" cy="3414713"/>
          </a:xfrm>
          <a:prstGeom prst="rect">
            <a:avLst/>
          </a:prstGeom>
        </p:spPr>
      </p:pic>
    </p:spTree>
    <p:extLst>
      <p:ext uri="{BB962C8B-B14F-4D97-AF65-F5344CB8AC3E}">
        <p14:creationId xmlns:p14="http://schemas.microsoft.com/office/powerpoint/2010/main" val="75937855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Linux</a:t>
            </a:r>
            <a:r>
              <a:rPr lang="zh-CN" altLang="en-US" dirty="0"/>
              <a:t>案例</a:t>
            </a:r>
          </a:p>
        </p:txBody>
      </p:sp>
      <p:sp>
        <p:nvSpPr>
          <p:cNvPr id="3" name="内容占位符 2"/>
          <p:cNvSpPr>
            <a:spLocks noGrp="1"/>
          </p:cNvSpPr>
          <p:nvPr>
            <p:ph idx="1"/>
          </p:nvPr>
        </p:nvSpPr>
        <p:spPr/>
        <p:txBody>
          <a:bodyPr/>
          <a:lstStyle/>
          <a:p>
            <a:r>
              <a:rPr lang="zh-CN" altLang="en-US" dirty="0" smtClean="0"/>
              <a:t>进程相关命令</a:t>
            </a:r>
            <a:endParaRPr lang="en-US" altLang="zh-CN" dirty="0" smtClean="0"/>
          </a:p>
          <a:p>
            <a:pPr lvl="1"/>
            <a:r>
              <a:rPr lang="en-US" altLang="zh-CN" dirty="0" err="1" smtClean="0">
                <a:latin typeface="Consolas" panose="020B0609020204030204" pitchFamily="49" charset="0"/>
              </a:rPr>
              <a:t>ps</a:t>
            </a:r>
            <a:r>
              <a:rPr lang="en-US" altLang="zh-CN" dirty="0" smtClean="0">
                <a:latin typeface="Consolas" panose="020B0609020204030204" pitchFamily="49" charset="0"/>
              </a:rPr>
              <a:t> -</a:t>
            </a:r>
            <a:r>
              <a:rPr lang="en-US" altLang="zh-CN" dirty="0" err="1" smtClean="0">
                <a:latin typeface="Consolas" panose="020B0609020204030204" pitchFamily="49" charset="0"/>
              </a:rPr>
              <a:t>ef</a:t>
            </a:r>
            <a:r>
              <a:rPr lang="zh-CN" altLang="en-US" dirty="0" smtClean="0">
                <a:latin typeface="Consolas" panose="020B0609020204030204" pitchFamily="49" charset="0"/>
              </a:rPr>
              <a:t>或</a:t>
            </a:r>
            <a:r>
              <a:rPr lang="en-US" altLang="zh-CN" dirty="0" err="1" smtClean="0">
                <a:latin typeface="Consolas" panose="020B0609020204030204" pitchFamily="49" charset="0"/>
              </a:rPr>
              <a:t>ps</a:t>
            </a:r>
            <a:r>
              <a:rPr lang="en-US" altLang="zh-CN" dirty="0" smtClean="0">
                <a:latin typeface="Consolas" panose="020B0609020204030204" pitchFamily="49" charset="0"/>
              </a:rPr>
              <a:t> -aux</a:t>
            </a:r>
            <a:r>
              <a:rPr lang="zh-CN" altLang="en-US" dirty="0" smtClean="0">
                <a:latin typeface="Consolas" panose="020B0609020204030204" pitchFamily="49" charset="0"/>
              </a:rPr>
              <a:t>，配合</a:t>
            </a:r>
            <a:r>
              <a:rPr lang="en-US" altLang="zh-CN" dirty="0" smtClean="0">
                <a:latin typeface="Consolas" panose="020B0609020204030204" pitchFamily="49" charset="0"/>
              </a:rPr>
              <a:t>grep</a:t>
            </a:r>
          </a:p>
          <a:p>
            <a:pPr lvl="1"/>
            <a:r>
              <a:rPr lang="en-US" altLang="zh-CN" dirty="0">
                <a:latin typeface="Consolas" panose="020B0609020204030204" pitchFamily="49" charset="0"/>
              </a:rPr>
              <a:t>kill -9 </a:t>
            </a:r>
            <a:r>
              <a:rPr lang="en-US" altLang="zh-CN" dirty="0" err="1" smtClean="0">
                <a:latin typeface="Consolas" panose="020B0609020204030204" pitchFamily="49" charset="0"/>
              </a:rPr>
              <a:t>pid</a:t>
            </a:r>
            <a:endParaRPr lang="en-US" altLang="zh-CN" dirty="0">
              <a:latin typeface="Consolas" panose="020B0609020204030204" pitchFamily="49" charset="0"/>
            </a:endParaRPr>
          </a:p>
        </p:txBody>
      </p:sp>
      <p:sp>
        <p:nvSpPr>
          <p:cNvPr id="4" name="灯片编号占位符 3"/>
          <p:cNvSpPr>
            <a:spLocks noGrp="1"/>
          </p:cNvSpPr>
          <p:nvPr>
            <p:ph type="sldNum" sz="quarter" idx="12"/>
          </p:nvPr>
        </p:nvSpPr>
        <p:spPr/>
        <p:txBody>
          <a:bodyPr/>
          <a:lstStyle/>
          <a:p>
            <a:fld id="{4093CC90-4002-504C-BD88-C9A1D374048E}" type="slidenum">
              <a:rPr lang="zh-CN" altLang="en-US" smtClean="0"/>
              <a:pPr/>
              <a:t>53</a:t>
            </a:fld>
            <a:endParaRPr lang="zh-CN" altLang="en-US" dirty="0"/>
          </a:p>
        </p:txBody>
      </p:sp>
      <p:pic>
        <p:nvPicPr>
          <p:cNvPr id="7" name="图片 6"/>
          <p:cNvPicPr>
            <a:picLocks noChangeAspect="1"/>
          </p:cNvPicPr>
          <p:nvPr/>
        </p:nvPicPr>
        <p:blipFill>
          <a:blip r:embed="rId2"/>
          <a:stretch>
            <a:fillRect/>
          </a:stretch>
        </p:blipFill>
        <p:spPr>
          <a:xfrm>
            <a:off x="2255202" y="2893694"/>
            <a:ext cx="4847273" cy="3887152"/>
          </a:xfrm>
          <a:prstGeom prst="rect">
            <a:avLst/>
          </a:prstGeom>
        </p:spPr>
      </p:pic>
      <p:pic>
        <p:nvPicPr>
          <p:cNvPr id="8" name="图片 7"/>
          <p:cNvPicPr>
            <a:picLocks noChangeAspect="1"/>
          </p:cNvPicPr>
          <p:nvPr/>
        </p:nvPicPr>
        <p:blipFill>
          <a:blip r:embed="rId3"/>
          <a:stretch>
            <a:fillRect/>
          </a:stretch>
        </p:blipFill>
        <p:spPr>
          <a:xfrm>
            <a:off x="1165065" y="3134678"/>
            <a:ext cx="7027545" cy="546735"/>
          </a:xfrm>
          <a:prstGeom prst="rect">
            <a:avLst/>
          </a:prstGeom>
        </p:spPr>
      </p:pic>
    </p:spTree>
    <p:extLst>
      <p:ext uri="{BB962C8B-B14F-4D97-AF65-F5344CB8AC3E}">
        <p14:creationId xmlns:p14="http://schemas.microsoft.com/office/powerpoint/2010/main" val="63799537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7"/>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2"/>
          <a:stretch>
            <a:fillRect/>
          </a:stretch>
        </p:blipFill>
        <p:spPr>
          <a:xfrm>
            <a:off x="1421763" y="2892740"/>
            <a:ext cx="6514148" cy="3627120"/>
          </a:xfrm>
          <a:prstGeom prst="rect">
            <a:avLst/>
          </a:prstGeom>
        </p:spPr>
      </p:pic>
      <p:sp>
        <p:nvSpPr>
          <p:cNvPr id="2" name="标题 1"/>
          <p:cNvSpPr>
            <a:spLocks noGrp="1"/>
          </p:cNvSpPr>
          <p:nvPr>
            <p:ph type="title"/>
          </p:nvPr>
        </p:nvSpPr>
        <p:spPr/>
        <p:txBody>
          <a:bodyPr/>
          <a:lstStyle/>
          <a:p>
            <a:r>
              <a:rPr lang="en-US" altLang="zh-CN" dirty="0"/>
              <a:t>Linux</a:t>
            </a:r>
            <a:r>
              <a:rPr lang="zh-CN" altLang="en-US" dirty="0"/>
              <a:t>案例</a:t>
            </a:r>
          </a:p>
        </p:txBody>
      </p:sp>
      <p:sp>
        <p:nvSpPr>
          <p:cNvPr id="3" name="内容占位符 2"/>
          <p:cNvSpPr>
            <a:spLocks noGrp="1"/>
          </p:cNvSpPr>
          <p:nvPr>
            <p:ph idx="1"/>
          </p:nvPr>
        </p:nvSpPr>
        <p:spPr/>
        <p:txBody>
          <a:bodyPr/>
          <a:lstStyle/>
          <a:p>
            <a:r>
              <a:rPr lang="zh-CN" altLang="en-US" dirty="0"/>
              <a:t>进程相关命令</a:t>
            </a:r>
            <a:endParaRPr lang="en-US" altLang="zh-CN" dirty="0"/>
          </a:p>
          <a:p>
            <a:pPr lvl="1"/>
            <a:r>
              <a:rPr lang="en-US" altLang="zh-CN" dirty="0" smtClean="0">
                <a:latin typeface="Consolas" panose="020B0609020204030204" pitchFamily="49" charset="0"/>
              </a:rPr>
              <a:t>top</a:t>
            </a:r>
          </a:p>
          <a:p>
            <a:pPr lvl="1"/>
            <a:r>
              <a:rPr lang="en-US" altLang="zh-CN" dirty="0" err="1" smtClean="0">
                <a:latin typeface="Consolas" panose="020B0609020204030204" pitchFamily="49" charset="0"/>
              </a:rPr>
              <a:t>pstree</a:t>
            </a:r>
            <a:endParaRPr lang="en-US" altLang="zh-CN" dirty="0">
              <a:latin typeface="Consolas" panose="020B0609020204030204" pitchFamily="49" charset="0"/>
            </a:endParaRPr>
          </a:p>
        </p:txBody>
      </p:sp>
      <p:sp>
        <p:nvSpPr>
          <p:cNvPr id="4" name="灯片编号占位符 3"/>
          <p:cNvSpPr>
            <a:spLocks noGrp="1"/>
          </p:cNvSpPr>
          <p:nvPr>
            <p:ph type="sldNum" sz="quarter" idx="12"/>
          </p:nvPr>
        </p:nvSpPr>
        <p:spPr/>
        <p:txBody>
          <a:bodyPr/>
          <a:lstStyle/>
          <a:p>
            <a:fld id="{4093CC90-4002-504C-BD88-C9A1D374048E}" type="slidenum">
              <a:rPr lang="zh-CN" altLang="en-US" smtClean="0"/>
              <a:pPr/>
              <a:t>54</a:t>
            </a:fld>
            <a:endParaRPr lang="zh-CN" altLang="en-US" dirty="0"/>
          </a:p>
        </p:txBody>
      </p:sp>
      <p:pic>
        <p:nvPicPr>
          <p:cNvPr id="6" name="图片 5"/>
          <p:cNvPicPr>
            <a:picLocks noChangeAspect="1"/>
          </p:cNvPicPr>
          <p:nvPr/>
        </p:nvPicPr>
        <p:blipFill>
          <a:blip r:embed="rId3"/>
          <a:stretch>
            <a:fillRect/>
          </a:stretch>
        </p:blipFill>
        <p:spPr>
          <a:xfrm>
            <a:off x="1836419" y="2982278"/>
            <a:ext cx="5447348" cy="3493770"/>
          </a:xfrm>
          <a:prstGeom prst="rect">
            <a:avLst/>
          </a:prstGeom>
        </p:spPr>
      </p:pic>
    </p:spTree>
    <p:extLst>
      <p:ext uri="{BB962C8B-B14F-4D97-AF65-F5344CB8AC3E}">
        <p14:creationId xmlns:p14="http://schemas.microsoft.com/office/powerpoint/2010/main" val="163566027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6"/>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Linux</a:t>
            </a:r>
            <a:r>
              <a:rPr lang="zh-CN" altLang="en-US" dirty="0"/>
              <a:t>案例</a:t>
            </a:r>
          </a:p>
        </p:txBody>
      </p:sp>
      <p:sp>
        <p:nvSpPr>
          <p:cNvPr id="3" name="内容占位符 2"/>
          <p:cNvSpPr>
            <a:spLocks noGrp="1"/>
          </p:cNvSpPr>
          <p:nvPr>
            <p:ph idx="1"/>
          </p:nvPr>
        </p:nvSpPr>
        <p:spPr/>
        <p:txBody>
          <a:bodyPr/>
          <a:lstStyle/>
          <a:p>
            <a:r>
              <a:rPr lang="zh-CN" altLang="en-US" dirty="0"/>
              <a:t>相关</a:t>
            </a:r>
            <a:r>
              <a:rPr lang="en-US" altLang="zh-CN" dirty="0"/>
              <a:t>API</a:t>
            </a:r>
            <a:r>
              <a:rPr lang="zh-CN" altLang="en-US" dirty="0"/>
              <a:t>函数</a:t>
            </a:r>
          </a:p>
          <a:p>
            <a:pPr lvl="1"/>
            <a:r>
              <a:rPr lang="en-US" altLang="zh-CN" dirty="0"/>
              <a:t>fork()</a:t>
            </a:r>
          </a:p>
          <a:p>
            <a:pPr lvl="1"/>
            <a:r>
              <a:rPr lang="en-US" altLang="zh-CN" dirty="0"/>
              <a:t>wait()</a:t>
            </a:r>
            <a:r>
              <a:rPr lang="zh-CN" altLang="en-US" dirty="0"/>
              <a:t>和</a:t>
            </a:r>
            <a:r>
              <a:rPr lang="en-US" altLang="zh-CN" dirty="0" err="1"/>
              <a:t>waitpid</a:t>
            </a:r>
            <a:r>
              <a:rPr lang="en-US" altLang="zh-CN" dirty="0"/>
              <a:t>()</a:t>
            </a:r>
          </a:p>
          <a:p>
            <a:pPr lvl="1"/>
            <a:r>
              <a:rPr lang="en-US" altLang="zh-CN" dirty="0"/>
              <a:t>exec()</a:t>
            </a:r>
          </a:p>
          <a:p>
            <a:pPr lvl="1"/>
            <a:r>
              <a:rPr lang="zh-CN" altLang="en-US" dirty="0" smtClean="0"/>
              <a:t>自学</a:t>
            </a:r>
            <a:r>
              <a:rPr lang="zh-CN" altLang="en-US" dirty="0"/>
              <a:t>：</a:t>
            </a:r>
            <a:r>
              <a:rPr lang="sv-SE" altLang="zh-CN" dirty="0" smtClean="0"/>
              <a:t>void </a:t>
            </a:r>
            <a:r>
              <a:rPr lang="sv-SE" altLang="zh-CN" dirty="0"/>
              <a:t>exit(int status);</a:t>
            </a:r>
          </a:p>
          <a:p>
            <a:pPr lvl="1"/>
            <a:r>
              <a:rPr lang="zh-CN" altLang="en-US" dirty="0"/>
              <a:t>自学：</a:t>
            </a:r>
            <a:r>
              <a:rPr lang="sv-SE" altLang="zh-CN" dirty="0" smtClean="0"/>
              <a:t>int </a:t>
            </a:r>
            <a:r>
              <a:rPr lang="sv-SE" altLang="zh-CN" dirty="0"/>
              <a:t>kill(pid_t pid, int sig);</a:t>
            </a:r>
            <a:endParaRPr lang="en-US" altLang="zh-CN" dirty="0"/>
          </a:p>
        </p:txBody>
      </p:sp>
      <p:sp>
        <p:nvSpPr>
          <p:cNvPr id="4" name="灯片编号占位符 3"/>
          <p:cNvSpPr>
            <a:spLocks noGrp="1"/>
          </p:cNvSpPr>
          <p:nvPr>
            <p:ph type="sldNum" sz="quarter" idx="12"/>
          </p:nvPr>
        </p:nvSpPr>
        <p:spPr/>
        <p:txBody>
          <a:bodyPr/>
          <a:lstStyle/>
          <a:p>
            <a:fld id="{4093CC90-4002-504C-BD88-C9A1D374048E}" type="slidenum">
              <a:rPr lang="zh-CN" altLang="en-US" smtClean="0"/>
              <a:pPr/>
              <a:t>55</a:t>
            </a:fld>
            <a:endParaRPr lang="zh-CN" altLang="en-US" dirty="0"/>
          </a:p>
        </p:txBody>
      </p:sp>
      <p:pic>
        <p:nvPicPr>
          <p:cNvPr id="6" name="图片 5"/>
          <p:cNvPicPr>
            <a:picLocks noChangeAspect="1"/>
          </p:cNvPicPr>
          <p:nvPr/>
        </p:nvPicPr>
        <p:blipFill>
          <a:blip r:embed="rId2"/>
          <a:stretch>
            <a:fillRect/>
          </a:stretch>
        </p:blipFill>
        <p:spPr>
          <a:xfrm>
            <a:off x="561978" y="4772025"/>
            <a:ext cx="7920038" cy="1357313"/>
          </a:xfrm>
          <a:prstGeom prst="rect">
            <a:avLst/>
          </a:prstGeom>
        </p:spPr>
      </p:pic>
    </p:spTree>
    <p:extLst>
      <p:ext uri="{BB962C8B-B14F-4D97-AF65-F5344CB8AC3E}">
        <p14:creationId xmlns:p14="http://schemas.microsoft.com/office/powerpoint/2010/main" val="188246580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Linux</a:t>
            </a:r>
            <a:r>
              <a:rPr lang="zh-CN" altLang="en-US" dirty="0"/>
              <a:t>案例</a:t>
            </a:r>
          </a:p>
        </p:txBody>
      </p:sp>
      <p:sp>
        <p:nvSpPr>
          <p:cNvPr id="3" name="内容占位符 2"/>
          <p:cNvSpPr>
            <a:spLocks noGrp="1"/>
          </p:cNvSpPr>
          <p:nvPr>
            <p:ph idx="1"/>
          </p:nvPr>
        </p:nvSpPr>
        <p:spPr/>
        <p:txBody>
          <a:bodyPr/>
          <a:lstStyle/>
          <a:p>
            <a:r>
              <a:rPr lang="en-US" altLang="zh-CN" dirty="0" smtClean="0"/>
              <a:t>fork()</a:t>
            </a:r>
          </a:p>
          <a:p>
            <a:pPr lvl="1"/>
            <a:r>
              <a:rPr lang="zh-CN" altLang="en-US" dirty="0"/>
              <a:t>程序是事先编好的、静态</a:t>
            </a:r>
            <a:r>
              <a:rPr lang="zh-CN" altLang="en-US" dirty="0" smtClean="0"/>
              <a:t>的</a:t>
            </a:r>
            <a:endParaRPr lang="en-US" altLang="zh-CN" dirty="0" smtClean="0"/>
          </a:p>
          <a:p>
            <a:pPr lvl="1"/>
            <a:r>
              <a:rPr lang="zh-CN" altLang="en-US" dirty="0" smtClean="0"/>
              <a:t>进程</a:t>
            </a:r>
            <a:r>
              <a:rPr lang="zh-CN" altLang="en-US" dirty="0"/>
              <a:t>是从</a:t>
            </a:r>
            <a:r>
              <a:rPr lang="en-US" altLang="zh-CN" dirty="0"/>
              <a:t>main()</a:t>
            </a:r>
            <a:r>
              <a:rPr lang="zh-CN" altLang="en-US" dirty="0"/>
              <a:t>开始爬行的</a:t>
            </a:r>
            <a:r>
              <a:rPr lang="zh-CN" altLang="en-US" dirty="0" smtClean="0"/>
              <a:t>虫子</a:t>
            </a:r>
            <a:endParaRPr lang="en-US" altLang="zh-CN" dirty="0" smtClean="0"/>
          </a:p>
          <a:p>
            <a:pPr lvl="2"/>
            <a:r>
              <a:rPr lang="zh-CN" altLang="en-US" dirty="0"/>
              <a:t>虫子</a:t>
            </a:r>
            <a:r>
              <a:rPr lang="zh-CN" altLang="en-US" dirty="0" smtClean="0"/>
              <a:t>有</a:t>
            </a:r>
            <a:r>
              <a:rPr lang="zh-CN" altLang="en-US" dirty="0"/>
              <a:t>自己的</a:t>
            </a:r>
            <a:r>
              <a:rPr lang="en-US" altLang="zh-CN" dirty="0"/>
              <a:t>PCB</a:t>
            </a:r>
            <a:r>
              <a:rPr lang="zh-CN" altLang="en-US" dirty="0"/>
              <a:t>、内存数据、</a:t>
            </a:r>
            <a:r>
              <a:rPr lang="zh-CN" altLang="en-US" dirty="0" smtClean="0"/>
              <a:t>打开的文件等</a:t>
            </a:r>
            <a:endParaRPr lang="en-US" altLang="zh-CN" dirty="0" smtClean="0"/>
          </a:p>
          <a:p>
            <a:pPr lvl="1"/>
            <a:r>
              <a:rPr lang="en-US" altLang="zh-CN" dirty="0" smtClean="0"/>
              <a:t>fork()</a:t>
            </a:r>
            <a:r>
              <a:rPr lang="zh-CN" altLang="en-US" dirty="0" smtClean="0"/>
              <a:t>使</a:t>
            </a:r>
            <a:r>
              <a:rPr lang="zh-CN" altLang="en-US" dirty="0"/>
              <a:t>虫子被</a:t>
            </a:r>
            <a:r>
              <a:rPr lang="zh-CN" altLang="en-US" dirty="0" smtClean="0"/>
              <a:t>克隆</a:t>
            </a:r>
            <a:endParaRPr lang="en-US" altLang="zh-CN" dirty="0" smtClean="0"/>
          </a:p>
          <a:p>
            <a:pPr lvl="2"/>
            <a:r>
              <a:rPr lang="en-US" altLang="zh-CN" dirty="0" smtClean="0"/>
              <a:t>PCB</a:t>
            </a:r>
            <a:r>
              <a:rPr lang="zh-CN" altLang="en-US" dirty="0"/>
              <a:t>、内存数据等都被复制一</a:t>
            </a:r>
            <a:r>
              <a:rPr lang="zh-CN" altLang="en-US" dirty="0" smtClean="0"/>
              <a:t>份</a:t>
            </a:r>
            <a:endParaRPr lang="en-US" altLang="zh-CN" dirty="0" smtClean="0"/>
          </a:p>
          <a:p>
            <a:pPr lvl="2"/>
            <a:r>
              <a:rPr lang="zh-CN" altLang="en-US" dirty="0" smtClean="0"/>
              <a:t>两</a:t>
            </a:r>
            <a:r>
              <a:rPr lang="zh-CN" altLang="en-US" dirty="0"/>
              <a:t>只虫子带着相同的状态，面对相同的程序继续执行</a:t>
            </a:r>
            <a:endParaRPr lang="en-US" altLang="zh-CN" dirty="0"/>
          </a:p>
        </p:txBody>
      </p:sp>
      <p:sp>
        <p:nvSpPr>
          <p:cNvPr id="4" name="灯片编号占位符 3"/>
          <p:cNvSpPr>
            <a:spLocks noGrp="1"/>
          </p:cNvSpPr>
          <p:nvPr>
            <p:ph type="sldNum" sz="quarter" idx="12"/>
          </p:nvPr>
        </p:nvSpPr>
        <p:spPr/>
        <p:txBody>
          <a:bodyPr/>
          <a:lstStyle/>
          <a:p>
            <a:fld id="{4093CC90-4002-504C-BD88-C9A1D374048E}" type="slidenum">
              <a:rPr lang="zh-CN" altLang="en-US" smtClean="0"/>
              <a:pPr/>
              <a:t>56</a:t>
            </a:fld>
            <a:endParaRPr lang="zh-CN" altLang="en-US" dirty="0"/>
          </a:p>
        </p:txBody>
      </p:sp>
      <p:sp>
        <p:nvSpPr>
          <p:cNvPr id="5" name="文本框 4"/>
          <p:cNvSpPr txBox="1"/>
          <p:nvPr/>
        </p:nvSpPr>
        <p:spPr>
          <a:xfrm>
            <a:off x="1255197" y="5015508"/>
            <a:ext cx="6901248" cy="923330"/>
          </a:xfrm>
          <a:prstGeom prst="rect">
            <a:avLst/>
          </a:prstGeom>
          <a:noFill/>
        </p:spPr>
        <p:txBody>
          <a:bodyPr wrap="none" rtlCol="0">
            <a:spAutoFit/>
          </a:bodyPr>
          <a:lstStyle/>
          <a:p>
            <a:r>
              <a:rPr lang="en-US" altLang="zh-CN" dirty="0" smtClean="0">
                <a:latin typeface="Consolas" panose="020B0609020204030204" pitchFamily="49" charset="0"/>
              </a:rPr>
              <a:t>...</a:t>
            </a:r>
          </a:p>
          <a:p>
            <a:r>
              <a:rPr lang="en-US" altLang="zh-CN" dirty="0" err="1" smtClean="0">
                <a:latin typeface="Consolas" panose="020B0609020204030204" pitchFamily="49" charset="0"/>
              </a:rPr>
              <a:t>int</a:t>
            </a:r>
            <a:r>
              <a:rPr lang="en-US" altLang="zh-CN" dirty="0" smtClean="0">
                <a:latin typeface="Consolas" panose="020B0609020204030204" pitchFamily="49" charset="0"/>
              </a:rPr>
              <a:t> </a:t>
            </a:r>
            <a:r>
              <a:rPr lang="en-US" altLang="zh-CN" dirty="0" err="1">
                <a:latin typeface="Consolas" panose="020B0609020204030204" pitchFamily="49" charset="0"/>
              </a:rPr>
              <a:t>pid</a:t>
            </a:r>
            <a:r>
              <a:rPr lang="en-US" altLang="zh-CN" dirty="0">
                <a:latin typeface="Consolas" panose="020B0609020204030204" pitchFamily="49" charset="0"/>
              </a:rPr>
              <a:t> = fork();	//</a:t>
            </a:r>
            <a:r>
              <a:rPr lang="zh-CN" altLang="en-US" dirty="0">
                <a:latin typeface="Consolas" panose="020B0609020204030204" pitchFamily="49" charset="0"/>
              </a:rPr>
              <a:t>此处</a:t>
            </a:r>
            <a:r>
              <a:rPr lang="zh-CN" altLang="en-US" dirty="0" smtClean="0">
                <a:latin typeface="Consolas" panose="020B0609020204030204" pitchFamily="49" charset="0"/>
              </a:rPr>
              <a:t>之后有了</a:t>
            </a:r>
            <a:r>
              <a:rPr lang="zh-CN" altLang="en-US" dirty="0">
                <a:latin typeface="Consolas" panose="020B0609020204030204" pitchFamily="49" charset="0"/>
              </a:rPr>
              <a:t>两只虫，都要</a:t>
            </a:r>
            <a:r>
              <a:rPr lang="zh-CN" altLang="en-US" dirty="0" smtClean="0">
                <a:latin typeface="Consolas" panose="020B0609020204030204" pitchFamily="49" charset="0"/>
              </a:rPr>
              <a:t>继续执行</a:t>
            </a:r>
            <a:endParaRPr lang="zh-CN" altLang="en-US" dirty="0">
              <a:latin typeface="Consolas" panose="020B0609020204030204" pitchFamily="49" charset="0"/>
            </a:endParaRPr>
          </a:p>
          <a:p>
            <a:r>
              <a:rPr lang="en-US" altLang="zh-CN" dirty="0" smtClean="0">
                <a:latin typeface="Consolas" panose="020B0609020204030204" pitchFamily="49" charset="0"/>
              </a:rPr>
              <a:t>...</a:t>
            </a:r>
            <a:endParaRPr lang="zh-CN" altLang="en-US" dirty="0">
              <a:latin typeface="Consolas" panose="020B0609020204030204" pitchFamily="49" charset="0"/>
            </a:endParaRPr>
          </a:p>
        </p:txBody>
      </p:sp>
      <p:sp>
        <p:nvSpPr>
          <p:cNvPr id="7" name="圆角矩形标注 6"/>
          <p:cNvSpPr/>
          <p:nvPr/>
        </p:nvSpPr>
        <p:spPr bwMode="auto">
          <a:xfrm>
            <a:off x="5867872" y="3362325"/>
            <a:ext cx="3101504" cy="1028700"/>
          </a:xfrm>
          <a:prstGeom prst="wedgeRoundRectCallout">
            <a:avLst>
              <a:gd name="adj1" fmla="val -54939"/>
              <a:gd name="adj2" fmla="val -1712"/>
              <a:gd name="adj3" fmla="val 16667"/>
            </a:avLst>
          </a:prstGeom>
          <a:solidFill>
            <a:schemeClr val="accent5"/>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0" compatLnSpc="1"/>
          <a:lstStyle/>
          <a:p>
            <a:pPr fontAlgn="base">
              <a:lnSpc>
                <a:spcPct val="90000"/>
              </a:lnSpc>
              <a:spcBef>
                <a:spcPct val="20000"/>
              </a:spcBef>
              <a:spcAft>
                <a:spcPct val="0"/>
              </a:spcAft>
              <a:buClr>
                <a:schemeClr val="folHlink"/>
              </a:buClr>
              <a:buSzPct val="60000"/>
            </a:pPr>
            <a:r>
              <a:rPr kumimoji="1" lang="zh-CN" altLang="en-US" sz="2000" dirty="0">
                <a:latin typeface="Tahoma" panose="020B0604030504040204" pitchFamily="34" charset="0"/>
                <a:ea typeface="宋体" panose="02010600030101010101" pitchFamily="2" charset="-122"/>
              </a:rPr>
              <a:t>问题</a:t>
            </a:r>
            <a:r>
              <a:rPr kumimoji="1" lang="en-US" altLang="zh-CN" sz="2000" dirty="0">
                <a:latin typeface="Tahoma" panose="020B0604030504040204" pitchFamily="34" charset="0"/>
                <a:ea typeface="宋体" panose="02010600030101010101" pitchFamily="2" charset="-122"/>
              </a:rPr>
              <a:t>3.3</a:t>
            </a:r>
            <a:r>
              <a:rPr kumimoji="1" lang="zh-CN" altLang="en-US" sz="2000" dirty="0">
                <a:latin typeface="Tahoma" panose="020B0604030504040204" pitchFamily="34" charset="0"/>
                <a:ea typeface="宋体" panose="02010600030101010101" pitchFamily="2" charset="-122"/>
              </a:rPr>
              <a:t>：</a:t>
            </a:r>
            <a:r>
              <a:rPr kumimoji="1" lang="en-US" altLang="zh-CN" sz="2000" dirty="0">
                <a:latin typeface="Tahoma" panose="020B0604030504040204" pitchFamily="34" charset="0"/>
                <a:ea typeface="宋体" panose="02010600030101010101" pitchFamily="2" charset="-122"/>
              </a:rPr>
              <a:t>fork()</a:t>
            </a:r>
            <a:r>
              <a:rPr kumimoji="1" lang="zh-CN" altLang="en-US" sz="2000" dirty="0">
                <a:latin typeface="Tahoma" panose="020B0604030504040204" pitchFamily="34" charset="0"/>
                <a:ea typeface="宋体" panose="02010600030101010101" pitchFamily="2" charset="-122"/>
              </a:rPr>
              <a:t>把全部数据都复制一份，岂不是需要很久，容易造成卡顿？</a:t>
            </a:r>
            <a:endParaRPr kumimoji="1" lang="zh-CN" altLang="en-US" sz="2000" b="0" i="0" u="none" strike="noStrike" cap="none" normalizeH="0" baseline="0" dirty="0" smtClean="0">
              <a:ln>
                <a:noFill/>
              </a:ln>
              <a:solidFill>
                <a:schemeClr val="tx1"/>
              </a:solidFill>
              <a:effectLst/>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97375192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Linux</a:t>
            </a:r>
            <a:r>
              <a:rPr lang="zh-CN" altLang="en-US" dirty="0"/>
              <a:t>案例</a:t>
            </a:r>
          </a:p>
        </p:txBody>
      </p:sp>
      <p:sp>
        <p:nvSpPr>
          <p:cNvPr id="3" name="内容占位符 2"/>
          <p:cNvSpPr>
            <a:spLocks noGrp="1"/>
          </p:cNvSpPr>
          <p:nvPr>
            <p:ph idx="1"/>
          </p:nvPr>
        </p:nvSpPr>
        <p:spPr/>
        <p:txBody>
          <a:bodyPr/>
          <a:lstStyle/>
          <a:p>
            <a:r>
              <a:rPr lang="en-US" altLang="zh-CN" dirty="0" smtClean="0"/>
              <a:t>fork()</a:t>
            </a:r>
          </a:p>
          <a:p>
            <a:pPr lvl="1"/>
            <a:r>
              <a:rPr lang="zh-CN" altLang="en-US" dirty="0"/>
              <a:t>父进程感到自己刚调用完</a:t>
            </a:r>
            <a:r>
              <a:rPr lang="en-US" altLang="zh-CN" dirty="0"/>
              <a:t>fork()</a:t>
            </a:r>
            <a:r>
              <a:rPr lang="zh-CN" altLang="en-US" dirty="0"/>
              <a:t>，子进程也</a:t>
            </a:r>
            <a:r>
              <a:rPr lang="zh-CN" altLang="en-US" dirty="0" smtClean="0"/>
              <a:t>一样</a:t>
            </a:r>
            <a:endParaRPr lang="en-US" altLang="zh-CN" dirty="0" smtClean="0"/>
          </a:p>
          <a:p>
            <a:pPr lvl="1"/>
            <a:r>
              <a:rPr lang="zh-CN" altLang="en-US" dirty="0" smtClean="0"/>
              <a:t>区别：</a:t>
            </a:r>
            <a:r>
              <a:rPr lang="zh-CN" altLang="en-US" dirty="0"/>
              <a:t>返回</a:t>
            </a:r>
            <a:r>
              <a:rPr lang="zh-CN" altLang="en-US" dirty="0" smtClean="0"/>
              <a:t>值</a:t>
            </a:r>
            <a:endParaRPr lang="en-US" altLang="zh-CN" dirty="0" smtClean="0"/>
          </a:p>
          <a:p>
            <a:pPr lvl="2"/>
            <a:r>
              <a:rPr lang="zh-CN" altLang="en-US" dirty="0" smtClean="0"/>
              <a:t>父</a:t>
            </a:r>
            <a:r>
              <a:rPr lang="zh-CN" altLang="en-US" dirty="0"/>
              <a:t>进程拿到</a:t>
            </a:r>
            <a:r>
              <a:rPr lang="zh-CN" altLang="en-US" dirty="0" smtClean="0"/>
              <a:t>的是</a:t>
            </a:r>
            <a:r>
              <a:rPr lang="zh-CN" altLang="en-US" dirty="0"/>
              <a:t>子进程的</a:t>
            </a:r>
            <a:r>
              <a:rPr lang="en-US" altLang="zh-CN" dirty="0" smtClean="0"/>
              <a:t>PID</a:t>
            </a:r>
          </a:p>
          <a:p>
            <a:pPr lvl="2"/>
            <a:r>
              <a:rPr lang="zh-CN" altLang="en-US" dirty="0" smtClean="0"/>
              <a:t>子</a:t>
            </a:r>
            <a:r>
              <a:rPr lang="zh-CN" altLang="en-US" dirty="0"/>
              <a:t>进程拿到</a:t>
            </a:r>
            <a:r>
              <a:rPr lang="en-US" altLang="zh-CN" dirty="0" smtClean="0"/>
              <a:t>0</a:t>
            </a:r>
          </a:p>
          <a:p>
            <a:pPr lvl="1"/>
            <a:r>
              <a:rPr lang="zh-CN" altLang="en-US" dirty="0" smtClean="0"/>
              <a:t>父子进程执行同一份程序，配合完成任务</a:t>
            </a:r>
            <a:endParaRPr lang="en-US" altLang="zh-CN" dirty="0"/>
          </a:p>
        </p:txBody>
      </p:sp>
      <p:sp>
        <p:nvSpPr>
          <p:cNvPr id="4" name="灯片编号占位符 3"/>
          <p:cNvSpPr>
            <a:spLocks noGrp="1"/>
          </p:cNvSpPr>
          <p:nvPr>
            <p:ph type="sldNum" sz="quarter" idx="12"/>
          </p:nvPr>
        </p:nvSpPr>
        <p:spPr/>
        <p:txBody>
          <a:bodyPr/>
          <a:lstStyle/>
          <a:p>
            <a:fld id="{4093CC90-4002-504C-BD88-C9A1D374048E}" type="slidenum">
              <a:rPr lang="zh-CN" altLang="en-US" smtClean="0"/>
              <a:pPr/>
              <a:t>57</a:t>
            </a:fld>
            <a:endParaRPr lang="zh-CN" altLang="en-US" dirty="0"/>
          </a:p>
        </p:txBody>
      </p:sp>
      <p:sp>
        <p:nvSpPr>
          <p:cNvPr id="5" name="文本框 4"/>
          <p:cNvSpPr txBox="1"/>
          <p:nvPr/>
        </p:nvSpPr>
        <p:spPr>
          <a:xfrm>
            <a:off x="1245672" y="4359945"/>
            <a:ext cx="6901248" cy="2031325"/>
          </a:xfrm>
          <a:prstGeom prst="rect">
            <a:avLst/>
          </a:prstGeom>
          <a:noFill/>
        </p:spPr>
        <p:txBody>
          <a:bodyPr wrap="none" rtlCol="0">
            <a:spAutoFit/>
          </a:bodyPr>
          <a:lstStyle/>
          <a:p>
            <a:r>
              <a:rPr lang="en-US" altLang="zh-CN" dirty="0" smtClean="0">
                <a:latin typeface="Consolas" panose="020B0609020204030204" pitchFamily="49" charset="0"/>
              </a:rPr>
              <a:t>...</a:t>
            </a:r>
          </a:p>
          <a:p>
            <a:r>
              <a:rPr lang="en-US" altLang="zh-CN" dirty="0" err="1" smtClean="0">
                <a:latin typeface="Consolas" panose="020B0609020204030204" pitchFamily="49" charset="0"/>
              </a:rPr>
              <a:t>int</a:t>
            </a:r>
            <a:r>
              <a:rPr lang="en-US" altLang="zh-CN" dirty="0" smtClean="0">
                <a:latin typeface="Consolas" panose="020B0609020204030204" pitchFamily="49" charset="0"/>
              </a:rPr>
              <a:t> </a:t>
            </a:r>
            <a:r>
              <a:rPr lang="en-US" altLang="zh-CN" dirty="0" err="1">
                <a:latin typeface="Consolas" panose="020B0609020204030204" pitchFamily="49" charset="0"/>
              </a:rPr>
              <a:t>pid</a:t>
            </a:r>
            <a:r>
              <a:rPr lang="en-US" altLang="zh-CN" dirty="0">
                <a:latin typeface="Consolas" panose="020B0609020204030204" pitchFamily="49" charset="0"/>
              </a:rPr>
              <a:t> = fork();	//</a:t>
            </a:r>
            <a:r>
              <a:rPr lang="zh-CN" altLang="en-US" dirty="0">
                <a:latin typeface="Consolas" panose="020B0609020204030204" pitchFamily="49" charset="0"/>
              </a:rPr>
              <a:t>此处</a:t>
            </a:r>
            <a:r>
              <a:rPr lang="zh-CN" altLang="en-US" dirty="0" smtClean="0">
                <a:latin typeface="Consolas" panose="020B0609020204030204" pitchFamily="49" charset="0"/>
              </a:rPr>
              <a:t>之后有了</a:t>
            </a:r>
            <a:r>
              <a:rPr lang="zh-CN" altLang="en-US" dirty="0">
                <a:latin typeface="Consolas" panose="020B0609020204030204" pitchFamily="49" charset="0"/>
              </a:rPr>
              <a:t>两只虫，都要</a:t>
            </a:r>
            <a:r>
              <a:rPr lang="zh-CN" altLang="en-US" dirty="0" smtClean="0">
                <a:latin typeface="Consolas" panose="020B0609020204030204" pitchFamily="49" charset="0"/>
              </a:rPr>
              <a:t>继续执行</a:t>
            </a:r>
            <a:endParaRPr lang="zh-CN" altLang="en-US" dirty="0">
              <a:latin typeface="Consolas" panose="020B0609020204030204" pitchFamily="49" charset="0"/>
            </a:endParaRPr>
          </a:p>
          <a:p>
            <a:r>
              <a:rPr lang="en-US" altLang="zh-CN" dirty="0">
                <a:latin typeface="Consolas" panose="020B0609020204030204" pitchFamily="49" charset="0"/>
              </a:rPr>
              <a:t>if(</a:t>
            </a:r>
            <a:r>
              <a:rPr lang="en-US" altLang="zh-CN" dirty="0" err="1">
                <a:latin typeface="Consolas" panose="020B0609020204030204" pitchFamily="49" charset="0"/>
              </a:rPr>
              <a:t>pid</a:t>
            </a:r>
            <a:r>
              <a:rPr lang="en-US" altLang="zh-CN" dirty="0">
                <a:latin typeface="Consolas" panose="020B0609020204030204" pitchFamily="49" charset="0"/>
              </a:rPr>
              <a:t> == 0) {</a:t>
            </a:r>
          </a:p>
          <a:p>
            <a:r>
              <a:rPr lang="en-US" altLang="zh-CN" dirty="0">
                <a:latin typeface="Consolas" panose="020B0609020204030204" pitchFamily="49" charset="0"/>
              </a:rPr>
              <a:t>	</a:t>
            </a:r>
            <a:r>
              <a:rPr lang="en-US" altLang="zh-CN" dirty="0" smtClean="0">
                <a:latin typeface="Consolas" panose="020B0609020204030204" pitchFamily="49" charset="0"/>
              </a:rPr>
              <a:t>...</a:t>
            </a:r>
            <a:r>
              <a:rPr lang="en-US" altLang="zh-CN" dirty="0">
                <a:latin typeface="Consolas" panose="020B0609020204030204" pitchFamily="49" charset="0"/>
              </a:rPr>
              <a:t>	//</a:t>
            </a:r>
            <a:r>
              <a:rPr lang="zh-CN" altLang="en-US" dirty="0">
                <a:latin typeface="Consolas" panose="020B0609020204030204" pitchFamily="49" charset="0"/>
              </a:rPr>
              <a:t>子进程</a:t>
            </a:r>
          </a:p>
          <a:p>
            <a:r>
              <a:rPr lang="en-US" altLang="zh-CN" dirty="0">
                <a:latin typeface="Consolas" panose="020B0609020204030204" pitchFamily="49" charset="0"/>
              </a:rPr>
              <a:t>} else {</a:t>
            </a:r>
          </a:p>
          <a:p>
            <a:r>
              <a:rPr lang="en-US" altLang="zh-CN" dirty="0">
                <a:latin typeface="Consolas" panose="020B0609020204030204" pitchFamily="49" charset="0"/>
              </a:rPr>
              <a:t>	</a:t>
            </a:r>
            <a:r>
              <a:rPr lang="en-US" altLang="zh-CN" dirty="0" smtClean="0">
                <a:latin typeface="Consolas" panose="020B0609020204030204" pitchFamily="49" charset="0"/>
              </a:rPr>
              <a:t>...</a:t>
            </a:r>
            <a:r>
              <a:rPr lang="en-US" altLang="zh-CN" dirty="0">
                <a:latin typeface="Consolas" panose="020B0609020204030204" pitchFamily="49" charset="0"/>
              </a:rPr>
              <a:t>	//</a:t>
            </a:r>
            <a:r>
              <a:rPr lang="zh-CN" altLang="en-US" dirty="0">
                <a:latin typeface="Consolas" panose="020B0609020204030204" pitchFamily="49" charset="0"/>
              </a:rPr>
              <a:t>父进程</a:t>
            </a:r>
          </a:p>
          <a:p>
            <a:r>
              <a:rPr lang="en-US" altLang="zh-CN" dirty="0">
                <a:latin typeface="Consolas" panose="020B0609020204030204" pitchFamily="49" charset="0"/>
              </a:rPr>
              <a:t>}</a:t>
            </a:r>
            <a:endParaRPr lang="zh-CN" altLang="en-US" dirty="0">
              <a:latin typeface="Consolas" panose="020B0609020204030204" pitchFamily="49" charset="0"/>
            </a:endParaRPr>
          </a:p>
        </p:txBody>
      </p:sp>
    </p:spTree>
    <p:extLst>
      <p:ext uri="{BB962C8B-B14F-4D97-AF65-F5344CB8AC3E}">
        <p14:creationId xmlns:p14="http://schemas.microsoft.com/office/powerpoint/2010/main" val="341168843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Linux</a:t>
            </a:r>
            <a:r>
              <a:rPr lang="zh-CN" altLang="en-US" dirty="0"/>
              <a:t>案例</a:t>
            </a:r>
          </a:p>
        </p:txBody>
      </p:sp>
      <p:sp>
        <p:nvSpPr>
          <p:cNvPr id="3" name="内容占位符 2"/>
          <p:cNvSpPr>
            <a:spLocks noGrp="1"/>
          </p:cNvSpPr>
          <p:nvPr>
            <p:ph idx="1"/>
          </p:nvPr>
        </p:nvSpPr>
        <p:spPr/>
        <p:txBody>
          <a:bodyPr/>
          <a:lstStyle/>
          <a:p>
            <a:r>
              <a:rPr lang="en-US" altLang="zh-CN" dirty="0" smtClean="0"/>
              <a:t>wait()</a:t>
            </a:r>
          </a:p>
          <a:p>
            <a:pPr lvl="1"/>
            <a:r>
              <a:rPr lang="zh-CN" altLang="en-US" dirty="0"/>
              <a:t>子进程结束</a:t>
            </a:r>
            <a:r>
              <a:rPr lang="zh-CN" altLang="en-US" dirty="0" smtClean="0"/>
              <a:t>后不会立即消失</a:t>
            </a:r>
            <a:r>
              <a:rPr lang="zh-CN" altLang="en-US" dirty="0"/>
              <a:t>，而是变成僵尸</a:t>
            </a:r>
            <a:r>
              <a:rPr lang="zh-CN" altLang="en-US" dirty="0" smtClean="0"/>
              <a:t>进程</a:t>
            </a:r>
            <a:endParaRPr lang="en-US" altLang="zh-CN" dirty="0" smtClean="0"/>
          </a:p>
          <a:p>
            <a:pPr lvl="2"/>
            <a:r>
              <a:rPr lang="zh-CN" altLang="en-US" dirty="0"/>
              <a:t>会留一些资料（如退出状态）供事后调查</a:t>
            </a:r>
          </a:p>
          <a:p>
            <a:pPr lvl="1"/>
            <a:r>
              <a:rPr lang="en-US" altLang="zh-CN" dirty="0" smtClean="0"/>
              <a:t>wait</a:t>
            </a:r>
            <a:r>
              <a:rPr lang="en-US" altLang="zh-CN" dirty="0"/>
              <a:t>()</a:t>
            </a:r>
            <a:r>
              <a:rPr lang="zh-CN" altLang="en-US" dirty="0"/>
              <a:t>或</a:t>
            </a:r>
            <a:r>
              <a:rPr lang="en-US" altLang="zh-CN" dirty="0" err="1"/>
              <a:t>waitpid</a:t>
            </a:r>
            <a:r>
              <a:rPr lang="en-US" altLang="zh-CN" dirty="0"/>
              <a:t>()</a:t>
            </a:r>
            <a:r>
              <a:rPr lang="zh-CN" altLang="en-US" dirty="0"/>
              <a:t>，</a:t>
            </a:r>
            <a:r>
              <a:rPr lang="zh-CN" altLang="en-US" dirty="0">
                <a:solidFill>
                  <a:srgbClr val="FF0000"/>
                </a:solidFill>
              </a:rPr>
              <a:t>阻塞</a:t>
            </a:r>
            <a:r>
              <a:rPr lang="zh-CN" altLang="en-US" dirty="0"/>
              <a:t>等待</a:t>
            </a:r>
            <a:r>
              <a:rPr lang="zh-CN" altLang="en-US" dirty="0">
                <a:solidFill>
                  <a:srgbClr val="FF0000"/>
                </a:solidFill>
              </a:rPr>
              <a:t>回收</a:t>
            </a:r>
            <a:r>
              <a:rPr lang="zh-CN" altLang="en-US" dirty="0" smtClean="0"/>
              <a:t>僵尸子进程</a:t>
            </a:r>
            <a:endParaRPr lang="en-US" altLang="zh-CN" dirty="0" smtClean="0"/>
          </a:p>
          <a:p>
            <a:pPr lvl="2"/>
            <a:r>
              <a:rPr lang="zh-CN" altLang="en-US" dirty="0" smtClean="0"/>
              <a:t>负责任</a:t>
            </a:r>
            <a:r>
              <a:rPr lang="zh-CN" altLang="en-US" dirty="0"/>
              <a:t>的父进程应该</a:t>
            </a:r>
            <a:r>
              <a:rPr lang="zh-CN" altLang="en-US" dirty="0" smtClean="0"/>
              <a:t>调用，最后结束</a:t>
            </a:r>
            <a:endParaRPr lang="en-US" altLang="zh-CN" dirty="0" smtClean="0"/>
          </a:p>
        </p:txBody>
      </p:sp>
      <p:sp>
        <p:nvSpPr>
          <p:cNvPr id="4" name="灯片编号占位符 3"/>
          <p:cNvSpPr>
            <a:spLocks noGrp="1"/>
          </p:cNvSpPr>
          <p:nvPr>
            <p:ph type="sldNum" sz="quarter" idx="12"/>
          </p:nvPr>
        </p:nvSpPr>
        <p:spPr/>
        <p:txBody>
          <a:bodyPr/>
          <a:lstStyle/>
          <a:p>
            <a:fld id="{4093CC90-4002-504C-BD88-C9A1D374048E}" type="slidenum">
              <a:rPr lang="zh-CN" altLang="en-US" smtClean="0"/>
              <a:pPr/>
              <a:t>58</a:t>
            </a:fld>
            <a:endParaRPr lang="zh-CN" altLang="en-US" dirty="0"/>
          </a:p>
        </p:txBody>
      </p:sp>
      <p:sp>
        <p:nvSpPr>
          <p:cNvPr id="6" name="文本框 5"/>
          <p:cNvSpPr txBox="1"/>
          <p:nvPr/>
        </p:nvSpPr>
        <p:spPr>
          <a:xfrm>
            <a:off x="1245672" y="3931320"/>
            <a:ext cx="6901248" cy="2308324"/>
          </a:xfrm>
          <a:prstGeom prst="rect">
            <a:avLst/>
          </a:prstGeom>
          <a:noFill/>
        </p:spPr>
        <p:txBody>
          <a:bodyPr wrap="none" rtlCol="0">
            <a:spAutoFit/>
          </a:bodyPr>
          <a:lstStyle/>
          <a:p>
            <a:r>
              <a:rPr lang="en-US" altLang="zh-CN" dirty="0" smtClean="0">
                <a:latin typeface="Consolas" panose="020B0609020204030204" pitchFamily="49" charset="0"/>
              </a:rPr>
              <a:t>...</a:t>
            </a:r>
          </a:p>
          <a:p>
            <a:r>
              <a:rPr lang="en-US" altLang="zh-CN" dirty="0" err="1" smtClean="0">
                <a:latin typeface="Consolas" panose="020B0609020204030204" pitchFamily="49" charset="0"/>
              </a:rPr>
              <a:t>int</a:t>
            </a:r>
            <a:r>
              <a:rPr lang="en-US" altLang="zh-CN" dirty="0" smtClean="0">
                <a:latin typeface="Consolas" panose="020B0609020204030204" pitchFamily="49" charset="0"/>
              </a:rPr>
              <a:t> </a:t>
            </a:r>
            <a:r>
              <a:rPr lang="en-US" altLang="zh-CN" dirty="0" err="1">
                <a:latin typeface="Consolas" panose="020B0609020204030204" pitchFamily="49" charset="0"/>
              </a:rPr>
              <a:t>pid</a:t>
            </a:r>
            <a:r>
              <a:rPr lang="en-US" altLang="zh-CN" dirty="0">
                <a:latin typeface="Consolas" panose="020B0609020204030204" pitchFamily="49" charset="0"/>
              </a:rPr>
              <a:t> = fork();	//</a:t>
            </a:r>
            <a:r>
              <a:rPr lang="zh-CN" altLang="en-US" dirty="0">
                <a:latin typeface="Consolas" panose="020B0609020204030204" pitchFamily="49" charset="0"/>
              </a:rPr>
              <a:t>此处</a:t>
            </a:r>
            <a:r>
              <a:rPr lang="zh-CN" altLang="en-US" dirty="0" smtClean="0">
                <a:latin typeface="Consolas" panose="020B0609020204030204" pitchFamily="49" charset="0"/>
              </a:rPr>
              <a:t>之后有了</a:t>
            </a:r>
            <a:r>
              <a:rPr lang="zh-CN" altLang="en-US" dirty="0">
                <a:latin typeface="Consolas" panose="020B0609020204030204" pitchFamily="49" charset="0"/>
              </a:rPr>
              <a:t>两只虫，都要</a:t>
            </a:r>
            <a:r>
              <a:rPr lang="zh-CN" altLang="en-US" dirty="0" smtClean="0">
                <a:latin typeface="Consolas" panose="020B0609020204030204" pitchFamily="49" charset="0"/>
              </a:rPr>
              <a:t>继续执行</a:t>
            </a:r>
            <a:endParaRPr lang="zh-CN" altLang="en-US" dirty="0">
              <a:latin typeface="Consolas" panose="020B0609020204030204" pitchFamily="49" charset="0"/>
            </a:endParaRPr>
          </a:p>
          <a:p>
            <a:r>
              <a:rPr lang="en-US" altLang="zh-CN" dirty="0">
                <a:latin typeface="Consolas" panose="020B0609020204030204" pitchFamily="49" charset="0"/>
              </a:rPr>
              <a:t>if(</a:t>
            </a:r>
            <a:r>
              <a:rPr lang="en-US" altLang="zh-CN" dirty="0" err="1">
                <a:latin typeface="Consolas" panose="020B0609020204030204" pitchFamily="49" charset="0"/>
              </a:rPr>
              <a:t>pid</a:t>
            </a:r>
            <a:r>
              <a:rPr lang="en-US" altLang="zh-CN" dirty="0">
                <a:latin typeface="Consolas" panose="020B0609020204030204" pitchFamily="49" charset="0"/>
              </a:rPr>
              <a:t> == 0) {</a:t>
            </a:r>
          </a:p>
          <a:p>
            <a:r>
              <a:rPr lang="en-US" altLang="zh-CN" dirty="0">
                <a:latin typeface="Consolas" panose="020B0609020204030204" pitchFamily="49" charset="0"/>
              </a:rPr>
              <a:t>	</a:t>
            </a:r>
            <a:r>
              <a:rPr lang="en-US" altLang="zh-CN" dirty="0" smtClean="0">
                <a:latin typeface="Consolas" panose="020B0609020204030204" pitchFamily="49" charset="0"/>
              </a:rPr>
              <a:t>...</a:t>
            </a:r>
            <a:r>
              <a:rPr lang="en-US" altLang="zh-CN" dirty="0">
                <a:latin typeface="Consolas" panose="020B0609020204030204" pitchFamily="49" charset="0"/>
              </a:rPr>
              <a:t>	//</a:t>
            </a:r>
            <a:r>
              <a:rPr lang="zh-CN" altLang="en-US" dirty="0">
                <a:latin typeface="Consolas" panose="020B0609020204030204" pitchFamily="49" charset="0"/>
              </a:rPr>
              <a:t>子进程</a:t>
            </a:r>
          </a:p>
          <a:p>
            <a:r>
              <a:rPr lang="en-US" altLang="zh-CN" dirty="0">
                <a:latin typeface="Consolas" panose="020B0609020204030204" pitchFamily="49" charset="0"/>
              </a:rPr>
              <a:t>} else {</a:t>
            </a:r>
          </a:p>
          <a:p>
            <a:r>
              <a:rPr lang="en-US" altLang="zh-CN" dirty="0">
                <a:latin typeface="Consolas" panose="020B0609020204030204" pitchFamily="49" charset="0"/>
              </a:rPr>
              <a:t>	</a:t>
            </a:r>
            <a:r>
              <a:rPr lang="en-US" altLang="zh-CN" dirty="0" smtClean="0">
                <a:latin typeface="Consolas" panose="020B0609020204030204" pitchFamily="49" charset="0"/>
              </a:rPr>
              <a:t>...</a:t>
            </a:r>
            <a:r>
              <a:rPr lang="en-US" altLang="zh-CN" dirty="0">
                <a:latin typeface="Consolas" panose="020B0609020204030204" pitchFamily="49" charset="0"/>
              </a:rPr>
              <a:t>	//</a:t>
            </a:r>
            <a:r>
              <a:rPr lang="zh-CN" altLang="en-US" dirty="0">
                <a:latin typeface="Consolas" panose="020B0609020204030204" pitchFamily="49" charset="0"/>
              </a:rPr>
              <a:t>父</a:t>
            </a:r>
            <a:r>
              <a:rPr lang="zh-CN" altLang="en-US" dirty="0" smtClean="0">
                <a:latin typeface="Consolas" panose="020B0609020204030204" pitchFamily="49" charset="0"/>
              </a:rPr>
              <a:t>进程</a:t>
            </a:r>
            <a:endParaRPr lang="en-US" altLang="zh-CN" dirty="0" smtClean="0">
              <a:latin typeface="Consolas" panose="020B0609020204030204" pitchFamily="49" charset="0"/>
            </a:endParaRPr>
          </a:p>
          <a:p>
            <a:r>
              <a:rPr lang="en-US" altLang="zh-CN" dirty="0">
                <a:latin typeface="Consolas" panose="020B0609020204030204" pitchFamily="49" charset="0"/>
              </a:rPr>
              <a:t>	</a:t>
            </a:r>
            <a:r>
              <a:rPr lang="en-US" altLang="zh-CN" dirty="0" smtClean="0">
                <a:latin typeface="Consolas" panose="020B0609020204030204" pitchFamily="49" charset="0"/>
              </a:rPr>
              <a:t>wait(NULL);</a:t>
            </a:r>
            <a:endParaRPr lang="zh-CN" altLang="en-US" dirty="0">
              <a:latin typeface="Consolas" panose="020B0609020204030204" pitchFamily="49" charset="0"/>
            </a:endParaRPr>
          </a:p>
          <a:p>
            <a:r>
              <a:rPr lang="en-US" altLang="zh-CN" dirty="0">
                <a:latin typeface="Consolas" panose="020B0609020204030204" pitchFamily="49" charset="0"/>
              </a:rPr>
              <a:t>}</a:t>
            </a:r>
            <a:endParaRPr lang="zh-CN" altLang="en-US" dirty="0">
              <a:latin typeface="Consolas" panose="020B0609020204030204" pitchFamily="49" charset="0"/>
            </a:endParaRPr>
          </a:p>
        </p:txBody>
      </p:sp>
    </p:spTree>
    <p:extLst>
      <p:ext uri="{BB962C8B-B14F-4D97-AF65-F5344CB8AC3E}">
        <p14:creationId xmlns:p14="http://schemas.microsoft.com/office/powerpoint/2010/main" val="416395844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Linux</a:t>
            </a:r>
            <a:r>
              <a:rPr lang="zh-CN" altLang="en-US" dirty="0"/>
              <a:t>案例</a:t>
            </a:r>
          </a:p>
        </p:txBody>
      </p:sp>
      <p:sp>
        <p:nvSpPr>
          <p:cNvPr id="3" name="内容占位符 2"/>
          <p:cNvSpPr>
            <a:spLocks noGrp="1"/>
          </p:cNvSpPr>
          <p:nvPr>
            <p:ph idx="1"/>
          </p:nvPr>
        </p:nvSpPr>
        <p:spPr/>
        <p:txBody>
          <a:bodyPr/>
          <a:lstStyle/>
          <a:p>
            <a:r>
              <a:rPr lang="en-US" altLang="zh-CN" dirty="0" smtClean="0"/>
              <a:t>wait()</a:t>
            </a:r>
          </a:p>
          <a:p>
            <a:pPr lvl="1"/>
            <a:r>
              <a:rPr lang="zh-CN" altLang="en-US" dirty="0" smtClean="0"/>
              <a:t>特殊情况</a:t>
            </a:r>
            <a:endParaRPr lang="zh-CN" altLang="en-US" dirty="0"/>
          </a:p>
          <a:p>
            <a:pPr lvl="2"/>
            <a:r>
              <a:rPr lang="zh-CN" altLang="en-US" dirty="0"/>
              <a:t>父进程忘记</a:t>
            </a:r>
            <a:r>
              <a:rPr lang="en-US" altLang="zh-CN" dirty="0"/>
              <a:t>wait()</a:t>
            </a:r>
            <a:r>
              <a:rPr lang="zh-CN" altLang="en-US" dirty="0"/>
              <a:t>，</a:t>
            </a:r>
            <a:r>
              <a:rPr lang="zh-CN" altLang="en-US" dirty="0" smtClean="0"/>
              <a:t>则</a:t>
            </a:r>
            <a:r>
              <a:rPr lang="zh-CN" altLang="en-US" dirty="0"/>
              <a:t>留下</a:t>
            </a:r>
            <a:r>
              <a:rPr lang="zh-CN" altLang="en-US" dirty="0" smtClean="0"/>
              <a:t>僵尸进程，</a:t>
            </a:r>
            <a:r>
              <a:rPr lang="zh-CN" altLang="en-US" dirty="0"/>
              <a:t>占据一些资源</a:t>
            </a:r>
          </a:p>
          <a:p>
            <a:pPr lvl="2"/>
            <a:r>
              <a:rPr lang="zh-CN" altLang="en-US" dirty="0"/>
              <a:t>如果父进程先结束，孤儿</a:t>
            </a:r>
            <a:r>
              <a:rPr lang="zh-CN" altLang="en-US" dirty="0" smtClean="0"/>
              <a:t>进程（包括</a:t>
            </a:r>
            <a:r>
              <a:rPr lang="zh-CN" altLang="en-US" dirty="0"/>
              <a:t>僵尸</a:t>
            </a:r>
            <a:r>
              <a:rPr lang="zh-CN" altLang="en-US" dirty="0" smtClean="0"/>
              <a:t>进程）被</a:t>
            </a:r>
            <a:r>
              <a:rPr lang="en-US" altLang="zh-CN" dirty="0" err="1"/>
              <a:t>init</a:t>
            </a:r>
            <a:r>
              <a:rPr lang="zh-CN" altLang="en-US" dirty="0"/>
              <a:t>进程</a:t>
            </a:r>
            <a:r>
              <a:rPr lang="zh-CN" altLang="en-US" dirty="0" smtClean="0"/>
              <a:t>领养，</a:t>
            </a:r>
            <a:r>
              <a:rPr lang="zh-CN" altLang="en-US" dirty="0"/>
              <a:t>但</a:t>
            </a:r>
            <a:r>
              <a:rPr lang="en-US" altLang="zh-CN" dirty="0" err="1"/>
              <a:t>init</a:t>
            </a:r>
            <a:r>
              <a:rPr lang="zh-CN" altLang="en-US" dirty="0"/>
              <a:t>会周期性清理僵尸</a:t>
            </a:r>
          </a:p>
          <a:p>
            <a:pPr lvl="2"/>
            <a:r>
              <a:rPr lang="zh-CN" altLang="en-US" dirty="0" smtClean="0"/>
              <a:t>如果</a:t>
            </a:r>
            <a:r>
              <a:rPr lang="en-US" altLang="zh-CN" dirty="0" err="1"/>
              <a:t>init</a:t>
            </a:r>
            <a:r>
              <a:rPr lang="zh-CN" altLang="en-US" dirty="0"/>
              <a:t>的子进程结束，则</a:t>
            </a:r>
            <a:r>
              <a:rPr lang="en-US" altLang="zh-CN" dirty="0" err="1"/>
              <a:t>init</a:t>
            </a:r>
            <a:r>
              <a:rPr lang="zh-CN" altLang="en-US" dirty="0"/>
              <a:t>进程自动回收其资源，而不是让它变成僵尸</a:t>
            </a:r>
            <a:r>
              <a:rPr lang="zh-CN" altLang="en-US" dirty="0" smtClean="0"/>
              <a:t>进程</a:t>
            </a:r>
            <a:endParaRPr lang="en-US" altLang="zh-CN" dirty="0" smtClean="0"/>
          </a:p>
        </p:txBody>
      </p:sp>
      <p:sp>
        <p:nvSpPr>
          <p:cNvPr id="4" name="灯片编号占位符 3"/>
          <p:cNvSpPr>
            <a:spLocks noGrp="1"/>
          </p:cNvSpPr>
          <p:nvPr>
            <p:ph type="sldNum" sz="quarter" idx="12"/>
          </p:nvPr>
        </p:nvSpPr>
        <p:spPr/>
        <p:txBody>
          <a:bodyPr/>
          <a:lstStyle/>
          <a:p>
            <a:fld id="{4093CC90-4002-504C-BD88-C9A1D374048E}" type="slidenum">
              <a:rPr lang="zh-CN" altLang="en-US" smtClean="0"/>
              <a:pPr/>
              <a:t>59</a:t>
            </a:fld>
            <a:endParaRPr lang="zh-CN" altLang="en-US" dirty="0"/>
          </a:p>
        </p:txBody>
      </p:sp>
    </p:spTree>
    <p:extLst>
      <p:ext uri="{BB962C8B-B14F-4D97-AF65-F5344CB8AC3E}">
        <p14:creationId xmlns:p14="http://schemas.microsoft.com/office/powerpoint/2010/main" val="147743020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Linux</a:t>
            </a:r>
            <a:r>
              <a:rPr lang="zh-CN" altLang="en-US" dirty="0"/>
              <a:t>案例</a:t>
            </a:r>
          </a:p>
        </p:txBody>
      </p:sp>
      <p:sp>
        <p:nvSpPr>
          <p:cNvPr id="3" name="内容占位符 2"/>
          <p:cNvSpPr>
            <a:spLocks noGrp="1"/>
          </p:cNvSpPr>
          <p:nvPr>
            <p:ph idx="1"/>
          </p:nvPr>
        </p:nvSpPr>
        <p:spPr/>
        <p:txBody>
          <a:bodyPr/>
          <a:lstStyle/>
          <a:p>
            <a:r>
              <a:rPr lang="en-US" altLang="zh-CN" dirty="0" smtClean="0"/>
              <a:t>exec()</a:t>
            </a:r>
          </a:p>
          <a:p>
            <a:pPr lvl="1"/>
            <a:r>
              <a:rPr lang="zh-CN" altLang="en-US" dirty="0" smtClean="0"/>
              <a:t>有时创建</a:t>
            </a:r>
            <a:r>
              <a:rPr lang="zh-CN" altLang="en-US" dirty="0"/>
              <a:t>子</a:t>
            </a:r>
            <a:r>
              <a:rPr lang="zh-CN" altLang="en-US" dirty="0" smtClean="0"/>
              <a:t>进程</a:t>
            </a:r>
            <a:r>
              <a:rPr lang="zh-CN" altLang="en-US" dirty="0"/>
              <a:t>不是</a:t>
            </a:r>
            <a:r>
              <a:rPr lang="zh-CN" altLang="en-US" dirty="0" smtClean="0"/>
              <a:t>为了配合父进程，而是为了让它运行</a:t>
            </a:r>
            <a:r>
              <a:rPr lang="zh-CN" altLang="en-US" dirty="0"/>
              <a:t>另一个可执行</a:t>
            </a:r>
            <a:r>
              <a:rPr lang="zh-CN" altLang="en-US" dirty="0" smtClean="0"/>
              <a:t>文件</a:t>
            </a:r>
            <a:endParaRPr lang="en-US" altLang="zh-CN" dirty="0" smtClean="0"/>
          </a:p>
          <a:p>
            <a:pPr lvl="1"/>
            <a:r>
              <a:rPr lang="zh-CN" altLang="en-US" dirty="0" smtClean="0"/>
              <a:t>应在</a:t>
            </a:r>
            <a:r>
              <a:rPr lang="zh-CN" altLang="en-US" dirty="0"/>
              <a:t>子进程路径上调用</a:t>
            </a:r>
            <a:r>
              <a:rPr lang="en-US" altLang="zh-CN" dirty="0"/>
              <a:t>exec</a:t>
            </a:r>
            <a:r>
              <a:rPr lang="zh-CN" altLang="en-US" dirty="0"/>
              <a:t>系列</a:t>
            </a:r>
            <a:r>
              <a:rPr lang="zh-CN" altLang="en-US" dirty="0" smtClean="0"/>
              <a:t>函数</a:t>
            </a:r>
            <a:endParaRPr lang="en-US" altLang="zh-CN" dirty="0" smtClean="0"/>
          </a:p>
          <a:p>
            <a:pPr lvl="2"/>
            <a:r>
              <a:rPr lang="zh-CN" altLang="en-US" dirty="0" smtClean="0"/>
              <a:t>执行</a:t>
            </a:r>
            <a:r>
              <a:rPr lang="zh-CN" altLang="en-US" dirty="0"/>
              <a:t>后，子</a:t>
            </a:r>
            <a:r>
              <a:rPr lang="zh-CN" altLang="en-US" dirty="0" smtClean="0"/>
              <a:t>进程变身，面目全非</a:t>
            </a:r>
            <a:endParaRPr lang="en-US" altLang="zh-CN" dirty="0" smtClean="0"/>
          </a:p>
          <a:p>
            <a:pPr lvl="2"/>
            <a:r>
              <a:rPr lang="zh-CN" altLang="en-US" dirty="0" smtClean="0"/>
              <a:t>但</a:t>
            </a:r>
            <a:r>
              <a:rPr lang="zh-CN" altLang="en-US" dirty="0"/>
              <a:t>从父进程克隆来的打开的文件仍得</a:t>
            </a:r>
            <a:r>
              <a:rPr lang="zh-CN" altLang="en-US" dirty="0" smtClean="0"/>
              <a:t>保留</a:t>
            </a:r>
            <a:endParaRPr lang="en-US" altLang="zh-CN" dirty="0" smtClean="0"/>
          </a:p>
          <a:p>
            <a:pPr lvl="1"/>
            <a:r>
              <a:rPr lang="zh-CN" altLang="en-US" dirty="0" smtClean="0"/>
              <a:t>并非一</a:t>
            </a:r>
            <a:r>
              <a:rPr lang="zh-CN" altLang="en-US" dirty="0"/>
              <a:t>个函数，</a:t>
            </a:r>
            <a:r>
              <a:rPr lang="zh-CN" altLang="en-US" dirty="0" smtClean="0"/>
              <a:t>而是以</a:t>
            </a:r>
            <a:r>
              <a:rPr lang="en-US" altLang="zh-CN" dirty="0"/>
              <a:t>exec</a:t>
            </a:r>
            <a:r>
              <a:rPr lang="zh-CN" altLang="en-US" dirty="0"/>
              <a:t>开头的</a:t>
            </a:r>
            <a:r>
              <a:rPr lang="zh-CN" altLang="en-US" dirty="0" smtClean="0"/>
              <a:t>函数族</a:t>
            </a:r>
            <a:endParaRPr lang="en-US" altLang="zh-CN" dirty="0" smtClean="0"/>
          </a:p>
          <a:p>
            <a:pPr lvl="2"/>
            <a:r>
              <a:rPr lang="zh-CN" altLang="en-US" dirty="0" smtClean="0"/>
              <a:t>例：</a:t>
            </a:r>
            <a:r>
              <a:rPr lang="en-US" altLang="zh-CN" dirty="0" err="1"/>
              <a:t>int</a:t>
            </a:r>
            <a:r>
              <a:rPr lang="en-US" altLang="zh-CN" dirty="0"/>
              <a:t> </a:t>
            </a:r>
            <a:r>
              <a:rPr lang="en-US" altLang="zh-CN" dirty="0" err="1"/>
              <a:t>execlp</a:t>
            </a:r>
            <a:r>
              <a:rPr lang="en-US" altLang="zh-CN" dirty="0"/>
              <a:t>(</a:t>
            </a:r>
            <a:r>
              <a:rPr lang="en-US" altLang="zh-CN" dirty="0" err="1"/>
              <a:t>const</a:t>
            </a:r>
            <a:r>
              <a:rPr lang="en-US" altLang="zh-CN" dirty="0"/>
              <a:t> char *file, </a:t>
            </a:r>
            <a:r>
              <a:rPr lang="en-US" altLang="zh-CN" dirty="0" err="1"/>
              <a:t>const</a:t>
            </a:r>
            <a:r>
              <a:rPr lang="en-US" altLang="zh-CN" dirty="0"/>
              <a:t> char *</a:t>
            </a:r>
            <a:r>
              <a:rPr lang="en-US" altLang="zh-CN" dirty="0" err="1"/>
              <a:t>arg</a:t>
            </a:r>
            <a:r>
              <a:rPr lang="en-US" altLang="zh-CN" dirty="0"/>
              <a:t>, </a:t>
            </a:r>
            <a:r>
              <a:rPr lang="en-US" altLang="zh-CN" dirty="0" smtClean="0"/>
              <a:t>...);</a:t>
            </a:r>
          </a:p>
          <a:p>
            <a:pPr lvl="2"/>
            <a:r>
              <a:rPr lang="en-US" altLang="zh-CN" dirty="0"/>
              <a:t>file</a:t>
            </a:r>
            <a:r>
              <a:rPr lang="zh-CN" altLang="en-US" dirty="0"/>
              <a:t>是可执行文件路径，</a:t>
            </a:r>
            <a:r>
              <a:rPr lang="en-US" altLang="zh-CN" dirty="0" err="1"/>
              <a:t>arg</a:t>
            </a:r>
            <a:r>
              <a:rPr lang="zh-CN" altLang="en-US" dirty="0"/>
              <a:t>是程序名</a:t>
            </a:r>
          </a:p>
          <a:p>
            <a:pPr lvl="2"/>
            <a:r>
              <a:rPr lang="zh-CN" altLang="en-US" dirty="0"/>
              <a:t>后面是传递给程序的参数，最后一个必须是</a:t>
            </a:r>
            <a:r>
              <a:rPr lang="en-US" altLang="zh-CN" dirty="0"/>
              <a:t>NULL</a:t>
            </a:r>
          </a:p>
        </p:txBody>
      </p:sp>
      <p:sp>
        <p:nvSpPr>
          <p:cNvPr id="4" name="灯片编号占位符 3"/>
          <p:cNvSpPr>
            <a:spLocks noGrp="1"/>
          </p:cNvSpPr>
          <p:nvPr>
            <p:ph type="sldNum" sz="quarter" idx="12"/>
          </p:nvPr>
        </p:nvSpPr>
        <p:spPr/>
        <p:txBody>
          <a:bodyPr/>
          <a:lstStyle/>
          <a:p>
            <a:fld id="{4093CC90-4002-504C-BD88-C9A1D374048E}" type="slidenum">
              <a:rPr lang="zh-CN" altLang="en-US" smtClean="0"/>
              <a:pPr/>
              <a:t>60</a:t>
            </a:fld>
            <a:endParaRPr lang="zh-CN" altLang="en-US" dirty="0"/>
          </a:p>
        </p:txBody>
      </p:sp>
    </p:spTree>
    <p:extLst>
      <p:ext uri="{BB962C8B-B14F-4D97-AF65-F5344CB8AC3E}">
        <p14:creationId xmlns:p14="http://schemas.microsoft.com/office/powerpoint/2010/main" val="341011977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Linux</a:t>
            </a:r>
            <a:r>
              <a:rPr lang="zh-CN" altLang="en-US" dirty="0"/>
              <a:t>案例</a:t>
            </a:r>
          </a:p>
        </p:txBody>
      </p:sp>
      <p:sp>
        <p:nvSpPr>
          <p:cNvPr id="3" name="内容占位符 2"/>
          <p:cNvSpPr>
            <a:spLocks noGrp="1"/>
          </p:cNvSpPr>
          <p:nvPr>
            <p:ph idx="1"/>
          </p:nvPr>
        </p:nvSpPr>
        <p:spPr/>
        <p:txBody>
          <a:bodyPr/>
          <a:lstStyle/>
          <a:p>
            <a:r>
              <a:rPr lang="en-US" altLang="zh-CN" dirty="0" smtClean="0"/>
              <a:t>exec()</a:t>
            </a:r>
          </a:p>
        </p:txBody>
      </p:sp>
      <p:sp>
        <p:nvSpPr>
          <p:cNvPr id="4" name="灯片编号占位符 3"/>
          <p:cNvSpPr>
            <a:spLocks noGrp="1"/>
          </p:cNvSpPr>
          <p:nvPr>
            <p:ph type="sldNum" sz="quarter" idx="12"/>
          </p:nvPr>
        </p:nvSpPr>
        <p:spPr/>
        <p:txBody>
          <a:bodyPr/>
          <a:lstStyle/>
          <a:p>
            <a:fld id="{4093CC90-4002-504C-BD88-C9A1D374048E}" type="slidenum">
              <a:rPr lang="zh-CN" altLang="en-US" smtClean="0"/>
              <a:pPr/>
              <a:t>61</a:t>
            </a:fld>
            <a:endParaRPr lang="zh-CN" altLang="en-US" dirty="0"/>
          </a:p>
        </p:txBody>
      </p:sp>
      <p:sp>
        <p:nvSpPr>
          <p:cNvPr id="5" name="文本框 4"/>
          <p:cNvSpPr txBox="1"/>
          <p:nvPr/>
        </p:nvSpPr>
        <p:spPr>
          <a:xfrm>
            <a:off x="1842698" y="1852613"/>
            <a:ext cx="5957080" cy="4801314"/>
          </a:xfrm>
          <a:prstGeom prst="rect">
            <a:avLst/>
          </a:prstGeom>
          <a:noFill/>
        </p:spPr>
        <p:txBody>
          <a:bodyPr wrap="none" rtlCol="0">
            <a:spAutoFit/>
          </a:bodyPr>
          <a:lstStyle/>
          <a:p>
            <a:r>
              <a:rPr lang="en-US" altLang="zh-CN" dirty="0">
                <a:latin typeface="Consolas" panose="020B0609020204030204" pitchFamily="49" charset="0"/>
              </a:rPr>
              <a:t>#include &lt;sys/</a:t>
            </a:r>
            <a:r>
              <a:rPr lang="en-US" altLang="zh-CN" dirty="0" err="1">
                <a:latin typeface="Consolas" panose="020B0609020204030204" pitchFamily="49" charset="0"/>
              </a:rPr>
              <a:t>types.h</a:t>
            </a:r>
            <a:r>
              <a:rPr lang="en-US" altLang="zh-CN" dirty="0">
                <a:latin typeface="Consolas" panose="020B0609020204030204" pitchFamily="49" charset="0"/>
              </a:rPr>
              <a:t>&gt;</a:t>
            </a:r>
          </a:p>
          <a:p>
            <a:r>
              <a:rPr lang="en-US" altLang="zh-CN" dirty="0">
                <a:latin typeface="Consolas" panose="020B0609020204030204" pitchFamily="49" charset="0"/>
              </a:rPr>
              <a:t>#include &lt;</a:t>
            </a:r>
            <a:r>
              <a:rPr lang="en-US" altLang="zh-CN" dirty="0" err="1">
                <a:latin typeface="Consolas" panose="020B0609020204030204" pitchFamily="49" charset="0"/>
              </a:rPr>
              <a:t>stdio.h</a:t>
            </a:r>
            <a:r>
              <a:rPr lang="en-US" altLang="zh-CN" dirty="0">
                <a:latin typeface="Consolas" panose="020B0609020204030204" pitchFamily="49" charset="0"/>
              </a:rPr>
              <a:t>&gt;</a:t>
            </a:r>
          </a:p>
          <a:p>
            <a:r>
              <a:rPr lang="en-US" altLang="zh-CN" dirty="0">
                <a:latin typeface="Consolas" panose="020B0609020204030204" pitchFamily="49" charset="0"/>
              </a:rPr>
              <a:t>#include &lt;</a:t>
            </a:r>
            <a:r>
              <a:rPr lang="en-US" altLang="zh-CN" dirty="0" err="1">
                <a:latin typeface="Consolas" panose="020B0609020204030204" pitchFamily="49" charset="0"/>
              </a:rPr>
              <a:t>unistd.h</a:t>
            </a:r>
            <a:r>
              <a:rPr lang="en-US" altLang="zh-CN" dirty="0">
                <a:latin typeface="Consolas" panose="020B0609020204030204" pitchFamily="49" charset="0"/>
              </a:rPr>
              <a:t>&gt;</a:t>
            </a:r>
          </a:p>
          <a:p>
            <a:r>
              <a:rPr lang="en-US" altLang="zh-CN" dirty="0" err="1">
                <a:latin typeface="Consolas" panose="020B0609020204030204" pitchFamily="49" charset="0"/>
              </a:rPr>
              <a:t>int</a:t>
            </a:r>
            <a:r>
              <a:rPr lang="en-US" altLang="zh-CN" dirty="0">
                <a:latin typeface="Consolas" panose="020B0609020204030204" pitchFamily="49" charset="0"/>
              </a:rPr>
              <a:t> main() {</a:t>
            </a:r>
          </a:p>
          <a:p>
            <a:r>
              <a:rPr lang="en-US" altLang="zh-CN" dirty="0">
                <a:latin typeface="Consolas" panose="020B0609020204030204" pitchFamily="49" charset="0"/>
              </a:rPr>
              <a:t>	</a:t>
            </a:r>
            <a:r>
              <a:rPr lang="en-US" altLang="zh-CN" dirty="0" err="1">
                <a:latin typeface="Consolas" panose="020B0609020204030204" pitchFamily="49" charset="0"/>
              </a:rPr>
              <a:t>pid_t</a:t>
            </a:r>
            <a:r>
              <a:rPr lang="en-US" altLang="zh-CN" dirty="0">
                <a:latin typeface="Consolas" panose="020B0609020204030204" pitchFamily="49" charset="0"/>
              </a:rPr>
              <a:t> </a:t>
            </a:r>
            <a:r>
              <a:rPr lang="en-US" altLang="zh-CN" dirty="0" err="1">
                <a:latin typeface="Consolas" panose="020B0609020204030204" pitchFamily="49" charset="0"/>
              </a:rPr>
              <a:t>pid</a:t>
            </a:r>
            <a:r>
              <a:rPr lang="en-US" altLang="zh-CN" dirty="0">
                <a:latin typeface="Consolas" panose="020B0609020204030204" pitchFamily="49" charset="0"/>
              </a:rPr>
              <a:t>;</a:t>
            </a:r>
          </a:p>
          <a:p>
            <a:r>
              <a:rPr lang="en-US" altLang="zh-CN" dirty="0">
                <a:latin typeface="Consolas" panose="020B0609020204030204" pitchFamily="49" charset="0"/>
              </a:rPr>
              <a:t>	</a:t>
            </a:r>
            <a:r>
              <a:rPr lang="en-US" altLang="zh-CN" dirty="0" err="1">
                <a:latin typeface="Consolas" panose="020B0609020204030204" pitchFamily="49" charset="0"/>
              </a:rPr>
              <a:t>pid</a:t>
            </a:r>
            <a:r>
              <a:rPr lang="en-US" altLang="zh-CN" dirty="0">
                <a:latin typeface="Consolas" panose="020B0609020204030204" pitchFamily="49" charset="0"/>
              </a:rPr>
              <a:t> = fork();</a:t>
            </a:r>
          </a:p>
          <a:p>
            <a:r>
              <a:rPr lang="en-US" altLang="zh-CN" dirty="0">
                <a:latin typeface="Consolas" panose="020B0609020204030204" pitchFamily="49" charset="0"/>
              </a:rPr>
              <a:t>	if (</a:t>
            </a:r>
            <a:r>
              <a:rPr lang="en-US" altLang="zh-CN" dirty="0" err="1">
                <a:latin typeface="Consolas" panose="020B0609020204030204" pitchFamily="49" charset="0"/>
              </a:rPr>
              <a:t>pid</a:t>
            </a:r>
            <a:r>
              <a:rPr lang="en-US" altLang="zh-CN" dirty="0">
                <a:latin typeface="Consolas" panose="020B0609020204030204" pitchFamily="49" charset="0"/>
              </a:rPr>
              <a:t> &lt; 0) {</a:t>
            </a:r>
          </a:p>
          <a:p>
            <a:r>
              <a:rPr lang="en-US" altLang="zh-CN" dirty="0">
                <a:latin typeface="Consolas" panose="020B0609020204030204" pitchFamily="49" charset="0"/>
              </a:rPr>
              <a:t>		</a:t>
            </a:r>
            <a:r>
              <a:rPr lang="en-US" altLang="zh-CN" dirty="0" err="1">
                <a:latin typeface="Consolas" panose="020B0609020204030204" pitchFamily="49" charset="0"/>
              </a:rPr>
              <a:t>fprintf</a:t>
            </a:r>
            <a:r>
              <a:rPr lang="en-US" altLang="zh-CN" dirty="0">
                <a:latin typeface="Consolas" panose="020B0609020204030204" pitchFamily="49" charset="0"/>
              </a:rPr>
              <a:t>(</a:t>
            </a:r>
            <a:r>
              <a:rPr lang="en-US" altLang="zh-CN" dirty="0" err="1">
                <a:latin typeface="Consolas" panose="020B0609020204030204" pitchFamily="49" charset="0"/>
              </a:rPr>
              <a:t>stderr</a:t>
            </a:r>
            <a:r>
              <a:rPr lang="en-US" altLang="zh-CN" dirty="0">
                <a:latin typeface="Consolas" panose="020B0609020204030204" pitchFamily="49" charset="0"/>
              </a:rPr>
              <a:t>, "Fork Failed");</a:t>
            </a:r>
          </a:p>
          <a:p>
            <a:r>
              <a:rPr lang="en-US" altLang="zh-CN" dirty="0">
                <a:latin typeface="Consolas" panose="020B0609020204030204" pitchFamily="49" charset="0"/>
              </a:rPr>
              <a:t>		return 1;</a:t>
            </a:r>
          </a:p>
          <a:p>
            <a:r>
              <a:rPr lang="en-US" altLang="zh-CN" dirty="0">
                <a:latin typeface="Consolas" panose="020B0609020204030204" pitchFamily="49" charset="0"/>
              </a:rPr>
              <a:t>	</a:t>
            </a:r>
            <a:r>
              <a:rPr lang="en-US" altLang="zh-CN" dirty="0" smtClean="0">
                <a:latin typeface="Consolas" panose="020B0609020204030204" pitchFamily="49" charset="0"/>
              </a:rPr>
              <a:t>} else </a:t>
            </a:r>
            <a:r>
              <a:rPr lang="en-US" altLang="zh-CN" dirty="0">
                <a:latin typeface="Consolas" panose="020B0609020204030204" pitchFamily="49" charset="0"/>
              </a:rPr>
              <a:t>if (</a:t>
            </a:r>
            <a:r>
              <a:rPr lang="en-US" altLang="zh-CN" dirty="0" err="1">
                <a:latin typeface="Consolas" panose="020B0609020204030204" pitchFamily="49" charset="0"/>
              </a:rPr>
              <a:t>pid</a:t>
            </a:r>
            <a:r>
              <a:rPr lang="en-US" altLang="zh-CN" dirty="0">
                <a:latin typeface="Consolas" panose="020B0609020204030204" pitchFamily="49" charset="0"/>
              </a:rPr>
              <a:t> == 0) {</a:t>
            </a:r>
          </a:p>
          <a:p>
            <a:r>
              <a:rPr lang="en-US" altLang="zh-CN" dirty="0">
                <a:latin typeface="Consolas" panose="020B0609020204030204" pitchFamily="49" charset="0"/>
              </a:rPr>
              <a:t>		</a:t>
            </a:r>
            <a:r>
              <a:rPr lang="en-US" altLang="zh-CN" dirty="0" err="1">
                <a:latin typeface="Consolas" panose="020B0609020204030204" pitchFamily="49" charset="0"/>
              </a:rPr>
              <a:t>execlp</a:t>
            </a:r>
            <a:r>
              <a:rPr lang="en-US" altLang="zh-CN" dirty="0">
                <a:latin typeface="Consolas" panose="020B0609020204030204" pitchFamily="49" charset="0"/>
              </a:rPr>
              <a:t>("/bin/</a:t>
            </a:r>
            <a:r>
              <a:rPr lang="en-US" altLang="zh-CN" dirty="0" err="1">
                <a:latin typeface="Consolas" panose="020B0609020204030204" pitchFamily="49" charset="0"/>
              </a:rPr>
              <a:t>ls","ls",NULL</a:t>
            </a:r>
            <a:r>
              <a:rPr lang="en-US" altLang="zh-CN" dirty="0">
                <a:latin typeface="Consolas" panose="020B0609020204030204" pitchFamily="49" charset="0"/>
              </a:rPr>
              <a:t>);</a:t>
            </a:r>
          </a:p>
          <a:p>
            <a:r>
              <a:rPr lang="en-US" altLang="zh-CN" dirty="0">
                <a:latin typeface="Consolas" panose="020B0609020204030204" pitchFamily="49" charset="0"/>
              </a:rPr>
              <a:t>	</a:t>
            </a:r>
            <a:r>
              <a:rPr lang="en-US" altLang="zh-CN" dirty="0" smtClean="0">
                <a:latin typeface="Consolas" panose="020B0609020204030204" pitchFamily="49" charset="0"/>
              </a:rPr>
              <a:t>} else </a:t>
            </a:r>
            <a:r>
              <a:rPr lang="en-US" altLang="zh-CN" dirty="0">
                <a:latin typeface="Consolas" panose="020B0609020204030204" pitchFamily="49" charset="0"/>
              </a:rPr>
              <a:t>{</a:t>
            </a:r>
          </a:p>
          <a:p>
            <a:r>
              <a:rPr lang="en-US" altLang="zh-CN" dirty="0">
                <a:latin typeface="Consolas" panose="020B0609020204030204" pitchFamily="49" charset="0"/>
              </a:rPr>
              <a:t>		wait(NULL);</a:t>
            </a:r>
          </a:p>
          <a:p>
            <a:r>
              <a:rPr lang="en-US" altLang="zh-CN" dirty="0">
                <a:latin typeface="Consolas" panose="020B0609020204030204" pitchFamily="49" charset="0"/>
              </a:rPr>
              <a:t>		</a:t>
            </a:r>
            <a:r>
              <a:rPr lang="en-US" altLang="zh-CN" dirty="0" err="1">
                <a:latin typeface="Consolas" panose="020B0609020204030204" pitchFamily="49" charset="0"/>
              </a:rPr>
              <a:t>printf</a:t>
            </a:r>
            <a:r>
              <a:rPr lang="en-US" altLang="zh-CN" dirty="0">
                <a:latin typeface="Consolas" panose="020B0609020204030204" pitchFamily="49" charset="0"/>
              </a:rPr>
              <a:t>("Child Complete");</a:t>
            </a:r>
          </a:p>
          <a:p>
            <a:r>
              <a:rPr lang="en-US" altLang="zh-CN" dirty="0">
                <a:latin typeface="Consolas" panose="020B0609020204030204" pitchFamily="49" charset="0"/>
              </a:rPr>
              <a:t>	}</a:t>
            </a:r>
          </a:p>
          <a:p>
            <a:r>
              <a:rPr lang="en-US" altLang="zh-CN" dirty="0">
                <a:latin typeface="Consolas" panose="020B0609020204030204" pitchFamily="49" charset="0"/>
              </a:rPr>
              <a:t>	return 0;</a:t>
            </a:r>
          </a:p>
          <a:p>
            <a:r>
              <a:rPr lang="en-US" altLang="zh-CN" dirty="0">
                <a:latin typeface="Consolas" panose="020B0609020204030204" pitchFamily="49" charset="0"/>
              </a:rPr>
              <a:t>}</a:t>
            </a:r>
            <a:endParaRPr lang="zh-CN" altLang="en-US" dirty="0">
              <a:latin typeface="Consolas" panose="020B0609020204030204" pitchFamily="49" charset="0"/>
            </a:endParaRPr>
          </a:p>
        </p:txBody>
      </p:sp>
    </p:spTree>
    <p:extLst>
      <p:ext uri="{BB962C8B-B14F-4D97-AF65-F5344CB8AC3E}">
        <p14:creationId xmlns:p14="http://schemas.microsoft.com/office/powerpoint/2010/main" val="372764144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Windows</a:t>
            </a:r>
            <a:r>
              <a:rPr lang="zh-CN" altLang="en-US" dirty="0" smtClean="0"/>
              <a:t>案例</a:t>
            </a:r>
            <a:endParaRPr lang="zh-CN" altLang="en-US" dirty="0"/>
          </a:p>
        </p:txBody>
      </p:sp>
      <p:sp>
        <p:nvSpPr>
          <p:cNvPr id="4" name="灯片编号占位符 3"/>
          <p:cNvSpPr>
            <a:spLocks noGrp="1"/>
          </p:cNvSpPr>
          <p:nvPr>
            <p:ph type="sldNum" sz="quarter" idx="12"/>
          </p:nvPr>
        </p:nvSpPr>
        <p:spPr/>
        <p:txBody>
          <a:bodyPr/>
          <a:lstStyle/>
          <a:p>
            <a:fld id="{4093CC90-4002-504C-BD88-C9A1D374048E}" type="slidenum">
              <a:rPr lang="zh-CN" altLang="en-US" smtClean="0"/>
              <a:pPr/>
              <a:t>62</a:t>
            </a:fld>
            <a:endParaRPr lang="zh-CN" altLang="en-US" dirty="0"/>
          </a:p>
        </p:txBody>
      </p:sp>
      <p:sp>
        <p:nvSpPr>
          <p:cNvPr id="5" name="文本框 4"/>
          <p:cNvSpPr txBox="1"/>
          <p:nvPr/>
        </p:nvSpPr>
        <p:spPr>
          <a:xfrm>
            <a:off x="822882" y="1140738"/>
            <a:ext cx="7863917" cy="5632311"/>
          </a:xfrm>
          <a:prstGeom prst="rect">
            <a:avLst/>
          </a:prstGeom>
          <a:noFill/>
        </p:spPr>
        <p:txBody>
          <a:bodyPr wrap="square" rtlCol="0">
            <a:spAutoFit/>
          </a:bodyPr>
          <a:lstStyle/>
          <a:p>
            <a:r>
              <a:rPr lang="en-US" altLang="zh-CN" dirty="0">
                <a:latin typeface="Consolas" panose="020B0609020204030204" pitchFamily="49" charset="0"/>
              </a:rPr>
              <a:t>#include &lt;</a:t>
            </a:r>
            <a:r>
              <a:rPr lang="en-US" altLang="zh-CN" dirty="0" err="1">
                <a:latin typeface="Consolas" panose="020B0609020204030204" pitchFamily="49" charset="0"/>
              </a:rPr>
              <a:t>stdio.h</a:t>
            </a:r>
            <a:r>
              <a:rPr lang="en-US" altLang="zh-CN" dirty="0">
                <a:latin typeface="Consolas" panose="020B0609020204030204" pitchFamily="49" charset="0"/>
              </a:rPr>
              <a:t>&gt;</a:t>
            </a:r>
          </a:p>
          <a:p>
            <a:r>
              <a:rPr lang="en-US" altLang="zh-CN" dirty="0">
                <a:latin typeface="Consolas" panose="020B0609020204030204" pitchFamily="49" charset="0"/>
              </a:rPr>
              <a:t>#include &lt;</a:t>
            </a:r>
            <a:r>
              <a:rPr lang="en-US" altLang="zh-CN" dirty="0" err="1">
                <a:latin typeface="Consolas" panose="020B0609020204030204" pitchFamily="49" charset="0"/>
              </a:rPr>
              <a:t>windows.h</a:t>
            </a:r>
            <a:r>
              <a:rPr lang="en-US" altLang="zh-CN" dirty="0">
                <a:latin typeface="Consolas" panose="020B0609020204030204" pitchFamily="49" charset="0"/>
              </a:rPr>
              <a:t>&gt;</a:t>
            </a:r>
          </a:p>
          <a:p>
            <a:r>
              <a:rPr lang="en-US" altLang="zh-CN" dirty="0" err="1">
                <a:latin typeface="Consolas" panose="020B0609020204030204" pitchFamily="49" charset="0"/>
              </a:rPr>
              <a:t>int</a:t>
            </a:r>
            <a:r>
              <a:rPr lang="en-US" altLang="zh-CN" dirty="0">
                <a:latin typeface="Consolas" panose="020B0609020204030204" pitchFamily="49" charset="0"/>
              </a:rPr>
              <a:t> main</a:t>
            </a:r>
            <a:r>
              <a:rPr lang="en-US" altLang="zh-CN" dirty="0" smtClean="0">
                <a:latin typeface="Consolas" panose="020B0609020204030204" pitchFamily="49" charset="0"/>
              </a:rPr>
              <a:t>() </a:t>
            </a:r>
            <a:r>
              <a:rPr lang="en-US" altLang="zh-CN" dirty="0">
                <a:latin typeface="Consolas" panose="020B0609020204030204" pitchFamily="49" charset="0"/>
              </a:rPr>
              <a:t>{</a:t>
            </a:r>
          </a:p>
          <a:p>
            <a:r>
              <a:rPr lang="en-US" altLang="zh-CN" dirty="0">
                <a:latin typeface="Consolas" panose="020B0609020204030204" pitchFamily="49" charset="0"/>
              </a:rPr>
              <a:t>	STARTUPINFO </a:t>
            </a:r>
            <a:r>
              <a:rPr lang="en-US" altLang="zh-CN" dirty="0" err="1">
                <a:latin typeface="Consolas" panose="020B0609020204030204" pitchFamily="49" charset="0"/>
              </a:rPr>
              <a:t>si</a:t>
            </a:r>
            <a:r>
              <a:rPr lang="en-US" altLang="zh-CN" dirty="0">
                <a:latin typeface="Consolas" panose="020B0609020204030204" pitchFamily="49" charset="0"/>
              </a:rPr>
              <a:t>;</a:t>
            </a:r>
          </a:p>
          <a:p>
            <a:r>
              <a:rPr lang="en-US" altLang="zh-CN" dirty="0">
                <a:latin typeface="Consolas" panose="020B0609020204030204" pitchFamily="49" charset="0"/>
              </a:rPr>
              <a:t>	</a:t>
            </a:r>
            <a:r>
              <a:rPr lang="en-US" altLang="zh-CN" dirty="0" smtClean="0">
                <a:latin typeface="Consolas" panose="020B0609020204030204" pitchFamily="49" charset="0"/>
              </a:rPr>
              <a:t>PROCESS_INFORMATION </a:t>
            </a:r>
            <a:r>
              <a:rPr lang="en-US" altLang="zh-CN" dirty="0">
                <a:latin typeface="Consolas" panose="020B0609020204030204" pitchFamily="49" charset="0"/>
              </a:rPr>
              <a:t>pi;</a:t>
            </a:r>
          </a:p>
          <a:p>
            <a:r>
              <a:rPr lang="en-US" altLang="zh-CN" dirty="0">
                <a:latin typeface="Consolas" panose="020B0609020204030204" pitchFamily="49" charset="0"/>
              </a:rPr>
              <a:t>	</a:t>
            </a:r>
            <a:r>
              <a:rPr lang="en-US" altLang="zh-CN" dirty="0" err="1">
                <a:latin typeface="Consolas" panose="020B0609020204030204" pitchFamily="49" charset="0"/>
              </a:rPr>
              <a:t>ZeroMemory</a:t>
            </a:r>
            <a:r>
              <a:rPr lang="en-US" altLang="zh-CN" dirty="0">
                <a:latin typeface="Consolas" panose="020B0609020204030204" pitchFamily="49" charset="0"/>
              </a:rPr>
              <a:t>(&amp;</a:t>
            </a:r>
            <a:r>
              <a:rPr lang="en-US" altLang="zh-CN" dirty="0" err="1">
                <a:latin typeface="Consolas" panose="020B0609020204030204" pitchFamily="49" charset="0"/>
              </a:rPr>
              <a:t>si</a:t>
            </a:r>
            <a:r>
              <a:rPr lang="en-US" altLang="zh-CN" dirty="0">
                <a:latin typeface="Consolas" panose="020B0609020204030204" pitchFamily="49" charset="0"/>
              </a:rPr>
              <a:t>, </a:t>
            </a:r>
            <a:r>
              <a:rPr lang="en-US" altLang="zh-CN" dirty="0" err="1">
                <a:latin typeface="Consolas" panose="020B0609020204030204" pitchFamily="49" charset="0"/>
              </a:rPr>
              <a:t>sizeof</a:t>
            </a:r>
            <a:r>
              <a:rPr lang="en-US" altLang="zh-CN" dirty="0">
                <a:latin typeface="Consolas" panose="020B0609020204030204" pitchFamily="49" charset="0"/>
              </a:rPr>
              <a:t>(</a:t>
            </a:r>
            <a:r>
              <a:rPr lang="en-US" altLang="zh-CN" dirty="0" err="1">
                <a:latin typeface="Consolas" panose="020B0609020204030204" pitchFamily="49" charset="0"/>
              </a:rPr>
              <a:t>si</a:t>
            </a:r>
            <a:r>
              <a:rPr lang="en-US" altLang="zh-CN" dirty="0">
                <a:latin typeface="Consolas" panose="020B0609020204030204" pitchFamily="49" charset="0"/>
              </a:rPr>
              <a:t>));</a:t>
            </a:r>
          </a:p>
          <a:p>
            <a:r>
              <a:rPr lang="en-US" altLang="zh-CN" dirty="0">
                <a:latin typeface="Consolas" panose="020B0609020204030204" pitchFamily="49" charset="0"/>
              </a:rPr>
              <a:t>	</a:t>
            </a:r>
            <a:r>
              <a:rPr lang="en-US" altLang="zh-CN" dirty="0" err="1">
                <a:latin typeface="Consolas" panose="020B0609020204030204" pitchFamily="49" charset="0"/>
              </a:rPr>
              <a:t>si.cb</a:t>
            </a:r>
            <a:r>
              <a:rPr lang="en-US" altLang="zh-CN" dirty="0">
                <a:latin typeface="Consolas" panose="020B0609020204030204" pitchFamily="49" charset="0"/>
              </a:rPr>
              <a:t> = </a:t>
            </a:r>
            <a:r>
              <a:rPr lang="en-US" altLang="zh-CN" dirty="0" err="1">
                <a:latin typeface="Consolas" panose="020B0609020204030204" pitchFamily="49" charset="0"/>
              </a:rPr>
              <a:t>sizeof</a:t>
            </a:r>
            <a:r>
              <a:rPr lang="en-US" altLang="zh-CN" dirty="0">
                <a:latin typeface="Consolas" panose="020B0609020204030204" pitchFamily="49" charset="0"/>
              </a:rPr>
              <a:t>(</a:t>
            </a:r>
            <a:r>
              <a:rPr lang="en-US" altLang="zh-CN" dirty="0" err="1">
                <a:latin typeface="Consolas" panose="020B0609020204030204" pitchFamily="49" charset="0"/>
              </a:rPr>
              <a:t>si</a:t>
            </a:r>
            <a:r>
              <a:rPr lang="en-US" altLang="zh-CN" dirty="0">
                <a:latin typeface="Consolas" panose="020B0609020204030204" pitchFamily="49" charset="0"/>
              </a:rPr>
              <a:t>);</a:t>
            </a:r>
          </a:p>
          <a:p>
            <a:r>
              <a:rPr lang="en-US" altLang="zh-CN" dirty="0">
                <a:latin typeface="Consolas" panose="020B0609020204030204" pitchFamily="49" charset="0"/>
              </a:rPr>
              <a:t>	</a:t>
            </a:r>
            <a:r>
              <a:rPr lang="en-US" altLang="zh-CN" dirty="0" err="1">
                <a:latin typeface="Consolas" panose="020B0609020204030204" pitchFamily="49" charset="0"/>
              </a:rPr>
              <a:t>ZeroMemory</a:t>
            </a:r>
            <a:r>
              <a:rPr lang="en-US" altLang="zh-CN" dirty="0">
                <a:latin typeface="Consolas" panose="020B0609020204030204" pitchFamily="49" charset="0"/>
              </a:rPr>
              <a:t>(&amp;pi, </a:t>
            </a:r>
            <a:r>
              <a:rPr lang="en-US" altLang="zh-CN" dirty="0" err="1">
                <a:latin typeface="Consolas" panose="020B0609020204030204" pitchFamily="49" charset="0"/>
              </a:rPr>
              <a:t>sizeof</a:t>
            </a:r>
            <a:r>
              <a:rPr lang="en-US" altLang="zh-CN" dirty="0">
                <a:latin typeface="Consolas" panose="020B0609020204030204" pitchFamily="49" charset="0"/>
              </a:rPr>
              <a:t>(pi));</a:t>
            </a:r>
          </a:p>
          <a:p>
            <a:r>
              <a:rPr lang="en-US" altLang="zh-CN" dirty="0">
                <a:latin typeface="Consolas" panose="020B0609020204030204" pitchFamily="49" charset="0"/>
              </a:rPr>
              <a:t>	if (!</a:t>
            </a:r>
            <a:r>
              <a:rPr lang="en-US" altLang="zh-CN" dirty="0" err="1">
                <a:latin typeface="Consolas" panose="020B0609020204030204" pitchFamily="49" charset="0"/>
              </a:rPr>
              <a:t>CreateProcess</a:t>
            </a:r>
            <a:r>
              <a:rPr lang="en-US" altLang="zh-CN" dirty="0">
                <a:latin typeface="Consolas" panose="020B0609020204030204" pitchFamily="49" charset="0"/>
              </a:rPr>
              <a:t>(NULL</a:t>
            </a:r>
            <a:r>
              <a:rPr lang="en-US" altLang="zh-CN" dirty="0" smtClean="0">
                <a:latin typeface="Consolas" panose="020B0609020204030204" pitchFamily="49" charset="0"/>
              </a:rPr>
              <a:t>,</a:t>
            </a:r>
          </a:p>
          <a:p>
            <a:r>
              <a:rPr lang="en-US" altLang="zh-CN" dirty="0">
                <a:latin typeface="Consolas" panose="020B0609020204030204" pitchFamily="49" charset="0"/>
              </a:rPr>
              <a:t>	</a:t>
            </a:r>
            <a:r>
              <a:rPr lang="en-US" altLang="zh-CN" dirty="0" smtClean="0">
                <a:latin typeface="Consolas" panose="020B0609020204030204" pitchFamily="49" charset="0"/>
              </a:rPr>
              <a:t>	"</a:t>
            </a:r>
            <a:r>
              <a:rPr lang="en-US" altLang="zh-CN" dirty="0">
                <a:latin typeface="Consolas" panose="020B0609020204030204" pitchFamily="49" charset="0"/>
              </a:rPr>
              <a:t>C:\\WINDOWS\\system32\\mspaint.exe</a:t>
            </a:r>
            <a:r>
              <a:rPr lang="en-US" altLang="zh-CN" dirty="0" smtClean="0">
                <a:latin typeface="Consolas" panose="020B0609020204030204" pitchFamily="49" charset="0"/>
              </a:rPr>
              <a:t>",</a:t>
            </a:r>
            <a:endParaRPr lang="en-US" altLang="zh-CN" dirty="0">
              <a:latin typeface="Consolas" panose="020B0609020204030204" pitchFamily="49" charset="0"/>
            </a:endParaRPr>
          </a:p>
          <a:p>
            <a:r>
              <a:rPr lang="en-US" altLang="zh-CN" dirty="0">
                <a:latin typeface="Consolas" panose="020B0609020204030204" pitchFamily="49" charset="0"/>
              </a:rPr>
              <a:t>	</a:t>
            </a:r>
            <a:r>
              <a:rPr lang="en-US" altLang="zh-CN" dirty="0" smtClean="0">
                <a:latin typeface="Consolas" panose="020B0609020204030204" pitchFamily="49" charset="0"/>
              </a:rPr>
              <a:t>	NULL</a:t>
            </a:r>
            <a:r>
              <a:rPr lang="en-US" altLang="zh-CN" dirty="0">
                <a:latin typeface="Consolas" panose="020B0609020204030204" pitchFamily="49" charset="0"/>
              </a:rPr>
              <a:t>, </a:t>
            </a:r>
            <a:r>
              <a:rPr lang="en-US" altLang="zh-CN" dirty="0" smtClean="0">
                <a:latin typeface="Consolas" panose="020B0609020204030204" pitchFamily="49" charset="0"/>
              </a:rPr>
              <a:t>NULL</a:t>
            </a:r>
            <a:r>
              <a:rPr lang="en-US" altLang="zh-CN" dirty="0">
                <a:latin typeface="Consolas" panose="020B0609020204030204" pitchFamily="49" charset="0"/>
              </a:rPr>
              <a:t>, </a:t>
            </a:r>
            <a:r>
              <a:rPr lang="en-US" altLang="zh-CN" dirty="0" smtClean="0">
                <a:latin typeface="Consolas" panose="020B0609020204030204" pitchFamily="49" charset="0"/>
              </a:rPr>
              <a:t>FALSE</a:t>
            </a:r>
            <a:r>
              <a:rPr lang="en-US" altLang="zh-CN" dirty="0">
                <a:latin typeface="Consolas" panose="020B0609020204030204" pitchFamily="49" charset="0"/>
              </a:rPr>
              <a:t>, </a:t>
            </a:r>
            <a:r>
              <a:rPr lang="en-US" altLang="zh-CN" dirty="0" smtClean="0">
                <a:latin typeface="Consolas" panose="020B0609020204030204" pitchFamily="49" charset="0"/>
              </a:rPr>
              <a:t>0</a:t>
            </a:r>
            <a:r>
              <a:rPr lang="en-US" altLang="zh-CN" dirty="0">
                <a:latin typeface="Consolas" panose="020B0609020204030204" pitchFamily="49" charset="0"/>
              </a:rPr>
              <a:t>, </a:t>
            </a:r>
            <a:r>
              <a:rPr lang="en-US" altLang="zh-CN" dirty="0" smtClean="0">
                <a:latin typeface="Consolas" panose="020B0609020204030204" pitchFamily="49" charset="0"/>
              </a:rPr>
              <a:t>NULL</a:t>
            </a:r>
            <a:r>
              <a:rPr lang="en-US" altLang="zh-CN" dirty="0">
                <a:latin typeface="Consolas" panose="020B0609020204030204" pitchFamily="49" charset="0"/>
              </a:rPr>
              <a:t>, </a:t>
            </a:r>
            <a:r>
              <a:rPr lang="en-US" altLang="zh-CN" dirty="0" smtClean="0">
                <a:latin typeface="Consolas" panose="020B0609020204030204" pitchFamily="49" charset="0"/>
              </a:rPr>
              <a:t>NULL</a:t>
            </a:r>
            <a:r>
              <a:rPr lang="en-US" altLang="zh-CN" dirty="0">
                <a:latin typeface="Consolas" panose="020B0609020204030204" pitchFamily="49" charset="0"/>
              </a:rPr>
              <a:t>, </a:t>
            </a:r>
            <a:r>
              <a:rPr lang="en-US" altLang="zh-CN" dirty="0" smtClean="0">
                <a:latin typeface="Consolas" panose="020B0609020204030204" pitchFamily="49" charset="0"/>
              </a:rPr>
              <a:t>&amp;</a:t>
            </a:r>
            <a:r>
              <a:rPr lang="en-US" altLang="zh-CN" dirty="0" err="1">
                <a:latin typeface="Consolas" panose="020B0609020204030204" pitchFamily="49" charset="0"/>
              </a:rPr>
              <a:t>si</a:t>
            </a:r>
            <a:r>
              <a:rPr lang="en-US" altLang="zh-CN" dirty="0" smtClean="0">
                <a:latin typeface="Consolas" panose="020B0609020204030204" pitchFamily="49" charset="0"/>
              </a:rPr>
              <a:t>, &amp;</a:t>
            </a:r>
            <a:r>
              <a:rPr lang="en-US" altLang="zh-CN" dirty="0">
                <a:latin typeface="Consolas" panose="020B0609020204030204" pitchFamily="49" charset="0"/>
              </a:rPr>
              <a:t>pi</a:t>
            </a:r>
            <a:r>
              <a:rPr lang="en-US" altLang="zh-CN" dirty="0" smtClean="0">
                <a:latin typeface="Consolas" panose="020B0609020204030204" pitchFamily="49" charset="0"/>
              </a:rPr>
              <a:t>))</a:t>
            </a:r>
          </a:p>
          <a:p>
            <a:r>
              <a:rPr lang="en-US" altLang="zh-CN" dirty="0">
                <a:latin typeface="Consolas" panose="020B0609020204030204" pitchFamily="49" charset="0"/>
              </a:rPr>
              <a:t>	</a:t>
            </a:r>
            <a:r>
              <a:rPr lang="en-US" altLang="zh-CN" dirty="0" smtClean="0">
                <a:latin typeface="Consolas" panose="020B0609020204030204" pitchFamily="49" charset="0"/>
              </a:rPr>
              <a:t>{</a:t>
            </a:r>
            <a:endParaRPr lang="en-US" altLang="zh-CN" dirty="0">
              <a:latin typeface="Consolas" panose="020B0609020204030204" pitchFamily="49" charset="0"/>
            </a:endParaRPr>
          </a:p>
          <a:p>
            <a:r>
              <a:rPr lang="en-US" altLang="zh-CN" dirty="0">
                <a:latin typeface="Consolas" panose="020B0609020204030204" pitchFamily="49" charset="0"/>
              </a:rPr>
              <a:t>		</a:t>
            </a:r>
            <a:r>
              <a:rPr lang="en-US" altLang="zh-CN" dirty="0" err="1">
                <a:latin typeface="Consolas" panose="020B0609020204030204" pitchFamily="49" charset="0"/>
              </a:rPr>
              <a:t>fprintf</a:t>
            </a:r>
            <a:r>
              <a:rPr lang="en-US" altLang="zh-CN" dirty="0">
                <a:latin typeface="Consolas" panose="020B0609020204030204" pitchFamily="49" charset="0"/>
              </a:rPr>
              <a:t>(</a:t>
            </a:r>
            <a:r>
              <a:rPr lang="en-US" altLang="zh-CN" dirty="0" err="1">
                <a:latin typeface="Consolas" panose="020B0609020204030204" pitchFamily="49" charset="0"/>
              </a:rPr>
              <a:t>stderr</a:t>
            </a:r>
            <a:r>
              <a:rPr lang="en-US" altLang="zh-CN" dirty="0">
                <a:latin typeface="Consolas" panose="020B0609020204030204" pitchFamily="49" charset="0"/>
              </a:rPr>
              <a:t>, "Create Process Failed");</a:t>
            </a:r>
          </a:p>
          <a:p>
            <a:r>
              <a:rPr lang="en-US" altLang="zh-CN" dirty="0">
                <a:latin typeface="Consolas" panose="020B0609020204030204" pitchFamily="49" charset="0"/>
              </a:rPr>
              <a:t>		return -1;</a:t>
            </a:r>
          </a:p>
          <a:p>
            <a:r>
              <a:rPr lang="en-US" altLang="zh-CN" dirty="0">
                <a:latin typeface="Consolas" panose="020B0609020204030204" pitchFamily="49" charset="0"/>
              </a:rPr>
              <a:t>	}</a:t>
            </a:r>
          </a:p>
          <a:p>
            <a:r>
              <a:rPr lang="en-US" altLang="zh-CN" dirty="0">
                <a:latin typeface="Consolas" panose="020B0609020204030204" pitchFamily="49" charset="0"/>
              </a:rPr>
              <a:t>	</a:t>
            </a:r>
            <a:r>
              <a:rPr lang="en-US" altLang="zh-CN" dirty="0" err="1">
                <a:latin typeface="Consolas" panose="020B0609020204030204" pitchFamily="49" charset="0"/>
              </a:rPr>
              <a:t>WaitForSingleObject</a:t>
            </a:r>
            <a:r>
              <a:rPr lang="en-US" altLang="zh-CN" dirty="0">
                <a:latin typeface="Consolas" panose="020B0609020204030204" pitchFamily="49" charset="0"/>
              </a:rPr>
              <a:t>(</a:t>
            </a:r>
            <a:r>
              <a:rPr lang="en-US" altLang="zh-CN" dirty="0" err="1">
                <a:latin typeface="Consolas" panose="020B0609020204030204" pitchFamily="49" charset="0"/>
              </a:rPr>
              <a:t>pi.hProcess</a:t>
            </a:r>
            <a:r>
              <a:rPr lang="en-US" altLang="zh-CN" dirty="0">
                <a:latin typeface="Consolas" panose="020B0609020204030204" pitchFamily="49" charset="0"/>
              </a:rPr>
              <a:t>, INFINITE);</a:t>
            </a:r>
          </a:p>
          <a:p>
            <a:r>
              <a:rPr lang="en-US" altLang="zh-CN" dirty="0">
                <a:latin typeface="Consolas" panose="020B0609020204030204" pitchFamily="49" charset="0"/>
              </a:rPr>
              <a:t>	</a:t>
            </a:r>
            <a:r>
              <a:rPr lang="en-US" altLang="zh-CN" dirty="0" err="1">
                <a:latin typeface="Consolas" panose="020B0609020204030204" pitchFamily="49" charset="0"/>
              </a:rPr>
              <a:t>printf</a:t>
            </a:r>
            <a:r>
              <a:rPr lang="en-US" altLang="zh-CN" dirty="0">
                <a:latin typeface="Consolas" panose="020B0609020204030204" pitchFamily="49" charset="0"/>
              </a:rPr>
              <a:t>("Child Complete");</a:t>
            </a:r>
          </a:p>
          <a:p>
            <a:r>
              <a:rPr lang="en-US" altLang="zh-CN" dirty="0">
                <a:latin typeface="Consolas" panose="020B0609020204030204" pitchFamily="49" charset="0"/>
              </a:rPr>
              <a:t>	</a:t>
            </a:r>
            <a:r>
              <a:rPr lang="en-US" altLang="zh-CN" dirty="0" err="1">
                <a:latin typeface="Consolas" panose="020B0609020204030204" pitchFamily="49" charset="0"/>
              </a:rPr>
              <a:t>CloseHandle</a:t>
            </a:r>
            <a:r>
              <a:rPr lang="en-US" altLang="zh-CN" dirty="0">
                <a:latin typeface="Consolas" panose="020B0609020204030204" pitchFamily="49" charset="0"/>
              </a:rPr>
              <a:t>(</a:t>
            </a:r>
            <a:r>
              <a:rPr lang="en-US" altLang="zh-CN" dirty="0" err="1">
                <a:latin typeface="Consolas" panose="020B0609020204030204" pitchFamily="49" charset="0"/>
              </a:rPr>
              <a:t>pi.hProcess</a:t>
            </a:r>
            <a:r>
              <a:rPr lang="en-US" altLang="zh-CN" dirty="0">
                <a:latin typeface="Consolas" panose="020B0609020204030204" pitchFamily="49" charset="0"/>
              </a:rPr>
              <a:t>);</a:t>
            </a:r>
          </a:p>
          <a:p>
            <a:r>
              <a:rPr lang="en-US" altLang="zh-CN" dirty="0">
                <a:latin typeface="Consolas" panose="020B0609020204030204" pitchFamily="49" charset="0"/>
              </a:rPr>
              <a:t>	</a:t>
            </a:r>
            <a:r>
              <a:rPr lang="en-US" altLang="zh-CN" dirty="0" err="1">
                <a:latin typeface="Consolas" panose="020B0609020204030204" pitchFamily="49" charset="0"/>
              </a:rPr>
              <a:t>CloseHandle</a:t>
            </a:r>
            <a:r>
              <a:rPr lang="en-US" altLang="zh-CN" dirty="0">
                <a:latin typeface="Consolas" panose="020B0609020204030204" pitchFamily="49" charset="0"/>
              </a:rPr>
              <a:t>(</a:t>
            </a:r>
            <a:r>
              <a:rPr lang="en-US" altLang="zh-CN" dirty="0" err="1">
                <a:latin typeface="Consolas" panose="020B0609020204030204" pitchFamily="49" charset="0"/>
              </a:rPr>
              <a:t>pi.hThread</a:t>
            </a:r>
            <a:r>
              <a:rPr lang="en-US" altLang="zh-CN" dirty="0">
                <a:latin typeface="Consolas" panose="020B0609020204030204" pitchFamily="49" charset="0"/>
              </a:rPr>
              <a:t>);</a:t>
            </a:r>
          </a:p>
          <a:p>
            <a:r>
              <a:rPr lang="en-US" altLang="zh-CN" dirty="0">
                <a:latin typeface="Consolas" panose="020B0609020204030204" pitchFamily="49" charset="0"/>
              </a:rPr>
              <a:t>}</a:t>
            </a:r>
            <a:endParaRPr lang="zh-CN" altLang="en-US" dirty="0">
              <a:latin typeface="Consolas" panose="020B0609020204030204" pitchFamily="49" charset="0"/>
            </a:endParaRPr>
          </a:p>
        </p:txBody>
      </p:sp>
    </p:spTree>
    <p:extLst>
      <p:ext uri="{BB962C8B-B14F-4D97-AF65-F5344CB8AC3E}">
        <p14:creationId xmlns:p14="http://schemas.microsoft.com/office/powerpoint/2010/main" val="8599619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a:t>
            </a:r>
            <a:r>
              <a:rPr lang="en-US" altLang="zh-CN" dirty="0"/>
              <a:t>3</a:t>
            </a:r>
            <a:r>
              <a:rPr lang="zh-CN" altLang="en-US" dirty="0"/>
              <a:t>章 进程</a:t>
            </a:r>
          </a:p>
        </p:txBody>
      </p:sp>
      <p:sp>
        <p:nvSpPr>
          <p:cNvPr id="3" name="内容占位符 2"/>
          <p:cNvSpPr>
            <a:spLocks noGrp="1"/>
          </p:cNvSpPr>
          <p:nvPr>
            <p:ph idx="1"/>
          </p:nvPr>
        </p:nvSpPr>
        <p:spPr/>
        <p:txBody>
          <a:bodyPr/>
          <a:lstStyle/>
          <a:p>
            <a:r>
              <a:rPr lang="zh-CN" altLang="en-US" dirty="0"/>
              <a:t>本章内容</a:t>
            </a:r>
            <a:endParaRPr lang="en-US" altLang="zh-CN" dirty="0"/>
          </a:p>
          <a:p>
            <a:r>
              <a:rPr lang="en-US" altLang="zh-CN" dirty="0"/>
              <a:t>1.</a:t>
            </a:r>
            <a:r>
              <a:rPr lang="zh-CN" altLang="en-US" dirty="0"/>
              <a:t> 进程的概念</a:t>
            </a:r>
            <a:endParaRPr lang="zh-CN" altLang="zh-CN" dirty="0"/>
          </a:p>
          <a:p>
            <a:r>
              <a:rPr lang="en-US" altLang="zh-CN" dirty="0"/>
              <a:t>2.</a:t>
            </a:r>
            <a:r>
              <a:rPr lang="zh-CN" altLang="en-US" dirty="0"/>
              <a:t> 进程调度</a:t>
            </a:r>
            <a:endParaRPr lang="zh-CN" altLang="zh-CN" dirty="0"/>
          </a:p>
          <a:p>
            <a:r>
              <a:rPr lang="en-US" altLang="zh-CN" dirty="0"/>
              <a:t>3.</a:t>
            </a:r>
            <a:r>
              <a:rPr lang="zh-CN" altLang="en-US" dirty="0"/>
              <a:t> 进程操作</a:t>
            </a:r>
            <a:endParaRPr lang="en-US" altLang="zh-CN" dirty="0"/>
          </a:p>
          <a:p>
            <a:r>
              <a:rPr lang="en-US" altLang="zh-CN" dirty="0">
                <a:solidFill>
                  <a:srgbClr val="FF0000"/>
                </a:solidFill>
              </a:rPr>
              <a:t>4.</a:t>
            </a:r>
            <a:r>
              <a:rPr lang="zh-CN" altLang="en-US" dirty="0">
                <a:solidFill>
                  <a:srgbClr val="FF0000"/>
                </a:solidFill>
              </a:rPr>
              <a:t> 进程间通信</a:t>
            </a:r>
          </a:p>
        </p:txBody>
      </p:sp>
      <p:sp>
        <p:nvSpPr>
          <p:cNvPr id="4" name="灯片编号占位符 3"/>
          <p:cNvSpPr>
            <a:spLocks noGrp="1"/>
          </p:cNvSpPr>
          <p:nvPr>
            <p:ph type="sldNum" sz="quarter" idx="12"/>
          </p:nvPr>
        </p:nvSpPr>
        <p:spPr/>
        <p:txBody>
          <a:bodyPr/>
          <a:lstStyle/>
          <a:p>
            <a:fld id="{4093CC90-4002-504C-BD88-C9A1D374048E}" type="slidenum">
              <a:rPr lang="zh-CN" altLang="en-US" smtClean="0"/>
              <a:pPr/>
              <a:t>63</a:t>
            </a:fld>
            <a:endParaRPr lang="zh-CN" altLang="en-US" dirty="0"/>
          </a:p>
        </p:txBody>
      </p:sp>
    </p:spTree>
    <p:extLst>
      <p:ext uri="{BB962C8B-B14F-4D97-AF65-F5344CB8AC3E}">
        <p14:creationId xmlns:p14="http://schemas.microsoft.com/office/powerpoint/2010/main" val="124622467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进程通信的类型</a:t>
            </a:r>
          </a:p>
        </p:txBody>
      </p:sp>
      <p:sp>
        <p:nvSpPr>
          <p:cNvPr id="3" name="内容占位符 2"/>
          <p:cNvSpPr>
            <a:spLocks noGrp="1"/>
          </p:cNvSpPr>
          <p:nvPr>
            <p:ph idx="1"/>
          </p:nvPr>
        </p:nvSpPr>
        <p:spPr/>
        <p:txBody>
          <a:bodyPr/>
          <a:lstStyle/>
          <a:p>
            <a:r>
              <a:rPr lang="zh-CN" altLang="en-US" dirty="0">
                <a:solidFill>
                  <a:srgbClr val="FF0000"/>
                </a:solidFill>
              </a:rPr>
              <a:t>协作</a:t>
            </a:r>
            <a:r>
              <a:rPr lang="zh-CN" altLang="en-US" dirty="0"/>
              <a:t>进程间需要通信机制来交换信息</a:t>
            </a:r>
          </a:p>
          <a:p>
            <a:pPr lvl="1"/>
            <a:r>
              <a:rPr lang="zh-CN" altLang="en-US" dirty="0"/>
              <a:t>低级</a:t>
            </a:r>
            <a:r>
              <a:rPr lang="zh-CN" altLang="en-US" dirty="0" smtClean="0"/>
              <a:t>通信</a:t>
            </a:r>
            <a:endParaRPr lang="zh-CN" altLang="en-US" dirty="0"/>
          </a:p>
          <a:p>
            <a:pPr lvl="2"/>
            <a:r>
              <a:rPr lang="zh-CN" altLang="en-US" dirty="0"/>
              <a:t>交换的是控制信息，目的是控制进程的执行</a:t>
            </a:r>
          </a:p>
          <a:p>
            <a:pPr lvl="2"/>
            <a:r>
              <a:rPr lang="zh-CN" altLang="en-US" dirty="0"/>
              <a:t>进程互斥与</a:t>
            </a:r>
            <a:r>
              <a:rPr lang="zh-CN" altLang="en-US" dirty="0" smtClean="0"/>
              <a:t>同步（后续章节学习）</a:t>
            </a:r>
            <a:endParaRPr lang="zh-CN" altLang="en-US" dirty="0"/>
          </a:p>
          <a:p>
            <a:pPr lvl="2"/>
            <a:r>
              <a:rPr lang="en-US" altLang="zh-CN" dirty="0"/>
              <a:t>Linux</a:t>
            </a:r>
            <a:r>
              <a:rPr lang="zh-CN" altLang="en-US" dirty="0"/>
              <a:t>信号机制</a:t>
            </a:r>
          </a:p>
          <a:p>
            <a:pPr lvl="1"/>
            <a:r>
              <a:rPr lang="zh-CN" altLang="en-US" dirty="0"/>
              <a:t>高级</a:t>
            </a:r>
            <a:r>
              <a:rPr lang="zh-CN" altLang="en-US" dirty="0" smtClean="0"/>
              <a:t>通信</a:t>
            </a:r>
            <a:endParaRPr lang="zh-CN" altLang="en-US" dirty="0"/>
          </a:p>
          <a:p>
            <a:pPr lvl="2"/>
            <a:r>
              <a:rPr lang="zh-CN" altLang="en-US" dirty="0"/>
              <a:t>目的是传送数据，接收方可以看到、处理数据</a:t>
            </a:r>
          </a:p>
          <a:p>
            <a:pPr lvl="2"/>
            <a:r>
              <a:rPr lang="zh-CN" altLang="en-US" dirty="0"/>
              <a:t>共享存储器</a:t>
            </a:r>
            <a:r>
              <a:rPr lang="zh-CN" altLang="en-US" dirty="0" smtClean="0"/>
              <a:t>系统</a:t>
            </a:r>
            <a:r>
              <a:rPr lang="zh-CN" altLang="en-US" dirty="0"/>
              <a:t>（后续章节学习）</a:t>
            </a:r>
          </a:p>
          <a:p>
            <a:pPr lvl="2"/>
            <a:r>
              <a:rPr lang="zh-CN" altLang="en-US" dirty="0"/>
              <a:t>消息传递系统</a:t>
            </a:r>
          </a:p>
          <a:p>
            <a:pPr lvl="2"/>
            <a:r>
              <a:rPr lang="zh-CN" altLang="en-US" dirty="0"/>
              <a:t>管道通信系统或共享文件系统</a:t>
            </a:r>
          </a:p>
        </p:txBody>
      </p:sp>
      <p:sp>
        <p:nvSpPr>
          <p:cNvPr id="4" name="灯片编号占位符 3"/>
          <p:cNvSpPr>
            <a:spLocks noGrp="1"/>
          </p:cNvSpPr>
          <p:nvPr>
            <p:ph type="sldNum" sz="quarter" idx="12"/>
          </p:nvPr>
        </p:nvSpPr>
        <p:spPr/>
        <p:txBody>
          <a:bodyPr/>
          <a:lstStyle/>
          <a:p>
            <a:fld id="{4093CC90-4002-504C-BD88-C9A1D374048E}" type="slidenum">
              <a:rPr lang="zh-CN" altLang="en-US" smtClean="0"/>
              <a:pPr/>
              <a:t>64</a:t>
            </a:fld>
            <a:endParaRPr lang="zh-CN" altLang="en-US" dirty="0"/>
          </a:p>
        </p:txBody>
      </p:sp>
    </p:spTree>
    <p:extLst>
      <p:ext uri="{BB962C8B-B14F-4D97-AF65-F5344CB8AC3E}">
        <p14:creationId xmlns:p14="http://schemas.microsoft.com/office/powerpoint/2010/main" val="143702581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Linux</a:t>
            </a:r>
            <a:r>
              <a:rPr lang="zh-CN" altLang="en-US" dirty="0"/>
              <a:t>信号机制</a:t>
            </a:r>
          </a:p>
        </p:txBody>
      </p:sp>
      <p:sp>
        <p:nvSpPr>
          <p:cNvPr id="3" name="内容占位符 2"/>
          <p:cNvSpPr>
            <a:spLocks noGrp="1"/>
          </p:cNvSpPr>
          <p:nvPr>
            <p:ph idx="1"/>
          </p:nvPr>
        </p:nvSpPr>
        <p:spPr/>
        <p:txBody>
          <a:bodyPr/>
          <a:lstStyle/>
          <a:p>
            <a:r>
              <a:rPr lang="zh-CN" altLang="en-US" dirty="0"/>
              <a:t>自行搜索和学习</a:t>
            </a:r>
          </a:p>
          <a:p>
            <a:pPr lvl="1"/>
            <a:r>
              <a:rPr lang="zh-CN" altLang="en-US" dirty="0"/>
              <a:t>信号</a:t>
            </a:r>
            <a:r>
              <a:rPr lang="zh-CN" altLang="en-US" dirty="0" smtClean="0"/>
              <a:t>机制，</a:t>
            </a:r>
            <a:r>
              <a:rPr lang="en-US" altLang="zh-CN" dirty="0" smtClean="0"/>
              <a:t>SIGINT</a:t>
            </a:r>
            <a:r>
              <a:rPr lang="zh-CN" altLang="en-US" dirty="0"/>
              <a:t>和进程组</a:t>
            </a:r>
          </a:p>
          <a:p>
            <a:pPr lvl="1"/>
            <a:r>
              <a:rPr lang="en-US" altLang="zh-CN" dirty="0" smtClean="0"/>
              <a:t>kill()</a:t>
            </a:r>
            <a:r>
              <a:rPr lang="zh-CN" altLang="en-US" dirty="0" smtClean="0"/>
              <a:t>，</a:t>
            </a:r>
            <a:r>
              <a:rPr lang="en-US" altLang="zh-CN" dirty="0" smtClean="0"/>
              <a:t>raise</a:t>
            </a:r>
            <a:r>
              <a:rPr lang="en-US" altLang="zh-CN" dirty="0"/>
              <a:t>()</a:t>
            </a:r>
            <a:r>
              <a:rPr lang="zh-CN" altLang="en-US" dirty="0"/>
              <a:t>，</a:t>
            </a:r>
            <a:r>
              <a:rPr lang="en-US" altLang="zh-CN" dirty="0"/>
              <a:t>alarm()</a:t>
            </a:r>
            <a:r>
              <a:rPr lang="zh-CN" altLang="en-US" dirty="0"/>
              <a:t>，</a:t>
            </a:r>
            <a:r>
              <a:rPr lang="en-US" altLang="zh-CN" dirty="0" err="1"/>
              <a:t>setitimer</a:t>
            </a:r>
            <a:r>
              <a:rPr lang="en-US" altLang="zh-CN" dirty="0" smtClean="0"/>
              <a:t>()</a:t>
            </a:r>
          </a:p>
          <a:p>
            <a:pPr lvl="1"/>
            <a:r>
              <a:rPr lang="en-US" altLang="zh-CN" dirty="0"/>
              <a:t>signal</a:t>
            </a:r>
            <a:r>
              <a:rPr lang="en-US" altLang="zh-CN" dirty="0" smtClean="0"/>
              <a:t>()</a:t>
            </a:r>
            <a:r>
              <a:rPr lang="zh-CN" altLang="en-US" dirty="0" smtClean="0"/>
              <a:t>，</a:t>
            </a:r>
            <a:r>
              <a:rPr lang="en-US" altLang="zh-CN" dirty="0" err="1" smtClean="0"/>
              <a:t>sigaction</a:t>
            </a:r>
            <a:r>
              <a:rPr lang="en-US" altLang="zh-CN" dirty="0"/>
              <a:t>()</a:t>
            </a:r>
            <a:endParaRPr lang="zh-CN" altLang="en-US" dirty="0"/>
          </a:p>
          <a:p>
            <a:pPr lvl="1"/>
            <a:r>
              <a:rPr lang="zh-CN" altLang="en-US" dirty="0"/>
              <a:t>注意：信号机制（</a:t>
            </a:r>
            <a:r>
              <a:rPr lang="en-US" altLang="zh-CN" dirty="0"/>
              <a:t>signal</a:t>
            </a:r>
            <a:r>
              <a:rPr lang="zh-CN" altLang="en-US" dirty="0"/>
              <a:t>）与后面要讲的信号量（</a:t>
            </a:r>
            <a:r>
              <a:rPr lang="en-US" altLang="zh-CN" dirty="0"/>
              <a:t>semaphore</a:t>
            </a:r>
            <a:r>
              <a:rPr lang="zh-CN" altLang="en-US" dirty="0"/>
              <a:t>）完全</a:t>
            </a:r>
            <a:r>
              <a:rPr lang="zh-CN" altLang="en-US" dirty="0" smtClean="0"/>
              <a:t>无关</a:t>
            </a:r>
            <a:endParaRPr lang="zh-CN" altLang="en-US" dirty="0"/>
          </a:p>
          <a:p>
            <a:r>
              <a:rPr lang="zh-CN" altLang="en-US" dirty="0"/>
              <a:t>进一步的学习建议</a:t>
            </a:r>
          </a:p>
          <a:p>
            <a:pPr lvl="1"/>
            <a:r>
              <a:rPr lang="zh-CN" altLang="en-US" dirty="0"/>
              <a:t>进程组、会话、控制终端之间的关系</a:t>
            </a:r>
          </a:p>
          <a:p>
            <a:pPr lvl="1"/>
            <a:r>
              <a:rPr lang="zh-CN" altLang="en-US" dirty="0"/>
              <a:t>前台进程、后台进程和守护进程之间的</a:t>
            </a:r>
            <a:r>
              <a:rPr lang="zh-CN" altLang="en-US" dirty="0" smtClean="0"/>
              <a:t>差异</a:t>
            </a:r>
            <a:endParaRPr lang="zh-CN" altLang="en-US" dirty="0"/>
          </a:p>
        </p:txBody>
      </p:sp>
      <p:sp>
        <p:nvSpPr>
          <p:cNvPr id="4" name="灯片编号占位符 3"/>
          <p:cNvSpPr>
            <a:spLocks noGrp="1"/>
          </p:cNvSpPr>
          <p:nvPr>
            <p:ph type="sldNum" sz="quarter" idx="12"/>
          </p:nvPr>
        </p:nvSpPr>
        <p:spPr/>
        <p:txBody>
          <a:bodyPr/>
          <a:lstStyle/>
          <a:p>
            <a:fld id="{4093CC90-4002-504C-BD88-C9A1D374048E}" type="slidenum">
              <a:rPr lang="zh-CN" altLang="en-US" smtClean="0"/>
              <a:pPr/>
              <a:t>65</a:t>
            </a:fld>
            <a:endParaRPr lang="zh-CN" altLang="en-US" dirty="0"/>
          </a:p>
        </p:txBody>
      </p:sp>
    </p:spTree>
    <p:extLst>
      <p:ext uri="{BB962C8B-B14F-4D97-AF65-F5344CB8AC3E}">
        <p14:creationId xmlns:p14="http://schemas.microsoft.com/office/powerpoint/2010/main" val="14830168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Linux</a:t>
            </a:r>
            <a:r>
              <a:rPr lang="zh-CN" altLang="en-US" dirty="0" smtClean="0"/>
              <a:t>消息机制</a:t>
            </a:r>
            <a:endParaRPr lang="zh-CN" altLang="en-US" dirty="0"/>
          </a:p>
        </p:txBody>
      </p:sp>
      <p:sp>
        <p:nvSpPr>
          <p:cNvPr id="3" name="内容占位符 2"/>
          <p:cNvSpPr>
            <a:spLocks noGrp="1"/>
          </p:cNvSpPr>
          <p:nvPr>
            <p:ph idx="1"/>
          </p:nvPr>
        </p:nvSpPr>
        <p:spPr/>
        <p:txBody>
          <a:bodyPr/>
          <a:lstStyle/>
          <a:p>
            <a:r>
              <a:rPr lang="zh-CN" altLang="en-US" dirty="0"/>
              <a:t>自行搜索和学习</a:t>
            </a:r>
          </a:p>
          <a:p>
            <a:pPr lvl="1"/>
            <a:r>
              <a:rPr lang="zh-CN" altLang="en-US" dirty="0"/>
              <a:t>消息队列</a:t>
            </a:r>
            <a:r>
              <a:rPr lang="zh-CN" altLang="en-US" dirty="0" smtClean="0"/>
              <a:t>机制，阻塞与非阻塞模式</a:t>
            </a:r>
            <a:endParaRPr lang="zh-CN" altLang="en-US" dirty="0"/>
          </a:p>
          <a:p>
            <a:pPr lvl="1"/>
            <a:r>
              <a:rPr lang="en-US" altLang="zh-CN" dirty="0"/>
              <a:t>System V</a:t>
            </a:r>
          </a:p>
          <a:p>
            <a:pPr lvl="2"/>
            <a:r>
              <a:rPr lang="en-US" altLang="zh-CN" dirty="0" err="1"/>
              <a:t>msgget</a:t>
            </a:r>
            <a:r>
              <a:rPr lang="en-US" altLang="zh-CN" dirty="0"/>
              <a:t>()</a:t>
            </a:r>
            <a:r>
              <a:rPr lang="zh-CN" altLang="en-US" dirty="0"/>
              <a:t>，</a:t>
            </a:r>
            <a:r>
              <a:rPr lang="en-US" altLang="zh-CN" dirty="0" err="1"/>
              <a:t>msgctl</a:t>
            </a:r>
            <a:r>
              <a:rPr lang="en-US" altLang="zh-CN" dirty="0"/>
              <a:t>()</a:t>
            </a:r>
          </a:p>
          <a:p>
            <a:pPr lvl="2"/>
            <a:r>
              <a:rPr lang="en-US" altLang="zh-CN" dirty="0" err="1"/>
              <a:t>msgsnd</a:t>
            </a:r>
            <a:r>
              <a:rPr lang="en-US" altLang="zh-CN" dirty="0"/>
              <a:t>()</a:t>
            </a:r>
            <a:r>
              <a:rPr lang="zh-CN" altLang="en-US" dirty="0"/>
              <a:t>，</a:t>
            </a:r>
            <a:r>
              <a:rPr lang="en-US" altLang="zh-CN" dirty="0" err="1"/>
              <a:t>msgrev</a:t>
            </a:r>
            <a:r>
              <a:rPr lang="en-US" altLang="zh-CN" dirty="0"/>
              <a:t>()</a:t>
            </a:r>
            <a:r>
              <a:rPr lang="zh-CN" altLang="en-US" dirty="0"/>
              <a:t>，</a:t>
            </a:r>
            <a:r>
              <a:rPr lang="en-US" altLang="zh-CN" dirty="0" err="1"/>
              <a:t>msgflg</a:t>
            </a:r>
            <a:r>
              <a:rPr lang="zh-CN" altLang="en-US" dirty="0"/>
              <a:t>参数与阻塞设定</a:t>
            </a:r>
          </a:p>
          <a:p>
            <a:pPr lvl="1"/>
            <a:r>
              <a:rPr lang="en-US" altLang="zh-CN" dirty="0"/>
              <a:t>POSIX</a:t>
            </a:r>
          </a:p>
          <a:p>
            <a:pPr lvl="2"/>
            <a:r>
              <a:rPr lang="en-US" altLang="zh-CN" dirty="0" err="1"/>
              <a:t>mq_open</a:t>
            </a:r>
            <a:r>
              <a:rPr lang="en-US" altLang="zh-CN" dirty="0"/>
              <a:t>()</a:t>
            </a:r>
            <a:r>
              <a:rPr lang="zh-CN" altLang="en-US" dirty="0"/>
              <a:t>，</a:t>
            </a:r>
            <a:r>
              <a:rPr lang="en-US" altLang="zh-CN" dirty="0" err="1"/>
              <a:t>mq_close</a:t>
            </a:r>
            <a:r>
              <a:rPr lang="en-US" altLang="zh-CN" dirty="0"/>
              <a:t>()</a:t>
            </a:r>
            <a:r>
              <a:rPr lang="zh-CN" altLang="en-US" dirty="0"/>
              <a:t>，</a:t>
            </a:r>
            <a:r>
              <a:rPr lang="en-US" altLang="zh-CN" dirty="0" err="1"/>
              <a:t>mq_unlink</a:t>
            </a:r>
            <a:r>
              <a:rPr lang="en-US" altLang="zh-CN" dirty="0"/>
              <a:t>()</a:t>
            </a:r>
          </a:p>
          <a:p>
            <a:pPr lvl="2"/>
            <a:r>
              <a:rPr lang="en-US" altLang="zh-CN" dirty="0" err="1"/>
              <a:t>mq_getattr</a:t>
            </a:r>
            <a:r>
              <a:rPr lang="en-US" altLang="zh-CN" dirty="0"/>
              <a:t>()</a:t>
            </a:r>
            <a:r>
              <a:rPr lang="zh-CN" altLang="en-US" dirty="0"/>
              <a:t>，</a:t>
            </a:r>
            <a:r>
              <a:rPr lang="en-US" altLang="zh-CN" dirty="0" err="1"/>
              <a:t>mq_setattr</a:t>
            </a:r>
            <a:r>
              <a:rPr lang="en-US" altLang="zh-CN" dirty="0"/>
              <a:t>()</a:t>
            </a:r>
          </a:p>
          <a:p>
            <a:pPr lvl="2"/>
            <a:r>
              <a:rPr lang="en-US" altLang="zh-CN" dirty="0" err="1"/>
              <a:t>mq_send</a:t>
            </a:r>
            <a:r>
              <a:rPr lang="en-US" altLang="zh-CN" dirty="0"/>
              <a:t>()</a:t>
            </a:r>
            <a:r>
              <a:rPr lang="zh-CN" altLang="en-US" dirty="0"/>
              <a:t>，</a:t>
            </a:r>
            <a:r>
              <a:rPr lang="en-US" altLang="zh-CN" dirty="0" err="1"/>
              <a:t>mq_receive</a:t>
            </a:r>
            <a:r>
              <a:rPr lang="en-US" altLang="zh-CN" dirty="0"/>
              <a:t>()</a:t>
            </a:r>
            <a:r>
              <a:rPr lang="zh-CN" altLang="en-US" dirty="0"/>
              <a:t>，</a:t>
            </a:r>
            <a:r>
              <a:rPr lang="en-US" altLang="zh-CN" dirty="0" err="1"/>
              <a:t>mq_notify</a:t>
            </a:r>
            <a:r>
              <a:rPr lang="en-US" altLang="zh-CN" dirty="0"/>
              <a:t>()</a:t>
            </a:r>
            <a:endParaRPr lang="zh-CN" altLang="en-US" dirty="0"/>
          </a:p>
        </p:txBody>
      </p:sp>
      <p:sp>
        <p:nvSpPr>
          <p:cNvPr id="4" name="灯片编号占位符 3"/>
          <p:cNvSpPr>
            <a:spLocks noGrp="1"/>
          </p:cNvSpPr>
          <p:nvPr>
            <p:ph type="sldNum" sz="quarter" idx="12"/>
          </p:nvPr>
        </p:nvSpPr>
        <p:spPr/>
        <p:txBody>
          <a:bodyPr/>
          <a:lstStyle/>
          <a:p>
            <a:fld id="{4093CC90-4002-504C-BD88-C9A1D374048E}" type="slidenum">
              <a:rPr lang="zh-CN" altLang="en-US" smtClean="0"/>
              <a:pPr/>
              <a:t>66</a:t>
            </a:fld>
            <a:endParaRPr lang="zh-CN" altLang="en-US" dirty="0"/>
          </a:p>
        </p:txBody>
      </p:sp>
    </p:spTree>
    <p:extLst>
      <p:ext uri="{BB962C8B-B14F-4D97-AF65-F5344CB8AC3E}">
        <p14:creationId xmlns:p14="http://schemas.microsoft.com/office/powerpoint/2010/main" val="349860672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Linux</a:t>
            </a:r>
            <a:r>
              <a:rPr lang="zh-CN" altLang="en-US" dirty="0" smtClean="0"/>
              <a:t>管道机制</a:t>
            </a:r>
            <a:endParaRPr lang="zh-CN" altLang="en-US" dirty="0"/>
          </a:p>
        </p:txBody>
      </p:sp>
      <p:sp>
        <p:nvSpPr>
          <p:cNvPr id="3" name="内容占位符 2"/>
          <p:cNvSpPr>
            <a:spLocks noGrp="1"/>
          </p:cNvSpPr>
          <p:nvPr>
            <p:ph idx="1"/>
          </p:nvPr>
        </p:nvSpPr>
        <p:spPr/>
        <p:txBody>
          <a:bodyPr/>
          <a:lstStyle/>
          <a:p>
            <a:r>
              <a:rPr lang="zh-CN" altLang="en-US" dirty="0"/>
              <a:t>自行搜索和学习</a:t>
            </a:r>
          </a:p>
          <a:p>
            <a:pPr lvl="1"/>
            <a:r>
              <a:rPr lang="zh-CN" altLang="en-US" dirty="0" smtClean="0"/>
              <a:t>一般</a:t>
            </a:r>
            <a:r>
              <a:rPr lang="zh-CN" altLang="en-US" dirty="0"/>
              <a:t>的文件读写</a:t>
            </a:r>
          </a:p>
          <a:p>
            <a:pPr lvl="2"/>
            <a:r>
              <a:rPr lang="en-US" altLang="zh-CN" dirty="0"/>
              <a:t>open()</a:t>
            </a:r>
            <a:r>
              <a:rPr lang="zh-CN" altLang="en-US" dirty="0"/>
              <a:t>，</a:t>
            </a:r>
            <a:r>
              <a:rPr lang="en-US" altLang="zh-CN" dirty="0"/>
              <a:t>close()</a:t>
            </a:r>
            <a:r>
              <a:rPr lang="zh-CN" altLang="en-US" dirty="0"/>
              <a:t>，</a:t>
            </a:r>
            <a:r>
              <a:rPr lang="en-US" altLang="zh-CN" dirty="0"/>
              <a:t>read()</a:t>
            </a:r>
            <a:r>
              <a:rPr lang="zh-CN" altLang="en-US" dirty="0"/>
              <a:t>，</a:t>
            </a:r>
            <a:r>
              <a:rPr lang="en-US" altLang="zh-CN" dirty="0"/>
              <a:t>write</a:t>
            </a:r>
            <a:r>
              <a:rPr lang="en-US" altLang="zh-CN" dirty="0" smtClean="0"/>
              <a:t>()</a:t>
            </a:r>
            <a:r>
              <a:rPr lang="zh-CN" altLang="en-US" dirty="0" smtClean="0"/>
              <a:t>，</a:t>
            </a:r>
            <a:r>
              <a:rPr lang="zh-CN" altLang="en-US" dirty="0"/>
              <a:t>文件</a:t>
            </a:r>
            <a:r>
              <a:rPr lang="zh-CN" altLang="en-US" dirty="0" smtClean="0"/>
              <a:t>描述符</a:t>
            </a:r>
            <a:endParaRPr lang="en-US" altLang="zh-CN" dirty="0"/>
          </a:p>
          <a:p>
            <a:pPr lvl="1"/>
            <a:r>
              <a:rPr lang="zh-CN" altLang="en-US" dirty="0" smtClean="0"/>
              <a:t>匿名管道：</a:t>
            </a:r>
            <a:r>
              <a:rPr lang="en-US" altLang="zh-CN" dirty="0" smtClean="0"/>
              <a:t>pipe</a:t>
            </a:r>
            <a:r>
              <a:rPr lang="en-US" altLang="zh-CN" dirty="0"/>
              <a:t>()</a:t>
            </a:r>
          </a:p>
          <a:p>
            <a:pPr lvl="2"/>
            <a:r>
              <a:rPr lang="zh-CN" altLang="en-US" dirty="0"/>
              <a:t>阻塞条件，单方面关闭的后果</a:t>
            </a:r>
          </a:p>
          <a:p>
            <a:pPr lvl="1"/>
            <a:r>
              <a:rPr lang="zh-CN" altLang="en-US" dirty="0"/>
              <a:t>命名</a:t>
            </a:r>
            <a:r>
              <a:rPr lang="zh-CN" altLang="en-US" dirty="0" smtClean="0"/>
              <a:t>管道：</a:t>
            </a:r>
            <a:r>
              <a:rPr lang="en-US" altLang="zh-CN" dirty="0" err="1" smtClean="0"/>
              <a:t>mkfifo</a:t>
            </a:r>
            <a:r>
              <a:rPr lang="en-US" altLang="zh-CN" dirty="0"/>
              <a:t>()</a:t>
            </a:r>
            <a:r>
              <a:rPr lang="zh-CN" altLang="en-US" dirty="0"/>
              <a:t>，</a:t>
            </a:r>
            <a:r>
              <a:rPr lang="en-US" altLang="zh-CN" dirty="0"/>
              <a:t>unlink()</a:t>
            </a:r>
          </a:p>
          <a:p>
            <a:pPr lvl="2"/>
            <a:r>
              <a:rPr lang="zh-CN" altLang="en-US" dirty="0"/>
              <a:t>阻塞条件</a:t>
            </a:r>
          </a:p>
          <a:p>
            <a:r>
              <a:rPr lang="zh-CN" altLang="en-US" dirty="0"/>
              <a:t>进一步的学习建议</a:t>
            </a:r>
          </a:p>
          <a:p>
            <a:pPr lvl="1"/>
            <a:r>
              <a:rPr lang="en-US" altLang="zh-CN" dirty="0" err="1"/>
              <a:t>popen</a:t>
            </a:r>
            <a:r>
              <a:rPr lang="en-US" altLang="zh-CN" dirty="0"/>
              <a:t>()</a:t>
            </a:r>
            <a:r>
              <a:rPr lang="zh-CN" altLang="en-US" dirty="0"/>
              <a:t>，</a:t>
            </a:r>
            <a:r>
              <a:rPr lang="en-US" altLang="zh-CN" dirty="0" err="1"/>
              <a:t>pclose</a:t>
            </a:r>
            <a:r>
              <a:rPr lang="en-US" altLang="zh-CN" dirty="0"/>
              <a:t>()</a:t>
            </a:r>
            <a:endParaRPr lang="zh-CN" altLang="en-US" dirty="0"/>
          </a:p>
        </p:txBody>
      </p:sp>
      <p:sp>
        <p:nvSpPr>
          <p:cNvPr id="4" name="灯片编号占位符 3"/>
          <p:cNvSpPr>
            <a:spLocks noGrp="1"/>
          </p:cNvSpPr>
          <p:nvPr>
            <p:ph type="sldNum" sz="quarter" idx="12"/>
          </p:nvPr>
        </p:nvSpPr>
        <p:spPr/>
        <p:txBody>
          <a:bodyPr/>
          <a:lstStyle/>
          <a:p>
            <a:fld id="{4093CC90-4002-504C-BD88-C9A1D374048E}" type="slidenum">
              <a:rPr lang="zh-CN" altLang="en-US" smtClean="0"/>
              <a:pPr/>
              <a:t>67</a:t>
            </a:fld>
            <a:endParaRPr lang="zh-CN" altLang="en-US" dirty="0"/>
          </a:p>
        </p:txBody>
      </p:sp>
    </p:spTree>
    <p:extLst>
      <p:ext uri="{BB962C8B-B14F-4D97-AF65-F5344CB8AC3E}">
        <p14:creationId xmlns:p14="http://schemas.microsoft.com/office/powerpoint/2010/main" val="290397293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Rectangle 2">
            <a:extLst>
              <a:ext uri="{FF2B5EF4-FFF2-40B4-BE49-F238E27FC236}">
                <a16:creationId xmlns="" xmlns:a16="http://schemas.microsoft.com/office/drawing/2014/main" id="{9FC5B42E-4A28-8AE5-542C-A2F76982AB18}"/>
              </a:ext>
            </a:extLst>
          </p:cNvPr>
          <p:cNvSpPr>
            <a:spLocks noGrp="1" noChangeArrowheads="1"/>
          </p:cNvSpPr>
          <p:nvPr>
            <p:ph type="title"/>
          </p:nvPr>
        </p:nvSpPr>
        <p:spPr/>
        <p:txBody>
          <a:bodyPr/>
          <a:lstStyle/>
          <a:p>
            <a:pPr eaLnBrk="1" hangingPunct="1"/>
            <a:r>
              <a:rPr lang="zh-CN" altLang="en-US" dirty="0"/>
              <a:t>练习题</a:t>
            </a:r>
          </a:p>
        </p:txBody>
      </p:sp>
      <p:sp>
        <p:nvSpPr>
          <p:cNvPr id="113666" name="Rectangle 3">
            <a:extLst>
              <a:ext uri="{FF2B5EF4-FFF2-40B4-BE49-F238E27FC236}">
                <a16:creationId xmlns="" xmlns:a16="http://schemas.microsoft.com/office/drawing/2014/main" id="{76B03E0E-92C0-253A-EC5C-9F18AAA26BAA}"/>
              </a:ext>
            </a:extLst>
          </p:cNvPr>
          <p:cNvSpPr>
            <a:spLocks noGrp="1"/>
          </p:cNvSpPr>
          <p:nvPr>
            <p:ph idx="1"/>
          </p:nvPr>
        </p:nvSpPr>
        <p:spPr>
          <a:xfrm>
            <a:off x="482600" y="1073150"/>
            <a:ext cx="8410575" cy="5459413"/>
          </a:xfrm>
        </p:spPr>
        <p:txBody>
          <a:bodyPr>
            <a:normAutofit/>
          </a:bodyPr>
          <a:lstStyle/>
          <a:p>
            <a:pPr eaLnBrk="1" hangingPunct="1">
              <a:defRPr/>
            </a:pPr>
            <a:r>
              <a:rPr kumimoji="1" lang="en-US" sz="2000" noProof="1"/>
              <a:t>3.1 </a:t>
            </a:r>
            <a:r>
              <a:rPr kumimoji="1" sz="2000" noProof="1"/>
              <a:t>Using the program shown in </a:t>
            </a:r>
            <a:r>
              <a:rPr kumimoji="1" lang="en-US" sz="2000" noProof="1"/>
              <a:t>below</a:t>
            </a:r>
            <a:r>
              <a:rPr kumimoji="1" sz="2000" noProof="1"/>
              <a:t>, explain what the output will be at LINE A. </a:t>
            </a:r>
          </a:p>
          <a:p>
            <a:pPr eaLnBrk="1" hangingPunct="1">
              <a:defRPr/>
            </a:pPr>
            <a:endParaRPr kumimoji="1" noProof="1"/>
          </a:p>
          <a:p>
            <a:pPr eaLnBrk="1" hangingPunct="1">
              <a:defRPr/>
            </a:pPr>
            <a:endParaRPr kumimoji="1" noProof="1"/>
          </a:p>
        </p:txBody>
      </p:sp>
      <p:sp>
        <p:nvSpPr>
          <p:cNvPr id="2" name="灯片编号占位符 1">
            <a:extLst>
              <a:ext uri="{FF2B5EF4-FFF2-40B4-BE49-F238E27FC236}">
                <a16:creationId xmlns="" xmlns:a16="http://schemas.microsoft.com/office/drawing/2014/main" id="{E66474A1-4259-1BBA-DBB8-CD9B38ECBE4A}"/>
              </a:ext>
            </a:extLst>
          </p:cNvPr>
          <p:cNvSpPr>
            <a:spLocks noGrp="1"/>
          </p:cNvSpPr>
          <p:nvPr>
            <p:ph type="sldNum" sz="quarter" idx="12"/>
          </p:nvPr>
        </p:nvSpPr>
        <p:spPr/>
        <p:txBody>
          <a:bodyPr/>
          <a:lstStyle/>
          <a:p>
            <a:fld id="{4093CC90-4002-504C-BD88-C9A1D374048E}" type="slidenum">
              <a:rPr lang="zh-CN" altLang="en-US" smtClean="0"/>
              <a:pPr/>
              <a:t>68</a:t>
            </a:fld>
            <a:endParaRPr lang="zh-CN" altLang="en-US" dirty="0"/>
          </a:p>
        </p:txBody>
      </p:sp>
      <p:pic>
        <p:nvPicPr>
          <p:cNvPr id="3" name="图片 2">
            <a:extLst>
              <a:ext uri="{FF2B5EF4-FFF2-40B4-BE49-F238E27FC236}">
                <a16:creationId xmlns="" xmlns:a16="http://schemas.microsoft.com/office/drawing/2014/main" id="{F717F33E-CEE3-92BC-BFB0-52B75EED5E76}"/>
              </a:ext>
            </a:extLst>
          </p:cNvPr>
          <p:cNvPicPr>
            <a:picLocks noChangeAspect="1"/>
          </p:cNvPicPr>
          <p:nvPr/>
        </p:nvPicPr>
        <p:blipFill>
          <a:blip r:embed="rId2"/>
          <a:stretch>
            <a:fillRect/>
          </a:stretch>
        </p:blipFill>
        <p:spPr>
          <a:xfrm>
            <a:off x="1547664" y="1772816"/>
            <a:ext cx="5686400" cy="4939609"/>
          </a:xfrm>
          <a:prstGeom prst="rect">
            <a:avLst/>
          </a:prstGeom>
        </p:spPr>
      </p:pic>
    </p:spTree>
    <p:extLst>
      <p:ext uri="{BB962C8B-B14F-4D97-AF65-F5344CB8AC3E}">
        <p14:creationId xmlns:p14="http://schemas.microsoft.com/office/powerpoint/2010/main" val="22280452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5" name="标题 1">
            <a:extLst>
              <a:ext uri="{FF2B5EF4-FFF2-40B4-BE49-F238E27FC236}">
                <a16:creationId xmlns="" xmlns:a16="http://schemas.microsoft.com/office/drawing/2014/main" id="{DE623A99-6A3D-15C6-DF18-F87471E9BA09}"/>
              </a:ext>
            </a:extLst>
          </p:cNvPr>
          <p:cNvSpPr>
            <a:spLocks noGrp="1" noChangeArrowheads="1"/>
          </p:cNvSpPr>
          <p:nvPr>
            <p:ph type="title"/>
          </p:nvPr>
        </p:nvSpPr>
        <p:spPr/>
        <p:txBody>
          <a:bodyPr/>
          <a:lstStyle/>
          <a:p>
            <a:r>
              <a:rPr lang="zh-CN" altLang="en-US" dirty="0"/>
              <a:t>练习题</a:t>
            </a:r>
            <a:endParaRPr lang="en-US" altLang="zh-CN" dirty="0"/>
          </a:p>
        </p:txBody>
      </p:sp>
      <p:sp>
        <p:nvSpPr>
          <p:cNvPr id="118786" name="内容占位符 2">
            <a:extLst>
              <a:ext uri="{FF2B5EF4-FFF2-40B4-BE49-F238E27FC236}">
                <a16:creationId xmlns="" xmlns:a16="http://schemas.microsoft.com/office/drawing/2014/main" id="{A7D89F0D-B8F1-0D34-867E-9BB728D75935}"/>
              </a:ext>
            </a:extLst>
          </p:cNvPr>
          <p:cNvSpPr>
            <a:spLocks noGrp="1" noChangeArrowheads="1"/>
          </p:cNvSpPr>
          <p:nvPr>
            <p:ph idx="1"/>
          </p:nvPr>
        </p:nvSpPr>
        <p:spPr>
          <a:xfrm>
            <a:off x="176213" y="1216025"/>
            <a:ext cx="8716962" cy="838200"/>
          </a:xfrm>
        </p:spPr>
        <p:txBody>
          <a:bodyPr>
            <a:normAutofit fontScale="92500"/>
          </a:bodyPr>
          <a:lstStyle/>
          <a:p>
            <a:r>
              <a:rPr lang="en-US" altLang="zh-CN" sz="2400"/>
              <a:t>3.2 </a:t>
            </a:r>
            <a:r>
              <a:rPr lang="zh-CN" altLang="en-US" sz="2400"/>
              <a:t>Including the initial parent process, how many processes are created by the program shown in Figure 3.31?</a:t>
            </a:r>
          </a:p>
        </p:txBody>
      </p:sp>
      <p:pic>
        <p:nvPicPr>
          <p:cNvPr id="118787" name="图片 4">
            <a:extLst>
              <a:ext uri="{FF2B5EF4-FFF2-40B4-BE49-F238E27FC236}">
                <a16:creationId xmlns="" xmlns:a16="http://schemas.microsoft.com/office/drawing/2014/main" id="{F0211994-3E56-8108-1F75-5AFFA48E0476}"/>
              </a:ext>
            </a:extLst>
          </p:cNvPr>
          <p:cNvPicPr>
            <a:picLocks noChangeAspect="1" noChangeArrowheads="1"/>
          </p:cNvPicPr>
          <p:nvPr>
            <p:custDataLst>
              <p:tags r:id="rId1"/>
            </p:custDataLst>
          </p:nvPr>
        </p:nvPicPr>
        <p:blipFill>
          <a:blip r:embed="rId3">
            <a:extLst>
              <a:ext uri="{28A0092B-C50C-407E-A947-70E740481C1C}">
                <a14:useLocalDpi xmlns:a14="http://schemas.microsoft.com/office/drawing/2010/main" val="0"/>
              </a:ext>
            </a:extLst>
          </a:blip>
          <a:srcRect/>
          <a:stretch>
            <a:fillRect/>
          </a:stretch>
        </p:blipFill>
        <p:spPr bwMode="auto">
          <a:xfrm>
            <a:off x="1016000" y="2139950"/>
            <a:ext cx="6970713" cy="428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灯片编号占位符 3">
            <a:extLst>
              <a:ext uri="{FF2B5EF4-FFF2-40B4-BE49-F238E27FC236}">
                <a16:creationId xmlns="" xmlns:a16="http://schemas.microsoft.com/office/drawing/2014/main" id="{9769B73F-2BB0-7861-9B27-03BDF0D80489}"/>
              </a:ext>
            </a:extLst>
          </p:cNvPr>
          <p:cNvSpPr>
            <a:spLocks noGrp="1"/>
          </p:cNvSpPr>
          <p:nvPr>
            <p:ph type="sldNum" sz="quarter" idx="12"/>
          </p:nvPr>
        </p:nvSpPr>
        <p:spPr/>
        <p:txBody>
          <a:bodyPr/>
          <a:lstStyle/>
          <a:p>
            <a:fld id="{4093CC90-4002-504C-BD88-C9A1D374048E}" type="slidenum">
              <a:rPr lang="zh-CN" altLang="en-US" smtClean="0"/>
              <a:pPr/>
              <a:t>69</a:t>
            </a:fld>
            <a:endParaRPr lang="zh-CN" altLang="en-US" dirty="0"/>
          </a:p>
        </p:txBody>
      </p:sp>
    </p:spTree>
    <p:extLst>
      <p:ext uri="{BB962C8B-B14F-4D97-AF65-F5344CB8AC3E}">
        <p14:creationId xmlns:p14="http://schemas.microsoft.com/office/powerpoint/2010/main" val="367872852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09" name="Rectangle 2">
            <a:extLst>
              <a:ext uri="{FF2B5EF4-FFF2-40B4-BE49-F238E27FC236}">
                <a16:creationId xmlns="" xmlns:a16="http://schemas.microsoft.com/office/drawing/2014/main" id="{84F348EA-122F-F3B7-AD12-75832874C8F4}"/>
              </a:ext>
            </a:extLst>
          </p:cNvPr>
          <p:cNvSpPr>
            <a:spLocks noGrp="1" noChangeArrowheads="1"/>
          </p:cNvSpPr>
          <p:nvPr>
            <p:ph type="title"/>
          </p:nvPr>
        </p:nvSpPr>
        <p:spPr/>
        <p:txBody>
          <a:bodyPr/>
          <a:lstStyle/>
          <a:p>
            <a:pPr eaLnBrk="1" hangingPunct="1"/>
            <a:r>
              <a:rPr lang="zh-CN" altLang="en-US"/>
              <a:t>选择题</a:t>
            </a:r>
            <a:r>
              <a:rPr lang="en-US" altLang="zh-CN"/>
              <a:t>1</a:t>
            </a:r>
          </a:p>
        </p:txBody>
      </p:sp>
      <p:sp>
        <p:nvSpPr>
          <p:cNvPr id="119810" name="Rectangle 3">
            <a:extLst>
              <a:ext uri="{FF2B5EF4-FFF2-40B4-BE49-F238E27FC236}">
                <a16:creationId xmlns="" xmlns:a16="http://schemas.microsoft.com/office/drawing/2014/main" id="{97A9DEC9-1B1C-9DCF-3C06-A48FC9278595}"/>
              </a:ext>
            </a:extLst>
          </p:cNvPr>
          <p:cNvSpPr>
            <a:spLocks noGrp="1" noChangeArrowheads="1"/>
          </p:cNvSpPr>
          <p:nvPr>
            <p:ph idx="1"/>
          </p:nvPr>
        </p:nvSpPr>
        <p:spPr>
          <a:xfrm>
            <a:off x="1066800" y="1196975"/>
            <a:ext cx="7772400" cy="4953000"/>
          </a:xfrm>
        </p:spPr>
        <p:txBody>
          <a:bodyPr/>
          <a:lstStyle/>
          <a:p>
            <a:pPr algn="just" eaLnBrk="1" hangingPunct="1"/>
            <a:r>
              <a:rPr lang="zh-CN" altLang="en-US" dirty="0">
                <a:latin typeface="Times New Roman" panose="02020603050405020304" pitchFamily="18" charset="0"/>
              </a:rPr>
              <a:t>对进程的管理和控制使用</a:t>
            </a:r>
            <a:r>
              <a:rPr lang="zh-CN" altLang="en-US" dirty="0"/>
              <a:t>_____</a:t>
            </a:r>
            <a:r>
              <a:rPr lang="zh-CN" altLang="en-US" dirty="0">
                <a:latin typeface="Times New Roman" panose="02020603050405020304" pitchFamily="18" charset="0"/>
              </a:rPr>
              <a:t>。</a:t>
            </a:r>
            <a:endParaRPr lang="zh-CN" altLang="en-US" dirty="0"/>
          </a:p>
          <a:p>
            <a:pPr lvl="1" algn="just" eaLnBrk="1" hangingPunct="1">
              <a:buFont typeface="Wingdings" pitchFamily="2" charset="2"/>
              <a:buNone/>
            </a:pPr>
            <a:r>
              <a:rPr lang="en-US" altLang="zh-CN" dirty="0"/>
              <a:t>A. </a:t>
            </a:r>
            <a:r>
              <a:rPr lang="zh-CN" altLang="en-US" dirty="0">
                <a:latin typeface="Times New Roman" panose="02020603050405020304" pitchFamily="18" charset="0"/>
              </a:rPr>
              <a:t>指令</a:t>
            </a:r>
            <a:r>
              <a:rPr lang="zh-CN" altLang="en-US" dirty="0"/>
              <a:t>                  </a:t>
            </a:r>
            <a:r>
              <a:rPr lang="en-US" altLang="zh-CN" dirty="0"/>
              <a:t>B. </a:t>
            </a:r>
            <a:r>
              <a:rPr lang="zh-CN" altLang="en-US" dirty="0">
                <a:latin typeface="Times New Roman" panose="02020603050405020304" pitchFamily="18" charset="0"/>
              </a:rPr>
              <a:t>信号量</a:t>
            </a:r>
            <a:endParaRPr lang="zh-CN" altLang="en-US" dirty="0"/>
          </a:p>
          <a:p>
            <a:pPr lvl="1" algn="just" eaLnBrk="1" hangingPunct="1">
              <a:buFont typeface="Wingdings" pitchFamily="2" charset="2"/>
              <a:buNone/>
            </a:pPr>
            <a:r>
              <a:rPr lang="en-US" altLang="zh-CN" dirty="0"/>
              <a:t>C.</a:t>
            </a:r>
            <a:r>
              <a:rPr lang="zh-CN" altLang="en-US" dirty="0"/>
              <a:t> </a:t>
            </a:r>
            <a:r>
              <a:rPr lang="zh-CN" altLang="en-US" dirty="0">
                <a:latin typeface="Times New Roman" panose="02020603050405020304" pitchFamily="18" charset="0"/>
              </a:rPr>
              <a:t>原语</a:t>
            </a:r>
            <a:r>
              <a:rPr lang="zh-CN" altLang="en-US" dirty="0"/>
              <a:t>                  </a:t>
            </a:r>
            <a:r>
              <a:rPr lang="en-US" altLang="zh-CN" dirty="0"/>
              <a:t>D.</a:t>
            </a:r>
            <a:r>
              <a:rPr lang="zh-CN" altLang="en-US" dirty="0"/>
              <a:t> </a:t>
            </a:r>
            <a:r>
              <a:rPr lang="zh-CN" altLang="en-US" dirty="0">
                <a:latin typeface="Times New Roman" panose="02020603050405020304" pitchFamily="18" charset="0"/>
              </a:rPr>
              <a:t>信箱</a:t>
            </a:r>
            <a:endParaRPr lang="zh-CN" altLang="en-US" dirty="0"/>
          </a:p>
          <a:p>
            <a:pPr algn="just" eaLnBrk="1" hangingPunct="1"/>
            <a:r>
              <a:rPr lang="zh-CN" altLang="en-US" dirty="0">
                <a:latin typeface="Times New Roman" panose="02020603050405020304" pitchFamily="18" charset="0"/>
              </a:rPr>
              <a:t>分配到必要的资源并获得处理机时的进程状态是</a:t>
            </a:r>
            <a:r>
              <a:rPr lang="zh-CN" altLang="en-US" dirty="0"/>
              <a:t>_____</a:t>
            </a:r>
            <a:r>
              <a:rPr lang="zh-CN" altLang="en-US" dirty="0">
                <a:latin typeface="Times New Roman" panose="02020603050405020304" pitchFamily="18" charset="0"/>
              </a:rPr>
              <a:t>。</a:t>
            </a:r>
            <a:endParaRPr lang="zh-CN" altLang="en-US" dirty="0"/>
          </a:p>
          <a:p>
            <a:pPr lvl="1" algn="just" eaLnBrk="1" hangingPunct="1">
              <a:buFont typeface="Wingdings" pitchFamily="2" charset="2"/>
              <a:buNone/>
            </a:pPr>
            <a:r>
              <a:rPr lang="en-US" altLang="zh-CN" dirty="0"/>
              <a:t>A. </a:t>
            </a:r>
            <a:r>
              <a:rPr lang="zh-CN" altLang="en-US" dirty="0">
                <a:latin typeface="Times New Roman" panose="02020603050405020304" pitchFamily="18" charset="0"/>
              </a:rPr>
              <a:t>就绪状态</a:t>
            </a:r>
            <a:r>
              <a:rPr lang="zh-CN" altLang="en-US" dirty="0"/>
              <a:t>               </a:t>
            </a:r>
            <a:r>
              <a:rPr lang="en-US" altLang="zh-CN" dirty="0"/>
              <a:t>B.</a:t>
            </a:r>
            <a:r>
              <a:rPr lang="zh-CN" altLang="en-US" dirty="0">
                <a:latin typeface="Times New Roman" panose="02020603050405020304" pitchFamily="18" charset="0"/>
              </a:rPr>
              <a:t>撤消状态</a:t>
            </a:r>
            <a:endParaRPr lang="zh-CN" altLang="en-US" dirty="0"/>
          </a:p>
          <a:p>
            <a:pPr lvl="1" algn="just" eaLnBrk="1" hangingPunct="1">
              <a:buFont typeface="Wingdings" pitchFamily="2" charset="2"/>
              <a:buNone/>
            </a:pPr>
            <a:r>
              <a:rPr lang="en-US" altLang="zh-CN" dirty="0"/>
              <a:t>C. </a:t>
            </a:r>
            <a:r>
              <a:rPr lang="zh-CN" altLang="en-US" dirty="0">
                <a:latin typeface="Times New Roman" panose="02020603050405020304" pitchFamily="18" charset="0"/>
              </a:rPr>
              <a:t>执行状态                 </a:t>
            </a:r>
            <a:r>
              <a:rPr lang="en-US" altLang="zh-CN" dirty="0"/>
              <a:t>D.</a:t>
            </a:r>
            <a:r>
              <a:rPr lang="zh-CN" altLang="en-US" dirty="0">
                <a:latin typeface="Times New Roman" panose="02020603050405020304" pitchFamily="18" charset="0"/>
              </a:rPr>
              <a:t>阻塞状态</a:t>
            </a:r>
          </a:p>
        </p:txBody>
      </p:sp>
      <p:sp>
        <p:nvSpPr>
          <p:cNvPr id="2" name="灯片编号占位符 1">
            <a:extLst>
              <a:ext uri="{FF2B5EF4-FFF2-40B4-BE49-F238E27FC236}">
                <a16:creationId xmlns="" xmlns:a16="http://schemas.microsoft.com/office/drawing/2014/main" id="{1AC3EE1D-C3AA-03E7-BB75-B9C836E7D1D6}"/>
              </a:ext>
            </a:extLst>
          </p:cNvPr>
          <p:cNvSpPr>
            <a:spLocks noGrp="1"/>
          </p:cNvSpPr>
          <p:nvPr>
            <p:ph type="sldNum" sz="quarter" idx="12"/>
          </p:nvPr>
        </p:nvSpPr>
        <p:spPr/>
        <p:txBody>
          <a:bodyPr/>
          <a:lstStyle/>
          <a:p>
            <a:fld id="{4093CC90-4002-504C-BD88-C9A1D374048E}" type="slidenum">
              <a:rPr lang="zh-CN" altLang="en-US" smtClean="0"/>
              <a:pPr/>
              <a:t>70</a:t>
            </a:fld>
            <a:endParaRPr lang="zh-CN" altLang="en-US" dirty="0"/>
          </a:p>
        </p:txBody>
      </p:sp>
    </p:spTree>
    <p:extLst>
      <p:ext uri="{BB962C8B-B14F-4D97-AF65-F5344CB8AC3E}">
        <p14:creationId xmlns:p14="http://schemas.microsoft.com/office/powerpoint/2010/main" val="241349131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3" name="Rectangle 2">
            <a:extLst>
              <a:ext uri="{FF2B5EF4-FFF2-40B4-BE49-F238E27FC236}">
                <a16:creationId xmlns="" xmlns:a16="http://schemas.microsoft.com/office/drawing/2014/main" id="{ADB7F15A-6C4B-C11B-247D-D6293A9AC8A4}"/>
              </a:ext>
            </a:extLst>
          </p:cNvPr>
          <p:cNvSpPr>
            <a:spLocks noGrp="1" noChangeArrowheads="1"/>
          </p:cNvSpPr>
          <p:nvPr>
            <p:ph type="title"/>
          </p:nvPr>
        </p:nvSpPr>
        <p:spPr/>
        <p:txBody>
          <a:bodyPr/>
          <a:lstStyle/>
          <a:p>
            <a:pPr eaLnBrk="1" hangingPunct="1"/>
            <a:r>
              <a:rPr lang="zh-CN" altLang="en-US"/>
              <a:t>选择题</a:t>
            </a:r>
            <a:r>
              <a:rPr lang="en-US" altLang="zh-CN"/>
              <a:t>2</a:t>
            </a:r>
          </a:p>
        </p:txBody>
      </p:sp>
      <p:sp>
        <p:nvSpPr>
          <p:cNvPr id="120834" name="Rectangle 3">
            <a:extLst>
              <a:ext uri="{FF2B5EF4-FFF2-40B4-BE49-F238E27FC236}">
                <a16:creationId xmlns="" xmlns:a16="http://schemas.microsoft.com/office/drawing/2014/main" id="{76731C69-D6D9-B735-6E78-730D8FD6C2DF}"/>
              </a:ext>
            </a:extLst>
          </p:cNvPr>
          <p:cNvSpPr>
            <a:spLocks noGrp="1" noChangeArrowheads="1"/>
          </p:cNvSpPr>
          <p:nvPr>
            <p:ph idx="1"/>
          </p:nvPr>
        </p:nvSpPr>
        <p:spPr>
          <a:xfrm>
            <a:off x="684213" y="1196975"/>
            <a:ext cx="8231187" cy="5029200"/>
          </a:xfrm>
        </p:spPr>
        <p:txBody>
          <a:bodyPr/>
          <a:lstStyle/>
          <a:p>
            <a:pPr algn="just" eaLnBrk="1" hangingPunct="1"/>
            <a:r>
              <a:rPr lang="zh-CN" altLang="en-US" dirty="0">
                <a:latin typeface="Times New Roman" panose="02020603050405020304" pitchFamily="18" charset="0"/>
              </a:rPr>
              <a:t>下列进程状态变化中，</a:t>
            </a:r>
            <a:r>
              <a:rPr lang="zh-CN" altLang="en-US" dirty="0"/>
              <a:t>_____</a:t>
            </a:r>
            <a:r>
              <a:rPr lang="zh-CN" altLang="en-US" dirty="0">
                <a:latin typeface="Times New Roman" panose="02020603050405020304" pitchFamily="18" charset="0"/>
              </a:rPr>
              <a:t>变化是不可能发生的。</a:t>
            </a:r>
          </a:p>
          <a:p>
            <a:pPr lvl="1" algn="just" eaLnBrk="1" hangingPunct="1">
              <a:buFont typeface="Wingdings" pitchFamily="2" charset="2"/>
              <a:buNone/>
            </a:pPr>
            <a:r>
              <a:rPr lang="en-US" altLang="zh-CN" dirty="0"/>
              <a:t>A.</a:t>
            </a:r>
            <a:r>
              <a:rPr lang="zh-CN" altLang="en-US" dirty="0">
                <a:latin typeface="Times New Roman" panose="02020603050405020304" pitchFamily="18" charset="0"/>
              </a:rPr>
              <a:t>等待→就绪         </a:t>
            </a:r>
            <a:r>
              <a:rPr lang="en-US" altLang="zh-CN" dirty="0"/>
              <a:t>B.</a:t>
            </a:r>
            <a:r>
              <a:rPr lang="zh-CN" altLang="en-US" dirty="0">
                <a:latin typeface="Times New Roman" panose="02020603050405020304" pitchFamily="18" charset="0"/>
              </a:rPr>
              <a:t>等待→运行</a:t>
            </a:r>
            <a:r>
              <a:rPr lang="zh-CN" altLang="en-US" dirty="0"/>
              <a:t> </a:t>
            </a:r>
            <a:endParaRPr lang="zh-CN" altLang="en-US" dirty="0">
              <a:latin typeface="Times New Roman" panose="02020603050405020304" pitchFamily="18" charset="0"/>
            </a:endParaRPr>
          </a:p>
          <a:p>
            <a:pPr lvl="1" algn="just" eaLnBrk="1" hangingPunct="1">
              <a:buFont typeface="Wingdings" pitchFamily="2" charset="2"/>
              <a:buNone/>
            </a:pPr>
            <a:r>
              <a:rPr lang="en-US" altLang="zh-CN" dirty="0"/>
              <a:t>C.</a:t>
            </a:r>
            <a:r>
              <a:rPr lang="zh-CN" altLang="en-US" dirty="0">
                <a:latin typeface="Times New Roman" panose="02020603050405020304" pitchFamily="18" charset="0"/>
              </a:rPr>
              <a:t>运行→等待         </a:t>
            </a:r>
            <a:r>
              <a:rPr lang="en-US" altLang="zh-CN" dirty="0"/>
              <a:t>D.</a:t>
            </a:r>
            <a:r>
              <a:rPr lang="zh-CN" altLang="en-US" dirty="0">
                <a:latin typeface="Times New Roman" panose="02020603050405020304" pitchFamily="18" charset="0"/>
              </a:rPr>
              <a:t>运行→就绪</a:t>
            </a:r>
            <a:endParaRPr lang="en-US" altLang="zh-CN" dirty="0">
              <a:latin typeface="Times New Roman" panose="02020603050405020304" pitchFamily="18" charset="0"/>
            </a:endParaRPr>
          </a:p>
          <a:p>
            <a:pPr algn="just" eaLnBrk="1" hangingPunct="1"/>
            <a:r>
              <a:rPr lang="zh-CN" altLang="en-US" dirty="0">
                <a:latin typeface="Times New Roman" panose="02020603050405020304" pitchFamily="18" charset="0"/>
              </a:rPr>
              <a:t>当_____时，进程从执行状态转变为就绪状态。</a:t>
            </a:r>
          </a:p>
          <a:p>
            <a:pPr lvl="1" algn="just" eaLnBrk="1" hangingPunct="1">
              <a:buFont typeface="Wingdings" pitchFamily="2" charset="2"/>
              <a:buNone/>
            </a:pPr>
            <a:r>
              <a:rPr lang="en-US" altLang="zh-CN" dirty="0">
                <a:latin typeface="Times New Roman" panose="02020603050405020304" pitchFamily="18" charset="0"/>
              </a:rPr>
              <a:t>A.</a:t>
            </a:r>
            <a:r>
              <a:rPr lang="zh-CN" altLang="en-US" dirty="0">
                <a:latin typeface="Times New Roman" panose="02020603050405020304" pitchFamily="18" charset="0"/>
              </a:rPr>
              <a:t>等待的事件发生        </a:t>
            </a:r>
            <a:r>
              <a:rPr lang="en-US" altLang="zh-CN" dirty="0">
                <a:latin typeface="Times New Roman" panose="02020603050405020304" pitchFamily="18" charset="0"/>
              </a:rPr>
              <a:t>B.</a:t>
            </a:r>
            <a:r>
              <a:rPr lang="zh-CN" altLang="en-US" dirty="0">
                <a:latin typeface="Times New Roman" panose="02020603050405020304" pitchFamily="18" charset="0"/>
              </a:rPr>
              <a:t>时间片到</a:t>
            </a:r>
          </a:p>
          <a:p>
            <a:pPr lvl="1" algn="just" eaLnBrk="1" hangingPunct="1">
              <a:buFont typeface="Wingdings" pitchFamily="2" charset="2"/>
              <a:buNone/>
            </a:pPr>
            <a:r>
              <a:rPr lang="en-US" altLang="zh-CN" dirty="0">
                <a:latin typeface="Times New Roman" panose="02020603050405020304" pitchFamily="18" charset="0"/>
              </a:rPr>
              <a:t>C. </a:t>
            </a:r>
            <a:r>
              <a:rPr lang="zh-CN" altLang="en-US" dirty="0">
                <a:latin typeface="Times New Roman" panose="02020603050405020304" pitchFamily="18" charset="0"/>
              </a:rPr>
              <a:t>等待某一事件           </a:t>
            </a:r>
            <a:r>
              <a:rPr lang="en-US" altLang="zh-CN" dirty="0">
                <a:latin typeface="Times New Roman" panose="02020603050405020304" pitchFamily="18" charset="0"/>
              </a:rPr>
              <a:t>D.</a:t>
            </a:r>
            <a:r>
              <a:rPr lang="zh-CN" altLang="en-US" dirty="0">
                <a:latin typeface="Times New Roman" panose="02020603050405020304" pitchFamily="18" charset="0"/>
              </a:rPr>
              <a:t>进程被调度程序选中</a:t>
            </a:r>
          </a:p>
        </p:txBody>
      </p:sp>
      <p:sp>
        <p:nvSpPr>
          <p:cNvPr id="2" name="灯片编号占位符 1">
            <a:extLst>
              <a:ext uri="{FF2B5EF4-FFF2-40B4-BE49-F238E27FC236}">
                <a16:creationId xmlns="" xmlns:a16="http://schemas.microsoft.com/office/drawing/2014/main" id="{728026BF-B304-0383-8F64-AFBBE9BA14D3}"/>
              </a:ext>
            </a:extLst>
          </p:cNvPr>
          <p:cNvSpPr>
            <a:spLocks noGrp="1"/>
          </p:cNvSpPr>
          <p:nvPr>
            <p:ph type="sldNum" sz="quarter" idx="12"/>
          </p:nvPr>
        </p:nvSpPr>
        <p:spPr/>
        <p:txBody>
          <a:bodyPr/>
          <a:lstStyle/>
          <a:p>
            <a:fld id="{4093CC90-4002-504C-BD88-C9A1D374048E}" type="slidenum">
              <a:rPr lang="zh-CN" altLang="en-US" smtClean="0"/>
              <a:pPr/>
              <a:t>71</a:t>
            </a:fld>
            <a:endParaRPr lang="zh-CN" altLang="en-US" dirty="0"/>
          </a:p>
        </p:txBody>
      </p:sp>
    </p:spTree>
    <p:extLst>
      <p:ext uri="{BB962C8B-B14F-4D97-AF65-F5344CB8AC3E}">
        <p14:creationId xmlns:p14="http://schemas.microsoft.com/office/powerpoint/2010/main" val="35588727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7" name="Rectangle 2">
            <a:extLst>
              <a:ext uri="{FF2B5EF4-FFF2-40B4-BE49-F238E27FC236}">
                <a16:creationId xmlns="" xmlns:a16="http://schemas.microsoft.com/office/drawing/2014/main" id="{CC5BC313-6CED-BD16-4623-7BADD7B985D1}"/>
              </a:ext>
            </a:extLst>
          </p:cNvPr>
          <p:cNvSpPr>
            <a:spLocks noGrp="1" noChangeArrowheads="1"/>
          </p:cNvSpPr>
          <p:nvPr>
            <p:ph type="title"/>
          </p:nvPr>
        </p:nvSpPr>
        <p:spPr/>
        <p:txBody>
          <a:bodyPr/>
          <a:lstStyle/>
          <a:p>
            <a:pPr eaLnBrk="1" hangingPunct="1"/>
            <a:r>
              <a:rPr lang="zh-CN" altLang="en-US"/>
              <a:t>选择题</a:t>
            </a:r>
            <a:r>
              <a:rPr lang="en-US" altLang="zh-CN"/>
              <a:t>3</a:t>
            </a:r>
          </a:p>
        </p:txBody>
      </p:sp>
      <p:sp>
        <p:nvSpPr>
          <p:cNvPr id="121858" name="Rectangle 3">
            <a:extLst>
              <a:ext uri="{FF2B5EF4-FFF2-40B4-BE49-F238E27FC236}">
                <a16:creationId xmlns="" xmlns:a16="http://schemas.microsoft.com/office/drawing/2014/main" id="{6F88E34B-B269-B3A9-32EF-E3345CA8D497}"/>
              </a:ext>
            </a:extLst>
          </p:cNvPr>
          <p:cNvSpPr>
            <a:spLocks noGrp="1" noChangeArrowheads="1"/>
          </p:cNvSpPr>
          <p:nvPr>
            <p:ph idx="1"/>
          </p:nvPr>
        </p:nvSpPr>
        <p:spPr>
          <a:xfrm>
            <a:off x="611188" y="1125538"/>
            <a:ext cx="8304212" cy="5029200"/>
          </a:xfrm>
        </p:spPr>
        <p:txBody>
          <a:bodyPr/>
          <a:lstStyle/>
          <a:p>
            <a:pPr algn="just" eaLnBrk="1" hangingPunct="1"/>
            <a:r>
              <a:rPr lang="zh-CN" altLang="en-US" dirty="0">
                <a:latin typeface="Times New Roman" panose="02020603050405020304" pitchFamily="18" charset="0"/>
              </a:rPr>
              <a:t>下面对进程的描述中，错误的是_____。</a:t>
            </a:r>
          </a:p>
          <a:p>
            <a:pPr lvl="1" algn="just" eaLnBrk="1" hangingPunct="1">
              <a:buFont typeface="Wingdings" pitchFamily="2" charset="2"/>
              <a:buNone/>
            </a:pPr>
            <a:r>
              <a:rPr lang="en-US" altLang="zh-CN" dirty="0">
                <a:latin typeface="Times New Roman" panose="02020603050405020304" pitchFamily="18" charset="0"/>
              </a:rPr>
              <a:t>A.</a:t>
            </a:r>
            <a:r>
              <a:rPr lang="zh-CN" altLang="en-US" dirty="0">
                <a:latin typeface="Times New Roman" panose="02020603050405020304" pitchFamily="18" charset="0"/>
              </a:rPr>
              <a:t>进程是有生命期的    </a:t>
            </a:r>
            <a:r>
              <a:rPr lang="en-US" altLang="zh-CN" dirty="0">
                <a:latin typeface="Times New Roman" panose="02020603050405020304" pitchFamily="18" charset="0"/>
              </a:rPr>
              <a:t>B. </a:t>
            </a:r>
            <a:r>
              <a:rPr lang="zh-CN" altLang="en-US" dirty="0">
                <a:latin typeface="Times New Roman" panose="02020603050405020304" pitchFamily="18" charset="0"/>
              </a:rPr>
              <a:t>进程执行需要处理机</a:t>
            </a:r>
          </a:p>
          <a:p>
            <a:pPr lvl="1" algn="just" eaLnBrk="1" hangingPunct="1">
              <a:buFont typeface="Wingdings" pitchFamily="2" charset="2"/>
              <a:buNone/>
            </a:pPr>
            <a:r>
              <a:rPr lang="en-US" altLang="zh-CN" dirty="0">
                <a:latin typeface="Times New Roman" panose="02020603050405020304" pitchFamily="18" charset="0"/>
              </a:rPr>
              <a:t>C.</a:t>
            </a:r>
            <a:r>
              <a:rPr lang="zh-CN" altLang="en-US" dirty="0">
                <a:latin typeface="Times New Roman" panose="02020603050405020304" pitchFamily="18" charset="0"/>
              </a:rPr>
              <a:t>进程是指令的集合    </a:t>
            </a:r>
            <a:r>
              <a:rPr lang="en-US" altLang="zh-CN" dirty="0">
                <a:latin typeface="Times New Roman" panose="02020603050405020304" pitchFamily="18" charset="0"/>
              </a:rPr>
              <a:t>D.</a:t>
            </a:r>
            <a:r>
              <a:rPr lang="zh-CN" altLang="en-US" dirty="0">
                <a:latin typeface="Times New Roman" panose="02020603050405020304" pitchFamily="18" charset="0"/>
              </a:rPr>
              <a:t>进程是动态的概念</a:t>
            </a:r>
            <a:endParaRPr lang="en-US" altLang="zh-CN" dirty="0">
              <a:latin typeface="Times New Roman" panose="02020603050405020304" pitchFamily="18" charset="0"/>
            </a:endParaRPr>
          </a:p>
          <a:p>
            <a:pPr lvl="1" algn="just" eaLnBrk="1" hangingPunct="1">
              <a:buFont typeface="Wingdings" pitchFamily="2" charset="2"/>
              <a:buNone/>
            </a:pPr>
            <a:endParaRPr lang="en-US" altLang="zh-CN" dirty="0">
              <a:latin typeface="Times New Roman" panose="02020603050405020304" pitchFamily="18" charset="0"/>
            </a:endParaRPr>
          </a:p>
          <a:p>
            <a:pPr algn="just" eaLnBrk="1" hangingPunct="1"/>
            <a:r>
              <a:rPr lang="zh-CN" altLang="en-US" dirty="0">
                <a:latin typeface="Times New Roman" panose="02020603050405020304" pitchFamily="18" charset="0"/>
              </a:rPr>
              <a:t>如果系统中有</a:t>
            </a:r>
            <a:r>
              <a:rPr lang="en-US" altLang="zh-CN" dirty="0"/>
              <a:t>n</a:t>
            </a:r>
            <a:r>
              <a:rPr lang="zh-CN" altLang="en-US" dirty="0">
                <a:latin typeface="Times New Roman" panose="02020603050405020304" pitchFamily="18" charset="0"/>
              </a:rPr>
              <a:t>个进程，则就绪队列中进程的个数最多为</a:t>
            </a:r>
            <a:r>
              <a:rPr lang="zh-CN" altLang="en-US" dirty="0"/>
              <a:t>_____</a:t>
            </a:r>
            <a:r>
              <a:rPr lang="zh-CN" altLang="en-US" dirty="0">
                <a:latin typeface="Times New Roman" panose="02020603050405020304" pitchFamily="18" charset="0"/>
              </a:rPr>
              <a:t>。</a:t>
            </a:r>
            <a:endParaRPr lang="zh-CN" altLang="en-US" dirty="0"/>
          </a:p>
          <a:p>
            <a:pPr marL="457200" lvl="1" indent="0" algn="just" eaLnBrk="1" hangingPunct="1">
              <a:buNone/>
            </a:pPr>
            <a:r>
              <a:rPr lang="en-US" altLang="zh-CN" dirty="0"/>
              <a:t>A. n           B. 1</a:t>
            </a:r>
            <a:r>
              <a:rPr lang="zh-CN" altLang="en-US" dirty="0"/>
              <a:t>           </a:t>
            </a:r>
            <a:r>
              <a:rPr lang="en-US" altLang="zh-CN" dirty="0"/>
              <a:t>C. n-1        D. n+1</a:t>
            </a:r>
            <a:endParaRPr lang="zh-CN" altLang="en-US" dirty="0">
              <a:latin typeface="Times New Roman" panose="02020603050405020304" pitchFamily="18" charset="0"/>
            </a:endParaRPr>
          </a:p>
        </p:txBody>
      </p:sp>
      <p:sp>
        <p:nvSpPr>
          <p:cNvPr id="2" name="灯片编号占位符 1">
            <a:extLst>
              <a:ext uri="{FF2B5EF4-FFF2-40B4-BE49-F238E27FC236}">
                <a16:creationId xmlns="" xmlns:a16="http://schemas.microsoft.com/office/drawing/2014/main" id="{6ADB7246-935F-A2CB-0659-58D166A0A58A}"/>
              </a:ext>
            </a:extLst>
          </p:cNvPr>
          <p:cNvSpPr>
            <a:spLocks noGrp="1"/>
          </p:cNvSpPr>
          <p:nvPr>
            <p:ph type="sldNum" sz="quarter" idx="12"/>
          </p:nvPr>
        </p:nvSpPr>
        <p:spPr/>
        <p:txBody>
          <a:bodyPr/>
          <a:lstStyle/>
          <a:p>
            <a:fld id="{4093CC90-4002-504C-BD88-C9A1D374048E}" type="slidenum">
              <a:rPr lang="zh-CN" altLang="en-US" smtClean="0"/>
              <a:pPr/>
              <a:t>72</a:t>
            </a:fld>
            <a:endParaRPr lang="zh-CN" altLang="en-US" dirty="0"/>
          </a:p>
        </p:txBody>
      </p:sp>
    </p:spTree>
    <p:extLst>
      <p:ext uri="{BB962C8B-B14F-4D97-AF65-F5344CB8AC3E}">
        <p14:creationId xmlns:p14="http://schemas.microsoft.com/office/powerpoint/2010/main" val="73044742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1" name="Rectangle 2">
            <a:extLst>
              <a:ext uri="{FF2B5EF4-FFF2-40B4-BE49-F238E27FC236}">
                <a16:creationId xmlns="" xmlns:a16="http://schemas.microsoft.com/office/drawing/2014/main" id="{04A79068-9BC3-80BE-6E6C-9C28E3DCEF5A}"/>
              </a:ext>
            </a:extLst>
          </p:cNvPr>
          <p:cNvSpPr>
            <a:spLocks noGrp="1" noChangeArrowheads="1"/>
          </p:cNvSpPr>
          <p:nvPr>
            <p:ph type="title"/>
          </p:nvPr>
        </p:nvSpPr>
        <p:spPr/>
        <p:txBody>
          <a:bodyPr/>
          <a:lstStyle/>
          <a:p>
            <a:pPr eaLnBrk="1" hangingPunct="1"/>
            <a:r>
              <a:rPr lang="zh-CN" altLang="en-US"/>
              <a:t>选择题</a:t>
            </a:r>
            <a:r>
              <a:rPr lang="en-US" altLang="zh-CN"/>
              <a:t>4</a:t>
            </a:r>
          </a:p>
        </p:txBody>
      </p:sp>
      <p:sp>
        <p:nvSpPr>
          <p:cNvPr id="122882" name="Rectangle 3">
            <a:extLst>
              <a:ext uri="{FF2B5EF4-FFF2-40B4-BE49-F238E27FC236}">
                <a16:creationId xmlns="" xmlns:a16="http://schemas.microsoft.com/office/drawing/2014/main" id="{BA1A8DEF-E390-7439-D740-B0E3A7EC3A0D}"/>
              </a:ext>
            </a:extLst>
          </p:cNvPr>
          <p:cNvSpPr>
            <a:spLocks noGrp="1" noChangeArrowheads="1"/>
          </p:cNvSpPr>
          <p:nvPr>
            <p:ph idx="1"/>
          </p:nvPr>
        </p:nvSpPr>
        <p:spPr>
          <a:xfrm>
            <a:off x="684213" y="1196975"/>
            <a:ext cx="8154987" cy="5029200"/>
          </a:xfrm>
        </p:spPr>
        <p:txBody>
          <a:bodyPr/>
          <a:lstStyle/>
          <a:p>
            <a:pPr algn="just" eaLnBrk="1" hangingPunct="1"/>
            <a:r>
              <a:rPr lang="zh-CN" altLang="en-US">
                <a:latin typeface="Times New Roman" panose="02020603050405020304" pitchFamily="18" charset="0"/>
              </a:rPr>
              <a:t>操作系统通过</a:t>
            </a:r>
            <a:r>
              <a:rPr lang="zh-CN" altLang="en-US"/>
              <a:t>_____</a:t>
            </a:r>
            <a:r>
              <a:rPr lang="zh-CN" altLang="en-US">
                <a:latin typeface="Times New Roman" panose="02020603050405020304" pitchFamily="18" charset="0"/>
              </a:rPr>
              <a:t>对进程进行管理。</a:t>
            </a:r>
            <a:endParaRPr lang="zh-CN" altLang="en-US"/>
          </a:p>
          <a:p>
            <a:pPr lvl="1" algn="just" eaLnBrk="1" hangingPunct="1">
              <a:buFont typeface="Wingdings" pitchFamily="2" charset="2"/>
              <a:buNone/>
            </a:pPr>
            <a:r>
              <a:rPr lang="en-US" altLang="zh-CN"/>
              <a:t>A. JCB         B. PCB</a:t>
            </a:r>
          </a:p>
          <a:p>
            <a:pPr lvl="1" algn="just" eaLnBrk="1" hangingPunct="1">
              <a:buFont typeface="Wingdings" pitchFamily="2" charset="2"/>
              <a:buNone/>
            </a:pPr>
            <a:r>
              <a:rPr lang="en-US" altLang="zh-CN"/>
              <a:t>C. DCT        D. CHCT</a:t>
            </a:r>
          </a:p>
          <a:p>
            <a:pPr algn="just" eaLnBrk="1" hangingPunct="1"/>
            <a:r>
              <a:rPr lang="zh-CN" altLang="en-US">
                <a:latin typeface="Times New Roman" panose="02020603050405020304" pitchFamily="18" charset="0"/>
              </a:rPr>
              <a:t>下面所述步骤中，</a:t>
            </a:r>
            <a:r>
              <a:rPr lang="zh-CN" altLang="en-US"/>
              <a:t>_____</a:t>
            </a:r>
            <a:r>
              <a:rPr lang="zh-CN" altLang="en-US">
                <a:latin typeface="Times New Roman" panose="02020603050405020304" pitchFamily="18" charset="0"/>
              </a:rPr>
              <a:t>不是创建进程所必需的。</a:t>
            </a:r>
            <a:endParaRPr lang="zh-CN" altLang="en-US"/>
          </a:p>
          <a:p>
            <a:pPr lvl="1" algn="just" eaLnBrk="1" hangingPunct="1">
              <a:buFont typeface="Wingdings" pitchFamily="2" charset="2"/>
              <a:buNone/>
            </a:pPr>
            <a:r>
              <a:rPr lang="en-US" altLang="zh-CN"/>
              <a:t>A.</a:t>
            </a:r>
            <a:r>
              <a:rPr lang="zh-CN" altLang="en-US">
                <a:latin typeface="Times New Roman" panose="02020603050405020304" pitchFamily="18" charset="0"/>
              </a:rPr>
              <a:t>建立一个进程控制块</a:t>
            </a:r>
          </a:p>
          <a:p>
            <a:pPr lvl="1" algn="just" eaLnBrk="1" hangingPunct="1">
              <a:buFont typeface="Wingdings" pitchFamily="2" charset="2"/>
              <a:buNone/>
            </a:pPr>
            <a:r>
              <a:rPr lang="en-US" altLang="zh-CN"/>
              <a:t>B.</a:t>
            </a:r>
            <a:r>
              <a:rPr lang="zh-CN" altLang="en-US">
                <a:latin typeface="Times New Roman" panose="02020603050405020304" pitchFamily="18" charset="0"/>
              </a:rPr>
              <a:t>为进程分配内存</a:t>
            </a:r>
            <a:endParaRPr lang="zh-CN" altLang="en-US"/>
          </a:p>
          <a:p>
            <a:pPr lvl="1" algn="just" eaLnBrk="1" hangingPunct="1">
              <a:buFont typeface="Wingdings" pitchFamily="2" charset="2"/>
              <a:buNone/>
            </a:pPr>
            <a:r>
              <a:rPr lang="en-US" altLang="zh-CN"/>
              <a:t>C. </a:t>
            </a:r>
            <a:r>
              <a:rPr lang="zh-CN" altLang="en-US">
                <a:latin typeface="Times New Roman" panose="02020603050405020304" pitchFamily="18" charset="0"/>
              </a:rPr>
              <a:t>将进程控制块链入就绪队列</a:t>
            </a:r>
          </a:p>
          <a:p>
            <a:pPr lvl="1" algn="just" eaLnBrk="1" hangingPunct="1">
              <a:buFont typeface="Wingdings" pitchFamily="2" charset="2"/>
              <a:buNone/>
            </a:pPr>
            <a:r>
              <a:rPr lang="en-US" altLang="zh-CN"/>
              <a:t>D.</a:t>
            </a:r>
            <a:r>
              <a:rPr lang="zh-CN" altLang="en-US">
                <a:latin typeface="Times New Roman" panose="02020603050405020304" pitchFamily="18" charset="0"/>
              </a:rPr>
              <a:t>由调度程序为进程分配</a:t>
            </a:r>
            <a:r>
              <a:rPr lang="en-US" altLang="zh-CN"/>
              <a:t>CPU</a:t>
            </a:r>
            <a:endParaRPr lang="zh-CN" altLang="en-US"/>
          </a:p>
        </p:txBody>
      </p:sp>
      <p:sp>
        <p:nvSpPr>
          <p:cNvPr id="2" name="灯片编号占位符 1">
            <a:extLst>
              <a:ext uri="{FF2B5EF4-FFF2-40B4-BE49-F238E27FC236}">
                <a16:creationId xmlns="" xmlns:a16="http://schemas.microsoft.com/office/drawing/2014/main" id="{E3F3A243-C8DE-C49B-7D82-D2851FA5096C}"/>
              </a:ext>
            </a:extLst>
          </p:cNvPr>
          <p:cNvSpPr>
            <a:spLocks noGrp="1"/>
          </p:cNvSpPr>
          <p:nvPr>
            <p:ph type="sldNum" sz="quarter" idx="12"/>
          </p:nvPr>
        </p:nvSpPr>
        <p:spPr/>
        <p:txBody>
          <a:bodyPr/>
          <a:lstStyle/>
          <a:p>
            <a:fld id="{4093CC90-4002-504C-BD88-C9A1D374048E}" type="slidenum">
              <a:rPr lang="zh-CN" altLang="en-US" smtClean="0"/>
              <a:pPr/>
              <a:t>73</a:t>
            </a:fld>
            <a:endParaRPr lang="zh-CN" altLang="en-US" dirty="0"/>
          </a:p>
        </p:txBody>
      </p:sp>
    </p:spTree>
    <p:extLst>
      <p:ext uri="{BB962C8B-B14F-4D97-AF65-F5344CB8AC3E}">
        <p14:creationId xmlns:p14="http://schemas.microsoft.com/office/powerpoint/2010/main" val="317152528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29" name="Rectangle 2">
            <a:extLst>
              <a:ext uri="{FF2B5EF4-FFF2-40B4-BE49-F238E27FC236}">
                <a16:creationId xmlns="" xmlns:a16="http://schemas.microsoft.com/office/drawing/2014/main" id="{40BB0A05-02CA-EFCB-8871-C348A7CF9ABB}"/>
              </a:ext>
            </a:extLst>
          </p:cNvPr>
          <p:cNvSpPr>
            <a:spLocks noGrp="1" noChangeArrowheads="1"/>
          </p:cNvSpPr>
          <p:nvPr>
            <p:ph type="title"/>
          </p:nvPr>
        </p:nvSpPr>
        <p:spPr/>
        <p:txBody>
          <a:bodyPr/>
          <a:lstStyle/>
          <a:p>
            <a:pPr eaLnBrk="1" hangingPunct="1"/>
            <a:r>
              <a:rPr lang="zh-CN" altLang="en-US" dirty="0"/>
              <a:t>选择题</a:t>
            </a:r>
            <a:r>
              <a:rPr lang="en-US" altLang="zh-CN" dirty="0"/>
              <a:t>5</a:t>
            </a:r>
          </a:p>
        </p:txBody>
      </p:sp>
      <p:sp>
        <p:nvSpPr>
          <p:cNvPr id="124930" name="Rectangle 3">
            <a:extLst>
              <a:ext uri="{FF2B5EF4-FFF2-40B4-BE49-F238E27FC236}">
                <a16:creationId xmlns="" xmlns:a16="http://schemas.microsoft.com/office/drawing/2014/main" id="{F4419DDD-A530-0194-9B70-B63E94F4560D}"/>
              </a:ext>
            </a:extLst>
          </p:cNvPr>
          <p:cNvSpPr>
            <a:spLocks noGrp="1" noChangeArrowheads="1"/>
          </p:cNvSpPr>
          <p:nvPr>
            <p:ph idx="1"/>
          </p:nvPr>
        </p:nvSpPr>
        <p:spPr>
          <a:xfrm>
            <a:off x="611188" y="1125538"/>
            <a:ext cx="8228012" cy="4953000"/>
          </a:xfrm>
        </p:spPr>
        <p:txBody>
          <a:bodyPr/>
          <a:lstStyle/>
          <a:p>
            <a:pPr algn="just" eaLnBrk="1" hangingPunct="1"/>
            <a:r>
              <a:rPr lang="zh-CN" altLang="en-US" sz="2800">
                <a:latin typeface="Times New Roman" panose="02020603050405020304" pitchFamily="18" charset="0"/>
              </a:rPr>
              <a:t>下述哪一个选项，体现了原语的主要特点</a:t>
            </a:r>
            <a:r>
              <a:rPr lang="zh-CN" altLang="en-US" sz="2800"/>
              <a:t>_____</a:t>
            </a:r>
            <a:r>
              <a:rPr lang="zh-CN" altLang="en-US" sz="2800">
                <a:latin typeface="Times New Roman" panose="02020603050405020304" pitchFamily="18" charset="0"/>
              </a:rPr>
              <a:t>。</a:t>
            </a:r>
          </a:p>
          <a:p>
            <a:pPr lvl="1" algn="just" eaLnBrk="1" hangingPunct="1">
              <a:buFont typeface="Wingdings" pitchFamily="2" charset="2"/>
              <a:buNone/>
            </a:pPr>
            <a:r>
              <a:rPr lang="en-US" altLang="zh-CN" sz="2400"/>
              <a:t>A. </a:t>
            </a:r>
            <a:r>
              <a:rPr lang="zh-CN" altLang="en-US" sz="2400">
                <a:latin typeface="Times New Roman" panose="02020603050405020304" pitchFamily="18" charset="0"/>
              </a:rPr>
              <a:t>并发性</a:t>
            </a:r>
            <a:r>
              <a:rPr lang="zh-CN" altLang="en-US" sz="2400"/>
              <a:t>           </a:t>
            </a:r>
            <a:r>
              <a:rPr lang="en-US" altLang="zh-CN" sz="2400"/>
              <a:t>B. </a:t>
            </a:r>
            <a:r>
              <a:rPr lang="zh-CN" altLang="en-US" sz="2400">
                <a:latin typeface="Times New Roman" panose="02020603050405020304" pitchFamily="18" charset="0"/>
              </a:rPr>
              <a:t>异步性</a:t>
            </a:r>
            <a:endParaRPr lang="zh-CN" altLang="en-US" sz="2400"/>
          </a:p>
          <a:p>
            <a:pPr lvl="1" algn="just" eaLnBrk="1" hangingPunct="1">
              <a:buFont typeface="Wingdings" pitchFamily="2" charset="2"/>
              <a:buNone/>
            </a:pPr>
            <a:r>
              <a:rPr lang="en-US" altLang="zh-CN" sz="2400"/>
              <a:t>C.</a:t>
            </a:r>
            <a:r>
              <a:rPr lang="zh-CN" altLang="en-US" sz="2400">
                <a:latin typeface="Times New Roman" panose="02020603050405020304" pitchFamily="18" charset="0"/>
              </a:rPr>
              <a:t>不可分割性       </a:t>
            </a:r>
            <a:r>
              <a:rPr lang="en-US" altLang="zh-CN" sz="2400"/>
              <a:t>D.</a:t>
            </a:r>
            <a:r>
              <a:rPr lang="zh-CN" altLang="en-US" sz="2400">
                <a:latin typeface="Times New Roman" panose="02020603050405020304" pitchFamily="18" charset="0"/>
              </a:rPr>
              <a:t>共享性</a:t>
            </a:r>
          </a:p>
          <a:p>
            <a:pPr algn="just" eaLnBrk="1" hangingPunct="1"/>
            <a:r>
              <a:rPr lang="zh-CN" altLang="en-US" sz="2800">
                <a:latin typeface="Times New Roman" panose="02020603050405020304" pitchFamily="18" charset="0"/>
              </a:rPr>
              <a:t>下面对父进程和子进程的叙述不正确的是</a:t>
            </a:r>
            <a:r>
              <a:rPr lang="zh-CN" altLang="en-US" sz="2800"/>
              <a:t>_____</a:t>
            </a:r>
            <a:r>
              <a:rPr lang="zh-CN" altLang="en-US" sz="2800">
                <a:latin typeface="Times New Roman" panose="02020603050405020304" pitchFamily="18" charset="0"/>
              </a:rPr>
              <a:t>。</a:t>
            </a:r>
            <a:endParaRPr lang="zh-CN" altLang="en-US" sz="2800"/>
          </a:p>
          <a:p>
            <a:pPr lvl="1" algn="just" eaLnBrk="1" hangingPunct="1">
              <a:buFont typeface="Wingdings" pitchFamily="2" charset="2"/>
              <a:buNone/>
            </a:pPr>
            <a:r>
              <a:rPr lang="en-US" altLang="zh-CN" sz="2400"/>
              <a:t>A. </a:t>
            </a:r>
            <a:r>
              <a:rPr lang="zh-CN" altLang="en-US" sz="2400">
                <a:latin typeface="Times New Roman" panose="02020603050405020304" pitchFamily="18" charset="0"/>
              </a:rPr>
              <a:t>撤消父进程之时，可以同时撤消其子进程</a:t>
            </a:r>
          </a:p>
          <a:p>
            <a:pPr lvl="1" algn="just" eaLnBrk="1" hangingPunct="1">
              <a:buFont typeface="Wingdings" pitchFamily="2" charset="2"/>
              <a:buNone/>
            </a:pPr>
            <a:r>
              <a:rPr lang="en-US" altLang="zh-CN" sz="2400"/>
              <a:t>B. </a:t>
            </a:r>
            <a:r>
              <a:rPr lang="zh-CN" altLang="en-US" sz="2400">
                <a:latin typeface="Times New Roman" panose="02020603050405020304" pitchFamily="18" charset="0"/>
              </a:rPr>
              <a:t>父进程和子进程之间可以并发</a:t>
            </a:r>
          </a:p>
          <a:p>
            <a:pPr lvl="1" algn="just" eaLnBrk="1" hangingPunct="1">
              <a:buFont typeface="Wingdings" pitchFamily="2" charset="2"/>
              <a:buNone/>
            </a:pPr>
            <a:r>
              <a:rPr lang="en-US" altLang="zh-CN" sz="2400"/>
              <a:t>C. </a:t>
            </a:r>
            <a:r>
              <a:rPr lang="zh-CN" altLang="en-US" sz="2400">
                <a:latin typeface="Times New Roman" panose="02020603050405020304" pitchFamily="18" charset="0"/>
              </a:rPr>
              <a:t>父进程可以等待所有子进程结束后再执行</a:t>
            </a:r>
          </a:p>
          <a:p>
            <a:pPr lvl="1" algn="just" eaLnBrk="1" hangingPunct="1">
              <a:buFont typeface="Wingdings" pitchFamily="2" charset="2"/>
              <a:buNone/>
            </a:pPr>
            <a:r>
              <a:rPr lang="en-US" altLang="zh-CN" sz="2400"/>
              <a:t>D.</a:t>
            </a:r>
            <a:r>
              <a:rPr lang="zh-CN" altLang="en-US" sz="2400">
                <a:latin typeface="Times New Roman" panose="02020603050405020304" pitchFamily="18" charset="0"/>
              </a:rPr>
              <a:t>父进程创建了子进程，因此父进程执行完了子进程才能运行</a:t>
            </a:r>
          </a:p>
        </p:txBody>
      </p:sp>
      <p:sp>
        <p:nvSpPr>
          <p:cNvPr id="2" name="灯片编号占位符 1">
            <a:extLst>
              <a:ext uri="{FF2B5EF4-FFF2-40B4-BE49-F238E27FC236}">
                <a16:creationId xmlns="" xmlns:a16="http://schemas.microsoft.com/office/drawing/2014/main" id="{4AD5E53F-6815-8FEC-134E-0679B3FEBDE6}"/>
              </a:ext>
            </a:extLst>
          </p:cNvPr>
          <p:cNvSpPr>
            <a:spLocks noGrp="1"/>
          </p:cNvSpPr>
          <p:nvPr>
            <p:ph type="sldNum" sz="quarter" idx="12"/>
          </p:nvPr>
        </p:nvSpPr>
        <p:spPr/>
        <p:txBody>
          <a:bodyPr/>
          <a:lstStyle/>
          <a:p>
            <a:fld id="{4093CC90-4002-504C-BD88-C9A1D374048E}" type="slidenum">
              <a:rPr lang="zh-CN" altLang="en-US" smtClean="0"/>
              <a:pPr/>
              <a:t>74</a:t>
            </a:fld>
            <a:endParaRPr lang="zh-CN" altLang="en-US" dirty="0"/>
          </a:p>
        </p:txBody>
      </p:sp>
    </p:spTree>
    <p:extLst>
      <p:ext uri="{BB962C8B-B14F-4D97-AF65-F5344CB8AC3E}">
        <p14:creationId xmlns:p14="http://schemas.microsoft.com/office/powerpoint/2010/main" val="106298371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3" name="Rectangle 2">
            <a:extLst>
              <a:ext uri="{FF2B5EF4-FFF2-40B4-BE49-F238E27FC236}">
                <a16:creationId xmlns="" xmlns:a16="http://schemas.microsoft.com/office/drawing/2014/main" id="{542D868B-17DD-1225-D5A1-98500B50B2BA}"/>
              </a:ext>
            </a:extLst>
          </p:cNvPr>
          <p:cNvSpPr>
            <a:spLocks noGrp="1" noChangeArrowheads="1"/>
          </p:cNvSpPr>
          <p:nvPr>
            <p:ph type="title"/>
          </p:nvPr>
        </p:nvSpPr>
        <p:spPr>
          <a:xfrm>
            <a:off x="1042988" y="225425"/>
            <a:ext cx="7850187" cy="746125"/>
          </a:xfrm>
        </p:spPr>
        <p:txBody>
          <a:bodyPr/>
          <a:lstStyle/>
          <a:p>
            <a:r>
              <a:rPr lang="zh-CN" altLang="en-US" dirty="0"/>
              <a:t>选择题</a:t>
            </a:r>
            <a:r>
              <a:rPr lang="en-US" altLang="zh-CN" dirty="0"/>
              <a:t>6</a:t>
            </a:r>
          </a:p>
        </p:txBody>
      </p:sp>
      <p:sp>
        <p:nvSpPr>
          <p:cNvPr id="125954" name="Rectangle 3">
            <a:extLst>
              <a:ext uri="{FF2B5EF4-FFF2-40B4-BE49-F238E27FC236}">
                <a16:creationId xmlns="" xmlns:a16="http://schemas.microsoft.com/office/drawing/2014/main" id="{D0FA4C0D-4EE2-2FEE-2A33-8C05A3B75653}"/>
              </a:ext>
            </a:extLst>
          </p:cNvPr>
          <p:cNvSpPr>
            <a:spLocks noGrp="1" noChangeArrowheads="1"/>
          </p:cNvSpPr>
          <p:nvPr>
            <p:ph idx="1"/>
          </p:nvPr>
        </p:nvSpPr>
        <p:spPr>
          <a:xfrm>
            <a:off x="935038" y="1233487"/>
            <a:ext cx="7772400" cy="5219849"/>
          </a:xfrm>
        </p:spPr>
        <p:txBody>
          <a:bodyPr>
            <a:normAutofit fontScale="92500"/>
          </a:bodyPr>
          <a:lstStyle/>
          <a:p>
            <a:pPr>
              <a:lnSpc>
                <a:spcPct val="120000"/>
              </a:lnSpc>
            </a:pPr>
            <a:r>
              <a:rPr lang="zh-CN" altLang="en-US" dirty="0"/>
              <a:t>下列几种关于进程的叙述中，最不符合操作系统对进程理解的是</a:t>
            </a:r>
            <a:r>
              <a:rPr lang="en-US" altLang="zh-CN" dirty="0"/>
              <a:t>_____</a:t>
            </a:r>
            <a:r>
              <a:rPr lang="zh-CN" altLang="en-US" dirty="0"/>
              <a:t>。</a:t>
            </a:r>
          </a:p>
          <a:p>
            <a:pPr marL="0" indent="0">
              <a:lnSpc>
                <a:spcPct val="120000"/>
              </a:lnSpc>
              <a:buNone/>
            </a:pPr>
            <a:r>
              <a:rPr lang="en-US" altLang="zh-CN" dirty="0"/>
              <a:t>   A</a:t>
            </a:r>
            <a:r>
              <a:rPr lang="zh-CN" altLang="en-US" dirty="0"/>
              <a:t>．进程是在多程序并行环境中的完整的程序</a:t>
            </a:r>
          </a:p>
          <a:p>
            <a:pPr marL="0" indent="0">
              <a:lnSpc>
                <a:spcPct val="120000"/>
              </a:lnSpc>
              <a:buNone/>
            </a:pPr>
            <a:r>
              <a:rPr lang="en-US" altLang="zh-CN" dirty="0"/>
              <a:t>   B</a:t>
            </a:r>
            <a:r>
              <a:rPr lang="zh-CN" altLang="en-US" dirty="0"/>
              <a:t>．进程可以由程序，数据和进程控制块描述</a:t>
            </a:r>
          </a:p>
          <a:p>
            <a:pPr marL="0" indent="0">
              <a:lnSpc>
                <a:spcPct val="120000"/>
              </a:lnSpc>
              <a:buNone/>
            </a:pPr>
            <a:r>
              <a:rPr lang="en-US" altLang="zh-CN" dirty="0"/>
              <a:t>   C</a:t>
            </a:r>
            <a:r>
              <a:rPr lang="zh-CN" altLang="en-US" dirty="0"/>
              <a:t>．线程</a:t>
            </a:r>
            <a:r>
              <a:rPr lang="en-US" altLang="zh-CN" dirty="0"/>
              <a:t>(Thread)</a:t>
            </a:r>
            <a:r>
              <a:rPr lang="zh-CN" altLang="en-US" dirty="0"/>
              <a:t>是一种特殊的进程</a:t>
            </a:r>
          </a:p>
          <a:p>
            <a:pPr marL="0" indent="0">
              <a:lnSpc>
                <a:spcPct val="120000"/>
              </a:lnSpc>
              <a:buNone/>
            </a:pPr>
            <a:r>
              <a:rPr lang="en-US" altLang="zh-CN" dirty="0"/>
              <a:t>   D</a:t>
            </a:r>
            <a:r>
              <a:rPr lang="zh-CN" altLang="en-US" dirty="0"/>
              <a:t>．进程是程序在一个数据集合上运行的过程，是系统进行资源分配和调度的一个独立单位</a:t>
            </a:r>
          </a:p>
        </p:txBody>
      </p:sp>
      <p:sp>
        <p:nvSpPr>
          <p:cNvPr id="2" name="灯片编号占位符 1">
            <a:extLst>
              <a:ext uri="{FF2B5EF4-FFF2-40B4-BE49-F238E27FC236}">
                <a16:creationId xmlns="" xmlns:a16="http://schemas.microsoft.com/office/drawing/2014/main" id="{FC32DEA8-6144-63EE-D70A-95AD8102BFEB}"/>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75</a:t>
            </a:fld>
            <a:endParaRPr lang="zh-CN" altLang="en-US" dirty="0"/>
          </a:p>
        </p:txBody>
      </p:sp>
    </p:spTree>
    <p:extLst>
      <p:ext uri="{BB962C8B-B14F-4D97-AF65-F5344CB8AC3E}">
        <p14:creationId xmlns:p14="http://schemas.microsoft.com/office/powerpoint/2010/main" val="68609163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7" name="Rectangle 2">
            <a:extLst>
              <a:ext uri="{FF2B5EF4-FFF2-40B4-BE49-F238E27FC236}">
                <a16:creationId xmlns="" xmlns:a16="http://schemas.microsoft.com/office/drawing/2014/main" id="{35C58594-701D-1D7D-D44F-11CBC1D5008A}"/>
              </a:ext>
            </a:extLst>
          </p:cNvPr>
          <p:cNvSpPr>
            <a:spLocks noGrp="1" noChangeArrowheads="1"/>
          </p:cNvSpPr>
          <p:nvPr>
            <p:ph type="title"/>
          </p:nvPr>
        </p:nvSpPr>
        <p:spPr/>
        <p:txBody>
          <a:bodyPr/>
          <a:lstStyle/>
          <a:p>
            <a:pPr eaLnBrk="1" hangingPunct="1"/>
            <a:r>
              <a:rPr lang="zh-CN" altLang="en-US" dirty="0"/>
              <a:t>选择题</a:t>
            </a:r>
            <a:r>
              <a:rPr lang="en-US" altLang="zh-CN" dirty="0"/>
              <a:t>7</a:t>
            </a:r>
          </a:p>
        </p:txBody>
      </p:sp>
      <p:sp>
        <p:nvSpPr>
          <p:cNvPr id="126978" name="Rectangle 3">
            <a:extLst>
              <a:ext uri="{FF2B5EF4-FFF2-40B4-BE49-F238E27FC236}">
                <a16:creationId xmlns="" xmlns:a16="http://schemas.microsoft.com/office/drawing/2014/main" id="{8AE7CEB9-0622-188D-5098-D21063EF86B8}"/>
              </a:ext>
            </a:extLst>
          </p:cNvPr>
          <p:cNvSpPr>
            <a:spLocks noGrp="1" noChangeArrowheads="1"/>
          </p:cNvSpPr>
          <p:nvPr>
            <p:ph idx="1"/>
          </p:nvPr>
        </p:nvSpPr>
        <p:spPr>
          <a:xfrm>
            <a:off x="381000" y="1125538"/>
            <a:ext cx="8458200" cy="4953000"/>
          </a:xfrm>
        </p:spPr>
        <p:txBody>
          <a:bodyPr>
            <a:normAutofit fontScale="92500" lnSpcReduction="10000"/>
          </a:bodyPr>
          <a:lstStyle/>
          <a:p>
            <a:pPr eaLnBrk="1" hangingPunct="1"/>
            <a:r>
              <a:rPr lang="zh-CN" altLang="en-US" sz="2800"/>
              <a:t>当一个进程处于</a:t>
            </a:r>
            <a:r>
              <a:rPr lang="en-US" altLang="zh-CN" sz="2800"/>
              <a:t>_____</a:t>
            </a:r>
            <a:r>
              <a:rPr lang="zh-CN" altLang="en-US" sz="2800"/>
              <a:t>的状态时，称其为等待状态</a:t>
            </a:r>
          </a:p>
          <a:p>
            <a:pPr eaLnBrk="1" hangingPunct="1">
              <a:buFont typeface="Wingdings" pitchFamily="2" charset="2"/>
              <a:buNone/>
            </a:pPr>
            <a:r>
              <a:rPr lang="en-US" altLang="zh-CN" sz="2800"/>
              <a:t>   A</a:t>
            </a:r>
            <a:r>
              <a:rPr lang="zh-CN" altLang="en-US" sz="2800"/>
              <a:t>．它正等待调度</a:t>
            </a:r>
          </a:p>
          <a:p>
            <a:pPr eaLnBrk="1" hangingPunct="1">
              <a:buFont typeface="Wingdings" pitchFamily="2" charset="2"/>
              <a:buNone/>
            </a:pPr>
            <a:r>
              <a:rPr lang="zh-CN" altLang="en-US" sz="2800"/>
              <a:t>   </a:t>
            </a:r>
            <a:r>
              <a:rPr lang="en-US" altLang="zh-CN" sz="2800"/>
              <a:t>B</a:t>
            </a:r>
            <a:r>
              <a:rPr lang="zh-CN" altLang="en-US" sz="2800"/>
              <a:t>．它正等着协作进程的一个消息</a:t>
            </a:r>
          </a:p>
          <a:p>
            <a:pPr eaLnBrk="1" hangingPunct="1">
              <a:buFont typeface="Wingdings" pitchFamily="2" charset="2"/>
              <a:buNone/>
            </a:pPr>
            <a:r>
              <a:rPr lang="en-US" altLang="zh-CN" sz="2800"/>
              <a:t>   C</a:t>
            </a:r>
            <a:r>
              <a:rPr lang="zh-CN" altLang="en-US" sz="2800"/>
              <a:t>．它正等分给它一个时间片</a:t>
            </a:r>
          </a:p>
          <a:p>
            <a:pPr eaLnBrk="1" hangingPunct="1">
              <a:buFont typeface="Wingdings" pitchFamily="2" charset="2"/>
              <a:buNone/>
            </a:pPr>
            <a:r>
              <a:rPr lang="zh-CN" altLang="en-US" sz="2800"/>
              <a:t>   </a:t>
            </a:r>
            <a:r>
              <a:rPr lang="en-US" altLang="zh-CN" sz="2800"/>
              <a:t>D</a:t>
            </a:r>
            <a:r>
              <a:rPr lang="zh-CN" altLang="en-US" sz="2800"/>
              <a:t>．它正等进入内存</a:t>
            </a:r>
            <a:endParaRPr lang="en-US" altLang="zh-CN" sz="2800"/>
          </a:p>
          <a:p>
            <a:r>
              <a:rPr lang="zh-CN" altLang="en-US" sz="2800"/>
              <a:t>进程从执行状态到阻塞状态可能是由于</a:t>
            </a:r>
            <a:r>
              <a:rPr lang="en-US" altLang="zh-CN" sz="2800"/>
              <a:t>_____ </a:t>
            </a:r>
            <a:r>
              <a:rPr lang="zh-CN" altLang="en-US" sz="2800"/>
              <a:t>。</a:t>
            </a:r>
          </a:p>
          <a:p>
            <a:pPr>
              <a:buFont typeface="Wingdings" pitchFamily="2" charset="2"/>
              <a:buNone/>
            </a:pPr>
            <a:r>
              <a:rPr lang="en-US" altLang="zh-CN" sz="2800"/>
              <a:t>   A</a:t>
            </a:r>
            <a:r>
              <a:rPr lang="zh-CN" altLang="en-US" sz="2800"/>
              <a:t>．进程调度程序的调度</a:t>
            </a:r>
            <a:endParaRPr lang="en-US" altLang="zh-CN" sz="2800"/>
          </a:p>
          <a:p>
            <a:pPr>
              <a:buFont typeface="Wingdings" pitchFamily="2" charset="2"/>
              <a:buNone/>
            </a:pPr>
            <a:r>
              <a:rPr lang="zh-CN" altLang="en-US" sz="2800"/>
              <a:t>   </a:t>
            </a:r>
            <a:r>
              <a:rPr lang="en-US" altLang="zh-CN" sz="2800"/>
              <a:t>B</a:t>
            </a:r>
            <a:r>
              <a:rPr lang="zh-CN" altLang="en-US" sz="2800"/>
              <a:t>．现运行进程的时间片用完</a:t>
            </a:r>
          </a:p>
          <a:p>
            <a:pPr>
              <a:buFont typeface="Wingdings" pitchFamily="2" charset="2"/>
              <a:buNone/>
            </a:pPr>
            <a:r>
              <a:rPr lang="en-US" altLang="zh-CN" sz="2800"/>
              <a:t>   C</a:t>
            </a:r>
            <a:r>
              <a:rPr lang="zh-CN" altLang="en-US" sz="2800"/>
              <a:t>．现运行进程执行了</a:t>
            </a:r>
            <a:r>
              <a:rPr lang="en-US" altLang="zh-CN" sz="2800"/>
              <a:t>P</a:t>
            </a:r>
            <a:r>
              <a:rPr lang="zh-CN" altLang="en-US" sz="2800"/>
              <a:t>操作</a:t>
            </a:r>
            <a:endParaRPr lang="en-US" altLang="zh-CN" sz="2800"/>
          </a:p>
          <a:p>
            <a:pPr>
              <a:buFont typeface="Wingdings" pitchFamily="2" charset="2"/>
              <a:buNone/>
            </a:pPr>
            <a:r>
              <a:rPr lang="zh-CN" altLang="en-US" sz="2800"/>
              <a:t>   </a:t>
            </a:r>
            <a:r>
              <a:rPr lang="en-US" altLang="zh-CN" sz="2800"/>
              <a:t>D</a:t>
            </a:r>
            <a:r>
              <a:rPr lang="zh-CN" altLang="en-US" sz="2800"/>
              <a:t>．现运行进程执行了</a:t>
            </a:r>
            <a:r>
              <a:rPr lang="en-US" altLang="zh-CN" sz="2800"/>
              <a:t>V</a:t>
            </a:r>
            <a:r>
              <a:rPr lang="zh-CN" altLang="en-US" sz="2800"/>
              <a:t>操作</a:t>
            </a:r>
          </a:p>
          <a:p>
            <a:pPr eaLnBrk="1" hangingPunct="1">
              <a:lnSpc>
                <a:spcPct val="80000"/>
              </a:lnSpc>
              <a:buFont typeface="Wingdings" pitchFamily="2" charset="2"/>
              <a:buNone/>
            </a:pPr>
            <a:endParaRPr lang="zh-CN" altLang="en-US" sz="2800"/>
          </a:p>
        </p:txBody>
      </p:sp>
      <p:sp>
        <p:nvSpPr>
          <p:cNvPr id="2" name="灯片编号占位符 1">
            <a:extLst>
              <a:ext uri="{FF2B5EF4-FFF2-40B4-BE49-F238E27FC236}">
                <a16:creationId xmlns="" xmlns:a16="http://schemas.microsoft.com/office/drawing/2014/main" id="{D43DD3A0-2354-B7D2-0AC9-F54E26924AA9}"/>
              </a:ext>
            </a:extLst>
          </p:cNvPr>
          <p:cNvSpPr>
            <a:spLocks noGrp="1"/>
          </p:cNvSpPr>
          <p:nvPr>
            <p:ph type="sldNum" sz="quarter" idx="12"/>
          </p:nvPr>
        </p:nvSpPr>
        <p:spPr/>
        <p:txBody>
          <a:bodyPr/>
          <a:lstStyle/>
          <a:p>
            <a:fld id="{4093CC90-4002-504C-BD88-C9A1D374048E}" type="slidenum">
              <a:rPr lang="zh-CN" altLang="en-US" smtClean="0"/>
              <a:pPr/>
              <a:t>76</a:t>
            </a:fld>
            <a:endParaRPr lang="zh-CN" altLang="en-US" dirty="0"/>
          </a:p>
        </p:txBody>
      </p:sp>
    </p:spTree>
    <p:extLst>
      <p:ext uri="{BB962C8B-B14F-4D97-AF65-F5344CB8AC3E}">
        <p14:creationId xmlns:p14="http://schemas.microsoft.com/office/powerpoint/2010/main" val="257857976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1" name="Rectangle 2">
            <a:extLst>
              <a:ext uri="{FF2B5EF4-FFF2-40B4-BE49-F238E27FC236}">
                <a16:creationId xmlns="" xmlns:a16="http://schemas.microsoft.com/office/drawing/2014/main" id="{CE4C4E58-A683-1CF7-A063-78F8BACD9305}"/>
              </a:ext>
            </a:extLst>
          </p:cNvPr>
          <p:cNvSpPr>
            <a:spLocks noGrp="1" noChangeArrowheads="1"/>
          </p:cNvSpPr>
          <p:nvPr>
            <p:ph type="title"/>
          </p:nvPr>
        </p:nvSpPr>
        <p:spPr/>
        <p:txBody>
          <a:bodyPr/>
          <a:lstStyle/>
          <a:p>
            <a:pPr eaLnBrk="1" hangingPunct="1"/>
            <a:r>
              <a:rPr lang="zh-CN" altLang="en-US" dirty="0"/>
              <a:t>选择题</a:t>
            </a:r>
            <a:r>
              <a:rPr lang="en-US" altLang="zh-CN" dirty="0"/>
              <a:t>8</a:t>
            </a:r>
          </a:p>
        </p:txBody>
      </p:sp>
      <p:sp>
        <p:nvSpPr>
          <p:cNvPr id="128002" name="Rectangle 3">
            <a:extLst>
              <a:ext uri="{FF2B5EF4-FFF2-40B4-BE49-F238E27FC236}">
                <a16:creationId xmlns="" xmlns:a16="http://schemas.microsoft.com/office/drawing/2014/main" id="{FF43CC72-F6A6-3563-6722-B40016BEFE9F}"/>
              </a:ext>
            </a:extLst>
          </p:cNvPr>
          <p:cNvSpPr>
            <a:spLocks noGrp="1" noChangeArrowheads="1"/>
          </p:cNvSpPr>
          <p:nvPr>
            <p:ph idx="1"/>
          </p:nvPr>
        </p:nvSpPr>
        <p:spPr>
          <a:xfrm>
            <a:off x="381000" y="1125538"/>
            <a:ext cx="8458200" cy="4953000"/>
          </a:xfrm>
        </p:spPr>
        <p:txBody>
          <a:bodyPr>
            <a:normAutofit lnSpcReduction="10000"/>
          </a:bodyPr>
          <a:lstStyle/>
          <a:p>
            <a:r>
              <a:rPr lang="zh-CN" altLang="en-US" sz="2800" dirty="0"/>
              <a:t>一个进程被唤醒意味着</a:t>
            </a:r>
            <a:r>
              <a:rPr lang="en-US" altLang="zh-CN" sz="2800" dirty="0"/>
              <a:t>_____ </a:t>
            </a:r>
            <a:r>
              <a:rPr lang="zh-CN" altLang="en-US" sz="2800" dirty="0"/>
              <a:t>。 </a:t>
            </a:r>
          </a:p>
          <a:p>
            <a:pPr>
              <a:buFont typeface="Wingdings" pitchFamily="2" charset="2"/>
              <a:buNone/>
            </a:pPr>
            <a:r>
              <a:rPr lang="en-US" altLang="zh-CN" sz="2800" dirty="0"/>
              <a:t>   A</a:t>
            </a:r>
            <a:r>
              <a:rPr lang="zh-CN" altLang="en-US" sz="2800" dirty="0"/>
              <a:t>．该进程重新占有了</a:t>
            </a:r>
            <a:r>
              <a:rPr lang="en-US" altLang="zh-CN" sz="2800" dirty="0"/>
              <a:t>CPU</a:t>
            </a:r>
          </a:p>
          <a:p>
            <a:pPr>
              <a:buFont typeface="Wingdings" pitchFamily="2" charset="2"/>
              <a:buNone/>
            </a:pPr>
            <a:r>
              <a:rPr lang="en-US" altLang="zh-CN" sz="2800" dirty="0"/>
              <a:t>   B</a:t>
            </a:r>
            <a:r>
              <a:rPr lang="zh-CN" altLang="en-US" sz="2800" dirty="0"/>
              <a:t>．进程状态变为就绪 </a:t>
            </a:r>
          </a:p>
          <a:p>
            <a:pPr>
              <a:buFont typeface="Wingdings" pitchFamily="2" charset="2"/>
              <a:buNone/>
            </a:pPr>
            <a:r>
              <a:rPr lang="en-US" altLang="zh-CN" sz="2800" dirty="0"/>
              <a:t>   C</a:t>
            </a:r>
            <a:r>
              <a:rPr lang="zh-CN" altLang="en-US" sz="2800" dirty="0"/>
              <a:t>．它的优先权变为最大</a:t>
            </a:r>
            <a:endParaRPr lang="en-US" altLang="zh-CN" sz="2800" dirty="0"/>
          </a:p>
          <a:p>
            <a:pPr>
              <a:buFont typeface="Wingdings" pitchFamily="2" charset="2"/>
              <a:buNone/>
            </a:pPr>
            <a:r>
              <a:rPr lang="zh-CN" altLang="en-US" sz="2800" dirty="0"/>
              <a:t>   </a:t>
            </a:r>
            <a:r>
              <a:rPr lang="en-US" altLang="zh-CN" sz="2800" dirty="0"/>
              <a:t>D</a:t>
            </a:r>
            <a:r>
              <a:rPr lang="zh-CN" altLang="en-US" sz="2800" dirty="0"/>
              <a:t>．其</a:t>
            </a:r>
            <a:r>
              <a:rPr lang="en-US" altLang="zh-CN" sz="2800" dirty="0"/>
              <a:t>PCB</a:t>
            </a:r>
            <a:r>
              <a:rPr lang="zh-CN" altLang="en-US" sz="2800" dirty="0"/>
              <a:t>移至就绪队列的队首</a:t>
            </a:r>
            <a:endParaRPr lang="en-US" altLang="zh-CN" sz="2800" dirty="0"/>
          </a:p>
          <a:p>
            <a:r>
              <a:rPr lang="zh-CN" altLang="en-US" sz="2800" dirty="0"/>
              <a:t>一个进程基本状态可以从其他两种基本状态转变过来 ，这个基本状态是</a:t>
            </a:r>
            <a:r>
              <a:rPr lang="en-US" altLang="zh-CN" sz="2800" dirty="0"/>
              <a:t>_____</a:t>
            </a:r>
            <a:r>
              <a:rPr lang="zh-CN" altLang="en-US" sz="2800" dirty="0"/>
              <a:t>。</a:t>
            </a:r>
          </a:p>
          <a:p>
            <a:pPr>
              <a:buFont typeface="Wingdings" pitchFamily="2" charset="2"/>
              <a:buNone/>
            </a:pPr>
            <a:r>
              <a:rPr lang="en-US" altLang="zh-CN" sz="2800" dirty="0"/>
              <a:t>   A</a:t>
            </a:r>
            <a:r>
              <a:rPr lang="zh-CN" altLang="en-US" sz="2800" dirty="0"/>
              <a:t>．执行状态        </a:t>
            </a:r>
            <a:r>
              <a:rPr lang="en-US" altLang="zh-CN" sz="2800" dirty="0"/>
              <a:t>B</a:t>
            </a:r>
            <a:r>
              <a:rPr lang="zh-CN" altLang="en-US" sz="2800" dirty="0"/>
              <a:t>．阻塞状态</a:t>
            </a:r>
            <a:endParaRPr lang="en-US" altLang="zh-CN" sz="2800" dirty="0"/>
          </a:p>
          <a:p>
            <a:pPr>
              <a:buFont typeface="Wingdings" pitchFamily="2" charset="2"/>
              <a:buNone/>
            </a:pPr>
            <a:r>
              <a:rPr lang="zh-CN" altLang="en-US" sz="2800" dirty="0"/>
              <a:t>   </a:t>
            </a:r>
            <a:r>
              <a:rPr lang="en-US" altLang="zh-CN" sz="2800" dirty="0"/>
              <a:t>C</a:t>
            </a:r>
            <a:r>
              <a:rPr lang="zh-CN" altLang="en-US" sz="2800" dirty="0"/>
              <a:t>．就绪状态       </a:t>
            </a:r>
            <a:r>
              <a:rPr lang="en-US" altLang="zh-CN" sz="2800" dirty="0"/>
              <a:t>D</a:t>
            </a:r>
            <a:r>
              <a:rPr lang="zh-CN" altLang="en-US" sz="2800" dirty="0"/>
              <a:t>．撤销状态</a:t>
            </a:r>
          </a:p>
        </p:txBody>
      </p:sp>
      <p:sp>
        <p:nvSpPr>
          <p:cNvPr id="2" name="灯片编号占位符 1">
            <a:extLst>
              <a:ext uri="{FF2B5EF4-FFF2-40B4-BE49-F238E27FC236}">
                <a16:creationId xmlns="" xmlns:a16="http://schemas.microsoft.com/office/drawing/2014/main" id="{FBBFA230-5946-4096-B7C3-C404E493D3CC}"/>
              </a:ext>
            </a:extLst>
          </p:cNvPr>
          <p:cNvSpPr>
            <a:spLocks noGrp="1"/>
          </p:cNvSpPr>
          <p:nvPr>
            <p:ph type="sldNum" sz="quarter" idx="12"/>
          </p:nvPr>
        </p:nvSpPr>
        <p:spPr/>
        <p:txBody>
          <a:bodyPr/>
          <a:lstStyle/>
          <a:p>
            <a:fld id="{4093CC90-4002-504C-BD88-C9A1D374048E}" type="slidenum">
              <a:rPr lang="zh-CN" altLang="en-US" smtClean="0"/>
              <a:pPr/>
              <a:t>77</a:t>
            </a:fld>
            <a:endParaRPr lang="zh-CN" altLang="en-US" dirty="0"/>
          </a:p>
        </p:txBody>
      </p:sp>
    </p:spTree>
    <p:extLst>
      <p:ext uri="{BB962C8B-B14F-4D97-AF65-F5344CB8AC3E}">
        <p14:creationId xmlns:p14="http://schemas.microsoft.com/office/powerpoint/2010/main" val="346649230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3" name="Rectangle 2">
            <a:extLst>
              <a:ext uri="{FF2B5EF4-FFF2-40B4-BE49-F238E27FC236}">
                <a16:creationId xmlns="" xmlns:a16="http://schemas.microsoft.com/office/drawing/2014/main" id="{A40AD097-AB0F-1B9A-C522-84EE446E90E4}"/>
              </a:ext>
            </a:extLst>
          </p:cNvPr>
          <p:cNvSpPr>
            <a:spLocks noGrp="1" noChangeArrowheads="1"/>
          </p:cNvSpPr>
          <p:nvPr>
            <p:ph type="title"/>
          </p:nvPr>
        </p:nvSpPr>
        <p:spPr/>
        <p:txBody>
          <a:bodyPr/>
          <a:lstStyle/>
          <a:p>
            <a:pPr eaLnBrk="1" hangingPunct="1"/>
            <a:r>
              <a:rPr lang="zh-CN" altLang="en-US" dirty="0"/>
              <a:t>选择题</a:t>
            </a:r>
            <a:r>
              <a:rPr lang="en-US" altLang="zh-CN" dirty="0"/>
              <a:t>9</a:t>
            </a:r>
          </a:p>
        </p:txBody>
      </p:sp>
      <p:sp>
        <p:nvSpPr>
          <p:cNvPr id="131074" name="Rectangle 3">
            <a:extLst>
              <a:ext uri="{FF2B5EF4-FFF2-40B4-BE49-F238E27FC236}">
                <a16:creationId xmlns="" xmlns:a16="http://schemas.microsoft.com/office/drawing/2014/main" id="{1824B94B-8439-54A6-17CE-D16DFF6A9A5A}"/>
              </a:ext>
            </a:extLst>
          </p:cNvPr>
          <p:cNvSpPr>
            <a:spLocks noGrp="1" noChangeArrowheads="1"/>
          </p:cNvSpPr>
          <p:nvPr>
            <p:ph idx="1"/>
          </p:nvPr>
        </p:nvSpPr>
        <p:spPr>
          <a:xfrm>
            <a:off x="533400" y="1196975"/>
            <a:ext cx="8305800" cy="4724400"/>
          </a:xfrm>
        </p:spPr>
        <p:txBody>
          <a:bodyPr>
            <a:normAutofit fontScale="92500"/>
          </a:bodyPr>
          <a:lstStyle/>
          <a:p>
            <a:pPr algn="just" eaLnBrk="1" hangingPunct="1"/>
            <a:r>
              <a:rPr lang="zh-CN" altLang="en-US" sz="2800" dirty="0"/>
              <a:t>设系统中有</a:t>
            </a:r>
            <a:r>
              <a:rPr lang="en-US" altLang="zh-CN" sz="2800" dirty="0" err="1"/>
              <a:t>n（n</a:t>
            </a:r>
            <a:r>
              <a:rPr lang="en-US" altLang="zh-CN" sz="2800" dirty="0"/>
              <a:t>&gt;2）</a:t>
            </a:r>
            <a:r>
              <a:rPr lang="zh-CN" altLang="en-US" sz="2800" dirty="0"/>
              <a:t>个进程，且当前不在执行进程调度程序，试考虑下述4种情况：</a:t>
            </a:r>
          </a:p>
          <a:p>
            <a:pPr marL="457200" lvl="1" indent="0" algn="just" eaLnBrk="1" hangingPunct="1">
              <a:buNone/>
            </a:pPr>
            <a:r>
              <a:rPr lang="zh-CN" altLang="en-US" sz="2400" dirty="0"/>
              <a:t>1. 有1个运行进程，</a:t>
            </a:r>
            <a:r>
              <a:rPr lang="en-US" altLang="zh-CN" sz="2400" dirty="0"/>
              <a:t>n-1</a:t>
            </a:r>
            <a:r>
              <a:rPr lang="zh-CN" altLang="en-US" sz="2400" dirty="0"/>
              <a:t>个就绪进程，没有进程处于等待状态。</a:t>
            </a:r>
          </a:p>
          <a:p>
            <a:pPr marL="457200" lvl="1" indent="0" algn="just" eaLnBrk="1" hangingPunct="1">
              <a:buNone/>
            </a:pPr>
            <a:r>
              <a:rPr lang="zh-CN" altLang="en-US" sz="2400" dirty="0"/>
              <a:t>2. 有1个运行进程，没有就绪进程，</a:t>
            </a:r>
            <a:r>
              <a:rPr lang="en-US" altLang="zh-CN" sz="2400" dirty="0"/>
              <a:t>n-1</a:t>
            </a:r>
            <a:r>
              <a:rPr lang="zh-CN" altLang="en-US" sz="2400" dirty="0"/>
              <a:t>进程处于等待状态。</a:t>
            </a:r>
          </a:p>
          <a:p>
            <a:pPr marL="457200" lvl="1" indent="0" algn="just" eaLnBrk="1" hangingPunct="1">
              <a:buNone/>
            </a:pPr>
            <a:r>
              <a:rPr lang="zh-CN" altLang="en-US" sz="2400" dirty="0"/>
              <a:t>3. 有1个运行进程，有1个就绪进程，</a:t>
            </a:r>
            <a:r>
              <a:rPr lang="en-US" altLang="zh-CN" sz="2400" dirty="0"/>
              <a:t>n-2</a:t>
            </a:r>
            <a:r>
              <a:rPr lang="zh-CN" altLang="en-US" sz="2400" dirty="0"/>
              <a:t>进程处于等待状态。</a:t>
            </a:r>
          </a:p>
          <a:p>
            <a:pPr marL="457200" lvl="1" indent="0" algn="just" eaLnBrk="1" hangingPunct="1">
              <a:buNone/>
            </a:pPr>
            <a:r>
              <a:rPr lang="zh-CN" altLang="en-US" sz="2400" dirty="0"/>
              <a:t>4. 没有运行进程，有2个就绪进程，</a:t>
            </a:r>
            <a:r>
              <a:rPr lang="en-US" altLang="zh-CN" sz="2400" dirty="0"/>
              <a:t>n</a:t>
            </a:r>
            <a:r>
              <a:rPr lang="zh-CN" altLang="en-US" sz="2400" dirty="0"/>
              <a:t>个进程处于等待状态</a:t>
            </a:r>
          </a:p>
          <a:p>
            <a:pPr marL="0" indent="0" algn="just">
              <a:buNone/>
            </a:pPr>
            <a:r>
              <a:rPr lang="zh-CN" altLang="en-US" sz="2800" dirty="0"/>
              <a:t>    上述情况中，不可能发生的情况是_____。</a:t>
            </a:r>
          </a:p>
        </p:txBody>
      </p:sp>
      <p:sp>
        <p:nvSpPr>
          <p:cNvPr id="2" name="灯片编号占位符 1">
            <a:extLst>
              <a:ext uri="{FF2B5EF4-FFF2-40B4-BE49-F238E27FC236}">
                <a16:creationId xmlns="" xmlns:a16="http://schemas.microsoft.com/office/drawing/2014/main" id="{8478B2CE-322C-0B60-B54A-ADB9D3C1DD91}"/>
              </a:ext>
            </a:extLst>
          </p:cNvPr>
          <p:cNvSpPr>
            <a:spLocks noGrp="1"/>
          </p:cNvSpPr>
          <p:nvPr>
            <p:ph type="sldNum" sz="quarter" idx="12"/>
          </p:nvPr>
        </p:nvSpPr>
        <p:spPr/>
        <p:txBody>
          <a:bodyPr/>
          <a:lstStyle/>
          <a:p>
            <a:fld id="{4093CC90-4002-504C-BD88-C9A1D374048E}" type="slidenum">
              <a:rPr lang="zh-CN" altLang="en-US" smtClean="0"/>
              <a:pPr/>
              <a:t>78</a:t>
            </a:fld>
            <a:endParaRPr lang="zh-CN" altLang="en-US" dirty="0"/>
          </a:p>
        </p:txBody>
      </p:sp>
    </p:spTree>
    <p:extLst>
      <p:ext uri="{BB962C8B-B14F-4D97-AF65-F5344CB8AC3E}">
        <p14:creationId xmlns:p14="http://schemas.microsoft.com/office/powerpoint/2010/main" val="418493663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1" name="Rectangle 2">
            <a:extLst>
              <a:ext uri="{FF2B5EF4-FFF2-40B4-BE49-F238E27FC236}">
                <a16:creationId xmlns="" xmlns:a16="http://schemas.microsoft.com/office/drawing/2014/main" id="{192321BE-5568-1D7F-4EBA-B15E1059775D}"/>
              </a:ext>
            </a:extLst>
          </p:cNvPr>
          <p:cNvSpPr>
            <a:spLocks noGrp="1" noChangeArrowheads="1"/>
          </p:cNvSpPr>
          <p:nvPr>
            <p:ph type="title"/>
          </p:nvPr>
        </p:nvSpPr>
        <p:spPr/>
        <p:txBody>
          <a:bodyPr/>
          <a:lstStyle/>
          <a:p>
            <a:pPr eaLnBrk="1" hangingPunct="1"/>
            <a:r>
              <a:rPr lang="zh-CN" altLang="en-US" dirty="0"/>
              <a:t>选择题</a:t>
            </a:r>
            <a:r>
              <a:rPr lang="en-US" altLang="zh-CN" dirty="0"/>
              <a:t>10</a:t>
            </a:r>
          </a:p>
        </p:txBody>
      </p:sp>
      <p:sp>
        <p:nvSpPr>
          <p:cNvPr id="133122" name="Rectangle 3">
            <a:extLst>
              <a:ext uri="{FF2B5EF4-FFF2-40B4-BE49-F238E27FC236}">
                <a16:creationId xmlns="" xmlns:a16="http://schemas.microsoft.com/office/drawing/2014/main" id="{355091B6-FAEB-F24D-0BFB-B50BAA861445}"/>
              </a:ext>
            </a:extLst>
          </p:cNvPr>
          <p:cNvSpPr>
            <a:spLocks noGrp="1" noChangeArrowheads="1"/>
          </p:cNvSpPr>
          <p:nvPr>
            <p:ph idx="1"/>
          </p:nvPr>
        </p:nvSpPr>
        <p:spPr/>
        <p:txBody>
          <a:bodyPr/>
          <a:lstStyle/>
          <a:p>
            <a:pPr algn="just" eaLnBrk="1" hangingPunct="1"/>
            <a:r>
              <a:rPr lang="zh-CN" altLang="en-US" dirty="0">
                <a:latin typeface="Times New Roman" panose="02020603050405020304" pitchFamily="18" charset="0"/>
              </a:rPr>
              <a:t>下面关于进程的叙述中，不正确的有</a:t>
            </a:r>
            <a:r>
              <a:rPr lang="zh-CN" altLang="en-US" dirty="0"/>
              <a:t> _____ </a:t>
            </a:r>
            <a:r>
              <a:rPr lang="zh-CN" altLang="en-US" dirty="0">
                <a:latin typeface="Times New Roman" panose="02020603050405020304" pitchFamily="18" charset="0"/>
              </a:rPr>
              <a:t>条。</a:t>
            </a:r>
            <a:endParaRPr lang="zh-CN" altLang="en-US" dirty="0"/>
          </a:p>
          <a:p>
            <a:pPr marL="457200" lvl="1" indent="0" algn="just" eaLnBrk="1" hangingPunct="1">
              <a:buNone/>
            </a:pPr>
            <a:r>
              <a:rPr lang="zh-CN" altLang="en-US" dirty="0">
                <a:latin typeface="Times New Roman" panose="02020603050405020304" pitchFamily="18" charset="0"/>
              </a:rPr>
              <a:t>①</a:t>
            </a:r>
            <a:r>
              <a:rPr lang="zh-CN" altLang="en-US" dirty="0"/>
              <a:t> </a:t>
            </a:r>
            <a:r>
              <a:rPr lang="zh-CN" altLang="en-US" dirty="0">
                <a:latin typeface="Times New Roman" panose="02020603050405020304" pitchFamily="18" charset="0"/>
              </a:rPr>
              <a:t>进程申请</a:t>
            </a:r>
            <a:r>
              <a:rPr lang="en-US" altLang="zh-CN" dirty="0"/>
              <a:t>CPU</a:t>
            </a:r>
            <a:r>
              <a:rPr lang="zh-CN" altLang="en-US" dirty="0">
                <a:latin typeface="Times New Roman" panose="02020603050405020304" pitchFamily="18" charset="0"/>
              </a:rPr>
              <a:t>得不到满足时，其状态变为等待状态。</a:t>
            </a:r>
            <a:endParaRPr lang="zh-CN" altLang="en-US" dirty="0"/>
          </a:p>
          <a:p>
            <a:pPr marL="457200" lvl="1" indent="0" algn="just" eaLnBrk="1" hangingPunct="1">
              <a:buNone/>
            </a:pPr>
            <a:r>
              <a:rPr lang="zh-CN" altLang="en-US" dirty="0">
                <a:latin typeface="Times New Roman" panose="02020603050405020304" pitchFamily="18" charset="0"/>
              </a:rPr>
              <a:t>②</a:t>
            </a:r>
            <a:r>
              <a:rPr lang="zh-CN" altLang="en-US" dirty="0"/>
              <a:t> </a:t>
            </a:r>
            <a:r>
              <a:rPr lang="zh-CN" altLang="en-US" dirty="0">
                <a:latin typeface="Times New Roman" panose="02020603050405020304" pitchFamily="18" charset="0"/>
              </a:rPr>
              <a:t>在单</a:t>
            </a:r>
            <a:r>
              <a:rPr lang="en-US" altLang="zh-CN" dirty="0"/>
              <a:t>CPU</a:t>
            </a:r>
            <a:r>
              <a:rPr lang="zh-CN" altLang="en-US" dirty="0">
                <a:latin typeface="Times New Roman" panose="02020603050405020304" pitchFamily="18" charset="0"/>
              </a:rPr>
              <a:t>系统中，任一时刻都有一个进程处于运行状态。</a:t>
            </a:r>
            <a:endParaRPr lang="zh-CN" altLang="en-US" dirty="0"/>
          </a:p>
          <a:p>
            <a:pPr marL="457200" lvl="1" indent="0" algn="just" eaLnBrk="1" hangingPunct="1">
              <a:buNone/>
            </a:pPr>
            <a:r>
              <a:rPr lang="zh-CN" altLang="en-US" dirty="0">
                <a:latin typeface="Times New Roman" panose="02020603050405020304" pitchFamily="18" charset="0"/>
              </a:rPr>
              <a:t>③</a:t>
            </a:r>
            <a:r>
              <a:rPr lang="zh-CN" altLang="en-US" dirty="0"/>
              <a:t> </a:t>
            </a:r>
            <a:r>
              <a:rPr lang="zh-CN" altLang="en-US" dirty="0">
                <a:latin typeface="Times New Roman" panose="02020603050405020304" pitchFamily="18" charset="0"/>
              </a:rPr>
              <a:t>优先级是进行进程调度的重要依据，一旦确定不能改变。</a:t>
            </a:r>
            <a:endParaRPr lang="zh-CN" altLang="en-US" dirty="0"/>
          </a:p>
          <a:p>
            <a:pPr marL="457200" lvl="1" indent="0" algn="just" eaLnBrk="1" hangingPunct="1">
              <a:buNone/>
            </a:pPr>
            <a:r>
              <a:rPr lang="zh-CN" altLang="en-US" dirty="0">
                <a:latin typeface="Times New Roman" panose="02020603050405020304" pitchFamily="18" charset="0"/>
              </a:rPr>
              <a:t>④</a:t>
            </a:r>
            <a:r>
              <a:rPr lang="zh-CN" altLang="en-US" dirty="0"/>
              <a:t> </a:t>
            </a:r>
            <a:r>
              <a:rPr lang="zh-CN" altLang="en-US" dirty="0">
                <a:latin typeface="Times New Roman" panose="02020603050405020304" pitchFamily="18" charset="0"/>
              </a:rPr>
              <a:t>进程获得处理机而运行是通过调度而实现的。</a:t>
            </a:r>
            <a:endParaRPr lang="zh-CN" altLang="en-US" dirty="0"/>
          </a:p>
          <a:p>
            <a:pPr eaLnBrk="1" hangingPunct="1"/>
            <a:endParaRPr lang="zh-CN" altLang="en-US" dirty="0"/>
          </a:p>
        </p:txBody>
      </p:sp>
      <p:sp>
        <p:nvSpPr>
          <p:cNvPr id="2" name="灯片编号占位符 1">
            <a:extLst>
              <a:ext uri="{FF2B5EF4-FFF2-40B4-BE49-F238E27FC236}">
                <a16:creationId xmlns="" xmlns:a16="http://schemas.microsoft.com/office/drawing/2014/main" id="{D841149A-DD39-D375-2866-391CE705FEAB}"/>
              </a:ext>
            </a:extLst>
          </p:cNvPr>
          <p:cNvSpPr>
            <a:spLocks noGrp="1"/>
          </p:cNvSpPr>
          <p:nvPr>
            <p:ph type="sldNum" sz="quarter" idx="12"/>
          </p:nvPr>
        </p:nvSpPr>
        <p:spPr/>
        <p:txBody>
          <a:bodyPr/>
          <a:lstStyle/>
          <a:p>
            <a:fld id="{4093CC90-4002-504C-BD88-C9A1D374048E}" type="slidenum">
              <a:rPr lang="zh-CN" altLang="en-US" smtClean="0"/>
              <a:pPr/>
              <a:t>79</a:t>
            </a:fld>
            <a:endParaRPr lang="zh-CN" altLang="en-US" dirty="0"/>
          </a:p>
        </p:txBody>
      </p:sp>
    </p:spTree>
    <p:extLst>
      <p:ext uri="{BB962C8B-B14F-4D97-AF65-F5344CB8AC3E}">
        <p14:creationId xmlns:p14="http://schemas.microsoft.com/office/powerpoint/2010/main" val="19823049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69" name="Rectangle 2">
            <a:extLst>
              <a:ext uri="{FF2B5EF4-FFF2-40B4-BE49-F238E27FC236}">
                <a16:creationId xmlns="" xmlns:a16="http://schemas.microsoft.com/office/drawing/2014/main" id="{4104CE86-A95F-0982-51F4-7998E855A4DE}"/>
              </a:ext>
            </a:extLst>
          </p:cNvPr>
          <p:cNvSpPr>
            <a:spLocks noGrp="1" noChangeArrowheads="1"/>
          </p:cNvSpPr>
          <p:nvPr>
            <p:ph type="title"/>
          </p:nvPr>
        </p:nvSpPr>
        <p:spPr/>
        <p:txBody>
          <a:bodyPr/>
          <a:lstStyle/>
          <a:p>
            <a:pPr eaLnBrk="1" hangingPunct="1"/>
            <a:r>
              <a:rPr lang="zh-CN" altLang="en-US"/>
              <a:t>考研题</a:t>
            </a:r>
            <a:r>
              <a:rPr lang="en-US" altLang="zh-CN"/>
              <a:t>1</a:t>
            </a:r>
          </a:p>
        </p:txBody>
      </p:sp>
      <p:sp>
        <p:nvSpPr>
          <p:cNvPr id="135170" name="Rectangle 3">
            <a:extLst>
              <a:ext uri="{FF2B5EF4-FFF2-40B4-BE49-F238E27FC236}">
                <a16:creationId xmlns="" xmlns:a16="http://schemas.microsoft.com/office/drawing/2014/main" id="{9303B026-E2CF-16FF-703C-DB218DB792A9}"/>
              </a:ext>
            </a:extLst>
          </p:cNvPr>
          <p:cNvSpPr>
            <a:spLocks noGrp="1" noChangeArrowheads="1"/>
          </p:cNvSpPr>
          <p:nvPr>
            <p:ph idx="1"/>
          </p:nvPr>
        </p:nvSpPr>
        <p:spPr/>
        <p:txBody>
          <a:bodyPr>
            <a:normAutofit/>
          </a:bodyPr>
          <a:lstStyle/>
          <a:p>
            <a:pPr eaLnBrk="1" hangingPunct="1"/>
            <a:r>
              <a:rPr lang="zh-CN" altLang="en-US" sz="2800" dirty="0"/>
              <a:t>下列选项中，导致创建新进程的操作是</a:t>
            </a:r>
            <a:r>
              <a:rPr lang="zh-CN" altLang="en-US" sz="2800" u="sng" dirty="0"/>
              <a:t>      </a:t>
            </a:r>
            <a:r>
              <a:rPr lang="zh-CN" altLang="en-US" sz="2800" dirty="0"/>
              <a:t>。</a:t>
            </a:r>
            <a:endParaRPr lang="en-US" altLang="zh-CN" sz="2800" dirty="0"/>
          </a:p>
          <a:p>
            <a:pPr eaLnBrk="1" hangingPunct="1">
              <a:buFont typeface="Wingdings" pitchFamily="2" charset="2"/>
              <a:buNone/>
            </a:pPr>
            <a:r>
              <a:rPr lang="en-US" altLang="zh-CN" sz="2800" dirty="0"/>
              <a:t> Ⅰ </a:t>
            </a:r>
            <a:r>
              <a:rPr lang="zh-CN" altLang="en-US" sz="2800" dirty="0"/>
              <a:t>用户登录成功     </a:t>
            </a:r>
            <a:r>
              <a:rPr lang="en-US" altLang="zh-CN" sz="2800" dirty="0"/>
              <a:t>Ⅱ </a:t>
            </a:r>
            <a:r>
              <a:rPr lang="zh-CN" altLang="en-US" sz="2800" dirty="0"/>
              <a:t>设备分配</a:t>
            </a:r>
          </a:p>
          <a:p>
            <a:pPr eaLnBrk="1" hangingPunct="1">
              <a:buFont typeface="Wingdings" pitchFamily="2" charset="2"/>
              <a:buNone/>
            </a:pPr>
            <a:r>
              <a:rPr lang="en-US" altLang="zh-CN" sz="2800" dirty="0"/>
              <a:t>  Ⅲ </a:t>
            </a:r>
            <a:r>
              <a:rPr lang="zh-CN" altLang="en-US" sz="2800" dirty="0"/>
              <a:t>启动程序执行</a:t>
            </a:r>
          </a:p>
          <a:p>
            <a:pPr eaLnBrk="1" hangingPunct="1">
              <a:buFont typeface="Wingdings" pitchFamily="2" charset="2"/>
              <a:buNone/>
            </a:pPr>
            <a:r>
              <a:rPr lang="en-US" altLang="zh-CN" sz="2800" dirty="0"/>
              <a:t>A.</a:t>
            </a:r>
            <a:r>
              <a:rPr lang="zh-CN" altLang="en-US" sz="2800" dirty="0"/>
              <a:t>仅</a:t>
            </a:r>
            <a:r>
              <a:rPr lang="en-US" altLang="zh-CN" sz="2800" dirty="0"/>
              <a:t>Ⅰ</a:t>
            </a:r>
            <a:r>
              <a:rPr lang="zh-CN" altLang="en-US" sz="2800" dirty="0"/>
              <a:t>和</a:t>
            </a:r>
            <a:r>
              <a:rPr lang="en-US" altLang="zh-CN" sz="2800" dirty="0"/>
              <a:t>Ⅱ			B.</a:t>
            </a:r>
            <a:r>
              <a:rPr lang="zh-CN" altLang="en-US" sz="2800" dirty="0"/>
              <a:t>仅</a:t>
            </a:r>
            <a:r>
              <a:rPr lang="en-US" altLang="zh-CN" sz="2800" dirty="0"/>
              <a:t>Ⅱ</a:t>
            </a:r>
            <a:r>
              <a:rPr lang="zh-CN" altLang="en-US" sz="2800" dirty="0"/>
              <a:t>和</a:t>
            </a:r>
            <a:r>
              <a:rPr lang="en-US" altLang="zh-CN" sz="2800" dirty="0"/>
              <a:t>Ⅲ</a:t>
            </a:r>
          </a:p>
          <a:p>
            <a:pPr eaLnBrk="1" hangingPunct="1">
              <a:buFont typeface="Wingdings" pitchFamily="2" charset="2"/>
              <a:buNone/>
            </a:pPr>
            <a:r>
              <a:rPr lang="en-US" altLang="zh-CN" sz="2800" dirty="0"/>
              <a:t>C.</a:t>
            </a:r>
            <a:r>
              <a:rPr lang="zh-CN" altLang="en-US" sz="2800" dirty="0"/>
              <a:t>仅</a:t>
            </a:r>
            <a:r>
              <a:rPr lang="en-US" altLang="zh-CN" sz="2800" dirty="0"/>
              <a:t>Ⅰ</a:t>
            </a:r>
            <a:r>
              <a:rPr lang="zh-CN" altLang="en-US" sz="2800" dirty="0"/>
              <a:t>和</a:t>
            </a:r>
            <a:r>
              <a:rPr lang="en-US" altLang="zh-CN" sz="2800" dirty="0"/>
              <a:t>Ⅲ			</a:t>
            </a:r>
            <a:r>
              <a:rPr lang="en-US" altLang="zh-CN" sz="2800" dirty="0" err="1"/>
              <a:t>D.Ⅰ</a:t>
            </a:r>
            <a:r>
              <a:rPr lang="zh-CN" altLang="en-US" sz="2800" dirty="0"/>
              <a:t>、</a:t>
            </a:r>
            <a:r>
              <a:rPr lang="en-US" altLang="zh-CN" sz="2800" dirty="0"/>
              <a:t>Ⅱ</a:t>
            </a:r>
            <a:r>
              <a:rPr lang="zh-CN" altLang="en-US" sz="2800" dirty="0"/>
              <a:t>、</a:t>
            </a:r>
            <a:r>
              <a:rPr lang="en-US" altLang="zh-CN" sz="2800" dirty="0"/>
              <a:t>Ⅲ</a:t>
            </a:r>
          </a:p>
          <a:p>
            <a:pPr eaLnBrk="1" hangingPunct="1"/>
            <a:r>
              <a:rPr lang="zh-CN" altLang="en-US" sz="2800" dirty="0"/>
              <a:t>下列选项中，在用户态执行的是</a:t>
            </a:r>
            <a:r>
              <a:rPr lang="en-US" altLang="zh-CN" sz="2800" dirty="0"/>
              <a:t>____</a:t>
            </a:r>
            <a:r>
              <a:rPr lang="zh-CN" altLang="en-US" sz="2800" dirty="0"/>
              <a:t>。</a:t>
            </a:r>
            <a:endParaRPr lang="en-US" altLang="zh-CN" sz="2800" dirty="0"/>
          </a:p>
          <a:p>
            <a:pPr eaLnBrk="1" hangingPunct="1">
              <a:buFont typeface="Wingdings" pitchFamily="2" charset="2"/>
              <a:buNone/>
            </a:pPr>
            <a:r>
              <a:rPr lang="en-US" altLang="zh-CN" sz="2800" dirty="0"/>
              <a:t>   A</a:t>
            </a:r>
            <a:r>
              <a:rPr lang="zh-CN" altLang="en-US" sz="2800" dirty="0"/>
              <a:t>、命令解释程序  </a:t>
            </a:r>
            <a:r>
              <a:rPr lang="en-US" altLang="zh-CN" sz="2800" dirty="0"/>
              <a:t>B</a:t>
            </a:r>
            <a:r>
              <a:rPr lang="zh-CN" altLang="en-US" sz="2800" dirty="0"/>
              <a:t>、缺页处理程序</a:t>
            </a:r>
          </a:p>
          <a:p>
            <a:pPr eaLnBrk="1" hangingPunct="1">
              <a:buFont typeface="Wingdings" pitchFamily="2" charset="2"/>
              <a:buNone/>
            </a:pPr>
            <a:r>
              <a:rPr lang="en-US" altLang="zh-CN" sz="2800" dirty="0"/>
              <a:t>   C</a:t>
            </a:r>
            <a:r>
              <a:rPr lang="zh-CN" altLang="en-US" sz="2800" dirty="0"/>
              <a:t>、进程调度程序  </a:t>
            </a:r>
            <a:r>
              <a:rPr lang="en-US" altLang="zh-CN" sz="2800" dirty="0"/>
              <a:t>D</a:t>
            </a:r>
            <a:r>
              <a:rPr lang="zh-CN" altLang="en-US" sz="2800" dirty="0"/>
              <a:t>、时钟中断处理程序</a:t>
            </a:r>
            <a:endParaRPr lang="zh-CN" altLang="en-US" sz="2400" dirty="0"/>
          </a:p>
          <a:p>
            <a:pPr eaLnBrk="1" hangingPunct="1">
              <a:buFont typeface="Wingdings" pitchFamily="2" charset="2"/>
              <a:buNone/>
            </a:pPr>
            <a:endParaRPr lang="zh-CN" altLang="en-US" sz="2400" dirty="0"/>
          </a:p>
        </p:txBody>
      </p:sp>
      <p:sp>
        <p:nvSpPr>
          <p:cNvPr id="2" name="灯片编号占位符 1">
            <a:extLst>
              <a:ext uri="{FF2B5EF4-FFF2-40B4-BE49-F238E27FC236}">
                <a16:creationId xmlns="" xmlns:a16="http://schemas.microsoft.com/office/drawing/2014/main" id="{4DDF9461-6CAE-F717-1EA7-5D6AEEFBE1CB}"/>
              </a:ext>
            </a:extLst>
          </p:cNvPr>
          <p:cNvSpPr>
            <a:spLocks noGrp="1"/>
          </p:cNvSpPr>
          <p:nvPr>
            <p:ph type="sldNum" sz="quarter" idx="12"/>
          </p:nvPr>
        </p:nvSpPr>
        <p:spPr/>
        <p:txBody>
          <a:bodyPr/>
          <a:lstStyle/>
          <a:p>
            <a:fld id="{4093CC90-4002-504C-BD88-C9A1D374048E}" type="slidenum">
              <a:rPr lang="zh-CN" altLang="en-US" smtClean="0"/>
              <a:pPr/>
              <a:t>80</a:t>
            </a:fld>
            <a:endParaRPr lang="zh-CN" altLang="en-US" dirty="0"/>
          </a:p>
        </p:txBody>
      </p:sp>
    </p:spTree>
    <p:extLst>
      <p:ext uri="{BB962C8B-B14F-4D97-AF65-F5344CB8AC3E}">
        <p14:creationId xmlns:p14="http://schemas.microsoft.com/office/powerpoint/2010/main" val="352736339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3" name="Rectangle 2">
            <a:extLst>
              <a:ext uri="{FF2B5EF4-FFF2-40B4-BE49-F238E27FC236}">
                <a16:creationId xmlns="" xmlns:a16="http://schemas.microsoft.com/office/drawing/2014/main" id="{BE4F2573-9687-FC6B-3BA1-B66BB3766D98}"/>
              </a:ext>
            </a:extLst>
          </p:cNvPr>
          <p:cNvSpPr>
            <a:spLocks noGrp="1" noChangeArrowheads="1"/>
          </p:cNvSpPr>
          <p:nvPr>
            <p:ph type="title"/>
          </p:nvPr>
        </p:nvSpPr>
        <p:spPr/>
        <p:txBody>
          <a:bodyPr/>
          <a:lstStyle/>
          <a:p>
            <a:pPr eaLnBrk="1" hangingPunct="1"/>
            <a:r>
              <a:rPr lang="zh-CN" altLang="en-US"/>
              <a:t>考研题</a:t>
            </a:r>
            <a:r>
              <a:rPr lang="en-US" altLang="zh-CN"/>
              <a:t>2</a:t>
            </a:r>
          </a:p>
        </p:txBody>
      </p:sp>
      <p:sp>
        <p:nvSpPr>
          <p:cNvPr id="136194" name="Rectangle 3">
            <a:extLst>
              <a:ext uri="{FF2B5EF4-FFF2-40B4-BE49-F238E27FC236}">
                <a16:creationId xmlns="" xmlns:a16="http://schemas.microsoft.com/office/drawing/2014/main" id="{AAA2011D-BD19-DC81-FDB8-A7BAF6113BB8}"/>
              </a:ext>
            </a:extLst>
          </p:cNvPr>
          <p:cNvSpPr>
            <a:spLocks noGrp="1" noChangeArrowheads="1"/>
          </p:cNvSpPr>
          <p:nvPr>
            <p:ph idx="1"/>
          </p:nvPr>
        </p:nvSpPr>
        <p:spPr/>
        <p:txBody>
          <a:bodyPr/>
          <a:lstStyle/>
          <a:p>
            <a:pPr eaLnBrk="1" hangingPunct="1"/>
            <a:r>
              <a:rPr lang="zh-CN" altLang="en-US" dirty="0"/>
              <a:t>下列选项中，不可能在用户态发生的事件是（）。</a:t>
            </a:r>
          </a:p>
          <a:p>
            <a:pPr eaLnBrk="1" hangingPunct="1">
              <a:buFont typeface="Wingdings" pitchFamily="2" charset="2"/>
              <a:buNone/>
            </a:pPr>
            <a:r>
              <a:rPr lang="en-US" altLang="zh-CN" dirty="0"/>
              <a:t>   A</a:t>
            </a:r>
            <a:r>
              <a:rPr lang="zh-CN" altLang="en-US" dirty="0"/>
              <a:t>．系统调用        </a:t>
            </a:r>
            <a:r>
              <a:rPr lang="en-US" altLang="zh-CN" dirty="0"/>
              <a:t>B. </a:t>
            </a:r>
            <a:r>
              <a:rPr lang="zh-CN" altLang="en-US" dirty="0"/>
              <a:t>外部中断</a:t>
            </a:r>
          </a:p>
          <a:p>
            <a:pPr eaLnBrk="1" hangingPunct="1">
              <a:buFont typeface="Wingdings" pitchFamily="2" charset="2"/>
              <a:buNone/>
            </a:pPr>
            <a:r>
              <a:rPr lang="zh-CN" altLang="en-US" dirty="0"/>
              <a:t>   </a:t>
            </a:r>
            <a:r>
              <a:rPr lang="en-US" altLang="zh-CN" dirty="0"/>
              <a:t>C.  </a:t>
            </a:r>
            <a:r>
              <a:rPr lang="zh-CN" altLang="en-US" dirty="0"/>
              <a:t>进程切换         </a:t>
            </a:r>
            <a:r>
              <a:rPr lang="en-US" altLang="zh-CN" dirty="0"/>
              <a:t>D. </a:t>
            </a:r>
            <a:r>
              <a:rPr lang="zh-CN" altLang="en-US" dirty="0"/>
              <a:t>缺页           </a:t>
            </a:r>
          </a:p>
        </p:txBody>
      </p:sp>
      <p:sp>
        <p:nvSpPr>
          <p:cNvPr id="2" name="灯片编号占位符 1">
            <a:extLst>
              <a:ext uri="{FF2B5EF4-FFF2-40B4-BE49-F238E27FC236}">
                <a16:creationId xmlns="" xmlns:a16="http://schemas.microsoft.com/office/drawing/2014/main" id="{812908A0-8D31-E118-AD57-D04C3CA6B3E1}"/>
              </a:ext>
            </a:extLst>
          </p:cNvPr>
          <p:cNvSpPr>
            <a:spLocks noGrp="1"/>
          </p:cNvSpPr>
          <p:nvPr>
            <p:ph type="sldNum" sz="quarter" idx="12"/>
          </p:nvPr>
        </p:nvSpPr>
        <p:spPr/>
        <p:txBody>
          <a:bodyPr/>
          <a:lstStyle/>
          <a:p>
            <a:fld id="{4093CC90-4002-504C-BD88-C9A1D374048E}" type="slidenum">
              <a:rPr lang="zh-CN" altLang="en-US" smtClean="0"/>
              <a:pPr/>
              <a:t>81</a:t>
            </a:fld>
            <a:endParaRPr lang="zh-CN" altLang="en-US" dirty="0"/>
          </a:p>
        </p:txBody>
      </p:sp>
    </p:spTree>
    <p:extLst>
      <p:ext uri="{BB962C8B-B14F-4D97-AF65-F5344CB8AC3E}">
        <p14:creationId xmlns:p14="http://schemas.microsoft.com/office/powerpoint/2010/main" val="155552756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5486,&quot;width&quot;:7777}"/>
</p:tagLst>
</file>

<file path=ppt/theme/theme1.xml><?xml version="1.0" encoding="utf-8"?>
<a:theme xmlns:a="http://schemas.openxmlformats.org/drawingml/2006/main" name="1_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0">
          <a:gsLst>
            <a:gs pos="0">
              <a:srgbClr val="99CCFF"/>
            </a:gs>
            <a:gs pos="100000">
              <a:schemeClr val="bg2"/>
            </a:gs>
          </a:gsLst>
          <a:lin ang="5400000" scaled="1"/>
        </a:gradFill>
        <a:ln w="9525" cap="flat" cmpd="sng" algn="ctr">
          <a:solidFill>
            <a:schemeClr val="tx1"/>
          </a:solidFill>
          <a:prstDash val="solid"/>
          <a:round/>
          <a:headEnd type="none" w="med" len="med"/>
          <a:tailEnd type="none" w="med" len="med"/>
        </a:ln>
      </a:spPr>
      <a:bodyPr vert="horz" wrap="none" lIns="91440" tIns="45720" rIns="91440" bIns="45720" numCol="1" anchor="ctr" anchorCtr="0" compatLnSpc="1"/>
      <a:lstStyle>
        <a:defPPr marL="342900" marR="0" indent="-342900" algn="ctr"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Char char="n"/>
          <a:defRPr kumimoji="1" lang="en-US" sz="28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spDef>
    <a:lnDef>
      <a:spPr bwMode="auto">
        <a:xfrm>
          <a:off x="0" y="0"/>
          <a:ext cx="1" cy="1"/>
        </a:xfrm>
        <a:custGeom>
          <a:avLst/>
          <a:gdLst/>
          <a:ahLst/>
          <a:cxnLst/>
          <a:rect l="0" t="0" r="0" b="0"/>
          <a:pathLst/>
        </a:custGeom>
        <a:gradFill rotWithShape="0">
          <a:gsLst>
            <a:gs pos="0">
              <a:srgbClr val="99CCFF"/>
            </a:gs>
            <a:gs pos="100000">
              <a:schemeClr val="bg2"/>
            </a:gs>
          </a:gsLst>
          <a:lin ang="5400000" scaled="1"/>
        </a:gradFill>
        <a:ln w="9525" cap="flat" cmpd="sng" algn="ctr">
          <a:solidFill>
            <a:schemeClr val="tx1"/>
          </a:solidFill>
          <a:prstDash val="solid"/>
          <a:round/>
          <a:headEnd type="none" w="med" len="med"/>
          <a:tailEnd type="none" w="med" len="med"/>
        </a:ln>
      </a:spPr>
      <a:bodyPr vert="horz" wrap="none" lIns="91440" tIns="45720" rIns="91440" bIns="45720" numCol="1" anchor="ctr" anchorCtr="0" compatLnSpc="1"/>
      <a:lstStyle>
        <a:defPPr marL="342900" marR="0" indent="-342900" algn="ctr"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Char char="n"/>
          <a:defRPr kumimoji="1" lang="en-US" sz="28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操作系统课件模板" id="{0D2B8607-4739-144E-A205-A5D57C41C081}" vid="{8AD7C6F1-63D5-6344-AC6B-4C503594B1A9}"/>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操作系统课件模板</Template>
  <TotalTime>6045</TotalTime>
  <Words>5512</Words>
  <Application>Microsoft Office PowerPoint</Application>
  <PresentationFormat>全屏显示(4:3)</PresentationFormat>
  <Paragraphs>814</Paragraphs>
  <Slides>81</Slides>
  <Notes>11</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81</vt:i4>
      </vt:variant>
    </vt:vector>
  </HeadingPairs>
  <TitlesOfParts>
    <vt:vector size="90" baseType="lpstr">
      <vt:lpstr>等线</vt:lpstr>
      <vt:lpstr>宋体</vt:lpstr>
      <vt:lpstr>Calibri Light</vt:lpstr>
      <vt:lpstr>Century</vt:lpstr>
      <vt:lpstr>Consolas</vt:lpstr>
      <vt:lpstr>Tahoma</vt:lpstr>
      <vt:lpstr>Times New Roman</vt:lpstr>
      <vt:lpstr>Wingdings</vt:lpstr>
      <vt:lpstr>1_Blends</vt:lpstr>
      <vt:lpstr>第3章 进程</vt:lpstr>
      <vt:lpstr>进程</vt:lpstr>
      <vt:lpstr>内存中的进程</vt:lpstr>
      <vt:lpstr>进程的定义</vt:lpstr>
      <vt:lpstr>进程的特征</vt:lpstr>
      <vt:lpstr>进程与程序的关系</vt:lpstr>
      <vt:lpstr>进程状态</vt:lpstr>
      <vt:lpstr>进程状态图</vt:lpstr>
      <vt:lpstr>进程状态图</vt:lpstr>
      <vt:lpstr>进程状态图</vt:lpstr>
      <vt:lpstr>因果变迁</vt:lpstr>
      <vt:lpstr>进程的挂起状态</vt:lpstr>
      <vt:lpstr>有挂起状态的进程状态转换图</vt:lpstr>
      <vt:lpstr>进程控制块</vt:lpstr>
      <vt:lpstr>进程控制块</vt:lpstr>
      <vt:lpstr>PCB包含的内容</vt:lpstr>
      <vt:lpstr>PCB包含的内容</vt:lpstr>
      <vt:lpstr>PCB的组织</vt:lpstr>
      <vt:lpstr>PCB的组织</vt:lpstr>
      <vt:lpstr>Linux案例</vt:lpstr>
      <vt:lpstr>第3章 进程</vt:lpstr>
      <vt:lpstr>调度队列</vt:lpstr>
      <vt:lpstr>调度队列</vt:lpstr>
      <vt:lpstr>调度队列</vt:lpstr>
      <vt:lpstr>CPU调度</vt:lpstr>
      <vt:lpstr>CPU调度</vt:lpstr>
      <vt:lpstr>CPU调度</vt:lpstr>
      <vt:lpstr>上下文切换（Context Switch）</vt:lpstr>
      <vt:lpstr>上下文切换（Context Switch）</vt:lpstr>
      <vt:lpstr>两种“切换”的讨论</vt:lpstr>
      <vt:lpstr>两种“切换”的讨论</vt:lpstr>
      <vt:lpstr>第3章 进程</vt:lpstr>
      <vt:lpstr>补充：前趋图</vt:lpstr>
      <vt:lpstr>补充：前趋图</vt:lpstr>
      <vt:lpstr>补充：并发错误例</vt:lpstr>
      <vt:lpstr>补充：并发错误例</vt:lpstr>
      <vt:lpstr>进程操作与原语</vt:lpstr>
      <vt:lpstr>进程操作与原语</vt:lpstr>
      <vt:lpstr>进程创建</vt:lpstr>
      <vt:lpstr>进程创建</vt:lpstr>
      <vt:lpstr>进程创建</vt:lpstr>
      <vt:lpstr>进程创建</vt:lpstr>
      <vt:lpstr>进程终止</vt:lpstr>
      <vt:lpstr>进程终止</vt:lpstr>
      <vt:lpstr>进程终止</vt:lpstr>
      <vt:lpstr>进程阻塞与唤醒</vt:lpstr>
      <vt:lpstr>进程阻塞与唤醒</vt:lpstr>
      <vt:lpstr>进程阻塞与唤醒</vt:lpstr>
      <vt:lpstr>进程挂起与激活</vt:lpstr>
      <vt:lpstr>进程挂起与激活</vt:lpstr>
      <vt:lpstr>进程挂起与激活</vt:lpstr>
      <vt:lpstr>Linux案例</vt:lpstr>
      <vt:lpstr>Linux案例</vt:lpstr>
      <vt:lpstr>Linux案例</vt:lpstr>
      <vt:lpstr>Linux案例</vt:lpstr>
      <vt:lpstr>Linux案例</vt:lpstr>
      <vt:lpstr>Linux案例</vt:lpstr>
      <vt:lpstr>Linux案例</vt:lpstr>
      <vt:lpstr>Linux案例</vt:lpstr>
      <vt:lpstr>Linux案例</vt:lpstr>
      <vt:lpstr>Linux案例</vt:lpstr>
      <vt:lpstr>Windows案例</vt:lpstr>
      <vt:lpstr>第3章 进程</vt:lpstr>
      <vt:lpstr>进程通信的类型</vt:lpstr>
      <vt:lpstr>Linux信号机制</vt:lpstr>
      <vt:lpstr>Linux消息机制</vt:lpstr>
      <vt:lpstr>Linux管道机制</vt:lpstr>
      <vt:lpstr>练习题</vt:lpstr>
      <vt:lpstr>练习题</vt:lpstr>
      <vt:lpstr>选择题1</vt:lpstr>
      <vt:lpstr>选择题2</vt:lpstr>
      <vt:lpstr>选择题3</vt:lpstr>
      <vt:lpstr>选择题4</vt:lpstr>
      <vt:lpstr>选择题5</vt:lpstr>
      <vt:lpstr>选择题6</vt:lpstr>
      <vt:lpstr>选择题7</vt:lpstr>
      <vt:lpstr>选择题8</vt:lpstr>
      <vt:lpstr>选择题9</vt:lpstr>
      <vt:lpstr>选择题10</vt:lpstr>
      <vt:lpstr>考研题1</vt:lpstr>
      <vt:lpstr>考研题2</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第12章 I/O系统</dc:title>
  <dc:creator>Kong</dc:creator>
  <cp:lastModifiedBy>Copper</cp:lastModifiedBy>
  <cp:revision>259</cp:revision>
  <dcterms:created xsi:type="dcterms:W3CDTF">2024-01-15T08:08:31Z</dcterms:created>
  <dcterms:modified xsi:type="dcterms:W3CDTF">2026-01-27T18:31:03Z</dcterms:modified>
</cp:coreProperties>
</file>