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3"/>
  </p:notesMasterIdLst>
  <p:sldIdLst>
    <p:sldId id="257" r:id="rId2"/>
    <p:sldId id="385" r:id="rId3"/>
    <p:sldId id="261" r:id="rId4"/>
    <p:sldId id="412" r:id="rId5"/>
    <p:sldId id="259" r:id="rId6"/>
    <p:sldId id="386" r:id="rId7"/>
    <p:sldId id="465" r:id="rId8"/>
    <p:sldId id="262" r:id="rId9"/>
    <p:sldId id="263" r:id="rId10"/>
    <p:sldId id="390" r:id="rId11"/>
    <p:sldId id="391" r:id="rId12"/>
    <p:sldId id="413" r:id="rId13"/>
    <p:sldId id="268" r:id="rId14"/>
    <p:sldId id="388" r:id="rId15"/>
    <p:sldId id="414" r:id="rId16"/>
    <p:sldId id="468" r:id="rId17"/>
    <p:sldId id="416" r:id="rId18"/>
    <p:sldId id="432" r:id="rId19"/>
    <p:sldId id="433" r:id="rId20"/>
    <p:sldId id="475" r:id="rId21"/>
    <p:sldId id="476" r:id="rId22"/>
    <p:sldId id="474" r:id="rId23"/>
    <p:sldId id="431" r:id="rId24"/>
    <p:sldId id="389" r:id="rId25"/>
    <p:sldId id="417" r:id="rId26"/>
    <p:sldId id="393" r:id="rId27"/>
    <p:sldId id="418" r:id="rId28"/>
    <p:sldId id="477" r:id="rId29"/>
    <p:sldId id="469" r:id="rId30"/>
    <p:sldId id="472" r:id="rId31"/>
    <p:sldId id="473" r:id="rId3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7B9495"/>
    <a:srgbClr val="55595D"/>
    <a:srgbClr val="3D8F76"/>
    <a:srgbClr val="323399"/>
    <a:srgbClr val="1A3B86"/>
    <a:srgbClr val="849E9F"/>
    <a:srgbClr val="9DBBBC"/>
    <a:srgbClr val="5D9C89"/>
    <a:srgbClr val="929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1" autoAdjust="0"/>
    <p:restoredTop sz="89735" autoAdjust="0"/>
  </p:normalViewPr>
  <p:slideViewPr>
    <p:cSldViewPr snapToGrid="0">
      <p:cViewPr>
        <p:scale>
          <a:sx n="100" d="100"/>
          <a:sy n="100" d="100"/>
        </p:scale>
        <p:origin x="16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2C4591-32D9-4248-9B09-4A3FCC9A2071}" type="datetimeFigureOut">
              <a:rPr kumimoji="1" lang="zh-CN" altLang="en-US" smtClean="0"/>
              <a:t>2026/1/28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85ACA3-2961-3740-91A0-2A6370DAD6B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64223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pthread_join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类似于多进程中的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wait()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，回收僵尸线程。</a:t>
            </a:r>
          </a:p>
          <a:p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pthread_detach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使当前线程变为分离状态，不需要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join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，结束后自动释放。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85ACA3-2961-3740-91A0-2A6370DAD6B5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72234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关于进程结束条件：</a:t>
            </a:r>
          </a:p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分离线程不影响进程的结束</a:t>
            </a:r>
          </a:p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主线程调用</a:t>
            </a:r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pthread_exit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，仅结束主线程，不会导致进程结束</a:t>
            </a:r>
          </a:p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子线程运行到入口函数的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，效果等同于</a:t>
            </a:r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pthread_exit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，不影响孙线程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85ACA3-2961-3740-91A0-2A6370DAD6B5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984228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与具体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挂钩的线程库，一定是内核线程，用户线程库一定是与具体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无关的。</a:t>
            </a:r>
          </a:p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经多年优化，用户级线程和内核线程在创建、切换的开销上差别已不大，但内核线程需要接受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复杂的调度计算，仍明显慢一些。</a:t>
            </a:r>
          </a:p>
          <a:p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Goroutines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</a:p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创建</a:t>
            </a:r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Goroutine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的成本很小，一个函数入口，以及在堆上为其分配的一个栈。</a:t>
            </a:r>
          </a:p>
          <a:p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Goroutines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被多路复用到较少的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线程。</a:t>
            </a:r>
          </a:p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如果某</a:t>
            </a:r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Goroutine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需要等待用户输入，则创建另一个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线程，剩下的</a:t>
            </a:r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Goroutines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被转移到新的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线程。</a:t>
            </a:r>
          </a:p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上述调度由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语言的运行时（类似于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虚拟机）负责处理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85ACA3-2961-3740-91A0-2A6370DAD6B5}" type="slidenum">
              <a:rPr kumimoji="1" lang="zh-CN" altLang="en-US" smtClean="0"/>
              <a:t>28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69433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1">
            <a:extLst>
              <a:ext uri="{FF2B5EF4-FFF2-40B4-BE49-F238E27FC236}">
                <a16:creationId xmlns:a16="http://schemas.microsoft.com/office/drawing/2014/main" xmlns="" id="{7B338C99-4BFA-EC8E-7B91-F5844CDD83B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15915" y="3260759"/>
            <a:ext cx="8693150" cy="55563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1350"/>
          </a:p>
        </p:txBody>
      </p: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088682" y="1828800"/>
            <a:ext cx="667431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xmlns="" id="{69E201AF-481D-D7F5-F5A3-B7C5682D25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xmlns="" id="{701192B2-B64A-92F9-322E-CE658D3C1F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xmlns="" id="{1003B9B5-2387-F5A9-AE3D-CEEB0E2137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B6F798D-A431-694C-B66B-13A47D786A04}" type="slidenum">
              <a:rPr lang="zh-CN" altLang="en-US"/>
              <a:pPr/>
              <a:t>‹#›</a:t>
            </a:fld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xmlns="" id="{E26E1406-7E5E-7B8E-2119-BA64BFFD81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000" y="1071012"/>
            <a:ext cx="1863615" cy="2189747"/>
          </a:xfrm>
          <a:prstGeom prst="rect">
            <a:avLst/>
          </a:prstGeom>
        </p:spPr>
      </p:pic>
      <p:pic>
        <p:nvPicPr>
          <p:cNvPr id="17" name="Picture 6">
            <a:extLst>
              <a:ext uri="{FF2B5EF4-FFF2-40B4-BE49-F238E27FC236}">
                <a16:creationId xmlns:a16="http://schemas.microsoft.com/office/drawing/2014/main" xmlns="" id="{C401CBDC-AA8E-6DF1-BD9D-89438EB384E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093" y="3310673"/>
            <a:ext cx="1414007" cy="254885"/>
          </a:xfrm>
          <a:prstGeom prst="rect">
            <a:avLst/>
          </a:prstGeom>
          <a:solidFill>
            <a:srgbClr val="5D9C89"/>
          </a:solidFill>
        </p:spPr>
      </p:pic>
    </p:spTree>
    <p:extLst>
      <p:ext uri="{BB962C8B-B14F-4D97-AF65-F5344CB8AC3E}">
        <p14:creationId xmlns:p14="http://schemas.microsoft.com/office/powerpoint/2010/main" val="491551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latin typeface="Century" panose="02040604050505020304" pitchFamily="18" charset="0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hangingPunct="1">
              <a:buClr>
                <a:schemeClr val="accent4"/>
              </a:buClr>
              <a:defRPr sz="3000">
                <a:latin typeface="Century" panose="02040604050505020304" pitchFamily="18" charset="0"/>
              </a:defRPr>
            </a:lvl1pPr>
            <a:lvl2pPr hangingPunct="1">
              <a:buClr>
                <a:srgbClr val="C00000"/>
              </a:buClr>
              <a:defRPr sz="2600">
                <a:latin typeface="Century" panose="02040604050505020304" pitchFamily="18" charset="0"/>
              </a:defRPr>
            </a:lvl2pPr>
            <a:lvl3pPr hangingPunct="1">
              <a:buClr>
                <a:schemeClr val="tx2"/>
              </a:buClr>
              <a:defRPr sz="2200">
                <a:latin typeface="Century" panose="02040604050505020304" pitchFamily="18" charset="0"/>
              </a:defRPr>
            </a:lvl3pPr>
            <a:lvl4pPr hangingPunct="1">
              <a:buClr>
                <a:schemeClr val="accent2">
                  <a:lumMod val="50000"/>
                </a:schemeClr>
              </a:buClr>
              <a:defRPr sz="1800">
                <a:latin typeface="Century" panose="02040604050505020304" pitchFamily="18" charset="0"/>
              </a:defRPr>
            </a:lvl4pPr>
            <a:lvl5pPr hangingPunct="1">
              <a:buClr>
                <a:schemeClr val="accent5">
                  <a:lumMod val="25000"/>
                </a:schemeClr>
              </a:buClr>
              <a:defRPr sz="1800">
                <a:latin typeface="Century" panose="02040604050505020304" pitchFamily="18" charset="0"/>
              </a:defRPr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xmlns="" id="{D84B8634-86D3-A0AE-194D-6A15AFAFFA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xmlns="" id="{0723DE67-FDB7-4E97-1714-22C53D101C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xmlns="" id="{724CAC9F-9A1C-2025-A160-151BDB7FFF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93CC90-4002-504C-BD88-C9A1D374048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5866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884" indent="0">
              <a:buNone/>
              <a:defRPr sz="1350"/>
            </a:lvl2pPr>
            <a:lvl3pPr marL="685766" indent="0">
              <a:buNone/>
              <a:defRPr sz="1200"/>
            </a:lvl3pPr>
            <a:lvl4pPr marL="1028649" indent="0">
              <a:buNone/>
              <a:defRPr sz="1050"/>
            </a:lvl4pPr>
            <a:lvl5pPr marL="1371532" indent="0">
              <a:buNone/>
              <a:defRPr sz="1050"/>
            </a:lvl5pPr>
            <a:lvl6pPr marL="1714415" indent="0">
              <a:buNone/>
              <a:defRPr sz="1050"/>
            </a:lvl6pPr>
            <a:lvl7pPr marL="2057297" indent="0">
              <a:buNone/>
              <a:defRPr sz="1050"/>
            </a:lvl7pPr>
            <a:lvl8pPr marL="2400180" indent="0">
              <a:buNone/>
              <a:defRPr sz="1050"/>
            </a:lvl8pPr>
            <a:lvl9pPr marL="2743064" indent="0">
              <a:buNone/>
              <a:defRPr sz="10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xmlns="" id="{FFBDFF65-8CBE-FC8E-C2AB-BF39F778E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xmlns="" id="{557BB269-8BCF-19AE-2E4C-4F50A72F7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="" id="{EC4B4EC5-8D14-B9F8-3A0E-6B6E3FB2C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D78D-38BD-D44D-8D86-2D2DB0BEC18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693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35038" y="1233488"/>
            <a:ext cx="3810000" cy="48958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97438" y="1233488"/>
            <a:ext cx="3810000" cy="48958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xmlns="" id="{577088FB-A6B7-73F5-7F94-4748D69CAC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xmlns="" id="{8B037231-D77C-7620-5048-020218A567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xmlns="" id="{1616081F-299F-D60B-0ECC-280BE114E5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968A19-278A-0A41-BBE8-65E5D3125EB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847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66" indent="0">
              <a:buNone/>
              <a:defRPr sz="135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66" indent="0">
              <a:buNone/>
              <a:defRPr sz="135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xmlns="" id="{68794170-3BE8-63A8-84A0-433E04CC41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xmlns="" id="{4EE836C1-36AB-35B2-63E3-C5C32DFB7D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xmlns="" id="{A14EBA2A-C5A1-FF69-4383-F487A84086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5D52E0-A696-0244-8333-2084DA18EEE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665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xmlns="" id="{90622892-0589-9624-9441-6D3D8D420A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xmlns="" id="{DE3302D8-0022-5549-6AF3-C9DF37FD08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xmlns="" id="{5BAF381E-A9DD-B4FB-A99D-D6A7443039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E15609-3D60-D842-9ED4-D898F320B19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2375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xmlns="" id="{31F610FA-62F8-3A69-9BB8-68EAD4093A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xmlns="" id="{030F8BB0-0FEC-EDAC-A497-49A707FDB0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xmlns="" id="{1004B668-435E-6B54-9B71-30E6E86C67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438AA8-90D7-9745-B439-F7E019CC101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615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884" indent="0">
              <a:buNone/>
              <a:defRPr sz="900"/>
            </a:lvl2pPr>
            <a:lvl3pPr marL="685766" indent="0">
              <a:buNone/>
              <a:defRPr sz="750"/>
            </a:lvl3pPr>
            <a:lvl4pPr marL="1028649" indent="0">
              <a:buNone/>
              <a:defRPr sz="675"/>
            </a:lvl4pPr>
            <a:lvl5pPr marL="1371532" indent="0">
              <a:buNone/>
              <a:defRPr sz="675"/>
            </a:lvl5pPr>
            <a:lvl6pPr marL="1714415" indent="0">
              <a:buNone/>
              <a:defRPr sz="675"/>
            </a:lvl6pPr>
            <a:lvl7pPr marL="2057297" indent="0">
              <a:buNone/>
              <a:defRPr sz="675"/>
            </a:lvl7pPr>
            <a:lvl8pPr marL="2400180" indent="0">
              <a:buNone/>
              <a:defRPr sz="675"/>
            </a:lvl8pPr>
            <a:lvl9pPr marL="2743064" indent="0">
              <a:buNone/>
              <a:defRPr sz="675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xmlns="" id="{077BF47D-FB2C-CA75-3290-9D390F1A1B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xmlns="" id="{FCEDDD16-8334-8815-AE79-D96BE28013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xmlns="" id="{EF672E88-31B4-2E74-6924-50EA7B00DF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0B590F-D627-7E4E-9EE8-F0575448761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611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884" indent="0">
              <a:buNone/>
              <a:defRPr sz="2100"/>
            </a:lvl2pPr>
            <a:lvl3pPr marL="685766" indent="0">
              <a:buNone/>
              <a:defRPr sz="1800"/>
            </a:lvl3pPr>
            <a:lvl4pPr marL="1028649" indent="0">
              <a:buNone/>
              <a:defRPr sz="1500"/>
            </a:lvl4pPr>
            <a:lvl5pPr marL="1371532" indent="0">
              <a:buNone/>
              <a:defRPr sz="1500"/>
            </a:lvl5pPr>
            <a:lvl6pPr marL="1714415" indent="0">
              <a:buNone/>
              <a:defRPr sz="1500"/>
            </a:lvl6pPr>
            <a:lvl7pPr marL="2057297" indent="0">
              <a:buNone/>
              <a:defRPr sz="1500"/>
            </a:lvl7pPr>
            <a:lvl8pPr marL="2400180" indent="0">
              <a:buNone/>
              <a:defRPr sz="1500"/>
            </a:lvl8pPr>
            <a:lvl9pPr marL="2743064" indent="0">
              <a:buNone/>
              <a:defRPr sz="15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884" indent="0">
              <a:buNone/>
              <a:defRPr sz="900"/>
            </a:lvl2pPr>
            <a:lvl3pPr marL="685766" indent="0">
              <a:buNone/>
              <a:defRPr sz="750"/>
            </a:lvl3pPr>
            <a:lvl4pPr marL="1028649" indent="0">
              <a:buNone/>
              <a:defRPr sz="675"/>
            </a:lvl4pPr>
            <a:lvl5pPr marL="1371532" indent="0">
              <a:buNone/>
              <a:defRPr sz="675"/>
            </a:lvl5pPr>
            <a:lvl6pPr marL="1714415" indent="0">
              <a:buNone/>
              <a:defRPr sz="675"/>
            </a:lvl6pPr>
            <a:lvl7pPr marL="2057297" indent="0">
              <a:buNone/>
              <a:defRPr sz="675"/>
            </a:lvl7pPr>
            <a:lvl8pPr marL="2400180" indent="0">
              <a:buNone/>
              <a:defRPr sz="675"/>
            </a:lvl8pPr>
            <a:lvl9pPr marL="2743064" indent="0">
              <a:buNone/>
              <a:defRPr sz="675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xmlns="" id="{7DF7E1FA-7229-6F80-9195-95494C6B6D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xmlns="" id="{BA7BEB0C-60AB-4B90-0858-DC9F851CFC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xmlns="" id="{C8113A4C-B97F-6D35-E97A-9BCA743B10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5CE171-2466-3E49-953C-8D9416E27C4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272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xmlns="" id="{8969790B-5FDE-ACFE-CBF8-D6D25FB978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xmlns="" id="{042DD340-A062-ECA2-BACD-72DF641D7A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xmlns="" id="{5A990D87-E397-DDBA-9741-B7BDB82788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6A2B9D-4C43-344E-A3AD-CDEFA12D460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375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04041" y="225431"/>
            <a:ext cx="1989137" cy="5903913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35038" y="225431"/>
            <a:ext cx="5816600" cy="5903913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xmlns="" id="{BB6D72A0-9ACC-FB01-B500-09347F0725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xmlns="" id="{1C2E9BFB-3F4C-57E7-BA00-4AD71CFAAD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xmlns="" id="{04462F64-AE9C-AD7E-F866-AAEDC027A6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4D01F4-2BF8-A745-90E2-0A334AE3AAFA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7722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标题，文本与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35038" y="1233488"/>
            <a:ext cx="3810000" cy="489585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图表占位符 3"/>
          <p:cNvSpPr>
            <a:spLocks noGrp="1"/>
          </p:cNvSpPr>
          <p:nvPr>
            <p:ph type="chart" sz="half" idx="2"/>
          </p:nvPr>
        </p:nvSpPr>
        <p:spPr>
          <a:xfrm>
            <a:off x="4897438" y="1233488"/>
            <a:ext cx="3810000" cy="4895850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单击图标添加图表</a:t>
            </a:r>
            <a:endParaRPr lang="zh-CN" altLang="en-US" noProof="0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xmlns="" id="{EF4DAB6F-0109-F932-D41D-114D2B361E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xmlns="" id="{3B9B9A9B-4F44-E332-8013-87B918E445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xmlns="" id="{D1D42F48-85F2-C1B3-34A9-42D4A700CC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310DF3-193F-E44C-B1F0-408591F45CF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218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935038" y="1233488"/>
            <a:ext cx="7772400" cy="4895850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单击图标添加图表</a:t>
            </a:r>
            <a:endParaRPr lang="zh-CN" altLang="en-US" noProof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xmlns="" id="{F708D4BC-3A8D-E878-0802-13BCC7E23D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xmlns="" id="{925FD2C4-690E-646E-8669-143AD1BD9F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xmlns="" id="{54E36240-FA62-8027-3821-D40DEB78E1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BB1C6D-14C1-844E-9115-70642E9631D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928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tif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tif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>
            <a:extLst>
              <a:ext uri="{FF2B5EF4-FFF2-40B4-BE49-F238E27FC236}">
                <a16:creationId xmlns:a16="http://schemas.microsoft.com/office/drawing/2014/main" xmlns="" id="{A9824247-C8A8-C57F-CAEC-3A223BA6F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1" y="26988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027" name="Rectangle 8">
            <a:extLst>
              <a:ext uri="{FF2B5EF4-FFF2-40B4-BE49-F238E27FC236}">
                <a16:creationId xmlns:a16="http://schemas.microsoft.com/office/drawing/2014/main" xmlns="" id="{4A0B2333-B6EA-176D-0028-5AB7711DF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116" y="10604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028" name="Rectangle 9">
            <a:extLst>
              <a:ext uri="{FF2B5EF4-FFF2-40B4-BE49-F238E27FC236}">
                <a16:creationId xmlns:a16="http://schemas.microsoft.com/office/drawing/2014/main" xmlns="" id="{0D3A9279-CA87-4E7F-DAC6-015EE242A97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042988" y="225431"/>
            <a:ext cx="7850187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9" name="Rectangle 10">
            <a:extLst>
              <a:ext uri="{FF2B5EF4-FFF2-40B4-BE49-F238E27FC236}">
                <a16:creationId xmlns:a16="http://schemas.microsoft.com/office/drawing/2014/main" xmlns="" id="{86AE627A-1B93-6388-397F-5C8186FBAFE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935038" y="1233488"/>
            <a:ext cx="7772400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4523" name="Rectangle 11">
            <a:extLst>
              <a:ext uri="{FF2B5EF4-FFF2-40B4-BE49-F238E27FC236}">
                <a16:creationId xmlns:a16="http://schemas.microsoft.com/office/drawing/2014/main" xmlns="" id="{DE3D8E3B-D458-C570-9919-DE02EA9FC78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050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4525" name="Rectangle 13">
            <a:extLst>
              <a:ext uri="{FF2B5EF4-FFF2-40B4-BE49-F238E27FC236}">
                <a16:creationId xmlns:a16="http://schemas.microsoft.com/office/drawing/2014/main" xmlns="" id="{C2D98F74-F2B6-4A7D-03A8-AB9BF3598B9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050"/>
            </a:lvl1pPr>
          </a:lstStyle>
          <a:p>
            <a:fld id="{6F73D78D-38BD-D44D-8D86-2D2DB0BEC18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3CE6F6BF-4B21-EBA8-0316-496A78B2CDF2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 rot="3532301">
            <a:off x="53066" y="473997"/>
            <a:ext cx="678101" cy="376134"/>
          </a:xfrm>
          <a:prstGeom prst="rect">
            <a:avLst/>
          </a:prstGeom>
        </p:spPr>
      </p:pic>
      <p:pic>
        <p:nvPicPr>
          <p:cNvPr id="2" name="Picture 6">
            <a:extLst>
              <a:ext uri="{FF2B5EF4-FFF2-40B4-BE49-F238E27FC236}">
                <a16:creationId xmlns:a16="http://schemas.microsoft.com/office/drawing/2014/main" xmlns="" id="{30C888A5-CC91-E55B-7B85-6EA66F09083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1"/>
          <a:stretch/>
        </p:blipFill>
        <p:spPr bwMode="auto">
          <a:xfrm>
            <a:off x="320498" y="941908"/>
            <a:ext cx="1042988" cy="1882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1403A0A2-1BB5-3BCB-F943-2DCD1F4C13A5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8532443" y="5624518"/>
            <a:ext cx="512549" cy="1106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515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342884" algn="l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685766" algn="l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028649" algn="l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371532" algn="l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257162" indent="-257162" algn="l" rtl="0" eaLnBrk="1" fontAlgn="base" hangingPunct="1">
        <a:lnSpc>
          <a:spcPct val="114000"/>
        </a:lnSpc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2250">
          <a:solidFill>
            <a:schemeClr val="tx1"/>
          </a:solidFill>
          <a:latin typeface="+mn-lt"/>
          <a:ea typeface="+mn-ea"/>
          <a:cs typeface="+mn-cs"/>
        </a:defRPr>
      </a:lvl1pPr>
      <a:lvl2pPr marL="557185" indent="-214303" algn="l" rtl="0" eaLnBrk="1" fontAlgn="base" hangingPunct="1">
        <a:lnSpc>
          <a:spcPct val="114000"/>
        </a:lnSpc>
        <a:spcBef>
          <a:spcPct val="20000"/>
        </a:spcBef>
        <a:spcAft>
          <a:spcPct val="0"/>
        </a:spcAft>
        <a:buClr>
          <a:srgbClr val="C00000"/>
        </a:buClr>
        <a:buSzPct val="55000"/>
        <a:buFont typeface="Wingdings" pitchFamily="2" charset="2"/>
        <a:buChar char="n"/>
        <a:defRPr sz="1950">
          <a:solidFill>
            <a:schemeClr val="tx1"/>
          </a:solidFill>
          <a:latin typeface="+mn-lt"/>
          <a:ea typeface="+mn-ea"/>
        </a:defRPr>
      </a:lvl2pPr>
      <a:lvl3pPr marL="857207" indent="-171442" algn="l" rtl="0" eaLnBrk="1" fontAlgn="base" hangingPunct="1">
        <a:lnSpc>
          <a:spcPct val="114000"/>
        </a:lnSpc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" pitchFamily="2" charset="2"/>
        <a:buChar char="n"/>
        <a:defRPr sz="1650">
          <a:solidFill>
            <a:schemeClr val="tx1"/>
          </a:solidFill>
          <a:latin typeface="+mn-lt"/>
          <a:ea typeface="+mn-ea"/>
        </a:defRPr>
      </a:lvl3pPr>
      <a:lvl4pPr marL="1200090" indent="-171442" algn="l" rtl="0" eaLnBrk="1" fontAlgn="base" hangingPunct="1">
        <a:lnSpc>
          <a:spcPct val="114000"/>
        </a:lnSpc>
        <a:spcBef>
          <a:spcPct val="20000"/>
        </a:spcBef>
        <a:spcAft>
          <a:spcPct val="0"/>
        </a:spcAft>
        <a:buClr>
          <a:schemeClr val="accent6">
            <a:lumMod val="50000"/>
          </a:schemeClr>
        </a:buClr>
        <a:buSzPct val="55000"/>
        <a:buFont typeface="Wingdings" pitchFamily="2" charset="2"/>
        <a:buChar char="n"/>
        <a:defRPr sz="1350">
          <a:solidFill>
            <a:schemeClr val="tx1"/>
          </a:solidFill>
          <a:latin typeface="+mn-lt"/>
          <a:ea typeface="+mn-ea"/>
        </a:defRPr>
      </a:lvl4pPr>
      <a:lvl5pPr marL="1542974" indent="-171442" algn="l" rtl="0" eaLnBrk="1" fontAlgn="base" hangingPunct="1">
        <a:lnSpc>
          <a:spcPct val="114000"/>
        </a:lnSpc>
        <a:spcBef>
          <a:spcPct val="20000"/>
        </a:spcBef>
        <a:spcAft>
          <a:spcPct val="0"/>
        </a:spcAft>
        <a:buClr>
          <a:schemeClr val="accent5">
            <a:lumMod val="25000"/>
          </a:schemeClr>
        </a:buClr>
        <a:buSzPct val="50000"/>
        <a:buFont typeface="Wingdings" pitchFamily="2" charset="2"/>
        <a:buChar char="n"/>
        <a:defRPr sz="1350">
          <a:solidFill>
            <a:schemeClr val="tx1"/>
          </a:solidFill>
          <a:latin typeface="+mn-lt"/>
          <a:ea typeface="+mn-ea"/>
        </a:defRPr>
      </a:lvl5pPr>
      <a:lvl6pPr marL="1885856" indent="-171442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6pPr>
      <a:lvl7pPr marL="2228739" indent="-171442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7pPr>
      <a:lvl8pPr marL="2571622" indent="-171442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8pPr>
      <a:lvl9pPr marL="2914505" indent="-171442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FA478220-5F10-3448-53B0-A082ACF36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4</a:t>
            </a:r>
            <a:r>
              <a:rPr lang="zh-CN" altLang="en-US" dirty="0" smtClean="0"/>
              <a:t>章 </a:t>
            </a:r>
            <a:r>
              <a:rPr lang="zh-CN" altLang="en-US" dirty="0"/>
              <a:t>线</a:t>
            </a:r>
            <a:r>
              <a:rPr lang="zh-CN" altLang="en-US" dirty="0" smtClean="0"/>
              <a:t>程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AD7B2C0A-B2D8-3755-E6C0-89A613AD7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1233488"/>
            <a:ext cx="7772400" cy="4895850"/>
          </a:xfrm>
        </p:spPr>
        <p:txBody>
          <a:bodyPr>
            <a:normAutofit/>
          </a:bodyPr>
          <a:lstStyle/>
          <a:p>
            <a:r>
              <a:rPr lang="zh-CN" altLang="en-US" dirty="0"/>
              <a:t>本章内容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1.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zh-CN" altLang="en-US" dirty="0" smtClean="0">
                <a:solidFill>
                  <a:srgbClr val="FF0000"/>
                </a:solidFill>
              </a:rPr>
              <a:t>线程的概念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2.</a:t>
            </a:r>
            <a:r>
              <a:rPr lang="zh-CN" altLang="en-US" dirty="0"/>
              <a:t> </a:t>
            </a:r>
            <a:r>
              <a:rPr lang="zh-CN" altLang="en-US" dirty="0" smtClean="0"/>
              <a:t>多线程模型</a:t>
            </a:r>
            <a:endParaRPr lang="zh-CN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 </a:t>
            </a:r>
            <a:r>
              <a:rPr lang="zh-CN" altLang="en-US" dirty="0" smtClean="0"/>
              <a:t>线程库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F5A8B553-02AE-2219-C59A-8B5B36D12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/>
          <a:p>
            <a:fld id="{4093CC90-4002-504C-BD88-C9A1D374048E}" type="slidenum">
              <a:rPr lang="zh-CN" altLang="en-US" smtClean="0"/>
              <a:pPr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4432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动机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多</a:t>
            </a:r>
            <a:r>
              <a:rPr lang="zh-CN" altLang="en-US" dirty="0" smtClean="0"/>
              <a:t>进程协作的问题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基本的问题：内存空间独立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回顾</a:t>
            </a:r>
            <a:r>
              <a:rPr lang="en-US" altLang="zh-CN" dirty="0" smtClean="0"/>
              <a:t>fork()</a:t>
            </a:r>
            <a:r>
              <a:rPr lang="zh-CN" altLang="en-US" dirty="0" smtClean="0"/>
              <a:t>，进程间天然互相不可见（后续学习原理）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进程</a:t>
            </a:r>
            <a:r>
              <a:rPr lang="zh-CN" altLang="en-US" dirty="0"/>
              <a:t>的</a:t>
            </a:r>
            <a:r>
              <a:rPr lang="zh-CN" altLang="en-US" dirty="0" smtClean="0"/>
              <a:t>创建、撤消、切换等操作涉及到资源（特别是内存资源）管理，时空开销较大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随着后续学习逐步理解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多个进程间的协作不方便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想要共享数据，</a:t>
            </a:r>
            <a:r>
              <a:rPr lang="zh-CN" altLang="en-US" dirty="0"/>
              <a:t>必须通过</a:t>
            </a:r>
            <a:r>
              <a:rPr lang="zh-CN" altLang="en-US" dirty="0" smtClean="0"/>
              <a:t>进程间通信，创建共享内存，或借助消息、管道等机制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1550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进程具有两个属性</a:t>
            </a:r>
          </a:p>
          <a:p>
            <a:pPr lvl="1"/>
            <a:r>
              <a:rPr lang="zh-CN" altLang="en-US" dirty="0"/>
              <a:t>拥有资源的独立单位</a:t>
            </a:r>
          </a:p>
          <a:p>
            <a:pPr lvl="1"/>
            <a:r>
              <a:rPr lang="zh-CN" altLang="en-US" dirty="0"/>
              <a:t>调度和分派的基本单位</a:t>
            </a:r>
          </a:p>
          <a:p>
            <a:r>
              <a:rPr lang="zh-CN" altLang="en-US" dirty="0" smtClean="0"/>
              <a:t>引入线程的概念后</a:t>
            </a:r>
            <a:endParaRPr lang="zh-CN" altLang="en-US" dirty="0"/>
          </a:p>
          <a:p>
            <a:pPr lvl="1"/>
            <a:r>
              <a:rPr lang="zh-CN" altLang="en-US" dirty="0"/>
              <a:t>调度及分派单位称为线程或轻型进程</a:t>
            </a:r>
          </a:p>
          <a:p>
            <a:pPr lvl="1"/>
            <a:r>
              <a:rPr lang="zh-CN" altLang="en-US" dirty="0"/>
              <a:t>拥有资源的单位称为进程或</a:t>
            </a:r>
            <a:r>
              <a:rPr lang="zh-CN" altLang="en-US" dirty="0" smtClean="0"/>
              <a:t>任务</a:t>
            </a:r>
            <a:endParaRPr lang="en-US" altLang="zh-CN" dirty="0" smtClean="0"/>
          </a:p>
          <a:p>
            <a:pPr lvl="1"/>
            <a:r>
              <a:rPr lang="zh-CN" altLang="en-US" dirty="0"/>
              <a:t>进程变成户口，线程代表</a:t>
            </a:r>
            <a:r>
              <a:rPr lang="zh-CN" altLang="en-US" dirty="0" smtClean="0"/>
              <a:t>个人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CPU</a:t>
            </a:r>
            <a:r>
              <a:rPr lang="zh-CN" altLang="en-US" dirty="0"/>
              <a:t>分配给个人</a:t>
            </a:r>
            <a:r>
              <a:rPr lang="zh-CN" altLang="en-US" dirty="0" smtClean="0"/>
              <a:t>执行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各种</a:t>
            </a:r>
            <a:r>
              <a:rPr lang="zh-CN" altLang="en-US" dirty="0"/>
              <a:t>资源分配给进程，供其中线程共享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sp>
        <p:nvSpPr>
          <p:cNvPr id="6" name="圆角矩形标注 5"/>
          <p:cNvSpPr/>
          <p:nvPr/>
        </p:nvSpPr>
        <p:spPr bwMode="auto">
          <a:xfrm>
            <a:off x="5143500" y="885826"/>
            <a:ext cx="3563938" cy="2338388"/>
          </a:xfrm>
          <a:prstGeom prst="wedgeRoundRectCallout">
            <a:avLst>
              <a:gd name="adj1" fmla="val -43990"/>
              <a:gd name="adj2" fmla="val 63349"/>
              <a:gd name="adj3" fmla="val 16667"/>
            </a:avLst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lang="zh-CN" altLang="en-US" sz="2000" dirty="0"/>
              <a:t>启动一个应用程序，即代表启动了一个</a:t>
            </a:r>
            <a:r>
              <a:rPr lang="zh-CN" altLang="en-US" sz="2000" dirty="0">
                <a:solidFill>
                  <a:srgbClr val="FF0000"/>
                </a:solidFill>
              </a:rPr>
              <a:t>包含一个线程的进程</a:t>
            </a:r>
          </a:p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lang="en-US" altLang="zh-CN" sz="2000" dirty="0" smtClean="0"/>
              <a:t>1</a:t>
            </a:r>
            <a:r>
              <a:rPr lang="zh-CN" altLang="en-US" sz="2000" dirty="0" smtClean="0"/>
              <a:t>）该</a:t>
            </a:r>
            <a:r>
              <a:rPr lang="zh-CN" altLang="en-US" sz="2000" dirty="0"/>
              <a:t>线程从</a:t>
            </a:r>
            <a:r>
              <a:rPr lang="en-US" altLang="zh-CN" sz="2000" dirty="0"/>
              <a:t>main()</a:t>
            </a:r>
            <a:r>
              <a:rPr lang="zh-CN" altLang="en-US" sz="2000" dirty="0"/>
              <a:t>函数开始执行</a:t>
            </a:r>
          </a:p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lang="en-US" altLang="zh-CN" sz="2000" dirty="0" smtClean="0"/>
              <a:t>2</a:t>
            </a:r>
            <a:r>
              <a:rPr lang="zh-CN" altLang="en-US" sz="2000" dirty="0" smtClean="0"/>
              <a:t>）随着</a:t>
            </a:r>
            <a:r>
              <a:rPr lang="zh-CN" altLang="en-US" sz="2000" dirty="0"/>
              <a:t>程序执行，更多线程可被创建</a:t>
            </a:r>
            <a:endParaRPr kumimoji="1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55603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FA478220-5F10-3448-53B0-A082ACF36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dirty="0" smtClean="0"/>
              <a:t>传统的进程怎么办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AD7B2C0A-B2D8-3755-E6C0-89A613AD7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1233488"/>
            <a:ext cx="7772400" cy="489585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主要</a:t>
            </a:r>
            <a:r>
              <a:rPr lang="zh-CN" altLang="en-US" dirty="0"/>
              <a:t>针对</a:t>
            </a:r>
            <a:r>
              <a:rPr lang="en-US" altLang="zh-CN" dirty="0"/>
              <a:t>Unix/Linux </a:t>
            </a:r>
            <a:endParaRPr lang="zh-CN" altLang="en-US" dirty="0"/>
          </a:p>
          <a:p>
            <a:pPr lvl="1"/>
            <a:r>
              <a:rPr lang="zh-CN" altLang="en-US" dirty="0" smtClean="0"/>
              <a:t>早期</a:t>
            </a:r>
            <a:r>
              <a:rPr lang="zh-CN" altLang="en-US" dirty="0"/>
              <a:t>没有</a:t>
            </a:r>
            <a:r>
              <a:rPr lang="zh-CN" altLang="en-US" dirty="0" smtClean="0"/>
              <a:t>线程，大量</a:t>
            </a:r>
            <a:r>
              <a:rPr lang="zh-CN" altLang="en-US" dirty="0"/>
              <a:t>传统程序使用</a:t>
            </a:r>
            <a:r>
              <a:rPr lang="en-US" altLang="zh-CN" dirty="0"/>
              <a:t>fork()</a:t>
            </a:r>
            <a:r>
              <a:rPr lang="zh-CN" altLang="en-US" dirty="0"/>
              <a:t>、</a:t>
            </a:r>
            <a:r>
              <a:rPr lang="en-US" altLang="zh-CN" dirty="0"/>
              <a:t>wait()</a:t>
            </a:r>
            <a:r>
              <a:rPr lang="zh-CN" altLang="en-US" dirty="0"/>
              <a:t>书写，有完备的多进程同步、通信机制</a:t>
            </a:r>
          </a:p>
          <a:p>
            <a:pPr lvl="1"/>
            <a:r>
              <a:rPr lang="zh-CN" altLang="en-US" dirty="0" smtClean="0"/>
              <a:t>引入</a:t>
            </a:r>
            <a:r>
              <a:rPr lang="zh-CN" altLang="en-US" dirty="0"/>
              <a:t>线程</a:t>
            </a:r>
            <a:r>
              <a:rPr lang="zh-CN" altLang="en-US" dirty="0" smtClean="0"/>
              <a:t>，内核变化，须确保早期程序被</a:t>
            </a:r>
            <a:r>
              <a:rPr lang="zh-CN" altLang="en-US" dirty="0" smtClean="0">
                <a:solidFill>
                  <a:srgbClr val="FF0000"/>
                </a:solidFill>
              </a:rPr>
              <a:t>兼容</a:t>
            </a:r>
            <a:endParaRPr lang="zh-CN" altLang="en-US" dirty="0">
              <a:solidFill>
                <a:srgbClr val="FF0000"/>
              </a:solidFill>
            </a:endParaRPr>
          </a:p>
          <a:p>
            <a:r>
              <a:rPr lang="zh-CN" altLang="en-US" dirty="0" smtClean="0">
                <a:solidFill>
                  <a:srgbClr val="FF0000"/>
                </a:solidFill>
              </a:rPr>
              <a:t>重型进程</a:t>
            </a:r>
            <a:r>
              <a:rPr lang="zh-CN" altLang="en-US" dirty="0" smtClean="0"/>
              <a:t>：等价</a:t>
            </a:r>
            <a:r>
              <a:rPr lang="zh-CN" altLang="en-US" dirty="0"/>
              <a:t>于只有一个线程的任务</a:t>
            </a:r>
          </a:p>
          <a:p>
            <a:r>
              <a:rPr lang="zh-CN" altLang="en-US" dirty="0"/>
              <a:t>新问题</a:t>
            </a:r>
          </a:p>
          <a:p>
            <a:pPr lvl="1"/>
            <a:r>
              <a:rPr lang="zh-CN" altLang="en-US" dirty="0"/>
              <a:t>如果程序中既使用多线程，又用</a:t>
            </a:r>
            <a:r>
              <a:rPr lang="en-US" altLang="zh-CN" dirty="0"/>
              <a:t>fork()</a:t>
            </a:r>
            <a:r>
              <a:rPr lang="zh-CN" altLang="en-US" dirty="0"/>
              <a:t>创建进程，则涉及</a:t>
            </a:r>
            <a:r>
              <a:rPr lang="zh-CN" altLang="en-US" dirty="0" smtClean="0"/>
              <a:t>一些策略</a:t>
            </a:r>
            <a:r>
              <a:rPr lang="zh-CN" altLang="en-US" dirty="0"/>
              <a:t>和细节问题，系统须谨慎处理</a:t>
            </a:r>
          </a:p>
          <a:p>
            <a:pPr lvl="1"/>
            <a:r>
              <a:rPr lang="zh-CN" altLang="en-US" dirty="0" smtClean="0"/>
              <a:t>本课程忽略，有兴趣</a:t>
            </a:r>
            <a:r>
              <a:rPr lang="zh-CN" altLang="en-US" dirty="0"/>
              <a:t>者自学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F5A8B553-02AE-2219-C59A-8B5B36D12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/>
          <a:p>
            <a:fld id="{4093CC90-4002-504C-BD88-C9A1D374048E}" type="slidenum">
              <a:rPr lang="zh-CN" altLang="en-US" smtClean="0"/>
              <a:pPr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2435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线程定义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线程是</a:t>
            </a:r>
            <a:r>
              <a:rPr lang="en-US" altLang="zh-CN" dirty="0"/>
              <a:t>CPU</a:t>
            </a:r>
            <a:r>
              <a:rPr lang="zh-CN" altLang="en-US" dirty="0"/>
              <a:t>使用的一个基本单元，包括</a:t>
            </a:r>
          </a:p>
          <a:p>
            <a:pPr lvl="1"/>
            <a:r>
              <a:rPr lang="zh-CN" altLang="en-US" dirty="0"/>
              <a:t>线程标识</a:t>
            </a:r>
          </a:p>
          <a:p>
            <a:pPr lvl="1"/>
            <a:r>
              <a:rPr lang="zh-CN" altLang="en-US" dirty="0"/>
              <a:t>程序计数器</a:t>
            </a:r>
          </a:p>
          <a:p>
            <a:pPr lvl="1"/>
            <a:r>
              <a:rPr lang="zh-CN" altLang="en-US" dirty="0"/>
              <a:t>寄存器集</a:t>
            </a:r>
          </a:p>
          <a:p>
            <a:pPr lvl="1"/>
            <a:r>
              <a:rPr lang="zh-CN" altLang="en-US" dirty="0"/>
              <a:t>栈</a:t>
            </a:r>
          </a:p>
          <a:p>
            <a:r>
              <a:rPr lang="zh-CN" altLang="en-US" dirty="0"/>
              <a:t>线程与属于同一进程的线程共享</a:t>
            </a:r>
          </a:p>
          <a:p>
            <a:pPr lvl="1"/>
            <a:r>
              <a:rPr lang="zh-CN" altLang="en-US" dirty="0"/>
              <a:t>代码段</a:t>
            </a:r>
          </a:p>
          <a:p>
            <a:pPr lvl="1"/>
            <a:r>
              <a:rPr lang="zh-CN" altLang="en-US" dirty="0"/>
              <a:t>数据段</a:t>
            </a:r>
          </a:p>
          <a:p>
            <a:pPr lvl="1"/>
            <a:r>
              <a:rPr lang="zh-CN" altLang="en-US" dirty="0"/>
              <a:t>其他操作系统资源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sp>
        <p:nvSpPr>
          <p:cNvPr id="5" name="圆角矩形标注 4"/>
          <p:cNvSpPr/>
          <p:nvPr/>
        </p:nvSpPr>
        <p:spPr bwMode="auto">
          <a:xfrm>
            <a:off x="4362450" y="4629150"/>
            <a:ext cx="4087813" cy="1990725"/>
          </a:xfrm>
          <a:prstGeom prst="wedgeRoundRectCallout">
            <a:avLst>
              <a:gd name="adj1" fmla="val -73815"/>
              <a:gd name="adj2" fmla="val -18469"/>
              <a:gd name="adj3" fmla="val 16667"/>
            </a:avLst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lang="zh-CN" altLang="en-US" sz="2000" dirty="0"/>
              <a:t>同一进程下的线程共享</a:t>
            </a:r>
            <a:r>
              <a:rPr lang="zh-CN" altLang="en-US" sz="2000" dirty="0" smtClean="0"/>
              <a:t>全局变量、堆、打开的文件</a:t>
            </a:r>
            <a:r>
              <a:rPr lang="zh-CN" altLang="en-US" sz="2000" dirty="0"/>
              <a:t>，甚至借用全局指针也可互访</a:t>
            </a:r>
            <a:r>
              <a:rPr lang="zh-CN" altLang="en-US" sz="2000" dirty="0" smtClean="0"/>
              <a:t>局部变量</a:t>
            </a:r>
            <a:endParaRPr lang="en-US" altLang="zh-CN" sz="2000" dirty="0" smtClean="0"/>
          </a:p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kumimoji="1" lang="zh-CN" altLang="en-US" sz="2000" dirty="0">
                <a:latin typeface="Tahoma" panose="020B0604030504040204" pitchFamily="34" charset="0"/>
                <a:ea typeface="宋体" panose="02010600030101010101" pitchFamily="2" charset="-122"/>
              </a:rPr>
              <a:t>多进程共享资源有避免错乱的问题（即同步问题），多线程同样存在，后续章节讨论</a:t>
            </a:r>
            <a:endParaRPr kumimoji="1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358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单线程进程和多线程进程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1685928"/>
            <a:ext cx="78867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899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多线程进程的地址空间布局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35038" y="1233488"/>
            <a:ext cx="5437187" cy="4895850"/>
          </a:xfrm>
        </p:spPr>
        <p:txBody>
          <a:bodyPr/>
          <a:lstStyle/>
          <a:p>
            <a:r>
              <a:rPr lang="zh-CN" altLang="en-US" dirty="0" smtClean="0"/>
              <a:t>独立的</a:t>
            </a:r>
            <a:r>
              <a:rPr lang="zh-CN" altLang="en-US" dirty="0"/>
              <a:t>内核栈和用户栈</a:t>
            </a:r>
          </a:p>
          <a:p>
            <a:pPr lvl="1"/>
            <a:r>
              <a:rPr lang="zh-CN" altLang="en-US" dirty="0"/>
              <a:t>每个线程都有自己的栈，用于存放临时数据</a:t>
            </a:r>
          </a:p>
          <a:p>
            <a:pPr lvl="1"/>
            <a:r>
              <a:rPr lang="zh-CN" altLang="en-US" dirty="0" smtClean="0"/>
              <a:t>相应的，每个线程有内核</a:t>
            </a:r>
            <a:r>
              <a:rPr lang="zh-CN" altLang="en-US" dirty="0"/>
              <a:t>栈</a:t>
            </a:r>
          </a:p>
          <a:p>
            <a:r>
              <a:rPr lang="zh-CN" altLang="en-US" dirty="0"/>
              <a:t>共享其它区域</a:t>
            </a:r>
          </a:p>
          <a:p>
            <a:pPr lvl="1"/>
            <a:r>
              <a:rPr lang="zh-CN" altLang="en-US" dirty="0"/>
              <a:t>除栈以外的其它区域，进程内的所有栈共享</a:t>
            </a:r>
          </a:p>
          <a:p>
            <a:pPr lvl="1"/>
            <a:r>
              <a:rPr lang="zh-CN" altLang="en-US" dirty="0" smtClean="0"/>
              <a:t>多</a:t>
            </a:r>
            <a:r>
              <a:rPr lang="zh-CN" altLang="en-US" dirty="0"/>
              <a:t>个线程需要动态分配内存时，将在同一个堆上完成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grpSp>
        <p:nvGrpSpPr>
          <p:cNvPr id="20" name="组合 19"/>
          <p:cNvGrpSpPr/>
          <p:nvPr/>
        </p:nvGrpSpPr>
        <p:grpSpPr>
          <a:xfrm>
            <a:off x="6637616" y="1339393"/>
            <a:ext cx="2193367" cy="4789945"/>
            <a:chOff x="6491289" y="1233488"/>
            <a:chExt cx="2193367" cy="478994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xmlns="" id="{01A1A3F4-BED7-E8C6-448B-B313DD76A35E}"/>
                </a:ext>
              </a:extLst>
            </p:cNvPr>
            <p:cNvSpPr/>
            <p:nvPr/>
          </p:nvSpPr>
          <p:spPr bwMode="auto">
            <a:xfrm>
              <a:off x="6491289" y="1233488"/>
              <a:ext cx="2191222" cy="478994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rtlCol="0" anchor="ctr" anchorCtr="0" compatLnSpc="1"/>
            <a:lstStyle/>
            <a:p>
              <a:pPr marL="342900" marR="0" indent="-342900" algn="ctr" defTabSz="914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</a:pPr>
              <a:endParaRPr kumimoji="1" lang="zh-CN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xmlns="" id="{F2ED6D06-30AE-F83F-EE8E-E461DA569545}"/>
                </a:ext>
              </a:extLst>
            </p:cNvPr>
            <p:cNvSpPr/>
            <p:nvPr/>
          </p:nvSpPr>
          <p:spPr bwMode="auto">
            <a:xfrm>
              <a:off x="6493434" y="1328605"/>
              <a:ext cx="2191222" cy="252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rtlCol="0" anchor="ctr" anchorCtr="0" compatLnSpc="1"/>
            <a:lstStyle/>
            <a:p>
              <a:pPr marR="0" algn="ctr" defTabSz="914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</a:pPr>
              <a:r>
                <a:rPr kumimoji="1" lang="zh-CN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宋体" panose="02010600030101010101" pitchFamily="2" charset="-122"/>
                </a:rPr>
                <a:t>内核代码及数据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xmlns="" id="{65C2BD38-FB44-A353-871C-EEB8F591201E}"/>
                </a:ext>
              </a:extLst>
            </p:cNvPr>
            <p:cNvSpPr/>
            <p:nvPr/>
          </p:nvSpPr>
          <p:spPr bwMode="auto">
            <a:xfrm>
              <a:off x="6493434" y="1776093"/>
              <a:ext cx="2191222" cy="252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rtlCol="0" anchor="ctr" anchorCtr="0" compatLnSpc="1"/>
            <a:lstStyle/>
            <a:p>
              <a:pPr marR="0" algn="ctr" defTabSz="914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</a:pPr>
              <a:r>
                <a:rPr kumimoji="1" lang="zh-CN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宋体" panose="02010600030101010101" pitchFamily="2" charset="-122"/>
                </a:rPr>
                <a:t>内核栈</a:t>
              </a:r>
              <a:r>
                <a:rPr kumimoji="1" lang="en-US" altLang="zh-CN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endParaRPr kumimoji="1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xmlns="" id="{E8EA726E-0BCC-C225-ABCF-E28E5AE4102B}"/>
                </a:ext>
              </a:extLst>
            </p:cNvPr>
            <p:cNvSpPr/>
            <p:nvPr/>
          </p:nvSpPr>
          <p:spPr bwMode="auto">
            <a:xfrm>
              <a:off x="6493434" y="2030374"/>
              <a:ext cx="2191222" cy="252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rtlCol="0" anchor="ctr" anchorCtr="0" compatLnSpc="1"/>
            <a:lstStyle/>
            <a:p>
              <a:pPr marR="0" algn="ctr" defTabSz="914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</a:pPr>
              <a:r>
                <a:rPr kumimoji="1" lang="zh-CN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宋体" panose="02010600030101010101" pitchFamily="2" charset="-122"/>
                </a:rPr>
                <a:t>内核栈</a:t>
              </a:r>
              <a:r>
                <a:rPr kumimoji="1" lang="en-US" altLang="zh-CN" sz="1600" dirty="0"/>
                <a:t>2</a:t>
              </a:r>
              <a:endParaRPr kumimoji="1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xmlns="" id="{4B46C9DF-CC47-32C2-7ADF-CCADA69FA31A}"/>
                </a:ext>
              </a:extLst>
            </p:cNvPr>
            <p:cNvSpPr/>
            <p:nvPr/>
          </p:nvSpPr>
          <p:spPr bwMode="auto">
            <a:xfrm>
              <a:off x="6493434" y="2283588"/>
              <a:ext cx="2191222" cy="252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rtlCol="0" anchor="ctr" anchorCtr="0" compatLnSpc="1"/>
            <a:lstStyle/>
            <a:p>
              <a:pPr marR="0" algn="ctr" defTabSz="914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</a:pPr>
              <a:r>
                <a:rPr kumimoji="1" lang="zh-CN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宋体" panose="02010600030101010101" pitchFamily="2" charset="-122"/>
                </a:rPr>
                <a:t>内核栈</a:t>
              </a:r>
              <a:r>
                <a:rPr kumimoji="1" lang="en-US" altLang="zh-CN" sz="1600" dirty="0"/>
                <a:t>3</a:t>
              </a:r>
              <a:endParaRPr kumimoji="1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xmlns="" id="{70426D27-4B65-962A-8D92-8A3C490304BE}"/>
                </a:ext>
              </a:extLst>
            </p:cNvPr>
            <p:cNvSpPr/>
            <p:nvPr/>
          </p:nvSpPr>
          <p:spPr bwMode="auto">
            <a:xfrm>
              <a:off x="6493434" y="2952137"/>
              <a:ext cx="2191222" cy="252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rtlCol="0" anchor="ctr" anchorCtr="0" compatLnSpc="1"/>
            <a:lstStyle/>
            <a:p>
              <a:pPr marR="0" algn="ctr" defTabSz="914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</a:pPr>
              <a:r>
                <a:rPr kumimoji="1" lang="zh-CN" altLang="en-US" sz="1600" dirty="0"/>
                <a:t>线程</a:t>
              </a:r>
              <a:r>
                <a:rPr kumimoji="1" lang="zh-CN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宋体" panose="02010600030101010101" pitchFamily="2" charset="-122"/>
                </a:rPr>
                <a:t>栈</a:t>
              </a:r>
              <a:r>
                <a:rPr kumimoji="1" lang="en-US" altLang="zh-CN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endParaRPr kumimoji="1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xmlns="" id="{322D94B4-784A-2860-C907-67931E7E40C4}"/>
                </a:ext>
              </a:extLst>
            </p:cNvPr>
            <p:cNvSpPr/>
            <p:nvPr/>
          </p:nvSpPr>
          <p:spPr bwMode="auto">
            <a:xfrm>
              <a:off x="6493434" y="3199045"/>
              <a:ext cx="2191222" cy="252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rtlCol="0" anchor="ctr" anchorCtr="0" compatLnSpc="1"/>
            <a:lstStyle/>
            <a:p>
              <a:pPr marR="0" algn="ctr" defTabSz="914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</a:pPr>
              <a:r>
                <a:rPr kumimoji="1" lang="zh-CN" altLang="en-US" sz="1600" dirty="0"/>
                <a:t>线程</a:t>
              </a:r>
              <a:r>
                <a:rPr kumimoji="1" lang="zh-CN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宋体" panose="02010600030101010101" pitchFamily="2" charset="-122"/>
                </a:rPr>
                <a:t>栈</a:t>
              </a:r>
              <a:r>
                <a:rPr kumimoji="1" lang="en-US" altLang="zh-CN" sz="1600" dirty="0"/>
                <a:t>2</a:t>
              </a:r>
              <a:endParaRPr kumimoji="1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xmlns="" id="{6E1D7D1E-50DC-4874-612C-42B25AE210BC}"/>
                </a:ext>
              </a:extLst>
            </p:cNvPr>
            <p:cNvSpPr/>
            <p:nvPr/>
          </p:nvSpPr>
          <p:spPr bwMode="auto">
            <a:xfrm>
              <a:off x="6493434" y="3450736"/>
              <a:ext cx="2191222" cy="252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rtlCol="0" anchor="ctr" anchorCtr="0" compatLnSpc="1"/>
            <a:lstStyle/>
            <a:p>
              <a:pPr marR="0" algn="ctr" defTabSz="914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</a:pPr>
              <a:r>
                <a:rPr kumimoji="1" lang="zh-CN" altLang="en-US" sz="1600" dirty="0"/>
                <a:t>线程</a:t>
              </a:r>
              <a:r>
                <a:rPr kumimoji="1" lang="zh-CN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宋体" panose="02010600030101010101" pitchFamily="2" charset="-122"/>
                </a:rPr>
                <a:t>栈</a:t>
              </a:r>
              <a:r>
                <a:rPr kumimoji="1" lang="en-US" altLang="zh-CN" sz="1600" dirty="0"/>
                <a:t>3</a:t>
              </a:r>
              <a:endParaRPr kumimoji="1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xmlns="" id="{AFCCBF55-2055-95AA-1F85-3157C0ECB563}"/>
                </a:ext>
              </a:extLst>
            </p:cNvPr>
            <p:cNvSpPr/>
            <p:nvPr/>
          </p:nvSpPr>
          <p:spPr bwMode="auto">
            <a:xfrm>
              <a:off x="6493434" y="3910615"/>
              <a:ext cx="2191222" cy="38793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rtlCol="0" anchor="ctr" anchorCtr="0" compatLnSpc="1"/>
            <a:lstStyle/>
            <a:p>
              <a:pPr marR="0" algn="ctr" defTabSz="914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</a:pPr>
              <a:r>
                <a:rPr kumimoji="1" lang="zh-CN" altLang="en-US" sz="1600" dirty="0"/>
                <a:t>代码库</a:t>
              </a:r>
              <a:endParaRPr kumimoji="1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xmlns="" id="{BEDD5F97-CBF8-093F-F7DB-DEF2B195192D}"/>
                </a:ext>
              </a:extLst>
            </p:cNvPr>
            <p:cNvSpPr/>
            <p:nvPr/>
          </p:nvSpPr>
          <p:spPr bwMode="auto">
            <a:xfrm>
              <a:off x="6493434" y="5051433"/>
              <a:ext cx="2191222" cy="324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rtlCol="0" anchor="ctr" anchorCtr="0" compatLnSpc="1"/>
            <a:lstStyle/>
            <a:p>
              <a:pPr marR="0" algn="ctr" defTabSz="914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</a:pPr>
              <a:r>
                <a:rPr kumimoji="1" lang="zh-CN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宋体" panose="02010600030101010101" pitchFamily="2" charset="-122"/>
                </a:rPr>
                <a:t>用户堆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xmlns="" id="{3ED423AA-AAF6-94DC-BDF7-5E7D8ACF186E}"/>
                </a:ext>
              </a:extLst>
            </p:cNvPr>
            <p:cNvSpPr/>
            <p:nvPr/>
          </p:nvSpPr>
          <p:spPr bwMode="auto">
            <a:xfrm>
              <a:off x="6493434" y="5375433"/>
              <a:ext cx="2191222" cy="324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rtlCol="0" anchor="ctr" anchorCtr="0" compatLnSpc="1"/>
            <a:lstStyle/>
            <a:p>
              <a:pPr marR="0" algn="ctr" defTabSz="914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</a:pPr>
              <a:r>
                <a:rPr kumimoji="1" lang="zh-CN" altLang="en-US" sz="1600" dirty="0"/>
                <a:t>数据</a:t>
              </a:r>
              <a:endParaRPr kumimoji="1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xmlns="" id="{5F389767-90F3-9E03-E45B-2B2E8287910B}"/>
                </a:ext>
              </a:extLst>
            </p:cNvPr>
            <p:cNvSpPr/>
            <p:nvPr/>
          </p:nvSpPr>
          <p:spPr bwMode="auto">
            <a:xfrm>
              <a:off x="6493434" y="5699433"/>
              <a:ext cx="2191222" cy="324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rtlCol="0" anchor="ctr" anchorCtr="0" compatLnSpc="1"/>
            <a:lstStyle/>
            <a:p>
              <a:pPr marR="0" algn="ctr" defTabSz="914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</a:pPr>
              <a:r>
                <a:rPr kumimoji="1" lang="zh-CN" altLang="en-US" sz="1600" dirty="0"/>
                <a:t>代码</a:t>
              </a:r>
              <a:endParaRPr kumimoji="1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18" name="直线箭头连接符 22">
              <a:extLst>
                <a:ext uri="{FF2B5EF4-FFF2-40B4-BE49-F238E27FC236}">
                  <a16:creationId xmlns:a16="http://schemas.microsoft.com/office/drawing/2014/main" xmlns="" id="{601C34E5-7D03-CEF7-E2D0-6C5E9DB09513}"/>
                </a:ext>
              </a:extLst>
            </p:cNvPr>
            <p:cNvCxnSpPr>
              <a:stCxn id="15" idx="0"/>
            </p:cNvCxnSpPr>
            <p:nvPr/>
          </p:nvCxnSpPr>
          <p:spPr bwMode="auto">
            <a:xfrm flipH="1" flipV="1">
              <a:off x="7582611" y="4797152"/>
              <a:ext cx="6434" cy="254281"/>
            </a:xfrm>
            <a:prstGeom prst="straightConnector1">
              <a:avLst/>
            </a:prstGeom>
            <a:ln w="28575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54652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线程的状态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线程状态</a:t>
            </a:r>
          </a:p>
          <a:p>
            <a:pPr lvl="1"/>
            <a:r>
              <a:rPr lang="zh-CN" altLang="en-US" dirty="0"/>
              <a:t>创建、就绪、运行、阻塞、终止</a:t>
            </a:r>
          </a:p>
          <a:p>
            <a:pPr lvl="1"/>
            <a:r>
              <a:rPr lang="zh-CN" altLang="en-US" dirty="0"/>
              <a:t>进程只剩创建、撤销、活动、挂起等状态</a:t>
            </a:r>
          </a:p>
          <a:p>
            <a:pPr lvl="2"/>
            <a:r>
              <a:rPr lang="zh-CN" altLang="en-US" dirty="0"/>
              <a:t>进程的挂起及终止将影响到其中的所有</a:t>
            </a:r>
            <a:r>
              <a:rPr lang="zh-CN" altLang="en-US" dirty="0" smtClean="0"/>
              <a:t>线程</a:t>
            </a:r>
            <a:endParaRPr lang="zh-CN" altLang="en-US" dirty="0"/>
          </a:p>
          <a:p>
            <a:r>
              <a:rPr lang="zh-CN" altLang="en-US" dirty="0"/>
              <a:t>进程有</a:t>
            </a:r>
            <a:r>
              <a:rPr lang="en-US" altLang="zh-CN" dirty="0"/>
              <a:t>PCB</a:t>
            </a:r>
            <a:r>
              <a:rPr lang="zh-CN" altLang="en-US" dirty="0"/>
              <a:t>，线程有</a:t>
            </a:r>
            <a:r>
              <a:rPr lang="en-US" altLang="zh-CN" dirty="0" smtClean="0"/>
              <a:t>TCB</a:t>
            </a:r>
          </a:p>
          <a:p>
            <a:pPr lvl="1"/>
            <a:r>
              <a:rPr lang="zh-CN" altLang="en-US" dirty="0"/>
              <a:t>线程标识符、状态、</a:t>
            </a:r>
            <a:r>
              <a:rPr lang="en-US" altLang="zh-CN" dirty="0"/>
              <a:t>CPU</a:t>
            </a:r>
            <a:r>
              <a:rPr lang="zh-CN" altLang="en-US" dirty="0"/>
              <a:t>寄存器值、优先级、指向</a:t>
            </a:r>
            <a:r>
              <a:rPr lang="en-US" altLang="zh-CN" dirty="0"/>
              <a:t>PCB</a:t>
            </a:r>
            <a:r>
              <a:rPr lang="zh-CN" altLang="en-US" dirty="0"/>
              <a:t>的指针</a:t>
            </a:r>
            <a:endParaRPr lang="en-US" altLang="zh-CN" dirty="0"/>
          </a:p>
          <a:p>
            <a:r>
              <a:rPr lang="zh-CN" altLang="en-US" dirty="0"/>
              <a:t>线程的同步与通信与进程类似</a:t>
            </a:r>
          </a:p>
          <a:p>
            <a:pPr lvl="1"/>
            <a:r>
              <a:rPr lang="zh-CN" altLang="en-US" dirty="0"/>
              <a:t>但免除了很多通信的必要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920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优点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响应</a:t>
            </a:r>
            <a:r>
              <a:rPr lang="zh-CN" altLang="en-US" dirty="0" smtClean="0"/>
              <a:t>性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进程</a:t>
            </a:r>
            <a:r>
              <a:rPr lang="zh-CN" altLang="en-US" dirty="0"/>
              <a:t>在某个部分被阻塞的情况下被允许继续执行，对于用户界面尤其重要</a:t>
            </a:r>
          </a:p>
          <a:p>
            <a:r>
              <a:rPr lang="zh-CN" altLang="en-US" dirty="0" smtClean="0"/>
              <a:t>资源共享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天然共享资源</a:t>
            </a:r>
            <a:r>
              <a:rPr lang="zh-CN" altLang="en-US" dirty="0"/>
              <a:t>，</a:t>
            </a:r>
            <a:r>
              <a:rPr lang="zh-CN" altLang="en-US" dirty="0" smtClean="0"/>
              <a:t>比进程通信方便，免除系统调用</a:t>
            </a:r>
            <a:endParaRPr lang="zh-CN" altLang="en-US" dirty="0"/>
          </a:p>
          <a:p>
            <a:r>
              <a:rPr lang="zh-CN" altLang="en-US" dirty="0" smtClean="0"/>
              <a:t>经济性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不涉及内存资源管理，创建开销</a:t>
            </a:r>
            <a:r>
              <a:rPr lang="zh-CN" altLang="en-US" dirty="0"/>
              <a:t>小</a:t>
            </a:r>
            <a:r>
              <a:rPr lang="zh-CN" altLang="en-US" dirty="0" smtClean="0"/>
              <a:t>，切换开销低</a:t>
            </a:r>
            <a:endParaRPr lang="zh-CN" altLang="en-US" dirty="0"/>
          </a:p>
          <a:p>
            <a:r>
              <a:rPr lang="zh-CN" altLang="en-US" dirty="0"/>
              <a:t>可</a:t>
            </a:r>
            <a:r>
              <a:rPr lang="zh-CN" altLang="en-US" dirty="0" smtClean="0"/>
              <a:t>扩展性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使单个进程</a:t>
            </a:r>
            <a:r>
              <a:rPr lang="zh-CN" altLang="en-US" dirty="0"/>
              <a:t>可以利用多核架构的优势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538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章 线程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本章内容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 线程的概念</a:t>
            </a:r>
            <a:endParaRPr lang="zh-CN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2.</a:t>
            </a:r>
            <a:r>
              <a:rPr lang="zh-CN" altLang="en-US" dirty="0">
                <a:solidFill>
                  <a:srgbClr val="FF0000"/>
                </a:solidFill>
              </a:rPr>
              <a:t> 多线程模型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3.</a:t>
            </a:r>
            <a:r>
              <a:rPr lang="zh-CN" altLang="en-US" dirty="0"/>
              <a:t> 线程库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9981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多线程模型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操作系统中有多种方式实现对线程的支持</a:t>
            </a:r>
          </a:p>
          <a:p>
            <a:pPr lvl="1"/>
            <a:r>
              <a:rPr lang="zh-CN" altLang="en-US" dirty="0"/>
              <a:t>内核</a:t>
            </a:r>
            <a:r>
              <a:rPr lang="zh-CN" altLang="en-US" dirty="0" smtClean="0"/>
              <a:t>线程</a:t>
            </a:r>
            <a:endParaRPr lang="en-US" altLang="zh-CN" dirty="0" smtClean="0"/>
          </a:p>
          <a:p>
            <a:pPr lvl="2"/>
            <a:r>
              <a:rPr lang="zh-CN" altLang="en-US" dirty="0"/>
              <a:t>即真正的线程</a:t>
            </a:r>
            <a:r>
              <a:rPr lang="zh-CN" altLang="en-US" dirty="0" smtClean="0"/>
              <a:t>，由</a:t>
            </a:r>
            <a:r>
              <a:rPr lang="en-US" altLang="zh-CN" dirty="0" smtClean="0"/>
              <a:t>OS</a:t>
            </a:r>
            <a:r>
              <a:rPr lang="zh-CN" altLang="en-US" dirty="0"/>
              <a:t>内核创建并</a:t>
            </a:r>
            <a:r>
              <a:rPr lang="zh-CN" altLang="en-US" dirty="0" smtClean="0"/>
              <a:t>管理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所有当代</a:t>
            </a:r>
            <a:r>
              <a:rPr lang="en-US" altLang="zh-CN" dirty="0" smtClean="0"/>
              <a:t>OS</a:t>
            </a:r>
            <a:r>
              <a:rPr lang="zh-CN" altLang="en-US" dirty="0" smtClean="0"/>
              <a:t>均支持内核线程</a:t>
            </a:r>
            <a:endParaRPr lang="zh-CN" altLang="en-US" dirty="0"/>
          </a:p>
          <a:p>
            <a:pPr lvl="1"/>
            <a:r>
              <a:rPr lang="zh-CN" altLang="en-US" dirty="0"/>
              <a:t>用户</a:t>
            </a:r>
            <a:r>
              <a:rPr lang="zh-CN" altLang="en-US" dirty="0" smtClean="0"/>
              <a:t>线程</a:t>
            </a:r>
            <a:endParaRPr lang="en-US" altLang="zh-CN" dirty="0" smtClean="0"/>
          </a:p>
          <a:p>
            <a:pPr lvl="2"/>
            <a:r>
              <a:rPr lang="zh-CN" altLang="en-US" dirty="0"/>
              <a:t>不依赖</a:t>
            </a:r>
            <a:r>
              <a:rPr lang="zh-CN" altLang="en-US" dirty="0" smtClean="0"/>
              <a:t>于</a:t>
            </a:r>
            <a:r>
              <a:rPr lang="en-US" altLang="zh-CN" dirty="0" smtClean="0"/>
              <a:t>OS</a:t>
            </a:r>
            <a:r>
              <a:rPr lang="zh-CN" altLang="en-US" dirty="0" smtClean="0"/>
              <a:t>核心</a:t>
            </a:r>
            <a:r>
              <a:rPr lang="zh-CN" altLang="en-US" dirty="0"/>
              <a:t>，由应用进程利用</a:t>
            </a:r>
            <a:r>
              <a:rPr lang="zh-CN" altLang="en-US" dirty="0">
                <a:solidFill>
                  <a:srgbClr val="FF0000"/>
                </a:solidFill>
              </a:rPr>
              <a:t>线程库</a:t>
            </a:r>
            <a:r>
              <a:rPr lang="zh-CN" altLang="en-US" dirty="0"/>
              <a:t>提供创建、同步、调度和</a:t>
            </a:r>
            <a:r>
              <a:rPr lang="zh-CN" altLang="en-US" dirty="0" smtClean="0"/>
              <a:t>管理（不依赖系统调用）</a:t>
            </a:r>
            <a:endParaRPr lang="zh-CN" altLang="en-US" dirty="0"/>
          </a:p>
          <a:p>
            <a:pPr lvl="2"/>
            <a:r>
              <a:rPr lang="zh-CN" altLang="en-US" dirty="0" smtClean="0"/>
              <a:t>维护</a:t>
            </a:r>
            <a:r>
              <a:rPr lang="zh-CN" altLang="en-US" dirty="0"/>
              <a:t>由应用进程完成，可以用于不支持内核线程的操作系统</a:t>
            </a:r>
          </a:p>
          <a:p>
            <a:pPr lvl="1"/>
            <a:r>
              <a:rPr lang="zh-CN" altLang="en-US" dirty="0"/>
              <a:t>上述两种方法的组合</a:t>
            </a:r>
            <a:r>
              <a:rPr lang="zh-CN" altLang="en-US" dirty="0" smtClean="0"/>
              <a:t>实现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418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FA478220-5F10-3448-53B0-A082ACF36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两种方法的组合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内核支持多线程的建立、调度与</a:t>
            </a:r>
            <a:r>
              <a:rPr lang="zh-CN" altLang="en-US" dirty="0" smtClean="0"/>
              <a:t>管理</a:t>
            </a:r>
            <a:endParaRPr lang="en-US" altLang="zh-CN" dirty="0" smtClean="0"/>
          </a:p>
          <a:p>
            <a:r>
              <a:rPr lang="zh-CN" altLang="en-US" dirty="0" smtClean="0"/>
              <a:t>同时</a:t>
            </a:r>
            <a:r>
              <a:rPr lang="zh-CN" altLang="en-US" dirty="0"/>
              <a:t>，系统中又</a:t>
            </a:r>
            <a:r>
              <a:rPr lang="zh-CN" altLang="en-US" dirty="0" smtClean="0"/>
              <a:t>提供线程库，允许应用程序</a:t>
            </a:r>
            <a:r>
              <a:rPr lang="zh-CN" altLang="en-US" dirty="0"/>
              <a:t>建立、调度和管理用户</a:t>
            </a:r>
            <a:r>
              <a:rPr lang="zh-CN" altLang="en-US" dirty="0" smtClean="0"/>
              <a:t>线程</a:t>
            </a:r>
            <a:endParaRPr lang="en-US" altLang="zh-CN" dirty="0" smtClean="0"/>
          </a:p>
          <a:p>
            <a:r>
              <a:rPr lang="zh-CN" altLang="en-US" dirty="0" smtClean="0"/>
              <a:t>组合关系</a:t>
            </a:r>
            <a:endParaRPr lang="zh-CN" altLang="en-US" dirty="0"/>
          </a:p>
          <a:p>
            <a:pPr lvl="1"/>
            <a:r>
              <a:rPr lang="zh-CN" altLang="en-US" dirty="0"/>
              <a:t>多对一</a:t>
            </a:r>
          </a:p>
          <a:p>
            <a:pPr lvl="1"/>
            <a:r>
              <a:rPr lang="zh-CN" altLang="en-US" dirty="0"/>
              <a:t>一对一</a:t>
            </a:r>
          </a:p>
          <a:p>
            <a:pPr lvl="1"/>
            <a:r>
              <a:rPr lang="zh-CN" altLang="en-US" dirty="0"/>
              <a:t>多对多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F5A8B553-02AE-2219-C59A-8B5B36D12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775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多对一模型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将多个用户线程映射到一个内核线程</a:t>
            </a:r>
          </a:p>
          <a:p>
            <a:pPr lvl="1"/>
            <a:r>
              <a:rPr lang="zh-CN" altLang="en-US" dirty="0"/>
              <a:t>线程管理由线程库在用户空间进行</a:t>
            </a:r>
          </a:p>
          <a:p>
            <a:pPr lvl="1"/>
            <a:r>
              <a:rPr lang="zh-CN" altLang="en-US" dirty="0" smtClean="0"/>
              <a:t>线程是手搓的，系统调用和阻塞却是真实的，当</a:t>
            </a:r>
            <a:r>
              <a:rPr lang="zh-CN" altLang="en-US" dirty="0"/>
              <a:t>一个线程阻塞时，整个进程都必须等待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3585210"/>
            <a:ext cx="5234940" cy="2948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944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一对一模型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将每个用户线程映射到一个内核线程</a:t>
            </a:r>
          </a:p>
          <a:p>
            <a:pPr lvl="1"/>
            <a:r>
              <a:rPr lang="zh-CN" altLang="en-US" dirty="0" smtClean="0"/>
              <a:t>比多对一模型提供更好的并发性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但一</a:t>
            </a:r>
            <a:r>
              <a:rPr lang="zh-CN" altLang="en-US" dirty="0"/>
              <a:t>个进程</a:t>
            </a:r>
            <a:r>
              <a:rPr lang="zh-CN" altLang="en-US" dirty="0" smtClean="0"/>
              <a:t>中</a:t>
            </a:r>
            <a:r>
              <a:rPr lang="zh-CN" altLang="en-US" dirty="0"/>
              <a:t>的线程</a:t>
            </a:r>
            <a:r>
              <a:rPr lang="zh-CN" altLang="en-US" dirty="0" smtClean="0"/>
              <a:t>数量通常受</a:t>
            </a:r>
            <a:r>
              <a:rPr lang="zh-CN" altLang="en-US" dirty="0"/>
              <a:t>系统</a:t>
            </a:r>
            <a:r>
              <a:rPr lang="zh-CN" altLang="en-US" dirty="0" smtClean="0"/>
              <a:t>限制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主流</a:t>
            </a:r>
            <a:r>
              <a:rPr lang="en-US" altLang="zh-CN" dirty="0" smtClean="0"/>
              <a:t>OS</a:t>
            </a:r>
            <a:r>
              <a:rPr lang="zh-CN" altLang="en-US" dirty="0" smtClean="0"/>
              <a:t>均属一对一模型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14</a:t>
            </a:fld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3587115"/>
            <a:ext cx="5212080" cy="296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87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多对多模型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多路复用</a:t>
            </a:r>
            <a:r>
              <a:rPr lang="en-US" altLang="zh-CN" dirty="0" smtClean="0"/>
              <a:t>M</a:t>
            </a:r>
            <a:r>
              <a:rPr lang="zh-CN" altLang="en-US" dirty="0" smtClean="0"/>
              <a:t>个</a:t>
            </a:r>
            <a:r>
              <a:rPr lang="zh-CN" altLang="en-US" dirty="0"/>
              <a:t>用户线程</a:t>
            </a:r>
            <a:r>
              <a:rPr lang="zh-CN" altLang="en-US" dirty="0" smtClean="0"/>
              <a:t>到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个内核</a:t>
            </a:r>
            <a:r>
              <a:rPr lang="zh-CN" altLang="en-US" dirty="0"/>
              <a:t>线程</a:t>
            </a:r>
            <a:r>
              <a:rPr lang="zh-CN" altLang="en-US" dirty="0" smtClean="0"/>
              <a:t>上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M ≥ N</a:t>
            </a:r>
          </a:p>
          <a:p>
            <a:pPr lvl="1"/>
            <a:r>
              <a:rPr lang="zh-CN" altLang="en-US" dirty="0"/>
              <a:t>如果某用户线程阻塞</a:t>
            </a:r>
            <a:r>
              <a:rPr lang="zh-CN" altLang="en-US" dirty="0" smtClean="0"/>
              <a:t>等待，</a:t>
            </a:r>
            <a:r>
              <a:rPr lang="zh-CN" altLang="en-US" dirty="0"/>
              <a:t>则创建另一个内核线程</a:t>
            </a:r>
            <a:r>
              <a:rPr lang="zh-CN" altLang="en-US" dirty="0" smtClean="0"/>
              <a:t>，</a:t>
            </a:r>
            <a:r>
              <a:rPr lang="zh-CN" altLang="en-US" dirty="0"/>
              <a:t>同班</a:t>
            </a:r>
            <a:r>
              <a:rPr lang="zh-CN" altLang="en-US" dirty="0" smtClean="0"/>
              <a:t>的</a:t>
            </a:r>
            <a:r>
              <a:rPr lang="zh-CN" altLang="en-US" dirty="0"/>
              <a:t>用户线程被转移到新的内核线程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15</a:t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625" y="3594735"/>
            <a:ext cx="5212080" cy="2948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579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多对多模型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多路复用</a:t>
            </a:r>
            <a:r>
              <a:rPr lang="en-US" altLang="zh-CN" dirty="0" smtClean="0"/>
              <a:t>M</a:t>
            </a:r>
            <a:r>
              <a:rPr lang="zh-CN" altLang="en-US" dirty="0" smtClean="0"/>
              <a:t>个</a:t>
            </a:r>
            <a:r>
              <a:rPr lang="zh-CN" altLang="en-US" dirty="0"/>
              <a:t>用户线程</a:t>
            </a:r>
            <a:r>
              <a:rPr lang="zh-CN" altLang="en-US" dirty="0" smtClean="0"/>
              <a:t>到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个内核</a:t>
            </a:r>
            <a:r>
              <a:rPr lang="zh-CN" altLang="en-US" dirty="0"/>
              <a:t>线程</a:t>
            </a:r>
            <a:r>
              <a:rPr lang="zh-CN" altLang="en-US" dirty="0" smtClean="0"/>
              <a:t>上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更灵活的</a:t>
            </a:r>
            <a:r>
              <a:rPr lang="zh-CN" altLang="en-US" dirty="0"/>
              <a:t>变种：用户线程既</a:t>
            </a:r>
            <a:r>
              <a:rPr lang="zh-CN" altLang="en-US" dirty="0" smtClean="0"/>
              <a:t>可以</a:t>
            </a:r>
            <a:r>
              <a:rPr lang="zh-CN" altLang="en-US" dirty="0"/>
              <a:t>动态</a:t>
            </a:r>
            <a:r>
              <a:rPr lang="zh-CN" altLang="en-US" dirty="0" smtClean="0"/>
              <a:t>分享内核</a:t>
            </a:r>
            <a:r>
              <a:rPr lang="zh-CN" altLang="en-US" dirty="0"/>
              <a:t>线程，也可以独占一个内核线程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16</a:t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910" y="3589015"/>
            <a:ext cx="5217795" cy="2754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198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现实情况</a:t>
            </a:r>
            <a:endParaRPr lang="zh-CN" altLang="en-US" dirty="0"/>
          </a:p>
        </p:txBody>
      </p:sp>
      <p:sp>
        <p:nvSpPr>
          <p:cNvPr id="25" name="内容占位符 2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线程就是内核线程，多数情况下满足需要</a:t>
            </a:r>
            <a:endParaRPr lang="en-US" altLang="zh-CN" dirty="0" smtClean="0"/>
          </a:p>
          <a:p>
            <a:r>
              <a:rPr lang="zh-CN" altLang="en-US" dirty="0" smtClean="0"/>
              <a:t>手搓的用户线程通常称为</a:t>
            </a:r>
            <a:r>
              <a:rPr lang="zh-CN" altLang="en-US" dirty="0" smtClean="0">
                <a:solidFill>
                  <a:srgbClr val="FF0000"/>
                </a:solidFill>
              </a:rPr>
              <a:t>协程</a:t>
            </a:r>
            <a:r>
              <a:rPr lang="en-US" altLang="zh-CN" dirty="0" smtClean="0"/>
              <a:t>/</a:t>
            </a:r>
            <a:r>
              <a:rPr lang="zh-CN" altLang="en-US" dirty="0" smtClean="0">
                <a:solidFill>
                  <a:srgbClr val="FF0000"/>
                </a:solidFill>
              </a:rPr>
              <a:t>纤程</a:t>
            </a:r>
            <a:r>
              <a:rPr lang="zh-CN" altLang="en-US" dirty="0" smtClean="0"/>
              <a:t>，依靠特殊线程库，用于特殊场合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17</a:t>
            </a:fld>
            <a:endParaRPr lang="zh-CN" altLang="en-US" dirty="0"/>
          </a:p>
        </p:txBody>
      </p:sp>
      <p:sp>
        <p:nvSpPr>
          <p:cNvPr id="6" name="矩形 5"/>
          <p:cNvSpPr/>
          <p:nvPr/>
        </p:nvSpPr>
        <p:spPr bwMode="auto">
          <a:xfrm>
            <a:off x="6311106" y="5676899"/>
            <a:ext cx="2095500" cy="542925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R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kumimoji="1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内核线程</a:t>
            </a: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5349081" y="5534024"/>
            <a:ext cx="3200400" cy="0"/>
          </a:xfrm>
          <a:prstGeom prst="line">
            <a:avLst/>
          </a:prstGeom>
          <a:gradFill rotWithShape="0">
            <a:gsLst>
              <a:gs pos="0">
                <a:srgbClr val="99CCFF"/>
              </a:gs>
              <a:gs pos="100000">
                <a:schemeClr val="bg2"/>
              </a:gs>
            </a:gsLst>
            <a:lin ang="5400000" scaled="1"/>
          </a:gra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文本框 8"/>
          <p:cNvSpPr txBox="1"/>
          <p:nvPr/>
        </p:nvSpPr>
        <p:spPr>
          <a:xfrm>
            <a:off x="5349081" y="5534024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内核态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349081" y="516469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用户态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 bwMode="auto">
          <a:xfrm>
            <a:off x="6311106" y="4591049"/>
            <a:ext cx="2095500" cy="800101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R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kumimoji="1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线程库</a:t>
            </a:r>
            <a:endParaRPr kumimoji="1" lang="en-US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R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kumimoji="1" lang="en-US" altLang="zh-CN" sz="2000" dirty="0" smtClean="0">
                <a:latin typeface="Tahoma" panose="020B0604030504040204" pitchFamily="34" charset="0"/>
                <a:ea typeface="宋体" panose="02010600030101010101" pitchFamily="2" charset="-122"/>
              </a:rPr>
              <a:t>M:1</a:t>
            </a:r>
            <a:r>
              <a:rPr kumimoji="1" lang="zh-CN" altLang="en-US" sz="2000" dirty="0" smtClean="0">
                <a:latin typeface="Tahoma" panose="020B0604030504040204" pitchFamily="34" charset="0"/>
                <a:ea typeface="宋体" panose="02010600030101010101" pitchFamily="2" charset="-122"/>
              </a:rPr>
              <a:t>或</a:t>
            </a:r>
            <a:r>
              <a:rPr kumimoji="1" lang="en-US" altLang="zh-CN" sz="2000" dirty="0" smtClean="0">
                <a:latin typeface="Tahoma" panose="020B0604030504040204" pitchFamily="34" charset="0"/>
                <a:ea typeface="宋体" panose="02010600030101010101" pitchFamily="2" charset="-122"/>
              </a:rPr>
              <a:t>1:1</a:t>
            </a:r>
            <a:r>
              <a:rPr kumimoji="1" lang="zh-CN" altLang="en-US" sz="2000" dirty="0" smtClean="0">
                <a:latin typeface="Tahoma" panose="020B0604030504040204" pitchFamily="34" charset="0"/>
                <a:ea typeface="宋体" panose="02010600030101010101" pitchFamily="2" charset="-122"/>
              </a:rPr>
              <a:t>或</a:t>
            </a:r>
            <a:r>
              <a:rPr kumimoji="1" lang="en-US" altLang="zh-CN" sz="2000" dirty="0" smtClean="0">
                <a:latin typeface="Tahoma" panose="020B0604030504040204" pitchFamily="34" charset="0"/>
                <a:ea typeface="宋体" panose="02010600030101010101" pitchFamily="2" charset="-122"/>
              </a:rPr>
              <a:t>M:N</a:t>
            </a:r>
            <a:endParaRPr kumimoji="1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6311106" y="3907871"/>
            <a:ext cx="2095500" cy="542925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R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kumimoji="1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用户线程</a:t>
            </a:r>
          </a:p>
        </p:txBody>
      </p:sp>
      <p:sp>
        <p:nvSpPr>
          <p:cNvPr id="13" name="矩形 12"/>
          <p:cNvSpPr/>
          <p:nvPr/>
        </p:nvSpPr>
        <p:spPr bwMode="auto">
          <a:xfrm>
            <a:off x="1152524" y="5676900"/>
            <a:ext cx="3762376" cy="542925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R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kumimoji="1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内核线程</a:t>
            </a:r>
          </a:p>
        </p:txBody>
      </p:sp>
      <p:cxnSp>
        <p:nvCxnSpPr>
          <p:cNvPr id="14" name="直接连接符 13"/>
          <p:cNvCxnSpPr/>
          <p:nvPr/>
        </p:nvCxnSpPr>
        <p:spPr bwMode="auto">
          <a:xfrm flipV="1">
            <a:off x="190500" y="5534024"/>
            <a:ext cx="4857750" cy="2"/>
          </a:xfrm>
          <a:prstGeom prst="line">
            <a:avLst/>
          </a:prstGeom>
          <a:gradFill rotWithShape="0">
            <a:gsLst>
              <a:gs pos="0">
                <a:srgbClr val="99CCFF"/>
              </a:gs>
              <a:gs pos="100000">
                <a:schemeClr val="bg2"/>
              </a:gs>
            </a:gsLst>
            <a:lin ang="5400000" scaled="1"/>
          </a:gra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文本框 14"/>
          <p:cNvSpPr txBox="1"/>
          <p:nvPr/>
        </p:nvSpPr>
        <p:spPr>
          <a:xfrm>
            <a:off x="190500" y="5534025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内核态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90500" y="516469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用户态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 bwMode="auto">
          <a:xfrm>
            <a:off x="3495676" y="4022169"/>
            <a:ext cx="1419224" cy="800101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R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kumimoji="1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特殊线程库</a:t>
            </a:r>
            <a:endParaRPr kumimoji="1" lang="en-US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R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kumimoji="1" lang="en-US" altLang="zh-CN" sz="2000" dirty="0" smtClean="0">
                <a:latin typeface="Tahoma" panose="020B0604030504040204" pitchFamily="34" charset="0"/>
                <a:ea typeface="宋体" panose="02010600030101010101" pitchFamily="2" charset="-122"/>
              </a:rPr>
              <a:t>M:1</a:t>
            </a:r>
            <a:r>
              <a:rPr kumimoji="1" lang="zh-CN" altLang="en-US" sz="2000" dirty="0" smtClean="0">
                <a:latin typeface="Tahoma" panose="020B0604030504040204" pitchFamily="34" charset="0"/>
                <a:ea typeface="宋体" panose="02010600030101010101" pitchFamily="2" charset="-122"/>
              </a:rPr>
              <a:t>或</a:t>
            </a:r>
            <a:r>
              <a:rPr kumimoji="1" lang="en-US" altLang="zh-CN" sz="2000" dirty="0" smtClean="0">
                <a:latin typeface="Tahoma" panose="020B0604030504040204" pitchFamily="34" charset="0"/>
                <a:ea typeface="宋体" panose="02010600030101010101" pitchFamily="2" charset="-122"/>
              </a:rPr>
              <a:t>M:N</a:t>
            </a:r>
            <a:endParaRPr kumimoji="1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1152524" y="3079194"/>
            <a:ext cx="1019176" cy="1743078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R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kumimoji="1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基于内核线程</a:t>
            </a:r>
          </a:p>
        </p:txBody>
      </p:sp>
      <p:sp>
        <p:nvSpPr>
          <p:cNvPr id="20" name="矩形 19"/>
          <p:cNvSpPr/>
          <p:nvPr/>
        </p:nvSpPr>
        <p:spPr bwMode="auto">
          <a:xfrm>
            <a:off x="1152524" y="4962524"/>
            <a:ext cx="3762376" cy="42862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R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kumimoji="1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系统官方</a:t>
            </a:r>
            <a:r>
              <a:rPr kumimoji="1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API</a:t>
            </a:r>
            <a:endParaRPr kumimoji="1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3495676" y="3079193"/>
            <a:ext cx="1419224" cy="800101"/>
          </a:xfrm>
          <a:prstGeom prst="rect">
            <a:avLst/>
          </a:prstGeom>
          <a:solidFill>
            <a:schemeClr val="accent5">
              <a:lumMod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R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kumimoji="1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协程</a:t>
            </a:r>
            <a:r>
              <a:rPr kumimoji="1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/</a:t>
            </a:r>
            <a:r>
              <a:rPr kumimoji="1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纤程</a:t>
            </a:r>
          </a:p>
        </p:txBody>
      </p:sp>
      <p:sp>
        <p:nvSpPr>
          <p:cNvPr id="22" name="矩形 21"/>
          <p:cNvSpPr/>
          <p:nvPr/>
        </p:nvSpPr>
        <p:spPr bwMode="auto">
          <a:xfrm>
            <a:off x="2324100" y="4022168"/>
            <a:ext cx="1019176" cy="800101"/>
          </a:xfrm>
          <a:prstGeom prst="rect">
            <a:avLst/>
          </a:prstGeom>
          <a:solidFill>
            <a:srgbClr val="FF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R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kumimoji="1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一般库</a:t>
            </a:r>
            <a:endParaRPr kumimoji="1" lang="en-US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R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kumimoji="1" lang="zh-CN" altLang="en-US" sz="2000" dirty="0" smtClean="0">
                <a:latin typeface="Tahoma" panose="020B0604030504040204" pitchFamily="34" charset="0"/>
                <a:ea typeface="宋体" panose="02010600030101010101" pitchFamily="2" charset="-122"/>
              </a:rPr>
              <a:t>如</a:t>
            </a:r>
            <a:r>
              <a:rPr kumimoji="1" lang="en-US" altLang="zh-CN" sz="2000" dirty="0" err="1" smtClean="0">
                <a:latin typeface="Tahoma" panose="020B0604030504040204" pitchFamily="34" charset="0"/>
                <a:ea typeface="宋体" panose="02010600030101010101" pitchFamily="2" charset="-122"/>
              </a:rPr>
              <a:t>.Net</a:t>
            </a:r>
            <a:endParaRPr kumimoji="1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2324100" y="3079193"/>
            <a:ext cx="1019176" cy="800101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R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kumimoji="1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rPr>
              <a:t>基于内核线程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2479714" y="63246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现实情况</a:t>
            </a:r>
            <a:endParaRPr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6458609" y="632460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教材描述的情况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748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章 线程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本章内容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 线程的概念</a:t>
            </a:r>
            <a:endParaRPr lang="zh-CN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 多线程模型</a:t>
            </a:r>
            <a:endParaRPr lang="zh-CN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3.</a:t>
            </a:r>
            <a:r>
              <a:rPr lang="zh-CN" altLang="en-US" dirty="0">
                <a:solidFill>
                  <a:srgbClr val="FF0000"/>
                </a:solidFill>
              </a:rPr>
              <a:t> 线程库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4579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POSIX </a:t>
            </a:r>
            <a:r>
              <a:rPr lang="en-US" altLang="zh-CN" dirty="0" err="1" smtClean="0"/>
              <a:t>pthreads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只是一种规范，而非实现</a:t>
            </a:r>
          </a:p>
          <a:p>
            <a:pPr lvl="1"/>
            <a:r>
              <a:rPr lang="en-US" altLang="zh-CN" dirty="0" err="1"/>
              <a:t>pthreads</a:t>
            </a:r>
            <a:r>
              <a:rPr lang="zh-CN" altLang="en-US" dirty="0"/>
              <a:t>只对接口进行了定义，不同的</a:t>
            </a:r>
            <a:r>
              <a:rPr lang="en-US" altLang="zh-CN" dirty="0"/>
              <a:t>OS</a:t>
            </a:r>
            <a:r>
              <a:rPr lang="zh-CN" altLang="en-US" dirty="0"/>
              <a:t>根据自己的需求提供了实现</a:t>
            </a:r>
          </a:p>
          <a:p>
            <a:pPr lvl="1"/>
            <a:r>
              <a:rPr lang="zh-CN" altLang="en-US" dirty="0"/>
              <a:t>各种类</a:t>
            </a:r>
            <a:r>
              <a:rPr lang="en-US" altLang="zh-CN" dirty="0"/>
              <a:t>Unix</a:t>
            </a:r>
            <a:r>
              <a:rPr lang="zh-CN" altLang="en-US" dirty="0"/>
              <a:t>系统（包括</a:t>
            </a:r>
            <a:r>
              <a:rPr lang="en-US" altLang="zh-CN" dirty="0"/>
              <a:t>Linux</a:t>
            </a:r>
            <a:r>
              <a:rPr lang="zh-CN" altLang="en-US" dirty="0"/>
              <a:t>和</a:t>
            </a:r>
            <a:r>
              <a:rPr lang="en-US" altLang="zh-CN" dirty="0"/>
              <a:t>Mac OS X</a:t>
            </a:r>
            <a:r>
              <a:rPr lang="zh-CN" altLang="en-US" dirty="0"/>
              <a:t>）均实现了</a:t>
            </a:r>
            <a:r>
              <a:rPr lang="en-US" altLang="zh-CN" dirty="0" err="1"/>
              <a:t>pthreads</a:t>
            </a:r>
            <a:r>
              <a:rPr lang="zh-CN" altLang="en-US" dirty="0" smtClean="0"/>
              <a:t>规范</a:t>
            </a:r>
            <a:endParaRPr lang="en-US" altLang="zh-CN" dirty="0" smtClean="0"/>
          </a:p>
          <a:p>
            <a:pPr lvl="1"/>
            <a:r>
              <a:rPr lang="en-US" altLang="zh-CN" dirty="0" err="1"/>
              <a:t>pthread_create</a:t>
            </a:r>
            <a:r>
              <a:rPr lang="en-US" altLang="zh-CN" dirty="0"/>
              <a:t>()</a:t>
            </a:r>
            <a:r>
              <a:rPr lang="zh-CN" altLang="en-US" dirty="0"/>
              <a:t>，</a:t>
            </a:r>
            <a:r>
              <a:rPr lang="en-US" altLang="zh-CN" dirty="0" err="1"/>
              <a:t>pthread_exit</a:t>
            </a:r>
            <a:r>
              <a:rPr lang="en-US" altLang="zh-CN" dirty="0" smtClean="0"/>
              <a:t>()</a:t>
            </a:r>
            <a:endParaRPr lang="en-US" altLang="zh-CN" dirty="0"/>
          </a:p>
          <a:p>
            <a:pPr lvl="1"/>
            <a:r>
              <a:rPr lang="en-US" altLang="zh-CN" dirty="0" err="1" smtClean="0"/>
              <a:t>pthread_join</a:t>
            </a:r>
            <a:r>
              <a:rPr lang="en-US" altLang="zh-CN" dirty="0"/>
              <a:t>()</a:t>
            </a:r>
            <a:r>
              <a:rPr lang="zh-CN" altLang="en-US" dirty="0"/>
              <a:t>，</a:t>
            </a:r>
            <a:r>
              <a:rPr lang="en-US" altLang="zh-CN" dirty="0" err="1"/>
              <a:t>pthread_detach</a:t>
            </a:r>
            <a:r>
              <a:rPr lang="en-US" altLang="zh-CN" dirty="0" smtClean="0"/>
              <a:t>()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0605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POSIX </a:t>
            </a:r>
            <a:r>
              <a:rPr lang="en-US" altLang="zh-CN" dirty="0" err="1" smtClean="0"/>
              <a:t>pthreads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Linux</a:t>
            </a:r>
            <a:r>
              <a:rPr lang="zh-CN" altLang="en-US" dirty="0" smtClean="0"/>
              <a:t>案例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20</a:t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564745" y="1844219"/>
            <a:ext cx="6806672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#include &lt;</a:t>
            </a:r>
            <a:r>
              <a:rPr lang="en-US" altLang="zh-CN" dirty="0" err="1">
                <a:latin typeface="Consolas" panose="020B0609020204030204" pitchFamily="49" charset="0"/>
              </a:rPr>
              <a:t>pthread.h</a:t>
            </a:r>
            <a:r>
              <a:rPr lang="en-US" altLang="zh-CN" dirty="0"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#include &lt;</a:t>
            </a:r>
            <a:r>
              <a:rPr lang="en-US" altLang="zh-CN" dirty="0" err="1">
                <a:latin typeface="Consolas" panose="020B0609020204030204" pitchFamily="49" charset="0"/>
              </a:rPr>
              <a:t>stdio.h</a:t>
            </a:r>
            <a:r>
              <a:rPr lang="en-US" altLang="zh-CN" dirty="0"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#include &lt;</a:t>
            </a:r>
            <a:r>
              <a:rPr lang="en-US" altLang="zh-CN" dirty="0" err="1">
                <a:latin typeface="Consolas" panose="020B0609020204030204" pitchFamily="49" charset="0"/>
              </a:rPr>
              <a:t>stdlib.h</a:t>
            </a:r>
            <a:r>
              <a:rPr lang="en-US" altLang="zh-CN" dirty="0"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00"/>
              </a:lnSpc>
            </a:pP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sum;</a:t>
            </a:r>
          </a:p>
          <a:p>
            <a:pPr>
              <a:lnSpc>
                <a:spcPts val="2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void *runner(void *</a:t>
            </a:r>
            <a:r>
              <a:rPr lang="en-US" altLang="zh-CN" dirty="0" err="1">
                <a:latin typeface="Consolas" panose="020B0609020204030204" pitchFamily="49" charset="0"/>
              </a:rPr>
              <a:t>param</a:t>
            </a:r>
            <a:r>
              <a:rPr lang="en-US" altLang="zh-CN" dirty="0"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2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, upper = </a:t>
            </a:r>
            <a:r>
              <a:rPr lang="en-US" altLang="zh-CN" dirty="0" err="1">
                <a:latin typeface="Consolas" panose="020B0609020204030204" pitchFamily="49" charset="0"/>
              </a:rPr>
              <a:t>atoi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param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	sum = 0;</a:t>
            </a:r>
          </a:p>
          <a:p>
            <a:pPr>
              <a:lnSpc>
                <a:spcPts val="2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	for (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 = 1;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 &lt;= upper;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 smtClean="0">
                <a:latin typeface="Consolas" panose="020B0609020204030204" pitchFamily="49" charset="0"/>
              </a:rPr>
              <a:t>++) </a:t>
            </a:r>
            <a:r>
              <a:rPr lang="en-US" altLang="zh-CN" dirty="0">
                <a:latin typeface="Consolas" panose="020B0609020204030204" pitchFamily="49" charset="0"/>
              </a:rPr>
              <a:t>	sum +=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pthread_exit</a:t>
            </a:r>
            <a:r>
              <a:rPr lang="en-US" altLang="zh-CN" dirty="0">
                <a:latin typeface="Consolas" panose="020B0609020204030204" pitchFamily="49" charset="0"/>
              </a:rPr>
              <a:t>(0);</a:t>
            </a:r>
          </a:p>
          <a:p>
            <a:pPr>
              <a:lnSpc>
                <a:spcPts val="2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altLang="zh-CN" dirty="0" err="1" smtClean="0">
                <a:latin typeface="Consolas" panose="020B0609020204030204" pitchFamily="49" charset="0"/>
              </a:rPr>
              <a:t>int</a:t>
            </a:r>
            <a:r>
              <a:rPr lang="en-US" altLang="zh-CN" dirty="0" smtClean="0">
                <a:latin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</a:rPr>
              <a:t>main(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argc</a:t>
            </a:r>
            <a:r>
              <a:rPr lang="en-US" altLang="zh-CN" dirty="0">
                <a:latin typeface="Consolas" panose="020B0609020204030204" pitchFamily="49" charset="0"/>
              </a:rPr>
              <a:t>, char *</a:t>
            </a:r>
            <a:r>
              <a:rPr lang="en-US" altLang="zh-CN" dirty="0" err="1">
                <a:latin typeface="Consolas" panose="020B0609020204030204" pitchFamily="49" charset="0"/>
              </a:rPr>
              <a:t>argv</a:t>
            </a:r>
            <a:r>
              <a:rPr lang="en-US" altLang="zh-CN" dirty="0">
                <a:latin typeface="Consolas" panose="020B0609020204030204" pitchFamily="49" charset="0"/>
              </a:rPr>
              <a:t>[]) {</a:t>
            </a:r>
          </a:p>
          <a:p>
            <a:pPr>
              <a:lnSpc>
                <a:spcPts val="2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pthread_t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tid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pthread_attr_t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attr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pthread_attr_init</a:t>
            </a:r>
            <a:r>
              <a:rPr lang="en-US" altLang="zh-CN" dirty="0">
                <a:latin typeface="Consolas" panose="020B0609020204030204" pitchFamily="49" charset="0"/>
              </a:rPr>
              <a:t>(&amp;</a:t>
            </a:r>
            <a:r>
              <a:rPr lang="en-US" altLang="zh-CN" dirty="0" err="1">
                <a:latin typeface="Consolas" panose="020B0609020204030204" pitchFamily="49" charset="0"/>
              </a:rPr>
              <a:t>attr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pthread_create</a:t>
            </a:r>
            <a:r>
              <a:rPr lang="en-US" altLang="zh-CN" dirty="0">
                <a:latin typeface="Consolas" panose="020B0609020204030204" pitchFamily="49" charset="0"/>
              </a:rPr>
              <a:t>(&amp;</a:t>
            </a:r>
            <a:r>
              <a:rPr lang="en-US" altLang="zh-CN" dirty="0" err="1">
                <a:latin typeface="Consolas" panose="020B0609020204030204" pitchFamily="49" charset="0"/>
              </a:rPr>
              <a:t>tid</a:t>
            </a:r>
            <a:r>
              <a:rPr lang="en-US" altLang="zh-CN" dirty="0">
                <a:latin typeface="Consolas" panose="020B0609020204030204" pitchFamily="49" charset="0"/>
              </a:rPr>
              <a:t>, &amp;</a:t>
            </a:r>
            <a:r>
              <a:rPr lang="en-US" altLang="zh-CN" dirty="0" err="1">
                <a:latin typeface="Consolas" panose="020B0609020204030204" pitchFamily="49" charset="0"/>
              </a:rPr>
              <a:t>attr</a:t>
            </a:r>
            <a:r>
              <a:rPr lang="en-US" altLang="zh-CN" dirty="0">
                <a:latin typeface="Consolas" panose="020B0609020204030204" pitchFamily="49" charset="0"/>
              </a:rPr>
              <a:t>, runner, </a:t>
            </a:r>
            <a:r>
              <a:rPr lang="en-US" altLang="zh-CN" dirty="0" err="1">
                <a:latin typeface="Consolas" panose="020B0609020204030204" pitchFamily="49" charset="0"/>
              </a:rPr>
              <a:t>argv</a:t>
            </a:r>
            <a:r>
              <a:rPr lang="en-US" altLang="zh-CN" dirty="0">
                <a:latin typeface="Consolas" panose="020B0609020204030204" pitchFamily="49" charset="0"/>
              </a:rPr>
              <a:t>[1]);</a:t>
            </a:r>
          </a:p>
          <a:p>
            <a:pPr>
              <a:lnSpc>
                <a:spcPts val="2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pthread_join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tid,NULL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("sum = %d\</a:t>
            </a:r>
            <a:r>
              <a:rPr lang="en-US" altLang="zh-CN" dirty="0" err="1">
                <a:latin typeface="Consolas" panose="020B0609020204030204" pitchFamily="49" charset="0"/>
              </a:rPr>
              <a:t>n",sum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000"/>
              </a:lnSpc>
            </a:pPr>
            <a:r>
              <a:rPr lang="en-US" altLang="zh-CN" dirty="0" smtClean="0">
                <a:latin typeface="Consolas" panose="020B0609020204030204" pitchFamily="49" charset="0"/>
              </a:rPr>
              <a:t>}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6" name="圆角矩形标注 5"/>
          <p:cNvSpPr/>
          <p:nvPr/>
        </p:nvSpPr>
        <p:spPr bwMode="auto">
          <a:xfrm>
            <a:off x="446085" y="2509729"/>
            <a:ext cx="782639" cy="497794"/>
          </a:xfrm>
          <a:prstGeom prst="wedgeRoundRectCallout">
            <a:avLst>
              <a:gd name="adj1" fmla="val 98565"/>
              <a:gd name="adj2" fmla="val 3366"/>
              <a:gd name="adj3" fmla="val 16667"/>
            </a:avLst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lang="zh-CN" altLang="en-US" sz="2000" dirty="0" smtClean="0"/>
              <a:t>共享</a:t>
            </a:r>
            <a:endParaRPr kumimoji="1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5358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POSIX </a:t>
            </a:r>
            <a:r>
              <a:rPr lang="en-US" altLang="zh-CN" dirty="0" err="1" smtClean="0"/>
              <a:t>pthreads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Linux</a:t>
            </a:r>
            <a:r>
              <a:rPr lang="zh-CN" altLang="en-US" dirty="0" smtClean="0"/>
              <a:t>案例</a:t>
            </a:r>
            <a:endParaRPr lang="en-US" altLang="zh-CN" dirty="0" smtClean="0"/>
          </a:p>
          <a:p>
            <a:pPr lvl="1"/>
            <a:r>
              <a:rPr lang="zh-CN" altLang="en-US" dirty="0"/>
              <a:t>多</a:t>
            </a:r>
            <a:r>
              <a:rPr lang="zh-CN" altLang="en-US" dirty="0" smtClean="0"/>
              <a:t>个子线程，主线程等待其逐个结束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21</a:t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564745" y="2558594"/>
            <a:ext cx="503375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#define NUM_THREADS 10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......</a:t>
            </a:r>
          </a:p>
          <a:p>
            <a:r>
              <a:rPr lang="en-US" altLang="zh-CN" dirty="0" err="1">
                <a:latin typeface="Consolas" panose="020B0609020204030204" pitchFamily="49" charset="0"/>
              </a:rPr>
              <a:t>pthread_t</a:t>
            </a:r>
            <a:r>
              <a:rPr lang="en-US" altLang="zh-CN" dirty="0">
                <a:latin typeface="Consolas" panose="020B0609020204030204" pitchFamily="49" charset="0"/>
              </a:rPr>
              <a:t> workers[NUM_THREADS];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......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for (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 = 0;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 &lt; NUM_THREADS;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++)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pthread_join</a:t>
            </a:r>
            <a:r>
              <a:rPr lang="en-US" altLang="zh-CN" dirty="0">
                <a:latin typeface="Consolas" panose="020B0609020204030204" pitchFamily="49" charset="0"/>
              </a:rPr>
              <a:t>(workers[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], NULL);</a:t>
            </a:r>
          </a:p>
        </p:txBody>
      </p:sp>
    </p:spTree>
    <p:extLst>
      <p:ext uri="{BB962C8B-B14F-4D97-AF65-F5344CB8AC3E}">
        <p14:creationId xmlns:p14="http://schemas.microsoft.com/office/powerpoint/2010/main" val="1271206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POSIX </a:t>
            </a:r>
            <a:r>
              <a:rPr lang="en-US" altLang="zh-CN" dirty="0" err="1" smtClean="0"/>
              <a:t>pthreads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进程结束的条件</a:t>
            </a:r>
          </a:p>
          <a:p>
            <a:pPr lvl="1"/>
            <a:r>
              <a:rPr lang="en-US" altLang="zh-CN" dirty="0"/>
              <a:t>main()</a:t>
            </a:r>
            <a:r>
              <a:rPr lang="zh-CN" altLang="en-US" dirty="0"/>
              <a:t>执行到</a:t>
            </a:r>
            <a:r>
              <a:rPr lang="en-US" altLang="zh-CN" dirty="0"/>
              <a:t>return</a:t>
            </a:r>
          </a:p>
          <a:p>
            <a:pPr lvl="1"/>
            <a:r>
              <a:rPr lang="zh-CN" altLang="en-US" dirty="0"/>
              <a:t>所有非分离线程</a:t>
            </a:r>
            <a:r>
              <a:rPr lang="zh-CN" altLang="en-US" dirty="0" smtClean="0"/>
              <a:t>结束</a:t>
            </a:r>
            <a:endParaRPr lang="en-US" altLang="zh-CN" dirty="0" smtClean="0"/>
          </a:p>
          <a:p>
            <a:pPr lvl="1"/>
            <a:r>
              <a:rPr lang="zh-CN" altLang="en-US" dirty="0"/>
              <a:t>任何</a:t>
            </a:r>
            <a:r>
              <a:rPr lang="zh-CN" altLang="en-US" dirty="0" smtClean="0"/>
              <a:t>线程调用</a:t>
            </a:r>
            <a:r>
              <a:rPr lang="en-US" altLang="zh-CN" dirty="0" smtClean="0"/>
              <a:t>exit()</a:t>
            </a:r>
          </a:p>
          <a:p>
            <a:r>
              <a:rPr lang="zh-CN" altLang="en-US" dirty="0" smtClean="0"/>
              <a:t>自学</a:t>
            </a:r>
            <a:endParaRPr lang="zh-CN" altLang="en-US" dirty="0"/>
          </a:p>
          <a:p>
            <a:pPr lvl="1"/>
            <a:r>
              <a:rPr lang="en-US" altLang="zh-CN" dirty="0" err="1"/>
              <a:t>pthread_self</a:t>
            </a:r>
            <a:r>
              <a:rPr lang="en-US" altLang="zh-CN" dirty="0" smtClean="0"/>
              <a:t>()</a:t>
            </a:r>
          </a:p>
          <a:p>
            <a:pPr lvl="1"/>
            <a:r>
              <a:rPr lang="en-US" altLang="zh-CN" dirty="0" err="1" smtClean="0"/>
              <a:t>pthread_cancel</a:t>
            </a:r>
            <a:r>
              <a:rPr lang="en-US" altLang="zh-CN" dirty="0"/>
              <a:t>()</a:t>
            </a:r>
          </a:p>
          <a:p>
            <a:pPr lvl="1"/>
            <a:r>
              <a:rPr lang="en-US" altLang="zh-CN" dirty="0" err="1" smtClean="0"/>
              <a:t>pthread_attr_init</a:t>
            </a:r>
            <a:r>
              <a:rPr lang="en-US" altLang="zh-CN" dirty="0"/>
              <a:t>()</a:t>
            </a:r>
            <a:r>
              <a:rPr lang="zh-CN" altLang="en-US" dirty="0"/>
              <a:t>，</a:t>
            </a:r>
            <a:r>
              <a:rPr lang="en-US" altLang="zh-CN" dirty="0" err="1"/>
              <a:t>pthread_attr_destroy</a:t>
            </a:r>
            <a:r>
              <a:rPr lang="en-US" altLang="zh-CN" dirty="0"/>
              <a:t>()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55417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POSIX </a:t>
            </a:r>
            <a:r>
              <a:rPr lang="en-US" altLang="zh-CN" dirty="0" err="1"/>
              <a:t>pthreads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MacOS</a:t>
            </a:r>
            <a:r>
              <a:rPr lang="zh-CN" altLang="en-US" dirty="0"/>
              <a:t>的线程</a:t>
            </a:r>
            <a:r>
              <a:rPr lang="zh-CN" altLang="en-US" dirty="0" smtClean="0"/>
              <a:t>库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兼容</a:t>
            </a:r>
            <a:r>
              <a:rPr lang="en-US" altLang="zh-CN" dirty="0" smtClean="0"/>
              <a:t>POSIX</a:t>
            </a:r>
            <a:r>
              <a:rPr lang="zh-CN" altLang="en-US" dirty="0" smtClean="0"/>
              <a:t>，支持</a:t>
            </a:r>
            <a:r>
              <a:rPr lang="en-US" altLang="zh-CN" dirty="0" err="1" smtClean="0"/>
              <a:t>pthreads</a:t>
            </a:r>
            <a:r>
              <a:rPr lang="zh-CN" altLang="en-US" dirty="0" smtClean="0"/>
              <a:t>库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早期主流</a:t>
            </a:r>
            <a:r>
              <a:rPr lang="en-US" altLang="zh-CN" dirty="0" err="1" smtClean="0"/>
              <a:t>NSThread</a:t>
            </a:r>
            <a:r>
              <a:rPr lang="zh-CN" altLang="en-US" dirty="0" smtClean="0"/>
              <a:t>，对</a:t>
            </a:r>
            <a:r>
              <a:rPr lang="en-US" altLang="zh-CN" dirty="0" err="1" smtClean="0"/>
              <a:t>pthreads</a:t>
            </a:r>
            <a:r>
              <a:rPr lang="zh-CN" altLang="en-US" dirty="0" smtClean="0"/>
              <a:t>的封装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目前主流</a:t>
            </a:r>
            <a:r>
              <a:rPr lang="en-US" altLang="zh-CN" dirty="0" smtClean="0"/>
              <a:t>GCD</a:t>
            </a:r>
            <a:r>
              <a:rPr lang="zh-CN" altLang="en-US" dirty="0" smtClean="0"/>
              <a:t>，旨在</a:t>
            </a:r>
            <a:r>
              <a:rPr lang="zh-CN" altLang="en-US" dirty="0"/>
              <a:t>替换</a:t>
            </a:r>
            <a:r>
              <a:rPr lang="en-US" altLang="zh-CN" dirty="0" err="1" smtClean="0"/>
              <a:t>NSThread</a:t>
            </a:r>
            <a:r>
              <a:rPr lang="zh-CN" altLang="en-US" dirty="0"/>
              <a:t>，</a:t>
            </a:r>
            <a:r>
              <a:rPr lang="zh-CN" altLang="en-US" dirty="0" smtClean="0"/>
              <a:t>简化多线程编程，隐藏线程的概念及其细节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NSOperation</a:t>
            </a:r>
            <a:r>
              <a:rPr lang="zh-CN" altLang="en-US" dirty="0" smtClean="0"/>
              <a:t>，对</a:t>
            </a:r>
            <a:r>
              <a:rPr lang="en-US" altLang="zh-CN" dirty="0" smtClean="0"/>
              <a:t>GCD</a:t>
            </a:r>
            <a:r>
              <a:rPr lang="zh-CN" altLang="en-US" dirty="0" smtClean="0"/>
              <a:t>面向对象封装和加强</a:t>
            </a:r>
            <a:endParaRPr lang="en-US" altLang="zh-CN" dirty="0" smtClean="0"/>
          </a:p>
          <a:p>
            <a:r>
              <a:rPr lang="zh-CN" altLang="en-US" dirty="0" smtClean="0"/>
              <a:t>特殊</a:t>
            </a:r>
            <a:endParaRPr lang="en-US" altLang="zh-CN" dirty="0" smtClean="0"/>
          </a:p>
          <a:p>
            <a:pPr lvl="1"/>
            <a:r>
              <a:rPr lang="en-US" altLang="zh-CN" dirty="0"/>
              <a:t>Linux</a:t>
            </a:r>
            <a:r>
              <a:rPr lang="zh-CN" altLang="en-US" dirty="0"/>
              <a:t>最初（</a:t>
            </a:r>
            <a:r>
              <a:rPr lang="en-US" altLang="zh-CN" dirty="0"/>
              <a:t>2.4</a:t>
            </a:r>
            <a:r>
              <a:rPr lang="zh-CN" altLang="en-US" dirty="0"/>
              <a:t>及之前）只有进程，使用特殊手段支持</a:t>
            </a:r>
            <a:r>
              <a:rPr lang="en-US" altLang="zh-CN" dirty="0" err="1"/>
              <a:t>pthreads</a:t>
            </a:r>
            <a:r>
              <a:rPr lang="zh-CN" altLang="en-US" dirty="0"/>
              <a:t>，但有些问题，说不清到底算不算内核线程，</a:t>
            </a:r>
            <a:r>
              <a:rPr lang="en-US" altLang="zh-CN" dirty="0"/>
              <a:t>2.6</a:t>
            </a:r>
            <a:r>
              <a:rPr lang="zh-CN" altLang="en-US" dirty="0"/>
              <a:t>才支持内核线程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9407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Win32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24</a:t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822882" y="1140738"/>
            <a:ext cx="786391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#include &lt;</a:t>
            </a:r>
            <a:r>
              <a:rPr lang="en-US" altLang="zh-CN" dirty="0" err="1">
                <a:latin typeface="Consolas" panose="020B0609020204030204" pitchFamily="49" charset="0"/>
              </a:rPr>
              <a:t>windows.h</a:t>
            </a:r>
            <a:r>
              <a:rPr lang="en-US" altLang="zh-CN" dirty="0">
                <a:latin typeface="Consolas" panose="020B0609020204030204" pitchFamily="49" charset="0"/>
              </a:rPr>
              <a:t>&gt;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#include &lt;</a:t>
            </a:r>
            <a:r>
              <a:rPr lang="en-US" altLang="zh-CN" dirty="0" err="1">
                <a:latin typeface="Consolas" panose="020B0609020204030204" pitchFamily="49" charset="0"/>
              </a:rPr>
              <a:t>stdio.h</a:t>
            </a:r>
            <a:r>
              <a:rPr lang="en-US" altLang="zh-CN" dirty="0">
                <a:latin typeface="Consolas" panose="020B0609020204030204" pitchFamily="49" charset="0"/>
              </a:rPr>
              <a:t>&gt;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DWORD Sum;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DWORD WINAPI Summation(LPVOID </a:t>
            </a:r>
            <a:r>
              <a:rPr lang="en-US" altLang="zh-CN" dirty="0" err="1">
                <a:latin typeface="Consolas" panose="020B0609020204030204" pitchFamily="49" charset="0"/>
              </a:rPr>
              <a:t>Param</a:t>
            </a:r>
            <a:r>
              <a:rPr lang="en-US" altLang="zh-CN" dirty="0"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DWORD Upper = *(DWORD*)</a:t>
            </a:r>
            <a:r>
              <a:rPr lang="en-US" altLang="zh-CN" dirty="0" err="1">
                <a:latin typeface="Consolas" panose="020B0609020204030204" pitchFamily="49" charset="0"/>
              </a:rPr>
              <a:t>Param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for (DWORD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 = 1;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 &lt;= Upper;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 smtClean="0">
                <a:latin typeface="Consolas" panose="020B0609020204030204" pitchFamily="49" charset="0"/>
              </a:rPr>
              <a:t>++) Sum </a:t>
            </a:r>
            <a:r>
              <a:rPr lang="en-US" altLang="zh-CN" dirty="0">
                <a:latin typeface="Consolas" panose="020B0609020204030204" pitchFamily="49" charset="0"/>
              </a:rPr>
              <a:t>+=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return 0;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</a:p>
          <a:p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main(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argc</a:t>
            </a:r>
            <a:r>
              <a:rPr lang="en-US" altLang="zh-CN" dirty="0">
                <a:latin typeface="Consolas" panose="020B0609020204030204" pitchFamily="49" charset="0"/>
              </a:rPr>
              <a:t>, char *</a:t>
            </a:r>
            <a:r>
              <a:rPr lang="en-US" altLang="zh-CN" dirty="0" err="1">
                <a:latin typeface="Consolas" panose="020B0609020204030204" pitchFamily="49" charset="0"/>
              </a:rPr>
              <a:t>argv</a:t>
            </a:r>
            <a:r>
              <a:rPr lang="en-US" altLang="zh-CN" dirty="0">
                <a:latin typeface="Consolas" panose="020B0609020204030204" pitchFamily="49" charset="0"/>
              </a:rPr>
              <a:t>[])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DWORD </a:t>
            </a:r>
            <a:r>
              <a:rPr lang="en-US" altLang="zh-CN" dirty="0" err="1">
                <a:latin typeface="Consolas" panose="020B0609020204030204" pitchFamily="49" charset="0"/>
              </a:rPr>
              <a:t>ThreadId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HANDLE </a:t>
            </a:r>
            <a:r>
              <a:rPr lang="en-US" altLang="zh-CN" dirty="0" err="1">
                <a:latin typeface="Consolas" panose="020B0609020204030204" pitchFamily="49" charset="0"/>
              </a:rPr>
              <a:t>ThreadHandle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 smtClean="0">
                <a:latin typeface="Consolas" panose="020B0609020204030204" pitchFamily="49" charset="0"/>
              </a:rPr>
              <a:t>Param</a:t>
            </a:r>
            <a:r>
              <a:rPr lang="en-US" altLang="zh-CN" dirty="0" smtClean="0">
                <a:latin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</a:rPr>
              <a:t>= </a:t>
            </a:r>
            <a:r>
              <a:rPr lang="en-US" altLang="zh-CN" dirty="0" err="1">
                <a:latin typeface="Consolas" panose="020B0609020204030204" pitchFamily="49" charset="0"/>
              </a:rPr>
              <a:t>atoi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argv</a:t>
            </a:r>
            <a:r>
              <a:rPr lang="en-US" altLang="zh-CN" dirty="0">
                <a:latin typeface="Consolas" panose="020B0609020204030204" pitchFamily="49" charset="0"/>
              </a:rPr>
              <a:t>[1]);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ThreadHandle</a:t>
            </a:r>
            <a:r>
              <a:rPr lang="en-US" altLang="zh-CN" dirty="0">
                <a:latin typeface="Consolas" panose="020B0609020204030204" pitchFamily="49" charset="0"/>
              </a:rPr>
              <a:t> = </a:t>
            </a:r>
            <a:r>
              <a:rPr lang="en-US" altLang="zh-CN" dirty="0" err="1" smtClean="0">
                <a:latin typeface="Consolas" panose="020B0609020204030204" pitchFamily="49" charset="0"/>
              </a:rPr>
              <a:t>CreateThread</a:t>
            </a:r>
            <a:r>
              <a:rPr lang="en-US" altLang="zh-CN" dirty="0" smtClean="0">
                <a:latin typeface="Consolas" panose="020B0609020204030204" pitchFamily="49" charset="0"/>
              </a:rPr>
              <a:t>(</a:t>
            </a:r>
            <a:r>
              <a:rPr lang="en-US" altLang="zh-CN" dirty="0">
                <a:latin typeface="Consolas" panose="020B0609020204030204" pitchFamily="49" charset="0"/>
              </a:rPr>
              <a:t>NULL, 0</a:t>
            </a:r>
            <a:r>
              <a:rPr lang="en-US" altLang="zh-CN" dirty="0" smtClean="0">
                <a:latin typeface="Consolas" panose="020B0609020204030204" pitchFamily="49" charset="0"/>
              </a:rPr>
              <a:t>,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	</a:t>
            </a:r>
            <a:r>
              <a:rPr lang="en-US" altLang="zh-CN" dirty="0" smtClean="0">
                <a:latin typeface="Consolas" panose="020B0609020204030204" pitchFamily="49" charset="0"/>
              </a:rPr>
              <a:t>Summation</a:t>
            </a:r>
            <a:r>
              <a:rPr lang="en-US" altLang="zh-CN" dirty="0">
                <a:latin typeface="Consolas" panose="020B0609020204030204" pitchFamily="49" charset="0"/>
              </a:rPr>
              <a:t>, </a:t>
            </a:r>
            <a:r>
              <a:rPr lang="en-US" altLang="zh-CN" dirty="0" smtClean="0">
                <a:latin typeface="Consolas" panose="020B0609020204030204" pitchFamily="49" charset="0"/>
              </a:rPr>
              <a:t>&amp;</a:t>
            </a:r>
            <a:r>
              <a:rPr lang="en-US" altLang="zh-CN" dirty="0" err="1">
                <a:latin typeface="Consolas" panose="020B0609020204030204" pitchFamily="49" charset="0"/>
              </a:rPr>
              <a:t>Param</a:t>
            </a:r>
            <a:r>
              <a:rPr lang="en-US" altLang="zh-CN" dirty="0">
                <a:latin typeface="Consolas" panose="020B0609020204030204" pitchFamily="49" charset="0"/>
              </a:rPr>
              <a:t>, </a:t>
            </a:r>
            <a:r>
              <a:rPr lang="en-US" altLang="zh-CN" dirty="0" smtClean="0">
                <a:latin typeface="Consolas" panose="020B0609020204030204" pitchFamily="49" charset="0"/>
              </a:rPr>
              <a:t>0, &amp;</a:t>
            </a:r>
            <a:r>
              <a:rPr lang="en-US" altLang="zh-CN" dirty="0" err="1">
                <a:latin typeface="Consolas" panose="020B0609020204030204" pitchFamily="49" charset="0"/>
              </a:rPr>
              <a:t>ThreadId</a:t>
            </a:r>
            <a:r>
              <a:rPr lang="en-US" altLang="zh-CN" dirty="0" smtClean="0">
                <a:latin typeface="Consolas" panose="020B0609020204030204" pitchFamily="49" charset="0"/>
              </a:rPr>
              <a:t>);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WaitForSingleObject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ThreadHandle</a:t>
            </a:r>
            <a:r>
              <a:rPr lang="en-US" altLang="zh-CN" dirty="0" smtClean="0">
                <a:latin typeface="Consolas" panose="020B0609020204030204" pitchFamily="49" charset="0"/>
              </a:rPr>
              <a:t>, INFINITE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CloseHandle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ThreadHandle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("sum = %</a:t>
            </a:r>
            <a:r>
              <a:rPr lang="en-US" altLang="zh-CN" dirty="0" err="1">
                <a:latin typeface="Consolas" panose="020B0609020204030204" pitchFamily="49" charset="0"/>
              </a:rPr>
              <a:t>d∖n</a:t>
            </a:r>
            <a:r>
              <a:rPr lang="en-US" altLang="zh-CN" dirty="0">
                <a:latin typeface="Consolas" panose="020B0609020204030204" pitchFamily="49" charset="0"/>
              </a:rPr>
              <a:t>",Sum);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5" name="圆角矩形标注 4"/>
          <p:cNvSpPr/>
          <p:nvPr/>
        </p:nvSpPr>
        <p:spPr bwMode="auto">
          <a:xfrm>
            <a:off x="3736215" y="1450050"/>
            <a:ext cx="782639" cy="497794"/>
          </a:xfrm>
          <a:prstGeom prst="wedgeRoundRectCallout">
            <a:avLst>
              <a:gd name="adj1" fmla="val -243206"/>
              <a:gd name="adj2" fmla="val 39417"/>
              <a:gd name="adj3" fmla="val 16667"/>
            </a:avLst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lang="zh-CN" altLang="en-US" sz="2000" dirty="0" smtClean="0"/>
              <a:t>共享</a:t>
            </a:r>
            <a:endParaRPr kumimoji="1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3082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C++</a:t>
            </a:r>
            <a:r>
              <a:rPr lang="zh-CN" altLang="en-US" dirty="0" smtClean="0"/>
              <a:t>标准库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std</a:t>
            </a:r>
            <a:r>
              <a:rPr lang="en-US" altLang="zh-CN" dirty="0"/>
              <a:t>::thread</a:t>
            </a:r>
            <a:r>
              <a:rPr lang="zh-CN" altLang="en-US" dirty="0" smtClean="0"/>
              <a:t>类</a:t>
            </a:r>
            <a:endParaRPr lang="en-US" altLang="zh-CN" dirty="0" smtClean="0"/>
          </a:p>
          <a:p>
            <a:pPr lvl="1"/>
            <a:r>
              <a:rPr lang="zh-CN" altLang="en-US" dirty="0"/>
              <a:t>构造函数，</a:t>
            </a:r>
            <a:r>
              <a:rPr lang="en-US" altLang="zh-CN" dirty="0" err="1"/>
              <a:t>get_id</a:t>
            </a:r>
            <a:r>
              <a:rPr lang="en-US" altLang="zh-CN" dirty="0"/>
              <a:t>()</a:t>
            </a:r>
            <a:r>
              <a:rPr lang="zh-CN" altLang="en-US" dirty="0"/>
              <a:t>，</a:t>
            </a:r>
            <a:r>
              <a:rPr lang="en-US" altLang="zh-CN" dirty="0"/>
              <a:t>join()</a:t>
            </a:r>
            <a:r>
              <a:rPr lang="zh-CN" altLang="en-US" dirty="0"/>
              <a:t>，</a:t>
            </a:r>
            <a:r>
              <a:rPr lang="en-US" altLang="zh-CN" dirty="0"/>
              <a:t>detach</a:t>
            </a:r>
            <a:r>
              <a:rPr lang="en-US" altLang="zh-CN" dirty="0" smtClean="0"/>
              <a:t>()</a:t>
            </a:r>
          </a:p>
          <a:p>
            <a:pPr lvl="1"/>
            <a:r>
              <a:rPr lang="zh-CN" altLang="en-US" dirty="0" smtClean="0"/>
              <a:t>自学：</a:t>
            </a:r>
            <a:r>
              <a:rPr lang="en-US" altLang="zh-CN" dirty="0"/>
              <a:t>joinable()</a:t>
            </a:r>
            <a:r>
              <a:rPr lang="zh-CN" altLang="en-US" dirty="0"/>
              <a:t>，</a:t>
            </a:r>
            <a:r>
              <a:rPr lang="en-US" altLang="zh-CN" dirty="0" err="1"/>
              <a:t>native_handle</a:t>
            </a:r>
            <a:r>
              <a:rPr lang="en-US" altLang="zh-CN" dirty="0"/>
              <a:t>()</a:t>
            </a:r>
            <a:endParaRPr lang="en-US" altLang="zh-CN" dirty="0" smtClean="0"/>
          </a:p>
          <a:p>
            <a:r>
              <a:rPr lang="en-US" altLang="zh-CN" dirty="0" err="1" smtClean="0"/>
              <a:t>std</a:t>
            </a:r>
            <a:r>
              <a:rPr lang="en-US" altLang="zh-CN" dirty="0" smtClean="0"/>
              <a:t>::</a:t>
            </a:r>
            <a:r>
              <a:rPr lang="en-US" altLang="zh-CN" dirty="0" err="1" smtClean="0"/>
              <a:t>this_thread</a:t>
            </a:r>
            <a:r>
              <a:rPr lang="zh-CN" altLang="en-US" dirty="0" smtClean="0"/>
              <a:t>命名空间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get_id</a:t>
            </a:r>
            <a:r>
              <a:rPr lang="en-US" altLang="zh-CN" dirty="0" smtClean="0"/>
              <a:t>()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sleep_for</a:t>
            </a:r>
            <a:r>
              <a:rPr lang="en-US" altLang="zh-CN" dirty="0" smtClean="0"/>
              <a:t>()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sleep_until</a:t>
            </a:r>
            <a:r>
              <a:rPr lang="en-US" altLang="zh-CN" dirty="0" smtClean="0"/>
              <a:t>()</a:t>
            </a:r>
            <a:endParaRPr lang="en-US" altLang="zh-CN" dirty="0"/>
          </a:p>
          <a:p>
            <a:pPr lvl="1"/>
            <a:r>
              <a:rPr lang="zh-CN" altLang="en-US" dirty="0" smtClean="0"/>
              <a:t>自学：</a:t>
            </a:r>
            <a:r>
              <a:rPr lang="en-US" altLang="zh-CN" dirty="0" smtClean="0"/>
              <a:t>yield()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5322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标准库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26</a:t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822882" y="1140738"/>
            <a:ext cx="799726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#include &lt;</a:t>
            </a:r>
            <a:r>
              <a:rPr lang="en-US" altLang="zh-CN" dirty="0" err="1">
                <a:latin typeface="Consolas" panose="020B0609020204030204" pitchFamily="49" charset="0"/>
              </a:rPr>
              <a:t>stdio.h</a:t>
            </a:r>
            <a:r>
              <a:rPr lang="en-US" altLang="zh-CN" dirty="0">
                <a:latin typeface="Consolas" panose="020B0609020204030204" pitchFamily="49" charset="0"/>
              </a:rPr>
              <a:t>&gt;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#include &lt;</a:t>
            </a:r>
            <a:r>
              <a:rPr lang="en-US" altLang="zh-CN" dirty="0" err="1">
                <a:latin typeface="Consolas" panose="020B0609020204030204" pitchFamily="49" charset="0"/>
              </a:rPr>
              <a:t>stdlib.h</a:t>
            </a:r>
            <a:r>
              <a:rPr lang="en-US" altLang="zh-CN" dirty="0">
                <a:latin typeface="Consolas" panose="020B0609020204030204" pitchFamily="49" charset="0"/>
              </a:rPr>
              <a:t>&gt;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#include &lt;</a:t>
            </a:r>
            <a:r>
              <a:rPr lang="en-US" altLang="zh-CN" dirty="0" err="1">
                <a:latin typeface="Consolas" panose="020B0609020204030204" pitchFamily="49" charset="0"/>
              </a:rPr>
              <a:t>chrono</a:t>
            </a:r>
            <a:r>
              <a:rPr lang="en-US" altLang="zh-CN" dirty="0">
                <a:latin typeface="Consolas" panose="020B0609020204030204" pitchFamily="49" charset="0"/>
              </a:rPr>
              <a:t>&gt;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#include &lt;</a:t>
            </a:r>
            <a:r>
              <a:rPr lang="en-US" altLang="zh-CN" dirty="0" err="1">
                <a:latin typeface="Consolas" panose="020B0609020204030204" pitchFamily="49" charset="0"/>
              </a:rPr>
              <a:t>iostream</a:t>
            </a:r>
            <a:r>
              <a:rPr lang="en-US" altLang="zh-CN" dirty="0">
                <a:latin typeface="Consolas" panose="020B0609020204030204" pitchFamily="49" charset="0"/>
              </a:rPr>
              <a:t>&gt;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#include &lt;thread&gt;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void </a:t>
            </a:r>
            <a:r>
              <a:rPr lang="en-US" altLang="zh-CN" dirty="0" err="1">
                <a:latin typeface="Consolas" panose="020B0609020204030204" pitchFamily="49" charset="0"/>
              </a:rPr>
              <a:t>thread_task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n)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latin typeface="Consolas" panose="020B0609020204030204" pitchFamily="49" charset="0"/>
              </a:rPr>
              <a:t>this_thread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latin typeface="Consolas" panose="020B0609020204030204" pitchFamily="49" charset="0"/>
              </a:rPr>
              <a:t>sleep_for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latin typeface="Consolas" panose="020B0609020204030204" pitchFamily="49" charset="0"/>
              </a:rPr>
              <a:t>chrono</a:t>
            </a:r>
            <a:r>
              <a:rPr lang="en-US" altLang="zh-CN" dirty="0">
                <a:latin typeface="Consolas" panose="020B0609020204030204" pitchFamily="49" charset="0"/>
              </a:rPr>
              <a:t>::seconds(n));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latin typeface="Consolas" panose="020B0609020204030204" pitchFamily="49" charset="0"/>
              </a:rPr>
              <a:t>cout</a:t>
            </a:r>
            <a:r>
              <a:rPr lang="en-US" altLang="zh-CN" dirty="0">
                <a:latin typeface="Consolas" panose="020B0609020204030204" pitchFamily="49" charset="0"/>
              </a:rPr>
              <a:t> &lt;&lt; </a:t>
            </a:r>
            <a:r>
              <a:rPr lang="en-US" altLang="zh-CN" dirty="0" smtClean="0">
                <a:latin typeface="Consolas" panose="020B0609020204030204" pitchFamily="49" charset="0"/>
              </a:rPr>
              <a:t>"thread </a:t>
            </a:r>
            <a:r>
              <a:rPr lang="en-US" altLang="zh-CN" dirty="0">
                <a:latin typeface="Consolas" panose="020B0609020204030204" pitchFamily="49" charset="0"/>
              </a:rPr>
              <a:t>"</a:t>
            </a:r>
            <a:r>
              <a:rPr lang="en-US" altLang="zh-CN" dirty="0" smtClean="0">
                <a:latin typeface="Consolas" panose="020B0609020204030204" pitchFamily="49" charset="0"/>
              </a:rPr>
              <a:t> &lt;&lt;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latin typeface="Consolas" panose="020B0609020204030204" pitchFamily="49" charset="0"/>
              </a:rPr>
              <a:t>this_thread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latin typeface="Consolas" panose="020B0609020204030204" pitchFamily="49" charset="0"/>
              </a:rPr>
              <a:t>get_id</a:t>
            </a:r>
            <a:r>
              <a:rPr lang="en-US" altLang="zh-CN" dirty="0">
                <a:latin typeface="Consolas" panose="020B0609020204030204" pitchFamily="49" charset="0"/>
              </a:rPr>
              <a:t>()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	&lt;&lt; " paused " &lt;&lt; n &lt;&lt; " seconds" &lt;&lt;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latin typeface="Consolas" panose="020B0609020204030204" pitchFamily="49" charset="0"/>
              </a:rPr>
              <a:t>endl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</a:p>
          <a:p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main(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argc</a:t>
            </a:r>
            <a:r>
              <a:rPr lang="en-US" altLang="zh-CN" dirty="0">
                <a:latin typeface="Consolas" panose="020B0609020204030204" pitchFamily="49" charset="0"/>
              </a:rPr>
              <a:t>, </a:t>
            </a:r>
            <a:r>
              <a:rPr lang="en-US" altLang="zh-CN" dirty="0" err="1">
                <a:latin typeface="Consolas" panose="020B0609020204030204" pitchFamily="49" charset="0"/>
              </a:rPr>
              <a:t>const</a:t>
            </a:r>
            <a:r>
              <a:rPr lang="en-US" altLang="zh-CN" dirty="0">
                <a:latin typeface="Consolas" panose="020B0609020204030204" pitchFamily="49" charset="0"/>
              </a:rPr>
              <a:t> char *</a:t>
            </a:r>
            <a:r>
              <a:rPr lang="en-US" altLang="zh-CN" dirty="0" err="1">
                <a:latin typeface="Consolas" panose="020B0609020204030204" pitchFamily="49" charset="0"/>
              </a:rPr>
              <a:t>argv</a:t>
            </a:r>
            <a:r>
              <a:rPr lang="en-US" altLang="zh-CN" dirty="0">
                <a:latin typeface="Consolas" panose="020B0609020204030204" pitchFamily="49" charset="0"/>
              </a:rPr>
              <a:t>[])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::thread threads[5];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latin typeface="Consolas" panose="020B0609020204030204" pitchFamily="49" charset="0"/>
              </a:rPr>
              <a:t>cout</a:t>
            </a:r>
            <a:r>
              <a:rPr lang="en-US" altLang="zh-CN" dirty="0">
                <a:latin typeface="Consolas" panose="020B0609020204030204" pitchFamily="49" charset="0"/>
              </a:rPr>
              <a:t> &lt;&lt; </a:t>
            </a:r>
            <a:r>
              <a:rPr lang="en-US" altLang="zh-CN" dirty="0" smtClean="0">
                <a:latin typeface="Consolas" panose="020B0609020204030204" pitchFamily="49" charset="0"/>
              </a:rPr>
              <a:t>"Creating </a:t>
            </a:r>
            <a:r>
              <a:rPr lang="en-US" altLang="zh-CN" dirty="0">
                <a:latin typeface="Consolas" panose="020B0609020204030204" pitchFamily="49" charset="0"/>
              </a:rPr>
              <a:t>5 threads...\n";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for (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 = 0;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 &lt; 5;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 smtClean="0">
                <a:latin typeface="Consolas" panose="020B0609020204030204" pitchFamily="49" charset="0"/>
              </a:rPr>
              <a:t>++)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	threads[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] = 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::thread(</a:t>
            </a:r>
            <a:r>
              <a:rPr lang="en-US" altLang="zh-CN" dirty="0" err="1">
                <a:latin typeface="Consolas" panose="020B0609020204030204" pitchFamily="49" charset="0"/>
              </a:rPr>
              <a:t>thread_task</a:t>
            </a:r>
            <a:r>
              <a:rPr lang="en-US" altLang="zh-CN" dirty="0">
                <a:latin typeface="Consolas" panose="020B0609020204030204" pitchFamily="49" charset="0"/>
              </a:rPr>
              <a:t>, 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 + 1</a:t>
            </a:r>
            <a:r>
              <a:rPr lang="en-US" altLang="zh-CN" dirty="0" smtClean="0">
                <a:latin typeface="Consolas" panose="020B0609020204030204" pitchFamily="49" charset="0"/>
              </a:rPr>
              <a:t>);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latin typeface="Consolas" panose="020B0609020204030204" pitchFamily="49" charset="0"/>
              </a:rPr>
              <a:t>cout</a:t>
            </a:r>
            <a:r>
              <a:rPr lang="en-US" altLang="zh-CN" dirty="0">
                <a:latin typeface="Consolas" panose="020B0609020204030204" pitchFamily="49" charset="0"/>
              </a:rPr>
              <a:t> &lt;&lt; </a:t>
            </a:r>
            <a:r>
              <a:rPr lang="en-US" altLang="zh-CN" dirty="0" smtClean="0">
                <a:latin typeface="Consolas" panose="020B0609020204030204" pitchFamily="49" charset="0"/>
              </a:rPr>
              <a:t>"Now </a:t>
            </a:r>
            <a:r>
              <a:rPr lang="en-US" altLang="zh-CN" dirty="0">
                <a:latin typeface="Consolas" panose="020B0609020204030204" pitchFamily="49" charset="0"/>
              </a:rPr>
              <a:t>wait for them to join\n";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for (auto&amp; t: threads</a:t>
            </a:r>
            <a:r>
              <a:rPr lang="en-US" altLang="zh-CN" dirty="0" smtClean="0">
                <a:latin typeface="Consolas" panose="020B0609020204030204" pitchFamily="49" charset="0"/>
              </a:rPr>
              <a:t>) </a:t>
            </a:r>
            <a:r>
              <a:rPr lang="en-US" altLang="zh-CN" dirty="0" err="1" smtClean="0">
                <a:latin typeface="Consolas" panose="020B0609020204030204" pitchFamily="49" charset="0"/>
              </a:rPr>
              <a:t>t.join</a:t>
            </a:r>
            <a:r>
              <a:rPr lang="en-US" altLang="zh-CN" dirty="0">
                <a:latin typeface="Consolas" panose="020B0609020204030204" pitchFamily="49" charset="0"/>
              </a:rPr>
              <a:t>();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std</a:t>
            </a:r>
            <a:r>
              <a:rPr lang="en-US" altLang="zh-CN" dirty="0"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latin typeface="Consolas" panose="020B0609020204030204" pitchFamily="49" charset="0"/>
              </a:rPr>
              <a:t>cout</a:t>
            </a:r>
            <a:r>
              <a:rPr lang="en-US" altLang="zh-CN" dirty="0">
                <a:latin typeface="Consolas" panose="020B0609020204030204" pitchFamily="49" charset="0"/>
              </a:rPr>
              <a:t> &lt;&lt; "All threads joined.\n";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return EXIT_SUCCESS;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23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FA478220-5F10-3448-53B0-A082ACF36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其它（自学）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其它语言的标准库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Java</a:t>
            </a:r>
            <a:endParaRPr lang="en-US" altLang="zh-CN" dirty="0"/>
          </a:p>
          <a:p>
            <a:pPr lvl="2"/>
            <a:r>
              <a:rPr lang="en-US" altLang="zh-CN" dirty="0"/>
              <a:t>Thread</a:t>
            </a:r>
            <a:r>
              <a:rPr lang="zh-CN" altLang="en-US" dirty="0" smtClean="0"/>
              <a:t>类，</a:t>
            </a:r>
            <a:r>
              <a:rPr lang="en-US" altLang="zh-CN" dirty="0" smtClean="0"/>
              <a:t>Runnable</a:t>
            </a:r>
            <a:r>
              <a:rPr lang="zh-CN" altLang="en-US" dirty="0" smtClean="0"/>
              <a:t>接口，</a:t>
            </a:r>
            <a:r>
              <a:rPr lang="en-US" altLang="zh-CN" dirty="0" err="1"/>
              <a:t>ThreadPoolExecutor</a:t>
            </a:r>
            <a:r>
              <a:rPr lang="zh-CN" altLang="en-US" dirty="0" smtClean="0"/>
              <a:t>类</a:t>
            </a:r>
          </a:p>
          <a:p>
            <a:pPr lvl="2"/>
            <a:r>
              <a:rPr lang="en-US" altLang="zh-CN" dirty="0" smtClean="0"/>
              <a:t>Callable</a:t>
            </a:r>
            <a:r>
              <a:rPr lang="zh-CN" altLang="en-US" dirty="0" smtClean="0"/>
              <a:t>接口和</a:t>
            </a:r>
            <a:r>
              <a:rPr lang="en-US" altLang="zh-CN" dirty="0" err="1" smtClean="0"/>
              <a:t>FutureTask</a:t>
            </a:r>
            <a:r>
              <a:rPr lang="zh-CN" altLang="en-US" dirty="0" smtClean="0"/>
              <a:t>类</a:t>
            </a:r>
          </a:p>
          <a:p>
            <a:pPr lvl="1"/>
            <a:r>
              <a:rPr lang="en-US" altLang="zh-CN" dirty="0" smtClean="0"/>
              <a:t>C</a:t>
            </a:r>
            <a:r>
              <a:rPr lang="en-US" altLang="zh-CN" dirty="0"/>
              <a:t>#</a:t>
            </a:r>
            <a:r>
              <a:rPr lang="zh-CN" altLang="en-US" dirty="0"/>
              <a:t>（</a:t>
            </a:r>
            <a:r>
              <a:rPr lang="en-US" altLang="zh-CN" dirty="0" err="1"/>
              <a:t>.Net</a:t>
            </a:r>
            <a:r>
              <a:rPr lang="zh-CN" altLang="en-US" dirty="0"/>
              <a:t>）</a:t>
            </a:r>
          </a:p>
          <a:p>
            <a:pPr lvl="2"/>
            <a:r>
              <a:rPr lang="en-US" altLang="zh-CN" dirty="0"/>
              <a:t>Thread</a:t>
            </a:r>
            <a:r>
              <a:rPr lang="zh-CN" altLang="en-US" dirty="0" smtClean="0"/>
              <a:t>类，</a:t>
            </a:r>
            <a:r>
              <a:rPr lang="en-US" altLang="zh-CN" dirty="0" err="1" smtClean="0"/>
              <a:t>ThreadPool</a:t>
            </a:r>
            <a:r>
              <a:rPr lang="zh-CN" altLang="en-US" dirty="0" smtClean="0"/>
              <a:t>类，</a:t>
            </a:r>
            <a:r>
              <a:rPr lang="en-US" altLang="zh-CN" dirty="0" smtClean="0"/>
              <a:t>Task</a:t>
            </a:r>
            <a:r>
              <a:rPr lang="zh-CN" altLang="en-US" dirty="0" smtClean="0"/>
              <a:t>类，</a:t>
            </a:r>
            <a:r>
              <a:rPr lang="en-US" altLang="zh-CN" dirty="0" smtClean="0"/>
              <a:t>Parallel</a:t>
            </a:r>
            <a:r>
              <a:rPr lang="zh-CN" altLang="en-US" dirty="0" smtClean="0"/>
              <a:t>类</a:t>
            </a:r>
            <a:endParaRPr lang="zh-CN" altLang="en-US" dirty="0"/>
          </a:p>
          <a:p>
            <a:pPr lvl="1"/>
            <a:r>
              <a:rPr lang="en-US" altLang="zh-CN" dirty="0"/>
              <a:t>Python</a:t>
            </a:r>
          </a:p>
          <a:p>
            <a:pPr lvl="2"/>
            <a:r>
              <a:rPr lang="en-US" altLang="zh-CN" dirty="0" err="1"/>
              <a:t>threading.Thread</a:t>
            </a:r>
            <a:r>
              <a:rPr lang="zh-CN" altLang="en-US" dirty="0" smtClean="0"/>
              <a:t>类</a:t>
            </a:r>
            <a:r>
              <a:rPr lang="zh-CN" altLang="en-US" dirty="0"/>
              <a:t>，</a:t>
            </a:r>
            <a:r>
              <a:rPr lang="en-US" altLang="zh-CN" dirty="0"/>
              <a:t>thread</a:t>
            </a:r>
            <a:r>
              <a:rPr lang="zh-CN" altLang="en-US" dirty="0"/>
              <a:t>模块</a:t>
            </a:r>
          </a:p>
          <a:p>
            <a:pPr lvl="2"/>
            <a:r>
              <a:rPr lang="en-US" altLang="zh-CN" dirty="0" err="1"/>
              <a:t>concurrent.futures.ThreadPoolExecutor</a:t>
            </a:r>
            <a:r>
              <a:rPr lang="zh-CN" altLang="en-US" dirty="0"/>
              <a:t>类</a:t>
            </a:r>
          </a:p>
          <a:p>
            <a:pPr lvl="2"/>
            <a:r>
              <a:rPr lang="en-US" altLang="zh-CN" dirty="0"/>
              <a:t>Python</a:t>
            </a:r>
            <a:r>
              <a:rPr lang="zh-CN" altLang="en-US" dirty="0"/>
              <a:t>中一个进程的多个线程被限定在一个</a:t>
            </a:r>
            <a:r>
              <a:rPr lang="en-US" altLang="zh-CN" dirty="0"/>
              <a:t>CPU</a:t>
            </a:r>
            <a:r>
              <a:rPr lang="zh-CN" altLang="en-US" dirty="0"/>
              <a:t>上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F5A8B553-02AE-2219-C59A-8B5B36D12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4551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FA478220-5F10-3448-53B0-A082ACF36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其它</a:t>
            </a:r>
            <a:r>
              <a:rPr lang="zh-CN" altLang="en-US" dirty="0"/>
              <a:t>（自学）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协程</a:t>
            </a:r>
            <a:r>
              <a:rPr lang="en-US" altLang="zh-CN" dirty="0" smtClean="0"/>
              <a:t>/</a:t>
            </a:r>
            <a:r>
              <a:rPr lang="zh-CN" altLang="en-US" dirty="0" smtClean="0"/>
              <a:t>纤程库：用于大量并发轻量任务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Go</a:t>
            </a:r>
          </a:p>
          <a:p>
            <a:pPr lvl="2"/>
            <a:r>
              <a:rPr lang="en-US" altLang="zh-CN" dirty="0" err="1" smtClean="0"/>
              <a:t>Goroutines</a:t>
            </a:r>
            <a:r>
              <a:rPr lang="zh-CN" altLang="en-US" dirty="0" smtClean="0"/>
              <a:t>模块，协程，多对多</a:t>
            </a:r>
          </a:p>
          <a:p>
            <a:pPr lvl="1"/>
            <a:r>
              <a:rPr lang="en-US" altLang="zh-CN" dirty="0" smtClean="0"/>
              <a:t>Win32</a:t>
            </a:r>
            <a:endParaRPr lang="en-US" altLang="zh-CN" dirty="0"/>
          </a:p>
          <a:p>
            <a:pPr lvl="2"/>
            <a:r>
              <a:rPr lang="en-US" altLang="zh-CN" dirty="0"/>
              <a:t>Fibers</a:t>
            </a:r>
            <a:r>
              <a:rPr lang="zh-CN" altLang="en-US" dirty="0" smtClean="0"/>
              <a:t>库，多对一</a:t>
            </a:r>
            <a:endParaRPr lang="zh-CN" altLang="en-US" dirty="0"/>
          </a:p>
          <a:p>
            <a:pPr lvl="2"/>
            <a:r>
              <a:rPr lang="en-US" altLang="zh-CN" dirty="0"/>
              <a:t>UMS</a:t>
            </a:r>
            <a:r>
              <a:rPr lang="zh-CN" altLang="en-US" dirty="0"/>
              <a:t>（</a:t>
            </a:r>
            <a:r>
              <a:rPr lang="en-US" altLang="zh-CN" dirty="0"/>
              <a:t>User-Mode Scheduling</a:t>
            </a:r>
            <a:r>
              <a:rPr lang="zh-CN" altLang="en-US" dirty="0"/>
              <a:t>）</a:t>
            </a:r>
            <a:r>
              <a:rPr lang="zh-CN" altLang="en-US" dirty="0" smtClean="0"/>
              <a:t>库，多对多</a:t>
            </a:r>
            <a:endParaRPr lang="zh-CN" altLang="en-US" dirty="0"/>
          </a:p>
          <a:p>
            <a:pPr lvl="1"/>
            <a:r>
              <a:rPr lang="en-US" altLang="zh-CN" dirty="0"/>
              <a:t>Python</a:t>
            </a:r>
          </a:p>
          <a:p>
            <a:pPr lvl="2"/>
            <a:r>
              <a:rPr lang="en-US" altLang="zh-CN" dirty="0" err="1"/>
              <a:t>greenlet</a:t>
            </a:r>
            <a:r>
              <a:rPr lang="zh-CN" altLang="en-US" dirty="0" smtClean="0"/>
              <a:t>模块，</a:t>
            </a:r>
            <a:r>
              <a:rPr lang="zh-CN" altLang="en-US" dirty="0"/>
              <a:t>协程</a:t>
            </a:r>
            <a:r>
              <a:rPr lang="zh-CN" altLang="en-US" dirty="0" smtClean="0"/>
              <a:t>，</a:t>
            </a:r>
            <a:r>
              <a:rPr lang="zh-CN" altLang="en-US" dirty="0"/>
              <a:t>多对</a:t>
            </a:r>
            <a:r>
              <a:rPr lang="zh-CN" altLang="en-US" dirty="0" smtClean="0"/>
              <a:t>一</a:t>
            </a:r>
            <a:endParaRPr lang="zh-CN" altLang="en-US" dirty="0"/>
          </a:p>
          <a:p>
            <a:pPr lvl="1"/>
            <a:r>
              <a:rPr lang="en-US" altLang="zh-CN" dirty="0" smtClean="0"/>
              <a:t>Java</a:t>
            </a:r>
            <a:endParaRPr lang="en-US" altLang="zh-CN" dirty="0"/>
          </a:p>
          <a:p>
            <a:pPr lvl="2"/>
            <a:r>
              <a:rPr lang="en-US" altLang="zh-CN" dirty="0"/>
              <a:t>Quasar</a:t>
            </a:r>
            <a:r>
              <a:rPr lang="zh-CN" altLang="en-US" dirty="0" smtClean="0"/>
              <a:t>库，</a:t>
            </a:r>
            <a:r>
              <a:rPr lang="en-US" altLang="zh-CN" dirty="0" smtClean="0"/>
              <a:t>Fiber</a:t>
            </a:r>
            <a:r>
              <a:rPr lang="zh-CN" altLang="en-US" dirty="0" smtClean="0"/>
              <a:t>类，多</a:t>
            </a:r>
            <a:r>
              <a:rPr lang="zh-CN" altLang="en-US" dirty="0"/>
              <a:t>对</a:t>
            </a:r>
            <a:r>
              <a:rPr lang="zh-CN" altLang="en-US" dirty="0" smtClean="0"/>
              <a:t>多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F5A8B553-02AE-2219-C59A-8B5B36D12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0443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练习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573088" y="1216025"/>
            <a:ext cx="8320087" cy="4876800"/>
          </a:xfrm>
        </p:spPr>
        <p:txBody>
          <a:bodyPr/>
          <a:lstStyle/>
          <a:p>
            <a:pPr eaLnBrk="1" hangingPunct="1"/>
            <a:r>
              <a:rPr lang="en-US" altLang="zh-CN" sz="2400" dirty="0" smtClean="0"/>
              <a:t>4.6 What resources are used when a thread is created? How do they differ from those used when a process is created? </a:t>
            </a:r>
          </a:p>
          <a:p>
            <a:pPr eaLnBrk="1" hangingPunct="1"/>
            <a:r>
              <a:rPr lang="en-US" altLang="zh-CN" sz="2400" dirty="0" smtClean="0"/>
              <a:t>4.10 Which of the following components of program state are shared across threads in a multithreaded process? </a:t>
            </a:r>
          </a:p>
          <a:p>
            <a:pPr lvl="1" eaLnBrk="1" hangingPunct="1"/>
            <a:r>
              <a:rPr lang="en-US" altLang="zh-CN" sz="2100" dirty="0" smtClean="0"/>
              <a:t>  a. Register values </a:t>
            </a:r>
          </a:p>
          <a:p>
            <a:pPr lvl="1" eaLnBrk="1" hangingPunct="1"/>
            <a:r>
              <a:rPr lang="en-US" altLang="zh-CN" sz="2100" dirty="0" smtClean="0"/>
              <a:t>  b. Heap memory </a:t>
            </a:r>
          </a:p>
          <a:p>
            <a:pPr lvl="1" eaLnBrk="1" hangingPunct="1"/>
            <a:r>
              <a:rPr lang="en-US" altLang="zh-CN" sz="2100" dirty="0" smtClean="0"/>
              <a:t>  c. Global variables </a:t>
            </a:r>
          </a:p>
          <a:p>
            <a:pPr lvl="1" eaLnBrk="1" hangingPunct="1"/>
            <a:r>
              <a:rPr lang="en-US" altLang="zh-CN" sz="2100" dirty="0" smtClean="0"/>
              <a:t>  d. Stack memory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292AD7-FBAA-41C0-BF01-2BF1E79EFE74}" type="slidenum">
              <a:rPr lang="zh-CN" altLang="en-US"/>
              <a:pPr>
                <a:defRPr/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3304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考研题</a:t>
            </a:r>
            <a:r>
              <a:rPr lang="en-US" altLang="zh-CN" smtClean="0"/>
              <a:t>1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755650" y="1216025"/>
            <a:ext cx="7772400" cy="4876800"/>
          </a:xfrm>
        </p:spPr>
        <p:txBody>
          <a:bodyPr/>
          <a:lstStyle/>
          <a:p>
            <a:pPr eaLnBrk="1" hangingPunct="1"/>
            <a:r>
              <a:rPr lang="zh-CN" altLang="zh-CN" smtClean="0"/>
              <a:t>在支持多线程的系统中，进程</a:t>
            </a:r>
            <a:r>
              <a:rPr lang="en-US" altLang="zh-CN" smtClean="0"/>
              <a:t>P</a:t>
            </a:r>
            <a:r>
              <a:rPr lang="zh-CN" altLang="en-US" smtClean="0"/>
              <a:t>创建的若干个线程不能共享的是</a:t>
            </a:r>
            <a:r>
              <a:rPr lang="en-US" altLang="zh-CN" smtClean="0"/>
              <a:t>____</a:t>
            </a:r>
            <a:r>
              <a:rPr lang="zh-CN" altLang="en-US" smtClean="0"/>
              <a:t>。</a:t>
            </a:r>
            <a:r>
              <a:rPr lang="en-US" altLang="zh-CN" smtClean="0"/>
              <a:t>11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mtClean="0"/>
              <a:t>   A</a:t>
            </a:r>
            <a:r>
              <a:rPr lang="zh-CN" altLang="en-US" smtClean="0"/>
              <a:t>、进程</a:t>
            </a:r>
            <a:r>
              <a:rPr lang="en-US" altLang="zh-CN" smtClean="0"/>
              <a:t>P</a:t>
            </a:r>
            <a:r>
              <a:rPr lang="zh-CN" altLang="en-US" smtClean="0"/>
              <a:t>的代码段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mtClean="0"/>
              <a:t>   B</a:t>
            </a:r>
            <a:r>
              <a:rPr lang="zh-CN" altLang="en-US" smtClean="0"/>
              <a:t>、进程</a:t>
            </a:r>
            <a:r>
              <a:rPr lang="en-US" altLang="zh-CN" smtClean="0"/>
              <a:t>P</a:t>
            </a:r>
            <a:r>
              <a:rPr lang="zh-CN" altLang="en-US" smtClean="0"/>
              <a:t>中打开的文件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mtClean="0"/>
              <a:t>   C</a:t>
            </a:r>
            <a:r>
              <a:rPr lang="zh-CN" altLang="en-US" smtClean="0"/>
              <a:t>、进程</a:t>
            </a:r>
            <a:r>
              <a:rPr lang="en-US" altLang="zh-CN" smtClean="0"/>
              <a:t>P</a:t>
            </a:r>
            <a:r>
              <a:rPr lang="zh-CN" altLang="en-US" smtClean="0"/>
              <a:t>的全局变量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mtClean="0"/>
              <a:t>   D</a:t>
            </a:r>
            <a:r>
              <a:rPr lang="zh-CN" altLang="en-US" smtClean="0"/>
              <a:t>、进程</a:t>
            </a:r>
            <a:r>
              <a:rPr lang="en-US" altLang="zh-CN" smtClean="0"/>
              <a:t>P</a:t>
            </a:r>
            <a:r>
              <a:rPr lang="zh-CN" altLang="en-US" smtClean="0"/>
              <a:t>中某线程的栈指针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300449-A4BD-4210-A596-FD9B2AF72E11}" type="slidenum">
              <a:rPr lang="zh-CN" altLang="en-US"/>
              <a:pPr>
                <a:defRPr/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9325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考研题</a:t>
            </a:r>
            <a:r>
              <a:rPr lang="en-US" altLang="zh-CN" smtClean="0"/>
              <a:t>2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755650" y="1216025"/>
            <a:ext cx="77724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zh-CN" smtClean="0"/>
              <a:t>下列关于进程和线程的叙述中，正确的是（）</a:t>
            </a:r>
            <a:r>
              <a:rPr lang="zh-CN" altLang="en-US" smtClean="0"/>
              <a:t>1</a:t>
            </a:r>
            <a:r>
              <a:rPr lang="en-US" altLang="zh-CN" smtClean="0"/>
              <a:t>2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100" smtClean="0"/>
              <a:t>   A</a:t>
            </a:r>
            <a:r>
              <a:rPr lang="zh-CN" altLang="en-US" sz="3100" smtClean="0"/>
              <a:t>．不管系统是否支持线程，进程都是资源分配的基本单位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100" smtClean="0"/>
              <a:t>   B</a:t>
            </a:r>
            <a:r>
              <a:rPr lang="zh-CN" altLang="en-US" sz="3100" smtClean="0"/>
              <a:t>．线程是资源分配的基本单位，进程是调度的基本单位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100" smtClean="0"/>
              <a:t>   C</a:t>
            </a:r>
            <a:r>
              <a:rPr lang="zh-CN" altLang="en-US" sz="3100" smtClean="0"/>
              <a:t>．系统级线程和用户级线程切换都需要内核的支持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100" smtClean="0"/>
              <a:t>   D</a:t>
            </a:r>
            <a:r>
              <a:rPr lang="zh-CN" altLang="en-US" sz="3100" smtClean="0"/>
              <a:t>．同一进程的各个线程拥有各自不同的地址空间</a:t>
            </a:r>
            <a:endParaRPr lang="en-US" altLang="zh-CN" sz="310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FAF90E-F580-4746-A768-14525DF1AE3B}" type="slidenum">
              <a:rPr lang="zh-CN" altLang="en-US"/>
              <a:pPr>
                <a:defRPr/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58072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99CCFF"/>
            </a:gs>
            <a:gs pos="100000">
              <a:schemeClr val="bg2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342900" marR="0" indent="-34290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Char char="n"/>
          <a:defRPr kumimoji="1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99CCFF"/>
            </a:gs>
            <a:gs pos="100000">
              <a:schemeClr val="bg2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342900" marR="0" indent="-34290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Char char="n"/>
          <a:defRPr kumimoji="1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操作系统课件模板" id="{0D2B8607-4739-144E-A205-A5D57C41C081}" vid="{8AD7C6F1-63D5-6344-AC6B-4C503594B1A9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操作系统课件模板</Template>
  <TotalTime>6812</TotalTime>
  <Words>1922</Words>
  <Application>Microsoft Office PowerPoint</Application>
  <PresentationFormat>全屏显示(4:3)</PresentationFormat>
  <Paragraphs>336</Paragraphs>
  <Slides>31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8" baseType="lpstr">
      <vt:lpstr>等线</vt:lpstr>
      <vt:lpstr>宋体</vt:lpstr>
      <vt:lpstr>Century</vt:lpstr>
      <vt:lpstr>Consolas</vt:lpstr>
      <vt:lpstr>Tahoma</vt:lpstr>
      <vt:lpstr>Wingdings</vt:lpstr>
      <vt:lpstr>1_Blends</vt:lpstr>
      <vt:lpstr>第4章 线程</vt:lpstr>
      <vt:lpstr>动机</vt:lpstr>
      <vt:lpstr>动机</vt:lpstr>
      <vt:lpstr>传统的进程怎么办</vt:lpstr>
      <vt:lpstr>线程定义</vt:lpstr>
      <vt:lpstr>单线程进程和多线程进程</vt:lpstr>
      <vt:lpstr>多线程进程的地址空间布局</vt:lpstr>
      <vt:lpstr>线程的状态</vt:lpstr>
      <vt:lpstr>优点</vt:lpstr>
      <vt:lpstr>第4章 线程</vt:lpstr>
      <vt:lpstr>多线程模型</vt:lpstr>
      <vt:lpstr>两种方法的组合</vt:lpstr>
      <vt:lpstr>多对一模型</vt:lpstr>
      <vt:lpstr>一对一模型</vt:lpstr>
      <vt:lpstr>多对多模型</vt:lpstr>
      <vt:lpstr>多对多模型</vt:lpstr>
      <vt:lpstr>现实情况</vt:lpstr>
      <vt:lpstr>第4章 线程</vt:lpstr>
      <vt:lpstr>POSIX pthreads</vt:lpstr>
      <vt:lpstr>POSIX pthreads</vt:lpstr>
      <vt:lpstr>POSIX pthreads</vt:lpstr>
      <vt:lpstr>POSIX pthreads</vt:lpstr>
      <vt:lpstr>POSIX pthreads</vt:lpstr>
      <vt:lpstr>Win32</vt:lpstr>
      <vt:lpstr>C++标准库</vt:lpstr>
      <vt:lpstr>C++标准库</vt:lpstr>
      <vt:lpstr>其它（自学）</vt:lpstr>
      <vt:lpstr>其它（自学）</vt:lpstr>
      <vt:lpstr>练习</vt:lpstr>
      <vt:lpstr>考研题1</vt:lpstr>
      <vt:lpstr>考研题2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第12章 I/O系统</dc:title>
  <dc:creator>Kong</dc:creator>
  <cp:lastModifiedBy>Copper</cp:lastModifiedBy>
  <cp:revision>309</cp:revision>
  <dcterms:created xsi:type="dcterms:W3CDTF">2024-01-15T08:08:31Z</dcterms:created>
  <dcterms:modified xsi:type="dcterms:W3CDTF">2026-01-27T18:32:55Z</dcterms:modified>
</cp:coreProperties>
</file>