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59" r:id="rId2"/>
    <p:sldId id="485" r:id="rId3"/>
    <p:sldId id="454" r:id="rId4"/>
  </p:sldIdLst>
  <p:sldSz cx="9144000" cy="6858000" type="screen4x3"/>
  <p:notesSz cx="6858000" cy="9144000"/>
  <p:custDataLst>
    <p:tags r:id="rId6"/>
  </p:custDataLst>
  <p:defaultTextStyle>
    <a:defPPr>
      <a:defRPr lang="en-US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buChar char="n"/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buChar char="n"/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buChar char="n"/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buChar char="n"/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buChar char="n"/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3808" autoAdjust="0"/>
  </p:normalViewPr>
  <p:slideViewPr>
    <p:cSldViewPr>
      <p:cViewPr varScale="1">
        <p:scale>
          <a:sx n="105" d="100"/>
          <a:sy n="105" d="100"/>
        </p:scale>
        <p:origin x="133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xmlns="" id="{7E992594-858F-817D-5A48-8717E9321A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xmlns="" id="{BC51ED9C-DD71-D482-C704-4E16730A501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xmlns="" id="{2B550836-6C60-1C2C-F2C6-CE5C1548568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3" name="Rectangle 5">
            <a:extLst>
              <a:ext uri="{FF2B5EF4-FFF2-40B4-BE49-F238E27FC236}">
                <a16:creationId xmlns:a16="http://schemas.microsoft.com/office/drawing/2014/main" xmlns="" id="{DAAE327A-C188-B6F1-A13A-F47A1275E4C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4694" name="Rectangle 6">
            <a:extLst>
              <a:ext uri="{FF2B5EF4-FFF2-40B4-BE49-F238E27FC236}">
                <a16:creationId xmlns:a16="http://schemas.microsoft.com/office/drawing/2014/main" xmlns="" id="{CD1D3D21-0C23-7009-0229-E2CB2509040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4695" name="Rectangle 7">
            <a:extLst>
              <a:ext uri="{FF2B5EF4-FFF2-40B4-BE49-F238E27FC236}">
                <a16:creationId xmlns:a16="http://schemas.microsoft.com/office/drawing/2014/main" xmlns="" id="{825A83FE-591C-69E1-C9E4-ADED819AF6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E2B54797-6791-7C45-955E-FCC95EEA867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1970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54797-6791-7C45-955E-FCC95EEA867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678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2CB31256-4040-D574-1352-7BF9958E21CB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xmlns="" id="{EA6626CB-3703-E0DB-640B-674546674C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xmlns="" id="{B2311AE7-2C4F-8267-D2B8-353BB03769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xmlns="" id="{8CF3E795-8736-A25F-18DB-60F4331090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xmlns="" id="{332554FD-EA9F-C7BC-4962-5BD0321F09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id="{F247E854-890A-8AB4-8D1E-21A25F6EC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xmlns="" id="{F9BD07B4-2FE4-0227-16AD-D37B05C8F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xmlns="" id="{CC6F0594-41E8-FEBD-7452-6A6E1E244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xmlns="" id="{E3D8FBF2-0838-B26A-51A0-086A51CFA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xmlns="" id="{7B338C99-4BFA-EC8E-7B91-F5844CDD83B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xmlns="" id="{69E201AF-481D-D7F5-F5A3-B7C5682D25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xmlns="" id="{701192B2-B64A-92F9-322E-CE658D3C1F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xmlns="" id="{1003B9B5-2387-F5A9-AE3D-CEEB0E2137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B6F798D-A431-694C-B66B-13A47D786A0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452411"/>
      </p:ext>
    </p:extLst>
  </p:cSld>
  <p:clrMapOvr>
    <a:masterClrMapping/>
  </p:clrMapOvr>
  <p:transition spd="med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" panose="020406040505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hangingPunct="1">
              <a:buClr>
                <a:schemeClr val="accent4"/>
              </a:buClr>
              <a:defRPr sz="3000">
                <a:latin typeface="Century" panose="02040604050505020304" pitchFamily="18" charset="0"/>
              </a:defRPr>
            </a:lvl1pPr>
            <a:lvl2pPr hangingPunct="1">
              <a:buClr>
                <a:srgbClr val="C00000"/>
              </a:buClr>
              <a:defRPr>
                <a:latin typeface="Century" panose="02040604050505020304" pitchFamily="18" charset="0"/>
              </a:defRPr>
            </a:lvl2pPr>
            <a:lvl3pPr hangingPunct="1">
              <a:buClr>
                <a:schemeClr val="tx2"/>
              </a:buClr>
              <a:defRPr>
                <a:latin typeface="Century" panose="02040604050505020304" pitchFamily="18" charset="0"/>
              </a:defRPr>
            </a:lvl3pPr>
            <a:lvl4pPr hangingPunct="1">
              <a:buClr>
                <a:schemeClr val="accent2">
                  <a:lumMod val="50000"/>
                </a:schemeClr>
              </a:buClr>
              <a:defRPr>
                <a:latin typeface="Century" panose="02040604050505020304" pitchFamily="18" charset="0"/>
              </a:defRPr>
            </a:lvl4pPr>
            <a:lvl5pPr hangingPunct="1">
              <a:buClr>
                <a:schemeClr val="accent5">
                  <a:lumMod val="25000"/>
                </a:schemeClr>
              </a:buClr>
              <a:defRPr>
                <a:latin typeface="Century" panose="02040604050505020304" pitchFamily="18" charset="0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D84B8634-86D3-A0AE-194D-6A15AFAFFA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xmlns="" id="{0723DE67-FDB7-4E97-1714-22C53D101C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xmlns="" id="{724CAC9F-9A1C-2025-A160-151BDB7FFF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93CC90-4002-504C-BD88-C9A1D374048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6342439"/>
      </p:ext>
    </p:extLst>
  </p:cSld>
  <p:clrMapOvr>
    <a:masterClrMapping/>
  </p:clrMapOvr>
  <p:transition spd="med"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FFBDFF65-8CBE-FC8E-C2AB-BF39F778E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557BB269-8BCF-19AE-2E4C-4F50A72F7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EC4B4EC5-8D14-B9F8-3A0E-6B6E3FB2C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D78D-38BD-D44D-8D86-2D2DB0BEC18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7618102"/>
      </p:ext>
    </p:extLst>
  </p:cSld>
  <p:clrMapOvr>
    <a:masterClrMapping/>
  </p:clrMapOvr>
  <p:transition spd="med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35038" y="1233488"/>
            <a:ext cx="3810000" cy="4895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97438" y="1233488"/>
            <a:ext cx="3810000" cy="4895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577088FB-A6B7-73F5-7F94-4748D69CAC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xmlns="" id="{8B037231-D77C-7620-5048-020218A567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xmlns="" id="{1616081F-299F-D60B-0ECC-280BE114E5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968A19-278A-0A41-BBE8-65E5D3125EB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691922"/>
      </p:ext>
    </p:extLst>
  </p:cSld>
  <p:clrMapOvr>
    <a:masterClrMapping/>
  </p:clrMapOvr>
  <p:transition spd="med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68794170-3BE8-63A8-84A0-433E04CC41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xmlns="" id="{4EE836C1-36AB-35B2-63E3-C5C32DFB7D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xmlns="" id="{A14EBA2A-C5A1-FF69-4383-F487A84086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5D52E0-A696-0244-8333-2084DA18EEE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832130"/>
      </p:ext>
    </p:extLst>
  </p:cSld>
  <p:clrMapOvr>
    <a:masterClrMapping/>
  </p:clrMapOvr>
  <p:transition spd="med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xmlns="" id="{90622892-0589-9624-9441-6D3D8D420A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xmlns="" id="{DE3302D8-0022-5549-6AF3-C9DF37FD0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xmlns="" id="{5BAF381E-A9DD-B4FB-A99D-D6A7443039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E15609-3D60-D842-9ED4-D898F320B19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900311"/>
      </p:ext>
    </p:extLst>
  </p:cSld>
  <p:clrMapOvr>
    <a:masterClrMapping/>
  </p:clrMapOvr>
  <p:transition spd="med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xmlns="" id="{31F610FA-62F8-3A69-9BB8-68EAD4093A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xmlns="" id="{030F8BB0-0FEC-EDAC-A497-49A707FDB0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xmlns="" id="{1004B668-435E-6B54-9B71-30E6E86C67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438AA8-90D7-9745-B439-F7E019CC101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189723"/>
      </p:ext>
    </p:extLst>
  </p:cSld>
  <p:clrMapOvr>
    <a:masterClrMapping/>
  </p:clrMapOvr>
  <p:transition spd="med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077BF47D-FB2C-CA75-3290-9D390F1A1B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xmlns="" id="{FCEDDD16-8334-8815-AE79-D96BE2801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xmlns="" id="{EF672E88-31B4-2E74-6924-50EA7B00DF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0B590F-D627-7E4E-9EE8-F0575448761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717386"/>
      </p:ext>
    </p:extLst>
  </p:cSld>
  <p:clrMapOvr>
    <a:masterClrMapping/>
  </p:clrMapOvr>
  <p:transition spd="med"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7DF7E1FA-7229-6F80-9195-95494C6B6D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xmlns="" id="{BA7BEB0C-60AB-4B90-0858-DC9F851CFC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xmlns="" id="{C8113A4C-B97F-6D35-E97A-9BCA743B10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5CE171-2466-3E49-953C-8D9416E27C4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65517"/>
      </p:ext>
    </p:extLst>
  </p:cSld>
  <p:clrMapOvr>
    <a:masterClrMapping/>
  </p:clrMapOvr>
  <p:transition spd="med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8969790B-5FDE-ACFE-CBF8-D6D25FB978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xmlns="" id="{042DD340-A062-ECA2-BACD-72DF641D7A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xmlns="" id="{5A990D87-E397-DDBA-9741-B7BDB82788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6A2B9D-4C43-344E-A3AD-CDEFA12D460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215761"/>
      </p:ext>
    </p:extLst>
  </p:cSld>
  <p:clrMapOvr>
    <a:masterClrMapping/>
  </p:clrMapOvr>
  <p:transition spd="med"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04038" y="225425"/>
            <a:ext cx="1989137" cy="59039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35038" y="225425"/>
            <a:ext cx="5816600" cy="59039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BB6D72A0-9ACC-FB01-B500-09347F0725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xmlns="" id="{1C2E9BFB-3F4C-57E7-BA00-4AD71CFAAD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xmlns="" id="{04462F64-AE9C-AD7E-F866-AAEDC027A6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4D01F4-2BF8-A745-90E2-0A334AE3AAF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580637"/>
      </p:ext>
    </p:extLst>
  </p:cSld>
  <p:clrMapOvr>
    <a:masterClrMapping/>
  </p:clrMapOvr>
  <p:transition spd="med"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225425"/>
            <a:ext cx="7850187" cy="7461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35038" y="1233488"/>
            <a:ext cx="3810000" cy="4895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897438" y="1233488"/>
            <a:ext cx="3810000" cy="489585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EF4DAB6F-0109-F932-D41D-114D2B361E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xmlns="" id="{3B9B9A9B-4F44-E332-8013-87B918E445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xmlns="" id="{D1D42F48-85F2-C1B3-34A9-42D4A700CC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310DF3-193F-E44C-B1F0-408591F45CF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285426"/>
      </p:ext>
    </p:extLst>
  </p:cSld>
  <p:clrMapOvr>
    <a:masterClrMapping/>
  </p:clrMapOvr>
  <p:transition spd="med"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225425"/>
            <a:ext cx="7850187" cy="7461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935038" y="1233488"/>
            <a:ext cx="7772400" cy="489585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F708D4BC-3A8D-E878-0802-13BCC7E23D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xmlns="" id="{925FD2C4-690E-646E-8669-143AD1BD9F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xmlns="" id="{54E36240-FA62-8027-3821-D40DEB78E1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BB1C6D-14C1-844E-9115-70642E9631D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688377"/>
      </p:ext>
    </p:extLst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xmlns="" id="{A9824247-C8A8-C57F-CAEC-3A223BA6F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26987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xmlns="" id="{4A0B2333-B6EA-176D-0028-5AB7711DF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10604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xmlns="" id="{0D3A9279-CA87-4E7F-DAC6-015EE242A97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042988" y="225425"/>
            <a:ext cx="78501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10">
            <a:extLst>
              <a:ext uri="{FF2B5EF4-FFF2-40B4-BE49-F238E27FC236}">
                <a16:creationId xmlns:a16="http://schemas.microsoft.com/office/drawing/2014/main" xmlns="" id="{86AE627A-1B93-6388-397F-5C8186FBAFE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935038" y="1233488"/>
            <a:ext cx="77724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4523" name="Rectangle 11">
            <a:extLst>
              <a:ext uri="{FF2B5EF4-FFF2-40B4-BE49-F238E27FC236}">
                <a16:creationId xmlns:a16="http://schemas.microsoft.com/office/drawing/2014/main" xmlns="" id="{DE3D8E3B-D458-C570-9919-DE02EA9FC78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4525" name="Rectangle 13">
            <a:extLst>
              <a:ext uri="{FF2B5EF4-FFF2-40B4-BE49-F238E27FC236}">
                <a16:creationId xmlns:a16="http://schemas.microsoft.com/office/drawing/2014/main" xmlns="" id="{C2D98F74-F2B6-4A7D-03A8-AB9BF3598B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fld id="{6F73D78D-38BD-D44D-8D86-2D2DB0BEC18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C3BB9AFC-C9BC-E655-334A-DE8EBC2F172F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532440" y="5624512"/>
            <a:ext cx="512549" cy="11068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3CE6F6BF-4B21-EBA8-0316-496A78B2CDF2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 rot="3532301">
            <a:off x="53063" y="512497"/>
            <a:ext cx="678101" cy="37613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0" r:id="rId3"/>
    <p:sldLayoutId id="2147483659" r:id="rId4"/>
    <p:sldLayoutId id="2147483658" r:id="rId5"/>
    <p:sldLayoutId id="2147483657" r:id="rId6"/>
    <p:sldLayoutId id="2147483656" r:id="rId7"/>
    <p:sldLayoutId id="2147483655" r:id="rId8"/>
    <p:sldLayoutId id="2147483654" r:id="rId9"/>
    <p:sldLayoutId id="2147483653" r:id="rId10"/>
    <p:sldLayoutId id="2147483652" r:id="rId11"/>
    <p:sldLayoutId id="2147483651" r:id="rId12"/>
    <p:sldLayoutId id="2147483650" r:id="rId13"/>
  </p:sldLayoutIdLst>
  <p:transition spd="med">
    <p:zoom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lnSpc>
          <a:spcPct val="114000"/>
        </a:lnSpc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4000"/>
        </a:lnSpc>
        <a:spcBef>
          <a:spcPct val="20000"/>
        </a:spcBef>
        <a:spcAft>
          <a:spcPct val="0"/>
        </a:spcAft>
        <a:buClr>
          <a:srgbClr val="C00000"/>
        </a:buClr>
        <a:buSzPct val="55000"/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4000"/>
        </a:lnSpc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2" charset="2"/>
        <a:buChar char="n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4000"/>
        </a:lnSpc>
        <a:spcBef>
          <a:spcPct val="20000"/>
        </a:spcBef>
        <a:spcAft>
          <a:spcPct val="0"/>
        </a:spcAft>
        <a:buClr>
          <a:schemeClr val="accent6">
            <a:lumMod val="50000"/>
          </a:schemeClr>
        </a:buClr>
        <a:buSzPct val="55000"/>
        <a:buFont typeface="Wingdings" pitchFamily="2" charset="2"/>
        <a:buChar char="n"/>
        <a:defRPr sz="1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4000"/>
        </a:lnSpc>
        <a:spcBef>
          <a:spcPct val="20000"/>
        </a:spcBef>
        <a:spcAft>
          <a:spcPct val="0"/>
        </a:spcAft>
        <a:buClr>
          <a:schemeClr val="accent5">
            <a:lumMod val="25000"/>
          </a:schemeClr>
        </a:buClr>
        <a:buSzPct val="50000"/>
        <a:buFont typeface="Wingdings" pitchFamily="2" charset="2"/>
        <a:buChar char="n"/>
        <a:defRPr sz="1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ages.cs.wisc.edu/~remzi/OSTE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xmlns="" id="{00A4B39B-110D-CAC9-B9C2-A0D5103783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操作系统课程概述</a:t>
            </a:r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xmlns="" id="{A28AB0C7-175C-6164-4ABA-E4213B586D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92163" y="1233488"/>
            <a:ext cx="7915275" cy="4895850"/>
          </a:xfrm>
        </p:spPr>
        <p:txBody>
          <a:bodyPr/>
          <a:lstStyle/>
          <a:p>
            <a:pPr eaLnBrk="1" hangingPunct="1"/>
            <a:r>
              <a:rPr lang="zh-CN" altLang="en-US" dirty="0"/>
              <a:t>操作系统课程内容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操作系统的概念、演化历史和分类、操作系统的结构、内核功能及其实现原理、技术和方法</a:t>
            </a:r>
          </a:p>
          <a:p>
            <a:pPr eaLnBrk="1" hangingPunct="1"/>
            <a:r>
              <a:rPr lang="zh-CN" altLang="en-US" dirty="0"/>
              <a:t>课程考试方式及成绩计算</a:t>
            </a:r>
          </a:p>
          <a:p>
            <a:pPr lvl="1" eaLnBrk="1" hangingPunct="1"/>
            <a:r>
              <a:rPr lang="zh-CN" altLang="en-US" dirty="0"/>
              <a:t>闭卷考试</a:t>
            </a:r>
          </a:p>
          <a:p>
            <a:pPr lvl="1" eaLnBrk="1" hangingPunct="1"/>
            <a:r>
              <a:rPr lang="zh-CN" altLang="en-US" dirty="0"/>
              <a:t>平时成绩</a:t>
            </a:r>
            <a:r>
              <a:rPr lang="en-US" altLang="zh-CN" dirty="0"/>
              <a:t>4</a:t>
            </a:r>
            <a:r>
              <a:rPr lang="zh-CN" altLang="en-US" dirty="0"/>
              <a:t>0%，其中课后作业</a:t>
            </a:r>
            <a:r>
              <a:rPr lang="en-US" altLang="zh-CN" dirty="0"/>
              <a:t>20%</a:t>
            </a:r>
            <a:r>
              <a:rPr lang="zh-CN" altLang="en-US" dirty="0"/>
              <a:t>、实验</a:t>
            </a:r>
            <a:r>
              <a:rPr lang="en-US" altLang="zh-CN" dirty="0"/>
              <a:t>20%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期末考试成绩</a:t>
            </a:r>
            <a:r>
              <a:rPr lang="en-US" altLang="zh-CN" dirty="0"/>
              <a:t>6</a:t>
            </a:r>
            <a:r>
              <a:rPr lang="zh-CN" altLang="en-US" dirty="0"/>
              <a:t>0%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0F8DD916-7B0E-22AA-AB6A-B6F8276A8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2FC2A-5BB9-8744-BD29-7C6EF21A0FC0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>
            <a:extLst>
              <a:ext uri="{FF2B5EF4-FFF2-40B4-BE49-F238E27FC236}">
                <a16:creationId xmlns:a16="http://schemas.microsoft.com/office/drawing/2014/main" xmlns="" id="{52F71736-B3F4-7F0E-89C1-A1497E33CD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/>
              <a:t>教材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xmlns="" id="{4C7AFEBF-3633-56A5-761B-2E9D3CF53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2080" y="1233488"/>
            <a:ext cx="3415358" cy="4895850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Abraham </a:t>
            </a:r>
            <a:r>
              <a:rPr lang="en-US" altLang="zh-CN" dirty="0" err="1"/>
              <a:t>Silberschatz</a:t>
            </a:r>
            <a:r>
              <a:rPr lang="en-US" altLang="zh-CN" dirty="0"/>
              <a:t>. Operating System Concepts (10th Edition), Wiley, 2018.</a:t>
            </a:r>
            <a:endParaRPr lang="zh-CN" altLang="zh-CN" dirty="0"/>
          </a:p>
          <a:p>
            <a:r>
              <a:rPr lang="zh-CN" altLang="en-US" dirty="0"/>
              <a:t>亚伯拉罕 希尔伯沙茨等著，郑扣根等译，操作系统概念（原书第</a:t>
            </a:r>
            <a:r>
              <a:rPr lang="en-US" altLang="zh-CN" dirty="0"/>
              <a:t>10</a:t>
            </a:r>
            <a:r>
              <a:rPr lang="zh-CN" altLang="en-US" dirty="0"/>
              <a:t>版），机械工业出版社，</a:t>
            </a:r>
            <a:r>
              <a:rPr lang="en-US" altLang="zh-CN" dirty="0"/>
              <a:t>2023.9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7A9C6C7E-12A3-4B85-67F4-B8C74224C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2FC2A-5BB9-8744-BD29-7C6EF21A0FC0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9ED2BF7E-CC1F-7C76-CAEC-1501EB833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26105"/>
            <a:ext cx="4331192" cy="540647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xmlns="" id="{927B1E07-9198-17C1-29A1-92373D7FF3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chemeClr val="tx1"/>
                </a:solidFill>
              </a:rPr>
              <a:t>OS</a:t>
            </a:r>
            <a:r>
              <a:rPr lang="zh-CN" altLang="en-US">
                <a:solidFill>
                  <a:schemeClr val="tx1"/>
                </a:solidFill>
              </a:rPr>
              <a:t>参考书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xmlns="" id="{36EB6238-8515-317D-0AB0-5792EF91C4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449388"/>
            <a:ext cx="7772400" cy="4751387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" altLang="zh-CN" sz="2200" dirty="0"/>
              <a:t>Operating Systems: Three Easy Pieces</a:t>
            </a:r>
            <a:r>
              <a:rPr lang="zh-CN" altLang="en-US" sz="2200" dirty="0"/>
              <a:t> </a:t>
            </a:r>
            <a:r>
              <a:rPr lang="en" altLang="zh-CN" sz="2200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https://pages.cs.wisc.edu/~remzi/OSTEP/</a:t>
            </a:r>
            <a:endParaRPr lang="en" altLang="zh-CN" sz="2200" dirty="0">
              <a:solidFill>
                <a:srgbClr val="0070C0"/>
              </a:solidFill>
            </a:endParaRPr>
          </a:p>
          <a:p>
            <a:pPr eaLnBrk="1" hangingPunct="1"/>
            <a:r>
              <a:rPr lang="zh-CN" altLang="en" sz="2200" dirty="0">
                <a:solidFill>
                  <a:srgbClr val="0070C0"/>
                </a:solidFill>
              </a:rPr>
              <a:t>操作系统</a:t>
            </a:r>
            <a:r>
              <a:rPr lang="zh-CN" altLang="en-US" sz="2200" dirty="0">
                <a:solidFill>
                  <a:srgbClr val="0070C0"/>
                </a:solidFill>
              </a:rPr>
              <a:t>导论（</a:t>
            </a:r>
            <a:r>
              <a:rPr lang="en" altLang="zh-CN" sz="2200" dirty="0"/>
              <a:t> Operating Systems: Three Easy Pieces</a:t>
            </a:r>
            <a:r>
              <a:rPr lang="zh-CN" altLang="en-US" sz="2200" dirty="0"/>
              <a:t> ）</a:t>
            </a:r>
            <a:r>
              <a:rPr lang="zh-CN" altLang="en-US" sz="2200" dirty="0">
                <a:solidFill>
                  <a:srgbClr val="0070C0"/>
                </a:solidFill>
              </a:rPr>
              <a:t>，王海鹏译，人民邮电出版社，</a:t>
            </a:r>
            <a:r>
              <a:rPr lang="en-US" altLang="zh-CN" sz="2200" dirty="0">
                <a:solidFill>
                  <a:srgbClr val="0070C0"/>
                </a:solidFill>
              </a:rPr>
              <a:t>2019.6</a:t>
            </a:r>
            <a:endParaRPr lang="en" altLang="zh-CN" sz="2200" dirty="0">
              <a:solidFill>
                <a:srgbClr val="0070C0"/>
              </a:solidFill>
            </a:endParaRPr>
          </a:p>
          <a:p>
            <a:pPr eaLnBrk="1" hangingPunct="1"/>
            <a:r>
              <a:rPr lang="en-US" altLang="zh-CN" sz="2200" dirty="0"/>
              <a:t>《</a:t>
            </a:r>
            <a:r>
              <a:rPr lang="zh-CN" altLang="en-US" sz="2200" dirty="0"/>
              <a:t>现代操作系统：原理与实现</a:t>
            </a:r>
            <a:r>
              <a:rPr lang="en-US" altLang="zh-CN" sz="2200" dirty="0"/>
              <a:t>》</a:t>
            </a:r>
            <a:r>
              <a:rPr lang="zh-CN" altLang="en-US" sz="2200" dirty="0"/>
              <a:t>，陈海波等，机械工业出版社，</a:t>
            </a:r>
            <a:r>
              <a:rPr lang="en-US" altLang="zh-CN" sz="2200" dirty="0"/>
              <a:t>2024.3</a:t>
            </a:r>
          </a:p>
          <a:p>
            <a:pPr eaLnBrk="1" hangingPunct="1"/>
            <a:r>
              <a:rPr lang="en-US" altLang="zh-CN" sz="2200" dirty="0"/>
              <a:t>《</a:t>
            </a:r>
            <a:r>
              <a:rPr lang="zh-CN" altLang="zh-CN" sz="2200" dirty="0"/>
              <a:t>深入理解计算机系统（原书第</a:t>
            </a:r>
            <a:r>
              <a:rPr lang="en-US" altLang="zh-CN" sz="2200" dirty="0"/>
              <a:t>3</a:t>
            </a:r>
            <a:r>
              <a:rPr lang="zh-CN" altLang="zh-CN" sz="2200" dirty="0"/>
              <a:t>版）</a:t>
            </a:r>
            <a:r>
              <a:rPr lang="en-US" altLang="zh-CN" sz="2200" dirty="0"/>
              <a:t>》</a:t>
            </a:r>
            <a:r>
              <a:rPr lang="zh-CN" altLang="zh-CN" sz="2200" dirty="0"/>
              <a:t>， </a:t>
            </a:r>
            <a:r>
              <a:rPr lang="en-US" altLang="zh-CN" sz="2200" dirty="0"/>
              <a:t>Randal E. Bryant</a:t>
            </a:r>
            <a:r>
              <a:rPr lang="zh-CN" altLang="en-US" sz="2200" dirty="0"/>
              <a:t> </a:t>
            </a:r>
            <a:r>
              <a:rPr lang="en-US" altLang="zh-CN" sz="2200" dirty="0"/>
              <a:t>etc.</a:t>
            </a:r>
            <a:r>
              <a:rPr lang="zh-CN" altLang="zh-CN" sz="2200" dirty="0"/>
              <a:t>著，龚奕利，贺莲译</a:t>
            </a:r>
            <a:r>
              <a:rPr lang="en-US" altLang="zh-CN" sz="2200" dirty="0"/>
              <a:t>. </a:t>
            </a:r>
            <a:r>
              <a:rPr lang="zh-CN" altLang="zh-CN" sz="2200" dirty="0"/>
              <a:t>机械工业出版社，</a:t>
            </a:r>
            <a:r>
              <a:rPr lang="en-US" altLang="zh-CN" sz="2200" dirty="0"/>
              <a:t>2021.</a:t>
            </a:r>
          </a:p>
          <a:p>
            <a:pPr eaLnBrk="1"/>
            <a:r>
              <a:rPr lang="en-US" altLang="zh-CN" sz="2200" dirty="0"/>
              <a:t>《</a:t>
            </a:r>
            <a:r>
              <a:rPr lang="zh-CN" altLang="en-US" sz="2200" dirty="0"/>
              <a:t>计算机操作系统</a:t>
            </a:r>
            <a:r>
              <a:rPr lang="en-US" altLang="zh-CN" sz="2200" dirty="0"/>
              <a:t>》</a:t>
            </a:r>
            <a:r>
              <a:rPr lang="zh-CN" altLang="en-US" sz="2200" dirty="0"/>
              <a:t>，郑鹏等，武汉大学出版社，</a:t>
            </a:r>
            <a:r>
              <a:rPr lang="en-US" altLang="zh-CN" sz="2200" dirty="0"/>
              <a:t>2022.3</a:t>
            </a:r>
            <a:r>
              <a:rPr lang="zh-CN" altLang="en-US" sz="2200" dirty="0"/>
              <a:t>。第</a:t>
            </a:r>
            <a:r>
              <a:rPr lang="en-US" altLang="zh-CN" sz="2200" dirty="0"/>
              <a:t>3</a:t>
            </a:r>
            <a:r>
              <a:rPr lang="zh-CN" altLang="en-US" sz="2200" dirty="0"/>
              <a:t>版</a:t>
            </a:r>
            <a:endParaRPr lang="en-US" altLang="zh-CN" sz="2200" dirty="0"/>
          </a:p>
          <a:p>
            <a:pPr eaLnBrk="1" hangingPunct="1"/>
            <a:r>
              <a:rPr lang="en-US" altLang="zh-CN" sz="2200" dirty="0"/>
              <a:t>《</a:t>
            </a:r>
            <a:r>
              <a:rPr lang="zh-CN" altLang="en-US" sz="2200" dirty="0"/>
              <a:t>现代操作系统</a:t>
            </a:r>
            <a:r>
              <a:rPr lang="en-US" altLang="zh-CN" sz="2200" dirty="0"/>
              <a:t>》</a:t>
            </a:r>
            <a:r>
              <a:rPr lang="zh-CN" altLang="en-US" sz="2200" dirty="0"/>
              <a:t>英文影印版第</a:t>
            </a:r>
            <a:r>
              <a:rPr lang="en-US" altLang="zh-CN" sz="2200" dirty="0"/>
              <a:t>4</a:t>
            </a:r>
            <a:r>
              <a:rPr lang="zh-CN" altLang="en-US" sz="2200" dirty="0"/>
              <a:t>版，</a:t>
            </a:r>
            <a:r>
              <a:rPr lang="en-US" altLang="zh-CN" sz="2200" dirty="0"/>
              <a:t>Andrew S. Tanenbaum</a:t>
            </a:r>
            <a:r>
              <a:rPr lang="zh-CN" altLang="en-US" sz="2200" dirty="0"/>
              <a:t>著，机械工业出版社，</a:t>
            </a:r>
            <a:r>
              <a:rPr lang="en-US" altLang="zh-CN" sz="2200" dirty="0"/>
              <a:t>2017.10</a:t>
            </a:r>
            <a:endParaRPr lang="zh-CN" altLang="en-US" sz="2200" dirty="0"/>
          </a:p>
          <a:p>
            <a:pPr eaLnBrk="1" hangingPunct="1"/>
            <a:r>
              <a:rPr lang="en-US" altLang="zh-CN" sz="2200" dirty="0"/>
              <a:t>《</a:t>
            </a:r>
            <a:r>
              <a:rPr lang="zh-CN" altLang="en-US" sz="2200" dirty="0"/>
              <a:t>操作系统：精髓与设计原理</a:t>
            </a:r>
            <a:r>
              <a:rPr lang="en-US" altLang="zh-CN" sz="2200" dirty="0"/>
              <a:t>》</a:t>
            </a:r>
            <a:r>
              <a:rPr lang="zh-CN" altLang="en-US" sz="2200" dirty="0"/>
              <a:t>英文版第</a:t>
            </a:r>
            <a:r>
              <a:rPr lang="en-US" altLang="zh-CN" sz="2200" dirty="0"/>
              <a:t>9</a:t>
            </a:r>
            <a:r>
              <a:rPr lang="zh-CN" altLang="en-US" sz="2200" dirty="0"/>
              <a:t>版</a:t>
            </a:r>
            <a:r>
              <a:rPr lang="en-US" altLang="zh-CN" sz="2200" dirty="0"/>
              <a:t>，William Stallings，</a:t>
            </a:r>
            <a:r>
              <a:rPr lang="zh-CN" altLang="en-US" sz="2200" dirty="0"/>
              <a:t>电子工业出版社，</a:t>
            </a:r>
            <a:r>
              <a:rPr lang="en-US" altLang="zh-CN" sz="2200" dirty="0"/>
              <a:t>2020.6</a:t>
            </a:r>
            <a:endParaRPr lang="zh-CN" altLang="zh-CN" sz="2200" dirty="0"/>
          </a:p>
          <a:p>
            <a:pPr eaLnBrk="1" hangingPunct="1"/>
            <a:endParaRPr lang="en" altLang="zh-CN" sz="22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5C1A942A-F3F4-4128-6469-B5032B4FB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2FC2A-5BB9-8744-BD29-7C6EF21A0FC0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  <p:transition spd="med">
    <p:zo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JmNTAxYTA0NTllZTU0OWY5NWY0MWNlMzBjNGU2OTY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9CCFF"/>
            </a:gs>
            <a:gs pos="100000">
              <a:schemeClr val="bg2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Char char="n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9CCFF"/>
            </a:gs>
            <a:gs pos="100000">
              <a:schemeClr val="bg2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Char char="n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8315</TotalTime>
  <Words>243</Words>
  <Application>Microsoft Office PowerPoint</Application>
  <PresentationFormat>全屏显示(4:3)</PresentationFormat>
  <Paragraphs>22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宋体</vt:lpstr>
      <vt:lpstr>Arial</vt:lpstr>
      <vt:lpstr>Century</vt:lpstr>
      <vt:lpstr>Tahoma</vt:lpstr>
      <vt:lpstr>Wingdings</vt:lpstr>
      <vt:lpstr>Blends</vt:lpstr>
      <vt:lpstr>操作系统课程概述</vt:lpstr>
      <vt:lpstr>教材</vt:lpstr>
      <vt:lpstr>OS参考书</vt:lpstr>
    </vt:vector>
  </TitlesOfParts>
  <Company>Microsoft China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导论</dc:title>
  <dc:creator>zp</dc:creator>
  <cp:lastModifiedBy>Copper</cp:lastModifiedBy>
  <cp:revision>255</cp:revision>
  <cp:lastPrinted>2024-09-09T08:08:03Z</cp:lastPrinted>
  <dcterms:created xsi:type="dcterms:W3CDTF">2004-02-12T01:00:22Z</dcterms:created>
  <dcterms:modified xsi:type="dcterms:W3CDTF">2026-01-19T18:53:42Z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3AB9058BA2BF4902819B9C9A0F7928D6</vt:lpwstr>
  </property>
  <property fmtid="{D5CDD505-2E9C-101B-9397-08002B2CF9AE}" pid="3" name="KSOProductBuildVer">
    <vt:lpwstr>2052-11.1.0.11691</vt:lpwstr>
  </property>
</Properties>
</file>