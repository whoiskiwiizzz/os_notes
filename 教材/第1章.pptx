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5"/>
  </p:notesMasterIdLst>
  <p:sldIdLst>
    <p:sldId id="257" r:id="rId2"/>
    <p:sldId id="259" r:id="rId3"/>
    <p:sldId id="261" r:id="rId4"/>
    <p:sldId id="385" r:id="rId5"/>
    <p:sldId id="386" r:id="rId6"/>
    <p:sldId id="262" r:id="rId7"/>
    <p:sldId id="263" r:id="rId8"/>
    <p:sldId id="264" r:id="rId9"/>
    <p:sldId id="265" r:id="rId10"/>
    <p:sldId id="390" r:id="rId11"/>
    <p:sldId id="391" r:id="rId12"/>
    <p:sldId id="387" r:id="rId13"/>
    <p:sldId id="266" r:id="rId14"/>
    <p:sldId id="268" r:id="rId15"/>
    <p:sldId id="388" r:id="rId16"/>
    <p:sldId id="270" r:id="rId17"/>
    <p:sldId id="389" r:id="rId18"/>
    <p:sldId id="271" r:id="rId19"/>
    <p:sldId id="392" r:id="rId20"/>
    <p:sldId id="393" r:id="rId21"/>
    <p:sldId id="272" r:id="rId22"/>
    <p:sldId id="273" r:id="rId23"/>
    <p:sldId id="394" r:id="rId24"/>
    <p:sldId id="274" r:id="rId25"/>
    <p:sldId id="276" r:id="rId26"/>
    <p:sldId id="395" r:id="rId27"/>
    <p:sldId id="278" r:id="rId28"/>
    <p:sldId id="277" r:id="rId29"/>
    <p:sldId id="396" r:id="rId30"/>
    <p:sldId id="282" r:id="rId31"/>
    <p:sldId id="283" r:id="rId32"/>
    <p:sldId id="284" r:id="rId33"/>
    <p:sldId id="397" r:id="rId34"/>
    <p:sldId id="398" r:id="rId35"/>
    <p:sldId id="285" r:id="rId36"/>
    <p:sldId id="288" r:id="rId37"/>
    <p:sldId id="286" r:id="rId38"/>
    <p:sldId id="289" r:id="rId39"/>
    <p:sldId id="290" r:id="rId40"/>
    <p:sldId id="399" r:id="rId41"/>
    <p:sldId id="297" r:id="rId42"/>
    <p:sldId id="287" r:id="rId43"/>
    <p:sldId id="291" r:id="rId44"/>
    <p:sldId id="292" r:id="rId45"/>
    <p:sldId id="293" r:id="rId46"/>
    <p:sldId id="296" r:id="rId47"/>
    <p:sldId id="400" r:id="rId48"/>
    <p:sldId id="294" r:id="rId49"/>
    <p:sldId id="295" r:id="rId50"/>
    <p:sldId id="298" r:id="rId51"/>
    <p:sldId id="299" r:id="rId52"/>
    <p:sldId id="300" r:id="rId53"/>
    <p:sldId id="401" r:id="rId54"/>
    <p:sldId id="402" r:id="rId55"/>
    <p:sldId id="403" r:id="rId56"/>
    <p:sldId id="404" r:id="rId57"/>
    <p:sldId id="405" r:id="rId58"/>
    <p:sldId id="406" r:id="rId59"/>
    <p:sldId id="407" r:id="rId60"/>
    <p:sldId id="408" r:id="rId61"/>
    <p:sldId id="409" r:id="rId62"/>
    <p:sldId id="410" r:id="rId63"/>
    <p:sldId id="411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495"/>
    <a:srgbClr val="55595D"/>
    <a:srgbClr val="3D8F76"/>
    <a:srgbClr val="323399"/>
    <a:srgbClr val="1A3B86"/>
    <a:srgbClr val="849E9F"/>
    <a:srgbClr val="9DBBBC"/>
    <a:srgbClr val="5D9C89"/>
    <a:srgbClr val="929000"/>
    <a:srgbClr val="A8D3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90542" autoAdjust="0"/>
  </p:normalViewPr>
  <p:slideViewPr>
    <p:cSldViewPr snapToGrid="0">
      <p:cViewPr>
        <p:scale>
          <a:sx n="100" d="100"/>
          <a:sy n="100" d="100"/>
        </p:scale>
        <p:origin x="16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C4591-32D9-4248-9B09-4A3FCC9A2071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5ACA3-2961-3740-91A0-2A6370DAD6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22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统一的访问接口，解答问题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45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并非都是时分或空分，也可能不分，如音响，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也可能需要分情况讨论，如读文件就不分，写文件就时分，如屏幕，既可能时分也可能空分。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6798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关键问题：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）有磁带了。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）联机：磁带始终连在电脑上，导入导出时电脑等待。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）脱机指磁带可脱机，外围机相当于大厅里指导填表的工作人员，避免在窗口填表。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8458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解答问题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6671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网络系统针对单机；分布式系统关键特征：在某个业务上，对外展示如同一台电脑。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分布协作的目的是特定的业务，如计算（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 GPT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）、数据管理（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）、零售（淘宝双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），没有通用的、操作系统层面的分布协作。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主流方案：操作系统（当然是网络操作系统）负责“自治”，并为分布协作提供某些支持（如容器），再安装配置集群管理软件（如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），实现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266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解答问题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9952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此处总结内存管理基本问题：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）不同机器、不同时间，内存中状况不同，编程时不了解状况，但编译要产生确定的二进制地址。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）怎么确保内存中的多个进程不会产生冲突？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）许多程序会有大量内存占用，但其中相当部分长时间不被访问，能否把不活跃的部分暂时排除？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6646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解答问题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667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7B338C99-4BFA-EC8E-7B91-F5844CDD83B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5915" y="3260759"/>
            <a:ext cx="8693150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1350"/>
          </a:p>
        </p:txBody>
      </p: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088682" y="1828800"/>
            <a:ext cx="667431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xmlns="" id="{69E201AF-481D-D7F5-F5A3-B7C5682D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xmlns="" id="{701192B2-B64A-92F9-322E-CE658D3C1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xmlns="" id="{1003B9B5-2387-F5A9-AE3D-CEEB0E213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6F798D-A431-694C-B66B-13A47D786A04}" type="slidenum">
              <a:rPr lang="zh-CN" altLang="en-US"/>
              <a:pPr/>
              <a:t>‹#›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E26E1406-7E5E-7B8E-2119-BA64BFFD8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000" y="1071012"/>
            <a:ext cx="1863615" cy="2189747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xmlns="" id="{C401CBDC-AA8E-6DF1-BD9D-89438EB38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3" y="3310673"/>
            <a:ext cx="1414007" cy="254885"/>
          </a:xfrm>
          <a:prstGeom prst="rect">
            <a:avLst/>
          </a:prstGeom>
          <a:solidFill>
            <a:srgbClr val="5D9C89"/>
          </a:solidFill>
        </p:spPr>
      </p:pic>
    </p:spTree>
    <p:extLst>
      <p:ext uri="{BB962C8B-B14F-4D97-AF65-F5344CB8AC3E}">
        <p14:creationId xmlns:p14="http://schemas.microsoft.com/office/powerpoint/2010/main" val="491551916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Century" panose="02040604050505020304" pitchFamily="18" charset="0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hangingPunct="1">
              <a:buClr>
                <a:schemeClr val="accent4"/>
              </a:buClr>
              <a:defRPr sz="3000">
                <a:latin typeface="Century" panose="02040604050505020304" pitchFamily="18" charset="0"/>
              </a:defRPr>
            </a:lvl1pPr>
            <a:lvl2pPr hangingPunct="1">
              <a:buClr>
                <a:srgbClr val="C00000"/>
              </a:buClr>
              <a:defRPr sz="2600">
                <a:latin typeface="Century" panose="02040604050505020304" pitchFamily="18" charset="0"/>
              </a:defRPr>
            </a:lvl2pPr>
            <a:lvl3pPr hangingPunct="1">
              <a:buClr>
                <a:schemeClr val="tx2"/>
              </a:buClr>
              <a:defRPr sz="2200">
                <a:latin typeface="Century" panose="02040604050505020304" pitchFamily="18" charset="0"/>
              </a:defRPr>
            </a:lvl3pPr>
            <a:lvl4pPr hangingPunct="1">
              <a:buClr>
                <a:schemeClr val="accent2">
                  <a:lumMod val="50000"/>
                </a:schemeClr>
              </a:buClr>
              <a:defRPr sz="1800">
                <a:latin typeface="Century" panose="02040604050505020304" pitchFamily="18" charset="0"/>
              </a:defRPr>
            </a:lvl4pPr>
            <a:lvl5pPr hangingPunct="1">
              <a:buClr>
                <a:schemeClr val="accent5">
                  <a:lumMod val="25000"/>
                </a:schemeClr>
              </a:buClr>
              <a:defRPr sz="1800">
                <a:latin typeface="Century" panose="02040604050505020304" pitchFamily="18" charset="0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D84B8634-86D3-A0AE-194D-6A15AFAFF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0723DE67-FDB7-4E97-1714-22C53D101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724CAC9F-9A1C-2025-A160-151BDB7FF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3CC90-4002-504C-BD88-C9A1D374048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866086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84" indent="0">
              <a:buNone/>
              <a:defRPr sz="1350"/>
            </a:lvl2pPr>
            <a:lvl3pPr marL="685766" indent="0">
              <a:buNone/>
              <a:defRPr sz="1200"/>
            </a:lvl3pPr>
            <a:lvl4pPr marL="1028649" indent="0">
              <a:buNone/>
              <a:defRPr sz="1050"/>
            </a:lvl4pPr>
            <a:lvl5pPr marL="1371532" indent="0">
              <a:buNone/>
              <a:defRPr sz="1050"/>
            </a:lvl5pPr>
            <a:lvl6pPr marL="1714415" indent="0">
              <a:buNone/>
              <a:defRPr sz="1050"/>
            </a:lvl6pPr>
            <a:lvl7pPr marL="2057297" indent="0">
              <a:buNone/>
              <a:defRPr sz="1050"/>
            </a:lvl7pPr>
            <a:lvl8pPr marL="2400180" indent="0">
              <a:buNone/>
              <a:defRPr sz="1050"/>
            </a:lvl8pPr>
            <a:lvl9pPr marL="2743064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FFBDFF65-8CBE-FC8E-C2AB-BF39F778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557BB269-8BCF-19AE-2E4C-4F50A72F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EC4B4EC5-8D14-B9F8-3A0E-6B6E3FB2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93493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577088FB-A6B7-73F5-7F94-4748D69CA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8B037231-D77C-7620-5048-020218A56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1616081F-299F-D60B-0ECC-280BE114E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8A19-278A-0A41-BBE8-65E5D3125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47077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68794170-3BE8-63A8-84A0-433E04CC4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xmlns="" id="{4EE836C1-36AB-35B2-63E3-C5C32DFB7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xmlns="" id="{A14EBA2A-C5A1-FF69-4383-F487A8408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D52E0-A696-0244-8333-2084DA18EE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665912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xmlns="" id="{90622892-0589-9624-9441-6D3D8D420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xmlns="" id="{DE3302D8-0022-5549-6AF3-C9DF37FD0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5BAF381E-A9DD-B4FB-A99D-D6A744303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15609-3D60-D842-9ED4-D898F320B1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75608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31F610FA-62F8-3A69-9BB8-68EAD4093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xmlns="" id="{030F8BB0-0FEC-EDAC-A497-49A707FDB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1004B668-435E-6B54-9B71-30E6E86C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38AA8-90D7-9745-B439-F7E019CC10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15399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077BF47D-FB2C-CA75-3290-9D390F1A1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FCEDDD16-8334-8815-AE79-D96BE2801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EF672E88-31B4-2E74-6924-50EA7B00D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B590F-D627-7E4E-9EE8-F057544876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611658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7DF7E1FA-7229-6F80-9195-95494C6B6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BA7BEB0C-60AB-4B90-0858-DC9F851CFC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C8113A4C-B97F-6D35-E97A-9BCA743B1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CE171-2466-3E49-953C-8D9416E27C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727056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8969790B-5FDE-ACFE-CBF8-D6D25FB97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042DD340-A062-ECA2-BACD-72DF641D7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5A990D87-E397-DDBA-9741-B7BDB8278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A2B9D-4C43-344E-A3AD-CDEFA12D46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75271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4041" y="225431"/>
            <a:ext cx="1989137" cy="5903913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5038" y="225431"/>
            <a:ext cx="5816600" cy="5903913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BB6D72A0-9ACC-FB01-B500-09347F07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1C2E9BFB-3F4C-57E7-BA00-4AD71CFAA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04462F64-AE9C-AD7E-F866-AAEDC027A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D01F4-2BF8-A745-90E2-0A334AE3AA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722587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EF4DAB6F-0109-F932-D41D-114D2B361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3B9B9A9B-4F44-E332-8013-87B918E4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D1D42F48-85F2-C1B3-34A9-42D4A700C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0DF3-193F-E44C-B1F0-408591F45C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18793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F708D4BC-3A8D-E878-0802-13BCC7E23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925FD2C4-690E-646E-8669-143AD1BD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54E36240-FA62-8027-3821-D40DEB78E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1C6D-14C1-844E-9115-70642E9631D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28925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xmlns="" id="{A9824247-C8A8-C57F-CAEC-3A223BA6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1" y="26988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xmlns="" id="{4A0B2333-B6EA-176D-0028-5AB7711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6" y="10604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xmlns="" id="{0D3A9279-CA87-4E7F-DAC6-015EE242A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2988" y="225431"/>
            <a:ext cx="78501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xmlns="" id="{86AE627A-1B93-6388-397F-5C8186FBAF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5038" y="1233488"/>
            <a:ext cx="7772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xmlns="" id="{DE3D8E3B-D458-C570-9919-DE02EA9FC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05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4525" name="Rectangle 13">
            <a:extLst>
              <a:ext uri="{FF2B5EF4-FFF2-40B4-BE49-F238E27FC236}">
                <a16:creationId xmlns:a16="http://schemas.microsoft.com/office/drawing/2014/main" xmlns="" id="{C2D98F74-F2B6-4A7D-03A8-AB9BF3598B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50"/>
            </a:lvl1pPr>
          </a:lstStyle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3CE6F6BF-4B21-EBA8-0316-496A78B2CDF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3532301">
            <a:off x="53066" y="473997"/>
            <a:ext cx="678101" cy="376134"/>
          </a:xfrm>
          <a:prstGeom prst="rect">
            <a:avLst/>
          </a:prstGeom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xmlns="" id="{30C888A5-CC91-E55B-7B85-6EA66F09083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"/>
          <a:stretch/>
        </p:blipFill>
        <p:spPr bwMode="auto">
          <a:xfrm>
            <a:off x="320498" y="941908"/>
            <a:ext cx="1042988" cy="1882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403A0A2-1BB5-3BCB-F943-2DCD1F4C13A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532443" y="5624518"/>
            <a:ext cx="512549" cy="110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>
    <p:zoom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884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766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649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532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62" indent="-25716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25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rgbClr val="C00000"/>
        </a:buClr>
        <a:buSzPct val="55000"/>
        <a:buFont typeface="Wingdings" pitchFamily="2" charset="2"/>
        <a:buChar char="n"/>
        <a:defRPr sz="1950">
          <a:solidFill>
            <a:schemeClr val="tx1"/>
          </a:solidFill>
          <a:latin typeface="+mn-lt"/>
          <a:ea typeface="+mn-ea"/>
        </a:defRPr>
      </a:lvl2pPr>
      <a:lvl3pPr marL="857207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n"/>
        <a:defRPr sz="1650">
          <a:solidFill>
            <a:schemeClr val="tx1"/>
          </a:solidFill>
          <a:latin typeface="+mn-lt"/>
          <a:ea typeface="+mn-ea"/>
        </a:defRPr>
      </a:lvl3pPr>
      <a:lvl4pPr marL="1200090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55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4pPr>
      <a:lvl5pPr marL="1542974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5">
            <a:lumMod val="25000"/>
          </a:schemeClr>
        </a:buClr>
        <a:buSzPct val="50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5pPr>
      <a:lvl6pPr marL="1885856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739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622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505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章 导论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操作系统做什么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zh-CN" altLang="en-US" dirty="0" smtClean="0"/>
              <a:t>计算机系统</a:t>
            </a:r>
            <a:endParaRPr lang="zh-CN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zh-CN" altLang="en-US" dirty="0" smtClean="0"/>
              <a:t>历史发展与操作模式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zh-CN" altLang="en-US" dirty="0" smtClean="0"/>
              <a:t>资源管理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43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操作系统是</a:t>
            </a:r>
            <a:r>
              <a:rPr lang="zh-CN" altLang="en-US" dirty="0">
                <a:solidFill>
                  <a:srgbClr val="FF0000"/>
                </a:solidFill>
              </a:rPr>
              <a:t>管理</a:t>
            </a:r>
            <a:r>
              <a:rPr lang="zh-CN" altLang="en-US" dirty="0"/>
              <a:t>计算机</a:t>
            </a:r>
            <a:r>
              <a:rPr lang="zh-CN" altLang="en-US" dirty="0">
                <a:solidFill>
                  <a:srgbClr val="FF0000"/>
                </a:solidFill>
              </a:rPr>
              <a:t>硬件</a:t>
            </a:r>
            <a:r>
              <a:rPr lang="zh-CN" altLang="en-US" dirty="0"/>
              <a:t>的程序，它还为</a:t>
            </a:r>
            <a:r>
              <a:rPr lang="zh-CN" altLang="en-US" dirty="0">
                <a:solidFill>
                  <a:srgbClr val="FF0000"/>
                </a:solidFill>
              </a:rPr>
              <a:t>应用程序</a:t>
            </a:r>
            <a:r>
              <a:rPr lang="zh-CN" altLang="en-US" dirty="0"/>
              <a:t>提供</a:t>
            </a:r>
            <a:r>
              <a:rPr lang="zh-CN" altLang="en-US" dirty="0">
                <a:solidFill>
                  <a:srgbClr val="FF0000"/>
                </a:solidFill>
              </a:rPr>
              <a:t>基础</a:t>
            </a:r>
            <a:r>
              <a:rPr lang="zh-CN" altLang="en-US" dirty="0"/>
              <a:t>，并且充当计算机</a:t>
            </a:r>
            <a:r>
              <a:rPr lang="zh-CN" altLang="en-US" dirty="0">
                <a:solidFill>
                  <a:srgbClr val="FF0000"/>
                </a:solidFill>
              </a:rPr>
              <a:t>硬件</a:t>
            </a:r>
            <a:r>
              <a:rPr lang="zh-CN" altLang="en-US" dirty="0"/>
              <a:t>和计算机</a:t>
            </a:r>
            <a:r>
              <a:rPr lang="zh-CN" altLang="en-US" dirty="0">
                <a:solidFill>
                  <a:srgbClr val="FF0000"/>
                </a:solidFill>
              </a:rPr>
              <a:t>用户</a:t>
            </a:r>
            <a:r>
              <a:rPr lang="zh-CN" altLang="en-US" dirty="0"/>
              <a:t>之间的</a:t>
            </a:r>
            <a:r>
              <a:rPr lang="zh-CN" altLang="en-US" dirty="0" smtClean="0">
                <a:solidFill>
                  <a:srgbClr val="FF0000"/>
                </a:solidFill>
              </a:rPr>
              <a:t>中介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35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计算机系统的四个部分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计算机系统可以大致分为四个部分</a:t>
            </a:r>
          </a:p>
          <a:p>
            <a:pPr lvl="1"/>
            <a:r>
              <a:rPr lang="zh-CN" altLang="en-US" dirty="0"/>
              <a:t>硬件</a:t>
            </a:r>
          </a:p>
          <a:p>
            <a:pPr lvl="1"/>
            <a:r>
              <a:rPr lang="zh-CN" altLang="en-US" dirty="0"/>
              <a:t>操作系统</a:t>
            </a:r>
          </a:p>
          <a:p>
            <a:pPr lvl="1"/>
            <a:r>
              <a:rPr lang="zh-CN" altLang="en-US" dirty="0"/>
              <a:t>系统程序与</a:t>
            </a:r>
            <a:r>
              <a:rPr lang="zh-CN" altLang="en-US" dirty="0" smtClean="0"/>
              <a:t>应用程序</a:t>
            </a:r>
            <a:endParaRPr lang="en-US" altLang="zh-CN" dirty="0" smtClean="0"/>
          </a:p>
          <a:p>
            <a:pPr lvl="2"/>
            <a:r>
              <a:rPr lang="zh-CN" altLang="en-US" dirty="0"/>
              <a:t>系统程序</a:t>
            </a:r>
            <a:r>
              <a:rPr lang="zh-CN" altLang="en-US" dirty="0" smtClean="0"/>
              <a:t>：与</a:t>
            </a:r>
            <a:r>
              <a:rPr lang="zh-CN" altLang="en-US" dirty="0"/>
              <a:t>系统</a:t>
            </a:r>
            <a:r>
              <a:rPr lang="zh-CN" altLang="en-US" dirty="0" smtClean="0"/>
              <a:t>管理、开发有关</a:t>
            </a:r>
            <a:r>
              <a:rPr lang="zh-CN" altLang="en-US" dirty="0"/>
              <a:t>的</a:t>
            </a:r>
            <a:r>
              <a:rPr lang="zh-CN" altLang="en-US" dirty="0" smtClean="0"/>
              <a:t>应用程序，往往是</a:t>
            </a:r>
            <a:r>
              <a:rPr lang="zh-CN" altLang="en-US" dirty="0"/>
              <a:t>系统自带的</a:t>
            </a:r>
          </a:p>
          <a:p>
            <a:pPr lvl="1"/>
            <a:r>
              <a:rPr lang="zh-CN" altLang="en-US" dirty="0"/>
              <a:t>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560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计算机系统的四个部分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5" t="7478" r="7574" b="5096"/>
          <a:stretch>
            <a:fillRect/>
          </a:stretch>
        </p:blipFill>
        <p:spPr bwMode="auto">
          <a:xfrm>
            <a:off x="1463676" y="1447799"/>
            <a:ext cx="6250321" cy="5115670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圆角矩形标注 6"/>
          <p:cNvSpPr/>
          <p:nvPr/>
        </p:nvSpPr>
        <p:spPr bwMode="auto">
          <a:xfrm>
            <a:off x="978861" y="2572284"/>
            <a:ext cx="7219950" cy="1075793"/>
          </a:xfrm>
          <a:prstGeom prst="wedgeRoundRectCallout">
            <a:avLst>
              <a:gd name="adj1" fmla="val -19646"/>
              <a:gd name="adj2" fmla="val 91430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/>
              <a:t>操作系统是配置在计算机硬件上的第一层软件，是对硬件的首次扩充。它位于硬件与其它软件之间，是所有其他软件运行的基础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155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计算机系统的四个部分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应用程序无法直接接触硬件</a:t>
            </a:r>
            <a:r>
              <a:rPr lang="zh-CN" altLang="en-US" dirty="0" smtClean="0"/>
              <a:t>。以屏幕</a:t>
            </a:r>
            <a:r>
              <a:rPr lang="zh-CN" altLang="en-US" dirty="0"/>
              <a:t>为例：</a:t>
            </a:r>
          </a:p>
          <a:p>
            <a:pPr lvl="1"/>
            <a:r>
              <a:rPr lang="zh-CN" altLang="en-US" dirty="0"/>
              <a:t>不允许：多个程序都要向屏幕输出，不限制则</a:t>
            </a:r>
            <a:r>
              <a:rPr lang="zh-CN" altLang="en-US" dirty="0" smtClean="0"/>
              <a:t>混乱。解决</a:t>
            </a:r>
            <a:r>
              <a:rPr lang="zh-CN" altLang="en-US" dirty="0"/>
              <a:t>方法：</a:t>
            </a:r>
            <a:r>
              <a:rPr lang="zh-CN" altLang="en-US" dirty="0" smtClean="0"/>
              <a:t>窗口</a:t>
            </a:r>
            <a:endParaRPr lang="en-US" altLang="zh-CN" dirty="0"/>
          </a:p>
          <a:p>
            <a:pPr lvl="1"/>
            <a:r>
              <a:rPr lang="zh-CN" altLang="en-US" dirty="0"/>
              <a:t>做不到：不同计算机显卡、屏幕型号不同，应用程序无法</a:t>
            </a:r>
            <a:r>
              <a:rPr lang="zh-CN" altLang="en-US" dirty="0" smtClean="0"/>
              <a:t>穷尽</a:t>
            </a:r>
            <a:endParaRPr lang="en-US" altLang="zh-CN" dirty="0"/>
          </a:p>
          <a:p>
            <a:r>
              <a:rPr lang="zh-CN" altLang="en-US" dirty="0"/>
              <a:t>人</a:t>
            </a:r>
            <a:r>
              <a:rPr lang="zh-CN" altLang="en-US" dirty="0" smtClean="0"/>
              <a:t>操作键盘鼠标，却</a:t>
            </a:r>
            <a:r>
              <a:rPr lang="zh-CN" altLang="en-US" dirty="0"/>
              <a:t>被画到应用程序</a:t>
            </a:r>
            <a:r>
              <a:rPr lang="zh-CN" altLang="en-US" dirty="0" smtClean="0"/>
              <a:t>上方：</a:t>
            </a:r>
            <a:endParaRPr lang="zh-CN" altLang="en-US" dirty="0"/>
          </a:p>
          <a:p>
            <a:pPr lvl="1"/>
            <a:r>
              <a:rPr lang="zh-CN" altLang="en-US" dirty="0"/>
              <a:t>人的操作目标总是应用程序，（基本上），提供操作界面的都是</a:t>
            </a:r>
            <a:r>
              <a:rPr lang="zh-CN" altLang="en-US" dirty="0" smtClean="0"/>
              <a:t>应用程序</a:t>
            </a:r>
            <a:endParaRPr lang="zh-CN" altLang="en-US" dirty="0"/>
          </a:p>
          <a:p>
            <a:pPr lvl="1"/>
            <a:r>
              <a:rPr lang="zh-CN" altLang="en-US" dirty="0"/>
              <a:t>键盘鼠标操作，经过系统处理，最终能以某种方式触发应用程序的</a:t>
            </a:r>
            <a:r>
              <a:rPr lang="zh-CN" altLang="en-US" dirty="0" smtClean="0"/>
              <a:t>处理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935038" y="1419225"/>
            <a:ext cx="2919115" cy="633424"/>
          </a:xfrm>
          <a:prstGeom prst="wedgeRoundRectCallout">
            <a:avLst>
              <a:gd name="adj1" fmla="val -19646"/>
              <a:gd name="adj2" fmla="val 91430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问题</a:t>
            </a:r>
            <a:r>
              <a:rPr lang="en-US" altLang="zh-CN" sz="2000" dirty="0"/>
              <a:t>1.1 </a:t>
            </a:r>
            <a:r>
              <a:rPr lang="zh-CN" altLang="en-US" sz="2000" dirty="0" smtClean="0"/>
              <a:t>：</a:t>
            </a:r>
            <a:r>
              <a:rPr lang="zh-CN" altLang="en-US" sz="2000" dirty="0"/>
              <a:t>怎样</a:t>
            </a:r>
            <a:r>
              <a:rPr lang="zh-CN" altLang="en-US" sz="2000" dirty="0" smtClean="0"/>
              <a:t>限制？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935038" y="2376476"/>
            <a:ext cx="2919115" cy="633424"/>
          </a:xfrm>
          <a:prstGeom prst="wedgeRoundRectCallout">
            <a:avLst>
              <a:gd name="adj1" fmla="val -19646"/>
              <a:gd name="adj2" fmla="val 91430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问题</a:t>
            </a:r>
            <a:r>
              <a:rPr lang="en-US" altLang="zh-CN" sz="2000" dirty="0" smtClean="0"/>
              <a:t>1.2</a:t>
            </a:r>
            <a:r>
              <a:rPr lang="zh-CN" altLang="en-US" sz="2000" dirty="0" smtClean="0"/>
              <a:t>：如何解决？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935038" y="5014901"/>
            <a:ext cx="2919115" cy="633424"/>
          </a:xfrm>
          <a:prstGeom prst="wedgeRoundRectCallout">
            <a:avLst>
              <a:gd name="adj1" fmla="val -19646"/>
              <a:gd name="adj2" fmla="val 91430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问题</a:t>
            </a:r>
            <a:r>
              <a:rPr lang="en-US" altLang="zh-CN" sz="2000" dirty="0" smtClean="0"/>
              <a:t>1.3</a:t>
            </a:r>
            <a:r>
              <a:rPr lang="zh-CN" altLang="en-US" sz="2000" dirty="0" smtClean="0"/>
              <a:t>：如何实现？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689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裸机</a:t>
            </a:r>
            <a:r>
              <a:rPr lang="zh-CN" altLang="en-US" dirty="0"/>
              <a:t>：没有配置软件的</a:t>
            </a:r>
            <a:r>
              <a:rPr lang="zh-CN" altLang="en-US" dirty="0" smtClean="0"/>
              <a:t>计算机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虚拟机</a:t>
            </a:r>
            <a:r>
              <a:rPr lang="zh-CN" altLang="en-US" dirty="0"/>
              <a:t>：覆盖了软件的</a:t>
            </a:r>
            <a:r>
              <a:rPr lang="zh-CN" altLang="en-US" dirty="0" smtClean="0"/>
              <a:t>机器，也称扩展机</a:t>
            </a:r>
            <a:endParaRPr lang="en-US" altLang="zh-CN" dirty="0" smtClean="0"/>
          </a:p>
          <a:p>
            <a:pPr lvl="1"/>
            <a:r>
              <a:rPr lang="zh-CN" altLang="zh-CN" dirty="0"/>
              <a:t>不是在一个系统中运行另一个</a:t>
            </a:r>
            <a:r>
              <a:rPr lang="en-US" altLang="zh-CN" dirty="0">
                <a:latin typeface="+mn-ea"/>
              </a:rPr>
              <a:t>“</a:t>
            </a:r>
            <a:r>
              <a:rPr lang="zh-CN" altLang="zh-CN" dirty="0">
                <a:latin typeface="+mn-ea"/>
              </a:rPr>
              <a:t>客户</a:t>
            </a:r>
            <a:r>
              <a:rPr lang="en-US" altLang="zh-CN" dirty="0">
                <a:latin typeface="+mn-ea"/>
              </a:rPr>
              <a:t>”</a:t>
            </a:r>
            <a:r>
              <a:rPr lang="zh-CN" altLang="zh-CN" dirty="0" smtClean="0"/>
              <a:t>系统</a:t>
            </a:r>
            <a:endParaRPr lang="en-US" altLang="zh-CN" dirty="0" smtClean="0"/>
          </a:p>
          <a:p>
            <a:pPr lvl="1"/>
            <a:r>
              <a:rPr lang="zh-CN" altLang="en-US" dirty="0"/>
              <a:t>是在应用程序的立场上，看到的机器</a:t>
            </a:r>
          </a:p>
          <a:p>
            <a:pPr lvl="1"/>
            <a:r>
              <a:rPr lang="zh-CN" altLang="en-US" dirty="0"/>
              <a:t>硬件都被虚拟化，窗口、文件、内存、键盘、鼠标、</a:t>
            </a:r>
            <a:r>
              <a:rPr lang="en-US" altLang="zh-CN" dirty="0" smtClean="0"/>
              <a:t>socket</a:t>
            </a:r>
            <a:endParaRPr lang="zh-CN" altLang="en-US" dirty="0"/>
          </a:p>
          <a:p>
            <a:pPr lvl="1"/>
            <a:r>
              <a:rPr lang="zh-CN" altLang="en-US" dirty="0"/>
              <a:t>统一的访问接口，不关心硬件</a:t>
            </a:r>
            <a:r>
              <a:rPr lang="zh-CN" altLang="en-US" dirty="0" smtClean="0"/>
              <a:t>型号</a:t>
            </a:r>
            <a:endParaRPr lang="zh-CN" altLang="en-US" dirty="0"/>
          </a:p>
          <a:p>
            <a:r>
              <a:rPr lang="zh-CN" altLang="en-US" dirty="0"/>
              <a:t>每当人们在计算机系统上覆盖了一层软件，系统功能便增强</a:t>
            </a:r>
            <a:r>
              <a:rPr lang="zh-CN" altLang="en-US" dirty="0" smtClean="0"/>
              <a:t>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935038" y="2820112"/>
            <a:ext cx="7219950" cy="1204957"/>
          </a:xfrm>
          <a:prstGeom prst="wedgeRoundRectCallout">
            <a:avLst>
              <a:gd name="adj1" fmla="val -19646"/>
              <a:gd name="adj2" fmla="val 91430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000" dirty="0" err="1" smtClean="0"/>
              <a:t>printf</a:t>
            </a:r>
            <a:r>
              <a:rPr lang="en-US" altLang="zh-CN" sz="2000" dirty="0"/>
              <a:t>()</a:t>
            </a:r>
            <a:r>
              <a:rPr lang="zh-CN" altLang="en-US" sz="2000" dirty="0"/>
              <a:t>、</a:t>
            </a:r>
            <a:r>
              <a:rPr lang="en-US" altLang="zh-CN" sz="2000" dirty="0"/>
              <a:t>read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调用了系统</a:t>
            </a:r>
            <a:r>
              <a:rPr lang="zh-CN" altLang="en-US" sz="2000" dirty="0"/>
              <a:t>提供的</a:t>
            </a:r>
            <a:r>
              <a:rPr lang="zh-CN" altLang="en-US" sz="2000" dirty="0" smtClean="0"/>
              <a:t>接口，系统须实现接口功能，没有现成的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()</a:t>
            </a:r>
            <a:r>
              <a:rPr lang="zh-CN" altLang="en-US" sz="2000" dirty="0"/>
              <a:t>、</a:t>
            </a:r>
            <a:r>
              <a:rPr lang="en-US" altLang="zh-CN" sz="2000" dirty="0"/>
              <a:t>read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供其调用</a:t>
            </a:r>
            <a:endParaRPr lang="en-US" altLang="zh-CN" sz="2000" dirty="0" smtClean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问题</a:t>
            </a:r>
            <a:r>
              <a:rPr lang="en-US" altLang="zh-CN" sz="2000" dirty="0" smtClean="0"/>
              <a:t>1.4</a:t>
            </a:r>
            <a:r>
              <a:rPr lang="zh-CN" altLang="en-US" sz="2000" dirty="0" smtClean="0"/>
              <a:t>：</a:t>
            </a:r>
            <a:r>
              <a:rPr lang="zh-CN" altLang="en-US" sz="2000" dirty="0"/>
              <a:t>但系统如何处置千奇百怪的硬件型号？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92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配置操作系统的主要目标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提供用户与计算机之间的</a:t>
            </a:r>
            <a:r>
              <a:rPr lang="zh-CN" altLang="en-US" dirty="0">
                <a:solidFill>
                  <a:srgbClr val="FF0000"/>
                </a:solidFill>
              </a:rPr>
              <a:t>接口</a:t>
            </a:r>
            <a:r>
              <a:rPr lang="zh-CN" altLang="en-US" dirty="0"/>
              <a:t>，使计算机更</a:t>
            </a:r>
            <a:r>
              <a:rPr lang="zh-CN" altLang="en-US" dirty="0">
                <a:solidFill>
                  <a:srgbClr val="FF0000"/>
                </a:solidFill>
              </a:rPr>
              <a:t>易于</a:t>
            </a:r>
            <a:r>
              <a:rPr lang="zh-CN" altLang="en-US" dirty="0" smtClean="0">
                <a:solidFill>
                  <a:srgbClr val="FF0000"/>
                </a:solidFill>
              </a:rPr>
              <a:t>使用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有效地</a:t>
            </a:r>
            <a:r>
              <a:rPr lang="zh-CN" altLang="en-US" dirty="0">
                <a:solidFill>
                  <a:srgbClr val="FF0000"/>
                </a:solidFill>
              </a:rPr>
              <a:t>控制和管理</a:t>
            </a:r>
            <a:r>
              <a:rPr lang="zh-CN" altLang="en-US" dirty="0"/>
              <a:t>计算机系统中的各种</a:t>
            </a:r>
            <a:r>
              <a:rPr lang="zh-CN" altLang="en-US" dirty="0">
                <a:solidFill>
                  <a:srgbClr val="FF0000"/>
                </a:solidFill>
              </a:rPr>
              <a:t>资源</a:t>
            </a:r>
            <a:r>
              <a:rPr lang="zh-CN" altLang="en-US" dirty="0"/>
              <a:t>，使之得到更</a:t>
            </a:r>
            <a:r>
              <a:rPr lang="zh-CN" altLang="en-US" dirty="0">
                <a:solidFill>
                  <a:srgbClr val="FF0000"/>
                </a:solidFill>
              </a:rPr>
              <a:t>有效的利用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合理地</a:t>
            </a:r>
            <a:r>
              <a:rPr lang="zh-CN" altLang="en-US" dirty="0">
                <a:solidFill>
                  <a:srgbClr val="FF0000"/>
                </a:solidFill>
              </a:rPr>
              <a:t>组织</a:t>
            </a:r>
            <a:r>
              <a:rPr lang="zh-CN" altLang="en-US" dirty="0"/>
              <a:t>计算机系统的</a:t>
            </a:r>
            <a:r>
              <a:rPr lang="zh-CN" altLang="en-US" dirty="0">
                <a:solidFill>
                  <a:srgbClr val="FF0000"/>
                </a:solidFill>
              </a:rPr>
              <a:t>工作流程</a:t>
            </a:r>
            <a:r>
              <a:rPr lang="zh-CN" altLang="en-US" dirty="0"/>
              <a:t>，以提高</a:t>
            </a:r>
            <a:r>
              <a:rPr lang="zh-CN" altLang="en-US" dirty="0">
                <a:solidFill>
                  <a:srgbClr val="FF0000"/>
                </a:solidFill>
              </a:rPr>
              <a:t>资源利用率</a:t>
            </a:r>
            <a:r>
              <a:rPr lang="zh-CN" altLang="en-US" dirty="0"/>
              <a:t>并改善系统</a:t>
            </a:r>
            <a:r>
              <a:rPr lang="zh-CN" altLang="en-US" dirty="0">
                <a:solidFill>
                  <a:srgbClr val="FF0000"/>
                </a:solidFill>
              </a:rPr>
              <a:t>性能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3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研究操作系统的两个观点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zh-CN" altLang="en-US" dirty="0">
                <a:solidFill>
                  <a:srgbClr val="FF0000"/>
                </a:solidFill>
              </a:rPr>
              <a:t>用户</a:t>
            </a:r>
            <a:r>
              <a:rPr lang="zh-CN" altLang="en-US" dirty="0"/>
              <a:t>观点看：操作系统是用户与计算机硬件之间的接口。为用户使用计算机提供</a:t>
            </a:r>
            <a:r>
              <a:rPr lang="zh-CN" altLang="en-US" dirty="0" smtClean="0"/>
              <a:t>服务</a:t>
            </a:r>
            <a:endParaRPr lang="zh-CN" altLang="en-US" dirty="0"/>
          </a:p>
          <a:p>
            <a:r>
              <a:rPr lang="zh-CN" altLang="en-US" dirty="0"/>
              <a:t>从</a:t>
            </a:r>
            <a:r>
              <a:rPr lang="zh-CN" altLang="en-US" dirty="0">
                <a:solidFill>
                  <a:srgbClr val="FF0000"/>
                </a:solidFill>
              </a:rPr>
              <a:t>资源管理</a:t>
            </a:r>
            <a:r>
              <a:rPr lang="zh-CN" altLang="en-US" dirty="0"/>
              <a:t>观点看：操作系统是计算机系统资源的管理</a:t>
            </a:r>
            <a:r>
              <a:rPr lang="zh-CN" altLang="en-US" dirty="0" smtClean="0"/>
              <a:t>者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116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目前没有一个关于操作系统的十分完整的定义</a:t>
            </a:r>
          </a:p>
          <a:p>
            <a:r>
              <a:rPr lang="zh-CN" altLang="en-US" dirty="0"/>
              <a:t>一个比较公认的定义是：操作系统是一直运行在计算机上的程序（通常称为内核）</a:t>
            </a:r>
          </a:p>
          <a:p>
            <a:r>
              <a:rPr lang="zh-CN" altLang="en-US" dirty="0"/>
              <a:t>操作系统是一组控制和管理计算机硬件和软件资源，合理地组织计算机工作流程，以及方便用户的程序的集合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000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</a:t>
            </a:r>
            <a:r>
              <a:rPr lang="zh-CN" altLang="en-US" dirty="0"/>
              <a:t>管理的计算机系统资源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操作系统管理的计算机系统软硬件资源包括：</a:t>
            </a:r>
          </a:p>
          <a:p>
            <a:pPr lvl="1"/>
            <a:r>
              <a:rPr lang="zh-CN" altLang="en-US" dirty="0"/>
              <a:t>处理机</a:t>
            </a:r>
          </a:p>
          <a:p>
            <a:pPr lvl="1"/>
            <a:r>
              <a:rPr lang="zh-CN" altLang="en-US" dirty="0"/>
              <a:t>存储器</a:t>
            </a:r>
          </a:p>
          <a:p>
            <a:pPr lvl="1"/>
            <a:r>
              <a:rPr lang="zh-CN" altLang="en-US" dirty="0" smtClean="0"/>
              <a:t>设备：</a:t>
            </a:r>
            <a:r>
              <a:rPr lang="zh-CN" altLang="zh-CN" dirty="0" smtClean="0"/>
              <a:t>指</a:t>
            </a:r>
            <a:r>
              <a:rPr lang="zh-CN" altLang="zh-CN" dirty="0"/>
              <a:t>外围设备，与主机（</a:t>
            </a:r>
            <a:r>
              <a:rPr lang="en-US" altLang="zh-CN" dirty="0"/>
              <a:t>CPU+</a:t>
            </a:r>
            <a:r>
              <a:rPr lang="zh-CN" altLang="zh-CN" dirty="0"/>
              <a:t>内存）对应</a:t>
            </a:r>
            <a:endParaRPr lang="zh-CN" altLang="en-US" dirty="0"/>
          </a:p>
          <a:p>
            <a:pPr lvl="1"/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98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资源的共享使用方式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资源的共享使用方式有：</a:t>
            </a:r>
          </a:p>
          <a:p>
            <a:pPr lvl="1"/>
            <a:r>
              <a:rPr lang="zh-CN" altLang="en-US" dirty="0"/>
              <a:t>时分复用：多个用户或程序轮流使用某个</a:t>
            </a:r>
            <a:r>
              <a:rPr lang="zh-CN" altLang="en-US" dirty="0" smtClean="0"/>
              <a:t>资源</a:t>
            </a:r>
            <a:endParaRPr lang="en-US" altLang="zh-CN" dirty="0" smtClean="0"/>
          </a:p>
          <a:p>
            <a:pPr lvl="2"/>
            <a:r>
              <a:rPr lang="zh-CN" altLang="en-US" dirty="0"/>
              <a:t>如单个</a:t>
            </a:r>
            <a:r>
              <a:rPr lang="en-US" altLang="zh-CN" dirty="0"/>
              <a:t>CPU</a:t>
            </a:r>
            <a:r>
              <a:rPr lang="zh-CN" altLang="en-US" dirty="0"/>
              <a:t>核、打印机</a:t>
            </a:r>
          </a:p>
          <a:p>
            <a:pPr lvl="1"/>
            <a:r>
              <a:rPr lang="zh-CN" altLang="en-US" dirty="0"/>
              <a:t>空分复用：多个用户或程序同时使用资源的</a:t>
            </a:r>
            <a:r>
              <a:rPr lang="zh-CN" altLang="en-US" dirty="0" smtClean="0"/>
              <a:t>一部分</a:t>
            </a:r>
            <a:endParaRPr lang="en-US" altLang="zh-CN" dirty="0" smtClean="0"/>
          </a:p>
          <a:p>
            <a:pPr lvl="2"/>
            <a:r>
              <a:rPr lang="zh-CN" altLang="zh-CN" dirty="0"/>
              <a:t>如内存、硬盘、多核</a:t>
            </a:r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41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章 导论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zh-CN" altLang="en-US" dirty="0" smtClean="0"/>
              <a:t>操作系统做什么</a:t>
            </a:r>
            <a:endParaRPr lang="zh-CN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计算机系统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zh-CN" altLang="en-US" dirty="0" smtClean="0"/>
              <a:t>历史发展与操作模式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zh-CN" altLang="en-US" dirty="0" smtClean="0"/>
              <a:t>资源管理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614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程序的执行：指令与寄存器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263730"/>
              </p:ext>
            </p:extLst>
          </p:nvPr>
        </p:nvGraphicFramePr>
        <p:xfrm>
          <a:off x="296168" y="1305669"/>
          <a:ext cx="3714752" cy="5256585"/>
        </p:xfrm>
        <a:graphic>
          <a:graphicData uri="http://schemas.openxmlformats.org/drawingml/2006/table">
            <a:tbl>
              <a:tblPr firstRow="1" bandRow="1"/>
              <a:tblGrid>
                <a:gridCol w="1214410"/>
                <a:gridCol w="1359797"/>
                <a:gridCol w="1140545"/>
              </a:tblGrid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Address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Content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Meaning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latin typeface="Consolas" panose="020B0609020204030204" pitchFamily="49" charset="0"/>
                        </a:rPr>
                        <a:t>11000000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latin typeface="Consolas" panose="020B0609020204030204" pitchFamily="49" charset="0"/>
                        </a:rPr>
                        <a:t>00000010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?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latin typeface="Consolas" panose="020B0609020204030204" pitchFamily="49" charset="0"/>
                        </a:rPr>
                        <a:t>11000001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latin typeface="Consolas" panose="020B0609020204030204" pitchFamily="49" charset="0"/>
                        </a:rPr>
                        <a:t>00001000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?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latin typeface="Consolas" panose="020B0609020204030204" pitchFamily="49" charset="0"/>
                        </a:rPr>
                        <a:t>11000010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latin typeface="Consolas" panose="020B0609020204030204" pitchFamily="49" charset="0"/>
                        </a:rPr>
                        <a:t>10101010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?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……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latin typeface="Consolas" panose="020B0609020204030204" pitchFamily="49" charset="0"/>
                        </a:rPr>
                        <a:t>……</a:t>
                      </a:r>
                      <a:endParaRPr lang="zh-CN" altLang="en-US" sz="1800" dirty="0" smtClean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11001100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11001101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11001110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11000000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11001111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11010000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11010001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11010010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00000100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11010011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00000001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11010100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00000010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5043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11010101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02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00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506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007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509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011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6513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015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11000010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39" marR="91439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435700" y="1907704"/>
            <a:ext cx="2000250" cy="2428875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b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CPU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5864325" y="1979141"/>
            <a:ext cx="1000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" name="组合 13"/>
          <p:cNvGrpSpPr>
            <a:grpSpLocks/>
          </p:cNvGrpSpPr>
          <p:nvPr/>
        </p:nvGrpSpPr>
        <p:grpSpPr bwMode="auto">
          <a:xfrm>
            <a:off x="2689044" y="3164950"/>
            <a:ext cx="3032405" cy="457254"/>
            <a:chOff x="2754020" y="3043181"/>
            <a:chExt cx="3032426" cy="457257"/>
          </a:xfrm>
        </p:grpSpPr>
        <p:cxnSp>
          <p:nvCxnSpPr>
            <p:cNvPr id="10" name="直接箭头连接符 9"/>
            <p:cNvCxnSpPr/>
            <p:nvPr/>
          </p:nvCxnSpPr>
          <p:spPr>
            <a:xfrm>
              <a:off x="2754020" y="3131129"/>
              <a:ext cx="3032426" cy="36930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sp>
          <p:nvSpPr>
            <p:cNvPr id="11" name="TextBox 12"/>
            <p:cNvSpPr txBox="1">
              <a:spLocks noChangeArrowheads="1"/>
            </p:cNvSpPr>
            <p:nvPr/>
          </p:nvSpPr>
          <p:spPr bwMode="auto">
            <a:xfrm>
              <a:off x="4057287" y="3043181"/>
              <a:ext cx="9286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① </a:t>
              </a:r>
              <a:r>
                <a:rPr kumimoji="0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fetch</a:t>
              </a:r>
              <a:endPara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矩形标注 11"/>
          <p:cNvSpPr/>
          <p:nvPr/>
        </p:nvSpPr>
        <p:spPr>
          <a:xfrm>
            <a:off x="2635350" y="4774729"/>
            <a:ext cx="5111750" cy="2016125"/>
          </a:xfrm>
          <a:prstGeom prst="wedgeRectCallout">
            <a:avLst>
              <a:gd name="adj1" fmla="val 16003"/>
              <a:gd name="adj2" fmla="val -82974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②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Interpret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00000001 represents "copy", which needs 2 parameters: source address and destination address, so the following 2 bytes store the parameters, and the full instruction is composed of 3 bytes (1 verb+2 objectives)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So the next instruction should be found at 11001100+ 3, i.e. 11001111, which is transferred to pc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" name="组合 20"/>
          <p:cNvGrpSpPr>
            <a:grpSpLocks/>
          </p:cNvGrpSpPr>
          <p:nvPr/>
        </p:nvGrpSpPr>
        <p:grpSpPr bwMode="auto">
          <a:xfrm>
            <a:off x="2689045" y="3411681"/>
            <a:ext cx="3032404" cy="641315"/>
            <a:chOff x="2754021" y="3289731"/>
            <a:chExt cx="3032425" cy="640909"/>
          </a:xfrm>
        </p:grpSpPr>
        <p:sp>
          <p:nvSpPr>
            <p:cNvPr id="14" name="左大括号 13"/>
            <p:cNvSpPr/>
            <p:nvPr/>
          </p:nvSpPr>
          <p:spPr>
            <a:xfrm flipH="1">
              <a:off x="2754021" y="3359502"/>
              <a:ext cx="142876" cy="571138"/>
            </a:xfrm>
            <a:prstGeom prst="leftBrac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V="1">
              <a:off x="3002747" y="3500120"/>
              <a:ext cx="2783699" cy="14278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sp>
          <p:nvSpPr>
            <p:cNvPr id="16" name="TextBox 19"/>
            <p:cNvSpPr txBox="1">
              <a:spLocks noChangeArrowheads="1"/>
            </p:cNvSpPr>
            <p:nvPr/>
          </p:nvSpPr>
          <p:spPr bwMode="auto">
            <a:xfrm>
              <a:off x="4065336" y="3289731"/>
              <a:ext cx="1289308" cy="523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③ </a:t>
              </a:r>
              <a:r>
                <a:rPr kumimoji="0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Read from Memory</a:t>
              </a:r>
              <a:endPara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矩形标注 16"/>
          <p:cNvSpPr/>
          <p:nvPr/>
        </p:nvSpPr>
        <p:spPr>
          <a:xfrm>
            <a:off x="4362550" y="4990629"/>
            <a:ext cx="4176712" cy="1571625"/>
          </a:xfrm>
          <a:prstGeom prst="wedgeRectCallout">
            <a:avLst>
              <a:gd name="adj1" fmla="val -14058"/>
              <a:gd name="adj2" fmla="val -105968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④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full instruction is formed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00000001	00000001, 11000000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According to the specification of the instruction 00000001, the former parameter represents ax, the latter one represents a memory address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35762" y="2979266"/>
            <a:ext cx="1143000" cy="28575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</a:rPr>
              <a:t>00000010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" name="TextBox 23"/>
          <p:cNvSpPr txBox="1">
            <a:spLocks noChangeArrowheads="1"/>
          </p:cNvSpPr>
          <p:nvPr/>
        </p:nvSpPr>
        <p:spPr bwMode="auto">
          <a:xfrm>
            <a:off x="5864325" y="2671291"/>
            <a:ext cx="1000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ax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35762" y="2264891"/>
            <a:ext cx="1143000" cy="28575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110011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935762" y="3693641"/>
            <a:ext cx="1143000" cy="28575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TextBox 25"/>
          <p:cNvSpPr txBox="1">
            <a:spLocks noChangeArrowheads="1"/>
          </p:cNvSpPr>
          <p:nvPr/>
        </p:nvSpPr>
        <p:spPr bwMode="auto">
          <a:xfrm>
            <a:off x="5864325" y="3385666"/>
            <a:ext cx="1000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bx</a:t>
            </a:r>
            <a:r>
              <a:rPr kumimoji="0" lang="zh-CN" altLang="en-US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Reg</a:t>
            </a: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组合 32"/>
          <p:cNvGrpSpPr>
            <a:grpSpLocks/>
          </p:cNvGrpSpPr>
          <p:nvPr/>
        </p:nvGrpSpPr>
        <p:grpSpPr bwMode="auto">
          <a:xfrm>
            <a:off x="7078762" y="2407766"/>
            <a:ext cx="1216025" cy="4144963"/>
            <a:chOff x="7143768" y="2285992"/>
            <a:chExt cx="1215240" cy="4144992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7786291" y="6429396"/>
              <a:ext cx="571131" cy="1588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5" name="直接连接符 24"/>
            <p:cNvCxnSpPr/>
            <p:nvPr/>
          </p:nvCxnSpPr>
          <p:spPr>
            <a:xfrm rot="5400000" flipH="1" flipV="1">
              <a:off x="6287307" y="4357695"/>
              <a:ext cx="4141816" cy="1586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>
            <a:xfrm rot="10800000">
              <a:off x="7143768" y="2285992"/>
              <a:ext cx="1213654" cy="1588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</p:grpSp>
      <p:sp>
        <p:nvSpPr>
          <p:cNvPr id="27" name="矩形 26"/>
          <p:cNvSpPr/>
          <p:nvPr/>
        </p:nvSpPr>
        <p:spPr>
          <a:xfrm>
            <a:off x="5935762" y="2264891"/>
            <a:ext cx="1143000" cy="28575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</a:rPr>
              <a:t>11001100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8" name="矩形标注 27"/>
          <p:cNvSpPr/>
          <p:nvPr/>
        </p:nvSpPr>
        <p:spPr>
          <a:xfrm>
            <a:off x="5815081" y="1187268"/>
            <a:ext cx="1965386" cy="614683"/>
          </a:xfrm>
          <a:prstGeom prst="wedgeRectCallout">
            <a:avLst>
              <a:gd name="adj1" fmla="val 219"/>
              <a:gd name="adj2" fmla="val 113341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Find next instruction from this address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9" name="矩形标注 28"/>
          <p:cNvSpPr/>
          <p:nvPr/>
        </p:nvSpPr>
        <p:spPr>
          <a:xfrm>
            <a:off x="5154712" y="4774729"/>
            <a:ext cx="3286125" cy="785812"/>
          </a:xfrm>
          <a:prstGeom prst="wedgeRectCallout">
            <a:avLst>
              <a:gd name="adj1" fmla="val -16195"/>
              <a:gd name="adj2" fmla="val -134564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⑤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execute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Copy the byte from the address 11000000 to ax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649637" y="1855475"/>
            <a:ext cx="3286125" cy="112379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31" name="矩形 30"/>
          <p:cNvSpPr/>
          <p:nvPr/>
        </p:nvSpPr>
        <p:spPr>
          <a:xfrm>
            <a:off x="5935762" y="2977788"/>
            <a:ext cx="1143000" cy="28575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TextBox 38"/>
          <p:cNvSpPr txBox="1"/>
          <p:nvPr/>
        </p:nvSpPr>
        <p:spPr>
          <a:xfrm>
            <a:off x="3354487" y="4630266"/>
            <a:ext cx="5400675" cy="2062163"/>
          </a:xfrm>
          <a:prstGeom prst="rect">
            <a:avLst/>
          </a:prstGeom>
          <a:solidFill>
            <a:sysClr val="window" lastClr="FFFFFF"/>
          </a:solidFill>
          <a:ln w="3175">
            <a:solidFill>
              <a:sysClr val="windowText" lastClr="000000"/>
            </a:solidFill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Next: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Fetch the 2nd instruction: 00000001, which has 2 parameters, so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1) The 3rd instruction is stored at 11001111+3, i.e. 11010010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2) The full instruction is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00000001	00000010, 11000001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After execution, the number in address 11000001 is copied to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bx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2689044" y="2201470"/>
            <a:ext cx="3246718" cy="149217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34" name="矩形 33"/>
          <p:cNvSpPr/>
          <p:nvPr/>
        </p:nvSpPr>
        <p:spPr>
          <a:xfrm>
            <a:off x="5935762" y="3693641"/>
            <a:ext cx="1143000" cy="285750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</a:rPr>
              <a:t>00001000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TextBox 42"/>
          <p:cNvSpPr txBox="1"/>
          <p:nvPr/>
        </p:nvSpPr>
        <p:spPr>
          <a:xfrm>
            <a:off x="3354487" y="4630266"/>
            <a:ext cx="5473700" cy="2062163"/>
          </a:xfrm>
          <a:prstGeom prst="rect">
            <a:avLst/>
          </a:prstGeom>
          <a:solidFill>
            <a:sysClr val="window" lastClr="FFFFFF"/>
          </a:solidFill>
          <a:ln w="3175">
            <a:solidFill>
              <a:sysClr val="windowText" lastClr="000000"/>
            </a:solidFill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Next: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Fetch the 3rd instruction: 00000100, which is an ADD instruction and should have 3 parameters, so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1) The 4th instruction is stored at 11010010+4, i.e. 11010110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2) The full instruction is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00000100	00000001, 00000010, 11000010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After execution, the numbers in ax and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bx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</a:rPr>
              <a:t> are sent to ALU for calculation, and the result is sent to memory address 11000010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</a:endParaRPr>
          </a:p>
        </p:txBody>
      </p:sp>
      <p:sp>
        <p:nvSpPr>
          <p:cNvPr id="36" name="TextBox 45"/>
          <p:cNvSpPr txBox="1"/>
          <p:nvPr/>
        </p:nvSpPr>
        <p:spPr>
          <a:xfrm>
            <a:off x="1582043" y="2370251"/>
            <a:ext cx="1276766" cy="31892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36000" tIns="36000" rIns="36000" bIns="360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charset="-122"/>
              </a:rPr>
              <a:t>00001010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charset="-122"/>
            </a:endParaRPr>
          </a:p>
        </p:txBody>
      </p:sp>
      <p:cxnSp>
        <p:nvCxnSpPr>
          <p:cNvPr id="37" name="直接箭头连接符 36"/>
          <p:cNvCxnSpPr>
            <a:stCxn id="7" idx="1"/>
          </p:cNvCxnSpPr>
          <p:nvPr/>
        </p:nvCxnSpPr>
        <p:spPr>
          <a:xfrm flipH="1" flipV="1">
            <a:off x="2687457" y="2536327"/>
            <a:ext cx="2748243" cy="58581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1341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3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7" grpId="0" animBg="1"/>
      <p:bldP spid="17" grpId="1" animBg="1"/>
      <p:bldP spid="18" grpId="0" animBg="1"/>
      <p:bldP spid="20" grpId="0" animBg="1"/>
      <p:bldP spid="21" grpId="0" animBg="1"/>
      <p:bldP spid="27" grpId="0" animBg="1"/>
      <p:bldP spid="28" grpId="0" animBg="1"/>
      <p:bldP spid="28" grpId="1" animBg="1"/>
      <p:bldP spid="28" grpId="2" animBg="1"/>
      <p:bldP spid="28" grpId="3" animBg="1"/>
      <p:bldP spid="29" grpId="0" animBg="1"/>
      <p:bldP spid="29" grpId="1" animBg="1"/>
      <p:bldP spid="31" grpId="0" animBg="1"/>
      <p:bldP spid="32" grpId="0" animBg="1"/>
      <p:bldP spid="32" grpId="1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通电时</a:t>
            </a:r>
          </a:p>
          <a:p>
            <a:pPr lvl="1"/>
            <a:r>
              <a:rPr lang="zh-CN" altLang="en-US" dirty="0"/>
              <a:t>内存包含</a:t>
            </a:r>
            <a:r>
              <a:rPr lang="en-US" altLang="zh-CN" dirty="0"/>
              <a:t>RAM</a:t>
            </a:r>
            <a:r>
              <a:rPr lang="zh-CN" altLang="en-US" dirty="0"/>
              <a:t>和</a:t>
            </a:r>
            <a:r>
              <a:rPr lang="en-US" altLang="zh-CN" dirty="0"/>
              <a:t>ROM</a:t>
            </a:r>
            <a:r>
              <a:rPr lang="zh-CN" altLang="en-US" dirty="0"/>
              <a:t>，</a:t>
            </a:r>
            <a:r>
              <a:rPr lang="en-US" altLang="zh-CN" dirty="0"/>
              <a:t>RAM</a:t>
            </a:r>
            <a:r>
              <a:rPr lang="zh-CN" altLang="en-US" dirty="0"/>
              <a:t>此时空白，初始程序保存在主板的一片</a:t>
            </a:r>
            <a:r>
              <a:rPr lang="en-US" altLang="zh-CN" dirty="0"/>
              <a:t>ROM</a:t>
            </a:r>
            <a:r>
              <a:rPr lang="zh-CN" altLang="en-US" dirty="0"/>
              <a:t>中</a:t>
            </a:r>
          </a:p>
          <a:p>
            <a:pPr lvl="1"/>
            <a:r>
              <a:rPr lang="zh-CN" altLang="en-US" dirty="0"/>
              <a:t>事先约定</a:t>
            </a:r>
          </a:p>
          <a:p>
            <a:pPr lvl="2"/>
            <a:r>
              <a:rPr lang="en-US" altLang="zh-CN" dirty="0"/>
              <a:t>CPU</a:t>
            </a:r>
            <a:r>
              <a:rPr lang="zh-CN" altLang="en-US" dirty="0"/>
              <a:t>通电后立即跳转至特定地址</a:t>
            </a:r>
            <a:r>
              <a:rPr lang="en-US" altLang="zh-CN" dirty="0"/>
              <a:t>A</a:t>
            </a:r>
            <a:r>
              <a:rPr lang="zh-CN" altLang="en-US" dirty="0"/>
              <a:t>执行程序</a:t>
            </a:r>
          </a:p>
          <a:p>
            <a:pPr lvl="2"/>
            <a:r>
              <a:rPr lang="en-US" altLang="zh-CN" dirty="0"/>
              <a:t>A</a:t>
            </a:r>
            <a:r>
              <a:rPr lang="zh-CN" altLang="en-US" dirty="0"/>
              <a:t>落在</a:t>
            </a:r>
            <a:r>
              <a:rPr lang="en-US" altLang="zh-CN" dirty="0"/>
              <a:t>ROM</a:t>
            </a:r>
            <a:r>
              <a:rPr lang="zh-CN" altLang="en-US" dirty="0"/>
              <a:t>的地址范围内</a:t>
            </a:r>
          </a:p>
          <a:p>
            <a:pPr lvl="2"/>
            <a:r>
              <a:rPr lang="en-US" altLang="zh-CN" dirty="0"/>
              <a:t>ROM</a:t>
            </a:r>
            <a:r>
              <a:rPr lang="zh-CN" altLang="en-US" dirty="0"/>
              <a:t>中的程序，确保其入口地址恰好出现在地址</a:t>
            </a:r>
            <a:r>
              <a:rPr lang="en-US" altLang="zh-CN" dirty="0"/>
              <a:t>A</a:t>
            </a:r>
          </a:p>
          <a:p>
            <a:pPr lvl="1"/>
            <a:r>
              <a:rPr lang="zh-CN" altLang="en-US" dirty="0"/>
              <a:t>通电后，</a:t>
            </a:r>
            <a:r>
              <a:rPr lang="en-US" altLang="zh-CN" dirty="0"/>
              <a:t>CPU</a:t>
            </a:r>
            <a:r>
              <a:rPr lang="zh-CN" altLang="en-US" dirty="0"/>
              <a:t>将自动执行</a:t>
            </a:r>
            <a:r>
              <a:rPr lang="en-US" altLang="zh-CN" dirty="0"/>
              <a:t>ROM</a:t>
            </a:r>
            <a:r>
              <a:rPr lang="zh-CN" altLang="en-US" dirty="0"/>
              <a:t>中的初始程序，称为</a:t>
            </a:r>
            <a:r>
              <a:rPr lang="en-US" altLang="zh-CN" dirty="0"/>
              <a:t>BIOS/UEFI</a:t>
            </a:r>
          </a:p>
          <a:p>
            <a:pPr lvl="1"/>
            <a:r>
              <a:rPr lang="zh-CN" altLang="en-US" dirty="0"/>
              <a:t>有兴趣自学：</a:t>
            </a:r>
            <a:r>
              <a:rPr lang="en-US" altLang="zh-CN" dirty="0"/>
              <a:t>BIOS</a:t>
            </a:r>
            <a:r>
              <a:rPr lang="zh-CN" altLang="en-US" dirty="0"/>
              <a:t>影子内存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94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计算机启动过程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BIOS</a:t>
            </a:r>
          </a:p>
          <a:p>
            <a:pPr lvl="1"/>
            <a:r>
              <a:rPr lang="zh-CN" altLang="en-US" dirty="0"/>
              <a:t>首先执行通电自检，</a:t>
            </a:r>
            <a:r>
              <a:rPr lang="en-US" altLang="zh-CN" dirty="0"/>
              <a:t>POST</a:t>
            </a:r>
            <a:r>
              <a:rPr lang="zh-CN" altLang="en-US" dirty="0"/>
              <a:t>，不通过则蜂鸣</a:t>
            </a:r>
          </a:p>
          <a:p>
            <a:pPr lvl="1"/>
            <a:r>
              <a:rPr lang="zh-CN" altLang="en-US" dirty="0"/>
              <a:t>从硬盘读取第一个盘块进入</a:t>
            </a:r>
            <a:r>
              <a:rPr lang="en-US" altLang="zh-CN" dirty="0"/>
              <a:t>RAM</a:t>
            </a:r>
            <a:r>
              <a:rPr lang="zh-CN" altLang="en-US" dirty="0"/>
              <a:t>，此时尚无文件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en-US" altLang="zh-CN" dirty="0" smtClean="0"/>
              <a:t>OS</a:t>
            </a:r>
            <a:r>
              <a:rPr lang="zh-CN" altLang="en-US" dirty="0" smtClean="0"/>
              <a:t>引导</a:t>
            </a:r>
            <a:endParaRPr lang="zh-CN" altLang="en-US" dirty="0"/>
          </a:p>
          <a:p>
            <a:pPr lvl="1"/>
            <a:r>
              <a:rPr lang="zh-CN" altLang="en-US" dirty="0"/>
              <a:t>第一个盘块中包含引导</a:t>
            </a:r>
            <a:r>
              <a:rPr lang="en-US" altLang="zh-CN" dirty="0"/>
              <a:t>OS</a:t>
            </a:r>
            <a:r>
              <a:rPr lang="zh-CN" altLang="en-US" dirty="0"/>
              <a:t>的程序，执行导致更多盘块读入</a:t>
            </a:r>
            <a:r>
              <a:rPr lang="en-US" altLang="zh-CN" dirty="0"/>
              <a:t>RAM</a:t>
            </a:r>
            <a:r>
              <a:rPr lang="zh-CN" altLang="en-US" dirty="0"/>
              <a:t>，</a:t>
            </a:r>
            <a:r>
              <a:rPr lang="en-US" altLang="zh-CN" dirty="0"/>
              <a:t>OS</a:t>
            </a:r>
            <a:r>
              <a:rPr lang="zh-CN" altLang="en-US" dirty="0"/>
              <a:t>逐步启动</a:t>
            </a:r>
          </a:p>
          <a:p>
            <a:pPr lvl="2"/>
            <a:r>
              <a:rPr lang="zh-CN" altLang="en-US" dirty="0" smtClean="0"/>
              <a:t>自此</a:t>
            </a:r>
            <a:r>
              <a:rPr lang="en-US" altLang="zh-CN" dirty="0" smtClean="0"/>
              <a:t>BIOS</a:t>
            </a:r>
            <a:r>
              <a:rPr lang="zh-CN" altLang="en-US" dirty="0" smtClean="0"/>
              <a:t>退出舞台，</a:t>
            </a:r>
            <a:r>
              <a:rPr lang="en-US" altLang="zh-CN" dirty="0" smtClean="0"/>
              <a:t>OS</a:t>
            </a:r>
            <a:r>
              <a:rPr lang="zh-CN" altLang="en-US" dirty="0" smtClean="0"/>
              <a:t>接管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第一</a:t>
            </a:r>
            <a:r>
              <a:rPr lang="zh-CN" altLang="en-US" dirty="0"/>
              <a:t>个盘块为何会有引导程序？安装系统时写入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987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55757" y="1676400"/>
            <a:ext cx="4192418" cy="4337051"/>
            <a:chOff x="255757" y="2019300"/>
            <a:chExt cx="4192418" cy="4337051"/>
          </a:xfrm>
        </p:grpSpPr>
        <p:sp>
          <p:nvSpPr>
            <p:cNvPr id="7" name="矩形 6"/>
            <p:cNvSpPr/>
            <p:nvPr/>
          </p:nvSpPr>
          <p:spPr>
            <a:xfrm>
              <a:off x="481011" y="3202003"/>
              <a:ext cx="968721" cy="150334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zh-CN" dirty="0" smtClean="0">
                  <a:solidFill>
                    <a:sysClr val="windowText" lastClr="000000"/>
                  </a:solidFill>
                </a:rPr>
                <a:t>CPU</a:t>
              </a:r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200275" y="2019300"/>
              <a:ext cx="1743075" cy="433705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08183" y="3660239"/>
              <a:ext cx="714375" cy="2952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ysClr val="windowText" lastClr="000000"/>
                  </a:solidFill>
                </a:rPr>
                <a:t>IDTR</a:t>
              </a:r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08183" y="4182794"/>
              <a:ext cx="714375" cy="2952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ysClr val="windowText" lastClr="000000"/>
                  </a:solidFill>
                </a:rPr>
                <a:t>PC</a:t>
              </a:r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200275" y="2781300"/>
              <a:ext cx="1743075" cy="2302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200275" y="3011503"/>
              <a:ext cx="1743075" cy="2302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200275" y="3241706"/>
              <a:ext cx="1743075" cy="5389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ysClr val="windowText" lastClr="000000"/>
                  </a:solidFill>
                </a:rPr>
                <a:t>…</a:t>
              </a:r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200275" y="3781425"/>
              <a:ext cx="1743075" cy="2302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200275" y="2152650"/>
              <a:ext cx="1743075" cy="342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solidFill>
                    <a:sysClr val="windowText" lastClr="000000"/>
                  </a:solidFill>
                </a:rPr>
                <a:t>中断服务程序</a:t>
              </a:r>
              <a:r>
                <a:rPr lang="en-US" altLang="zh-CN" sz="1600" dirty="0" smtClean="0">
                  <a:solidFill>
                    <a:sysClr val="windowText" lastClr="000000"/>
                  </a:solidFill>
                </a:rPr>
                <a:t>0</a:t>
              </a:r>
              <a:endParaRPr lang="zh-CN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200275" y="4314055"/>
              <a:ext cx="1743075" cy="22937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solidFill>
                    <a:sysClr val="windowText" lastClr="000000"/>
                  </a:solidFill>
                </a:rPr>
                <a:t>中断服务程序</a:t>
              </a:r>
              <a:r>
                <a:rPr lang="en-US" altLang="zh-CN" sz="1600" dirty="0" smtClean="0">
                  <a:solidFill>
                    <a:sysClr val="windowText" lastClr="000000"/>
                  </a:solidFill>
                </a:rPr>
                <a:t>n</a:t>
              </a:r>
              <a:endParaRPr lang="zh-CN" altLang="en-US" sz="16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200275" y="5753099"/>
              <a:ext cx="1743075" cy="46672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solidFill>
                    <a:sysClr val="windowText" lastClr="000000"/>
                  </a:solidFill>
                </a:rPr>
                <a:t>中断服务程序</a:t>
              </a:r>
              <a:r>
                <a:rPr lang="en-US" altLang="zh-CN" sz="1600" dirty="0" smtClean="0">
                  <a:solidFill>
                    <a:sysClr val="windowText" lastClr="000000"/>
                  </a:solidFill>
                </a:rPr>
                <a:t>1</a:t>
              </a:r>
              <a:endParaRPr lang="zh-CN" altLang="en-US" sz="1600" dirty="0"/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3714750" y="2886075"/>
              <a:ext cx="7334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4448175" y="2152650"/>
              <a:ext cx="0" cy="73342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H="1">
              <a:off x="3943350" y="2152650"/>
              <a:ext cx="5048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714750" y="3124200"/>
              <a:ext cx="7334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V="1">
              <a:off x="4448175" y="3124201"/>
              <a:ext cx="0" cy="26281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3943350" y="5752329"/>
              <a:ext cx="5048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714750" y="3905250"/>
              <a:ext cx="5524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4267200" y="3905250"/>
              <a:ext cx="0" cy="4088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H="1">
              <a:off x="3943351" y="4314055"/>
              <a:ext cx="3238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2200275" y="4838700"/>
              <a:ext cx="1743075" cy="5238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270297" y="2734480"/>
              <a:ext cx="40957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中断向量表</a:t>
              </a:r>
              <a:endParaRPr lang="zh-CN" altLang="en-US" sz="1600" dirty="0"/>
            </a:p>
          </p:txBody>
        </p:sp>
        <p:cxnSp>
          <p:nvCxnSpPr>
            <p:cNvPr id="29" name="直接箭头连接符 28"/>
            <p:cNvCxnSpPr>
              <a:stCxn id="9" idx="3"/>
            </p:cNvCxnSpPr>
            <p:nvPr/>
          </p:nvCxnSpPr>
          <p:spPr>
            <a:xfrm flipV="1">
              <a:off x="1322558" y="2779415"/>
              <a:ext cx="877716" cy="1028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0" idx="3"/>
            </p:cNvCxnSpPr>
            <p:nvPr/>
          </p:nvCxnSpPr>
          <p:spPr>
            <a:xfrm>
              <a:off x="1322558" y="4330432"/>
              <a:ext cx="877716" cy="677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255757" y="5126806"/>
              <a:ext cx="1419225" cy="3619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solidFill>
                    <a:sysClr val="windowText" lastClr="000000"/>
                  </a:solidFill>
                </a:rPr>
                <a:t>中断管理芯片</a:t>
              </a:r>
              <a:endParaRPr lang="zh-CN" altLang="en-US" sz="16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2" name="直接箭头连接符 31"/>
            <p:cNvCxnSpPr>
              <a:stCxn id="31" idx="0"/>
              <a:endCxn id="7" idx="2"/>
            </p:cNvCxnSpPr>
            <p:nvPr/>
          </p:nvCxnSpPr>
          <p:spPr>
            <a:xfrm flipV="1">
              <a:off x="965370" y="4705350"/>
              <a:ext cx="2" cy="42145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流程图: 磁盘 32"/>
            <p:cNvSpPr/>
            <p:nvPr/>
          </p:nvSpPr>
          <p:spPr>
            <a:xfrm>
              <a:off x="255757" y="5886450"/>
              <a:ext cx="591968" cy="333374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solidFill>
                    <a:sysClr val="windowText" lastClr="000000"/>
                  </a:solidFill>
                </a:rPr>
                <a:t>外设</a:t>
              </a:r>
              <a:endParaRPr lang="zh-CN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流程图: 磁盘 33"/>
            <p:cNvSpPr/>
            <p:nvPr/>
          </p:nvSpPr>
          <p:spPr>
            <a:xfrm>
              <a:off x="1378998" y="5886450"/>
              <a:ext cx="591968" cy="333374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solidFill>
                    <a:sysClr val="windowText" lastClr="000000"/>
                  </a:solidFill>
                </a:rPr>
                <a:t>外设</a:t>
              </a:r>
              <a:endParaRPr lang="zh-CN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50496" y="5817184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…</a:t>
              </a:r>
              <a:endParaRPr lang="zh-CN" altLang="en-US" dirty="0"/>
            </a:p>
          </p:txBody>
        </p:sp>
        <p:cxnSp>
          <p:nvCxnSpPr>
            <p:cNvPr id="36" name="直接连接符 35"/>
            <p:cNvCxnSpPr>
              <a:stCxn id="33" idx="1"/>
            </p:cNvCxnSpPr>
            <p:nvPr/>
          </p:nvCxnSpPr>
          <p:spPr>
            <a:xfrm flipV="1">
              <a:off x="551741" y="5488756"/>
              <a:ext cx="0" cy="3976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34" idx="1"/>
            </p:cNvCxnSpPr>
            <p:nvPr/>
          </p:nvCxnSpPr>
          <p:spPr>
            <a:xfrm flipH="1" flipV="1">
              <a:off x="1449732" y="5488756"/>
              <a:ext cx="225250" cy="3976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4772024" y="2363726"/>
            <a:ext cx="4114798" cy="3110558"/>
            <a:chOff x="4810125" y="2101245"/>
            <a:chExt cx="4114798" cy="3110558"/>
          </a:xfrm>
        </p:grpSpPr>
        <p:sp>
          <p:nvSpPr>
            <p:cNvPr id="39" name="文本框 38"/>
            <p:cNvSpPr txBox="1"/>
            <p:nvPr/>
          </p:nvSpPr>
          <p:spPr>
            <a:xfrm>
              <a:off x="4810125" y="2864070"/>
              <a:ext cx="10096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CPU</a:t>
              </a:r>
              <a:r>
                <a:rPr lang="zh-CN" altLang="en-US" sz="1600" dirty="0" smtClean="0"/>
                <a:t>正在执行某灰色程序</a:t>
              </a:r>
              <a:endParaRPr lang="zh-CN" altLang="en-US" sz="1600" dirty="0"/>
            </a:p>
          </p:txBody>
        </p:sp>
        <p:cxnSp>
          <p:nvCxnSpPr>
            <p:cNvPr id="40" name="直接箭头连接符 39"/>
            <p:cNvCxnSpPr/>
            <p:nvPr/>
          </p:nvCxnSpPr>
          <p:spPr>
            <a:xfrm>
              <a:off x="5819774" y="3312132"/>
              <a:ext cx="0" cy="8162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5819774" y="4367669"/>
              <a:ext cx="0" cy="8162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4972049" y="3807876"/>
              <a:ext cx="8477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某</a:t>
              </a:r>
              <a:r>
                <a:rPr lang="zh-CN" altLang="en-US" sz="1600" dirty="0" smtClean="0"/>
                <a:t>外设触发中断信号</a:t>
              </a:r>
              <a:endParaRPr lang="zh-CN" altLang="en-US" sz="1600" dirty="0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8077199" y="3293646"/>
              <a:ext cx="0" cy="18902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8077198" y="2737223"/>
              <a:ext cx="8477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中断服务程序</a:t>
              </a:r>
              <a:endParaRPr lang="zh-CN" altLang="en-US" sz="1600" dirty="0"/>
            </a:p>
          </p:txBody>
        </p:sp>
        <p:cxnSp>
          <p:nvCxnSpPr>
            <p:cNvPr id="45" name="直接箭头连接符 44"/>
            <p:cNvCxnSpPr/>
            <p:nvPr/>
          </p:nvCxnSpPr>
          <p:spPr>
            <a:xfrm flipV="1">
              <a:off x="5819774" y="3293646"/>
              <a:ext cx="2257424" cy="834699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6076947" y="2101245"/>
              <a:ext cx="174307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/>
                <a:t>1</a:t>
              </a:r>
              <a:r>
                <a:rPr lang="zh-CN" altLang="en-US" sz="1600" dirty="0" smtClean="0"/>
                <a:t>）保护现场</a:t>
              </a:r>
              <a:endParaRPr lang="en-US" altLang="zh-CN" sz="1600" dirty="0" smtClean="0"/>
            </a:p>
            <a:p>
              <a:r>
                <a:rPr lang="en-US" altLang="zh-CN" sz="1600" dirty="0" smtClean="0"/>
                <a:t>2</a:t>
              </a:r>
              <a:r>
                <a:rPr lang="zh-CN" altLang="en-US" sz="1600" dirty="0" smtClean="0"/>
                <a:t>）向管理芯片询问中断号</a:t>
              </a:r>
              <a:endParaRPr lang="en-US" altLang="zh-CN" sz="1600" dirty="0" smtClean="0"/>
            </a:p>
            <a:p>
              <a:r>
                <a:rPr lang="en-US" altLang="zh-CN" sz="1600" dirty="0" smtClean="0"/>
                <a:t>3</a:t>
              </a:r>
              <a:r>
                <a:rPr lang="zh-CN" altLang="en-US" sz="1600" dirty="0" smtClean="0"/>
                <a:t>）查表，得服务程序起始地址</a:t>
              </a:r>
              <a:endParaRPr lang="en-US" altLang="zh-CN" sz="1600" dirty="0" smtClean="0"/>
            </a:p>
            <a:p>
              <a:r>
                <a:rPr lang="en-US" altLang="zh-CN" sz="1600" dirty="0" smtClean="0"/>
                <a:t>4</a:t>
              </a:r>
              <a:r>
                <a:rPr lang="zh-CN" altLang="en-US" sz="1600" dirty="0" smtClean="0"/>
                <a:t>）跳转执行</a:t>
              </a:r>
              <a:endParaRPr lang="zh-CN" altLang="en-US" sz="1600" dirty="0"/>
            </a:p>
          </p:txBody>
        </p:sp>
        <p:cxnSp>
          <p:nvCxnSpPr>
            <p:cNvPr id="47" name="直接箭头连接符 46"/>
            <p:cNvCxnSpPr/>
            <p:nvPr/>
          </p:nvCxnSpPr>
          <p:spPr>
            <a:xfrm flipH="1" flipV="1">
              <a:off x="5819773" y="4367669"/>
              <a:ext cx="2257425" cy="816214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6353175" y="4873249"/>
              <a:ext cx="14668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 smtClean="0"/>
                <a:t>恢复现场</a:t>
              </a:r>
              <a:endParaRPr lang="en-US" altLang="zh-CN" sz="1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33873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类中断机制：异常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故障（</a:t>
            </a:r>
            <a:r>
              <a:rPr lang="en-US" altLang="zh-CN" dirty="0" smtClean="0"/>
              <a:t>Fault</a:t>
            </a:r>
            <a:r>
              <a:rPr lang="zh-CN" altLang="en-US" dirty="0" smtClean="0"/>
              <a:t>）：可恢复的错误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处理程序修复错误，然后恢复执行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终止（</a:t>
            </a:r>
            <a:r>
              <a:rPr lang="en-US" altLang="zh-CN" dirty="0" smtClean="0"/>
              <a:t>Abort</a:t>
            </a:r>
            <a:r>
              <a:rPr lang="zh-CN" altLang="en-US" dirty="0" smtClean="0"/>
              <a:t>）：严重错误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处理程序办后事，结束进程，或显示蓝屏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陷阱（</a:t>
            </a:r>
            <a:r>
              <a:rPr lang="en-US" altLang="zh-CN" dirty="0" smtClean="0"/>
              <a:t>Trap</a:t>
            </a:r>
            <a:r>
              <a:rPr lang="zh-CN" altLang="en-US" dirty="0" smtClean="0"/>
              <a:t>）：特殊的指令</a:t>
            </a:r>
            <a:endParaRPr lang="en-US" altLang="zh-CN" dirty="0"/>
          </a:p>
          <a:p>
            <a:pPr lvl="2"/>
            <a:r>
              <a:rPr lang="zh-CN" altLang="en-US" dirty="0" smtClean="0"/>
              <a:t>程序员在程序中安插陷阱指令，触发处理程序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对比函数调用：调用时不需知道程序地址，只需了解功能编号，晦涩，慢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典型用途：调试断点、系统调用（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syscall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ecall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308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void main() {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a, b;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…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f1(a, b);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void f1(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m, 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n) {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c, d;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…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f2(c, n);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void f2(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x, 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y) {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latin typeface="Consolas" panose="020B0609020204030204" pitchFamily="49" charset="0"/>
              </a:rPr>
              <a:t> e, f;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>
                <a:latin typeface="Consolas" panose="020B0609020204030204" pitchFamily="49" charset="0"/>
              </a:rPr>
              <a:t>	…</a:t>
            </a:r>
            <a:endParaRPr lang="zh-CN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42925" algn="l"/>
              </a:tabLst>
            </a:pPr>
            <a:r>
              <a:rPr lang="en-US" altLang="zh-CN" sz="1800" dirty="0" smtClean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39" name="文本框 34"/>
          <p:cNvSpPr txBox="1"/>
          <p:nvPr/>
        </p:nvSpPr>
        <p:spPr>
          <a:xfrm>
            <a:off x="5775000" y="1537496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sz="1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2"/>
          <p:cNvSpPr txBox="1"/>
          <p:nvPr/>
        </p:nvSpPr>
        <p:spPr>
          <a:xfrm>
            <a:off x="5775000" y="1812379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5775000" y="2080224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f1()</a:t>
            </a:r>
            <a:r>
              <a:rPr lang="zh-CN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5775000" y="2354641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 (</a:t>
            </a:r>
            <a:r>
              <a:rPr lang="en-US" sz="1400" dirty="0" err="1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Vn</a:t>
            </a: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文本框 2"/>
          <p:cNvSpPr txBox="1"/>
          <p:nvPr/>
        </p:nvSpPr>
        <p:spPr>
          <a:xfrm>
            <a:off x="5775000" y="2626040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 (</a:t>
            </a:r>
            <a:r>
              <a:rPr lang="en-US" sz="1400" dirty="0" err="1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Vc</a:t>
            </a: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文本框 2"/>
          <p:cNvSpPr txBox="1"/>
          <p:nvPr/>
        </p:nvSpPr>
        <p:spPr>
          <a:xfrm>
            <a:off x="5775000" y="2900455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文本框 2"/>
          <p:cNvSpPr txBox="1"/>
          <p:nvPr/>
        </p:nvSpPr>
        <p:spPr>
          <a:xfrm>
            <a:off x="5775000" y="3167835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文本框 2"/>
          <p:cNvSpPr txBox="1"/>
          <p:nvPr/>
        </p:nvSpPr>
        <p:spPr>
          <a:xfrm>
            <a:off x="5775000" y="3442250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main()</a:t>
            </a:r>
            <a:r>
              <a:rPr lang="zh-CN" sz="1400" dirty="0" smtClean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5775000" y="3713651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 (</a:t>
            </a:r>
            <a:r>
              <a:rPr lang="en-US" sz="1400" dirty="0" err="1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Vb</a:t>
            </a: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文本框 2"/>
          <p:cNvSpPr txBox="1"/>
          <p:nvPr/>
        </p:nvSpPr>
        <p:spPr>
          <a:xfrm>
            <a:off x="5775000" y="3988066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(</a:t>
            </a:r>
            <a:r>
              <a:rPr lang="en-US" sz="1400" dirty="0" err="1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Va</a:t>
            </a: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文本框 2"/>
          <p:cNvSpPr txBox="1"/>
          <p:nvPr/>
        </p:nvSpPr>
        <p:spPr>
          <a:xfrm>
            <a:off x="5775000" y="4255445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sz="1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5775000" y="4529860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sz="1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文本框 2"/>
          <p:cNvSpPr txBox="1"/>
          <p:nvPr/>
        </p:nvSpPr>
        <p:spPr>
          <a:xfrm>
            <a:off x="5775000" y="4801260"/>
            <a:ext cx="1599522" cy="686613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文本框 2"/>
          <p:cNvSpPr txBox="1"/>
          <p:nvPr/>
        </p:nvSpPr>
        <p:spPr>
          <a:xfrm>
            <a:off x="5775000" y="5487873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f1()</a:t>
            </a:r>
            <a:r>
              <a:rPr lang="zh-CN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文本框 2"/>
          <p:cNvSpPr txBox="1"/>
          <p:nvPr/>
        </p:nvSpPr>
        <p:spPr>
          <a:xfrm>
            <a:off x="5775000" y="5755252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f2()</a:t>
            </a:r>
            <a:r>
              <a:rPr lang="zh-CN" sz="1400" dirty="0" smtClean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文本框 2"/>
          <p:cNvSpPr txBox="1"/>
          <p:nvPr/>
        </p:nvSpPr>
        <p:spPr>
          <a:xfrm>
            <a:off x="5775000" y="6029667"/>
            <a:ext cx="1599522" cy="2714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main()</a:t>
            </a:r>
            <a:r>
              <a:rPr lang="zh-CN" sz="1400" dirty="0" smtClean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5183052" y="4806287"/>
            <a:ext cx="5919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1"/>
          <p:cNvSpPr txBox="1"/>
          <p:nvPr/>
        </p:nvSpPr>
        <p:spPr>
          <a:xfrm>
            <a:off x="4730272" y="4653571"/>
            <a:ext cx="395958" cy="291501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endParaRPr lang="zh-CN" sz="1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5183680" y="3441784"/>
            <a:ext cx="5919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20"/>
          <p:cNvSpPr txBox="1"/>
          <p:nvPr/>
        </p:nvSpPr>
        <p:spPr>
          <a:xfrm>
            <a:off x="4730233" y="3290001"/>
            <a:ext cx="404775" cy="29049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5183680" y="2080224"/>
            <a:ext cx="59194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20"/>
          <p:cNvSpPr txBox="1"/>
          <p:nvPr/>
        </p:nvSpPr>
        <p:spPr>
          <a:xfrm>
            <a:off x="4730233" y="1928442"/>
            <a:ext cx="404775" cy="29049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endParaRPr lang="zh-CN" sz="1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391480" y="1550026"/>
            <a:ext cx="5875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>
            <a:off x="7374522" y="2907492"/>
            <a:ext cx="58691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7374522" y="4255445"/>
            <a:ext cx="58691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右大括号 63"/>
          <p:cNvSpPr/>
          <p:nvPr/>
        </p:nvSpPr>
        <p:spPr>
          <a:xfrm>
            <a:off x="7626415" y="4281652"/>
            <a:ext cx="113352" cy="519610"/>
          </a:xfrm>
          <a:prstGeom prst="rightBrace">
            <a:avLst>
              <a:gd name="adj1" fmla="val 35606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/>
          </a:p>
        </p:txBody>
      </p:sp>
      <p:sp>
        <p:nvSpPr>
          <p:cNvPr id="65" name="文本框 20"/>
          <p:cNvSpPr txBox="1"/>
          <p:nvPr/>
        </p:nvSpPr>
        <p:spPr>
          <a:xfrm>
            <a:off x="7907100" y="4355498"/>
            <a:ext cx="903524" cy="29049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main()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右大括号 65"/>
          <p:cNvSpPr/>
          <p:nvPr/>
        </p:nvSpPr>
        <p:spPr>
          <a:xfrm>
            <a:off x="7643373" y="2938186"/>
            <a:ext cx="90679" cy="1273102"/>
          </a:xfrm>
          <a:prstGeom prst="rightBrace">
            <a:avLst>
              <a:gd name="adj1" fmla="val 35606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/>
          </a:p>
        </p:txBody>
      </p:sp>
      <p:sp>
        <p:nvSpPr>
          <p:cNvPr id="67" name="文本框 20"/>
          <p:cNvSpPr txBox="1"/>
          <p:nvPr/>
        </p:nvSpPr>
        <p:spPr>
          <a:xfrm>
            <a:off x="7884935" y="3363379"/>
            <a:ext cx="654149" cy="29049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f1()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右大括号 67"/>
          <p:cNvSpPr/>
          <p:nvPr/>
        </p:nvSpPr>
        <p:spPr>
          <a:xfrm>
            <a:off x="7643373" y="1591238"/>
            <a:ext cx="89423" cy="1272564"/>
          </a:xfrm>
          <a:prstGeom prst="rightBrace">
            <a:avLst>
              <a:gd name="adj1" fmla="val 35606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/>
          </a:p>
        </p:txBody>
      </p:sp>
      <p:sp>
        <p:nvSpPr>
          <p:cNvPr id="69" name="文本框 20"/>
          <p:cNvSpPr txBox="1"/>
          <p:nvPr/>
        </p:nvSpPr>
        <p:spPr>
          <a:xfrm>
            <a:off x="7884935" y="2016431"/>
            <a:ext cx="654149" cy="29049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4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f2()</a:t>
            </a:r>
            <a:endParaRPr 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43304" y="5335473"/>
            <a:ext cx="4619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重点理解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）函数</a:t>
            </a:r>
            <a:r>
              <a:rPr lang="zh-CN" altLang="en-US" dirty="0"/>
              <a:t>是</a:t>
            </a:r>
            <a:r>
              <a:rPr lang="en-US" altLang="zh-CN" dirty="0"/>
              <a:t>CPU</a:t>
            </a:r>
            <a:r>
              <a:rPr lang="zh-CN" altLang="en-US" dirty="0"/>
              <a:t>硬件层面能感知的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）栈</a:t>
            </a:r>
            <a:r>
              <a:rPr lang="zh-CN" altLang="en-US" dirty="0"/>
              <a:t>和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寄存器共同</a:t>
            </a:r>
            <a:r>
              <a:rPr lang="zh-CN" altLang="en-US" dirty="0"/>
              <a:t>决定了当前程序的执行状态</a:t>
            </a:r>
          </a:p>
        </p:txBody>
      </p:sp>
    </p:spTree>
    <p:extLst>
      <p:ext uri="{BB962C8B-B14F-4D97-AF65-F5344CB8AC3E}">
        <p14:creationId xmlns:p14="http://schemas.microsoft.com/office/powerpoint/2010/main" val="21643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8" grpId="1" animBg="1"/>
      <p:bldP spid="60" grpId="0" animBg="1"/>
      <p:bldP spid="66" grpId="0" animBg="1"/>
      <p:bldP spid="67" grpId="0" animBg="1"/>
      <p:bldP spid="68" grpId="0" animBg="1"/>
      <p:bldP spid="69" grpId="0" animBg="1"/>
      <p:bldP spid="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章 导论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zh-CN" altLang="en-US" dirty="0" smtClean="0"/>
              <a:t>操作系统做什么</a:t>
            </a:r>
            <a:endParaRPr lang="zh-CN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zh-CN" altLang="en-US" dirty="0" smtClean="0"/>
              <a:t>计算机系统</a:t>
            </a:r>
            <a:endParaRPr lang="zh-CN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历史发展与操作模式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zh-CN" altLang="en-US" dirty="0" smtClean="0"/>
              <a:t>资源管理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205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操作系统的发展过程是一个从无到有，从简单到复杂的</a:t>
            </a:r>
            <a:r>
              <a:rPr lang="zh-CN" altLang="en-US" dirty="0" smtClean="0"/>
              <a:t>过程</a:t>
            </a:r>
            <a:endParaRPr lang="zh-CN" altLang="en-US" dirty="0"/>
          </a:p>
          <a:p>
            <a:pPr lvl="1"/>
            <a:r>
              <a:rPr lang="zh-CN" altLang="en-US" dirty="0"/>
              <a:t>最初计算机上无</a:t>
            </a:r>
            <a:r>
              <a:rPr lang="zh-CN" altLang="en-US" dirty="0" smtClean="0"/>
              <a:t>操作系统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50</a:t>
            </a:r>
            <a:r>
              <a:rPr lang="zh-CN" altLang="en-US" dirty="0"/>
              <a:t>年代出现了简单批处理</a:t>
            </a:r>
            <a:r>
              <a:rPr lang="zh-CN" altLang="en-US" dirty="0" smtClean="0"/>
              <a:t>系统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60</a:t>
            </a:r>
            <a:r>
              <a:rPr lang="zh-CN" altLang="en-US" dirty="0"/>
              <a:t>年代出现了多道批处理</a:t>
            </a:r>
            <a:r>
              <a:rPr lang="zh-CN" altLang="en-US" dirty="0" smtClean="0"/>
              <a:t>系统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不久</a:t>
            </a:r>
            <a:r>
              <a:rPr lang="zh-CN" altLang="en-US" dirty="0"/>
              <a:t>又出现了分时系统及实时系统</a:t>
            </a:r>
            <a:r>
              <a:rPr lang="en-US" altLang="zh-CN" dirty="0" smtClean="0"/>
              <a:t>…</a:t>
            </a:r>
          </a:p>
          <a:p>
            <a:r>
              <a:rPr lang="zh-CN" altLang="en-US" dirty="0" smtClean="0"/>
              <a:t>注意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今天</a:t>
            </a:r>
            <a:r>
              <a:rPr lang="zh-CN" altLang="en-US" dirty="0"/>
              <a:t>计算机可用于计算、交互，早期仅用于计算，主要关注利用率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4216623" y="5919776"/>
            <a:ext cx="3337859" cy="471494"/>
          </a:xfrm>
          <a:prstGeom prst="wedgeRoundRectCallout">
            <a:avLst>
              <a:gd name="adj1" fmla="val -3255"/>
              <a:gd name="adj2" fmla="val -110941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/>
              <a:t>问题</a:t>
            </a:r>
            <a:r>
              <a:rPr lang="en-US" altLang="zh-CN" sz="2000" dirty="0"/>
              <a:t>1.5</a:t>
            </a:r>
            <a:r>
              <a:rPr lang="zh-CN" altLang="en-US" sz="2000" dirty="0"/>
              <a:t>：分界线在哪里？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32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手工操作阶段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人工操作方式：</a:t>
            </a:r>
            <a:r>
              <a:rPr lang="en-US" altLang="zh-CN" dirty="0"/>
              <a:t>46~50</a:t>
            </a:r>
            <a:r>
              <a:rPr lang="zh-CN" altLang="en-US" dirty="0"/>
              <a:t>年代</a:t>
            </a:r>
            <a:r>
              <a:rPr lang="zh-CN" altLang="en-US" dirty="0" smtClean="0"/>
              <a:t>中后期</a:t>
            </a:r>
            <a:endParaRPr lang="zh-CN" altLang="en-US" dirty="0"/>
          </a:p>
          <a:p>
            <a:pPr lvl="1"/>
            <a:r>
              <a:rPr lang="zh-CN" altLang="en-US" dirty="0"/>
              <a:t>先将程序纸带（或卡片）装入输入</a:t>
            </a:r>
            <a:r>
              <a:rPr lang="zh-CN" altLang="en-US" dirty="0" smtClean="0"/>
              <a:t>机</a:t>
            </a:r>
            <a:endParaRPr lang="zh-CN" altLang="en-US" dirty="0"/>
          </a:p>
          <a:p>
            <a:pPr lvl="1"/>
            <a:r>
              <a:rPr lang="zh-CN" altLang="en-US" dirty="0"/>
              <a:t>然后启动输入机把程序和数据送入</a:t>
            </a:r>
            <a:r>
              <a:rPr lang="zh-CN" altLang="en-US" dirty="0" smtClean="0"/>
              <a:t>计算机</a:t>
            </a:r>
            <a:endParaRPr lang="zh-CN" altLang="en-US" dirty="0"/>
          </a:p>
          <a:p>
            <a:pPr lvl="1"/>
            <a:r>
              <a:rPr lang="zh-CN" altLang="en-US" dirty="0"/>
              <a:t>接着通过控制台开关启动程序</a:t>
            </a:r>
            <a:r>
              <a:rPr lang="zh-CN" altLang="en-US" dirty="0" smtClean="0"/>
              <a:t>运行</a:t>
            </a:r>
            <a:endParaRPr lang="zh-CN" altLang="en-US" dirty="0"/>
          </a:p>
          <a:p>
            <a:pPr lvl="1"/>
            <a:r>
              <a:rPr lang="zh-CN" altLang="en-US" dirty="0"/>
              <a:t>当程序运行完毕，由用户取走纸带和计算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r>
              <a:rPr lang="zh-CN" altLang="en-US" dirty="0" smtClean="0"/>
              <a:t>特点</a:t>
            </a:r>
            <a:endParaRPr lang="zh-CN" altLang="en-US" dirty="0"/>
          </a:p>
          <a:p>
            <a:pPr lvl="1"/>
            <a:r>
              <a:rPr lang="zh-CN" altLang="en-US" dirty="0" smtClean="0"/>
              <a:t>没有操作系统，用户</a:t>
            </a:r>
            <a:r>
              <a:rPr lang="zh-CN" altLang="en-US" dirty="0"/>
              <a:t>独占计算机，资源利用率低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快，手工操作慢，</a:t>
            </a:r>
            <a:r>
              <a:rPr lang="en-US" altLang="zh-CN" dirty="0"/>
              <a:t>CPU</a:t>
            </a:r>
            <a:r>
              <a:rPr lang="zh-CN" altLang="en-US" dirty="0"/>
              <a:t>等人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快，</a:t>
            </a:r>
            <a:r>
              <a:rPr lang="en-US" altLang="zh-CN" dirty="0"/>
              <a:t>I/O</a:t>
            </a:r>
            <a:r>
              <a:rPr lang="zh-CN" altLang="en-US" dirty="0"/>
              <a:t>设备慢，</a:t>
            </a:r>
            <a:r>
              <a:rPr lang="en-US" altLang="zh-CN" dirty="0"/>
              <a:t>CPU</a:t>
            </a:r>
            <a:r>
              <a:rPr lang="zh-CN" altLang="en-US" dirty="0"/>
              <a:t>等设备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45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早期批处理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批处理技术：对一批作业自动进行</a:t>
            </a:r>
            <a:r>
              <a:rPr lang="zh-CN" altLang="en-US" dirty="0" smtClean="0"/>
              <a:t>处理</a:t>
            </a:r>
            <a:r>
              <a:rPr lang="zh-CN" altLang="en-US" dirty="0"/>
              <a:t>，</a:t>
            </a:r>
            <a:r>
              <a:rPr lang="zh-CN" altLang="en-US" dirty="0" smtClean="0"/>
              <a:t>从</a:t>
            </a:r>
            <a:r>
              <a:rPr lang="zh-CN" altLang="en-US" dirty="0"/>
              <a:t>一个作业到下一个</a:t>
            </a:r>
            <a:r>
              <a:rPr lang="zh-CN" altLang="en-US" dirty="0" smtClean="0"/>
              <a:t>作业自动过渡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监督程序</a:t>
            </a:r>
            <a:r>
              <a:rPr lang="zh-CN" altLang="en-US" dirty="0"/>
              <a:t>是一个常驻内存的程序，它管理作业的运行，负责装入和运行各种系统程序来完成作业的自动</a:t>
            </a:r>
            <a:r>
              <a:rPr lang="zh-CN" altLang="en-US" dirty="0" smtClean="0"/>
              <a:t>过渡</a:t>
            </a:r>
            <a:endParaRPr lang="zh-CN" altLang="en-US" dirty="0"/>
          </a:p>
          <a:p>
            <a:r>
              <a:rPr lang="zh-CN" altLang="en-US" dirty="0"/>
              <a:t>监督程序是最早的操作系统</a:t>
            </a:r>
            <a:r>
              <a:rPr lang="zh-CN" altLang="en-US" dirty="0" smtClean="0">
                <a:solidFill>
                  <a:srgbClr val="FF0000"/>
                </a:solidFill>
              </a:rPr>
              <a:t>雏形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早期的批处理</a:t>
            </a:r>
            <a:r>
              <a:rPr lang="zh-CN" altLang="en-US" dirty="0" smtClean="0"/>
              <a:t>分为</a:t>
            </a:r>
            <a:endParaRPr lang="zh-CN" altLang="en-US" dirty="0"/>
          </a:p>
          <a:p>
            <a:pPr lvl="1"/>
            <a:r>
              <a:rPr lang="zh-CN" altLang="en-US" dirty="0"/>
              <a:t>联机批处理</a:t>
            </a:r>
          </a:p>
          <a:p>
            <a:pPr lvl="1"/>
            <a:r>
              <a:rPr lang="zh-CN" altLang="en-US" dirty="0"/>
              <a:t>脱机</a:t>
            </a:r>
            <a:r>
              <a:rPr lang="zh-CN" altLang="en-US" dirty="0" smtClean="0"/>
              <a:t>批处理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34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早期批处理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早期</a:t>
            </a:r>
            <a:r>
              <a:rPr lang="zh-CN" altLang="en-US" dirty="0"/>
              <a:t>的批处理</a:t>
            </a:r>
            <a:r>
              <a:rPr lang="zh-CN" altLang="en-US" dirty="0" smtClean="0"/>
              <a:t>分为</a:t>
            </a:r>
            <a:endParaRPr lang="zh-CN" altLang="en-US" dirty="0"/>
          </a:p>
          <a:p>
            <a:pPr lvl="1"/>
            <a:r>
              <a:rPr lang="zh-CN" altLang="en-US" dirty="0"/>
              <a:t>联机</a:t>
            </a:r>
            <a:r>
              <a:rPr lang="zh-CN" altLang="en-US" dirty="0" smtClean="0"/>
              <a:t>批处理</a:t>
            </a:r>
            <a:endParaRPr lang="en-US" altLang="zh-CN" dirty="0" smtClean="0"/>
          </a:p>
          <a:p>
            <a:pPr lvl="2"/>
            <a:r>
              <a:rPr lang="zh-CN" altLang="en-US" dirty="0"/>
              <a:t>采用联机输入</a:t>
            </a:r>
            <a:r>
              <a:rPr lang="en-US" altLang="zh-CN" dirty="0"/>
              <a:t>/</a:t>
            </a:r>
            <a:r>
              <a:rPr lang="zh-CN" altLang="en-US" dirty="0"/>
              <a:t>输出，即输入</a:t>
            </a:r>
            <a:r>
              <a:rPr lang="en-US" altLang="zh-CN" dirty="0"/>
              <a:t>/</a:t>
            </a:r>
            <a:r>
              <a:rPr lang="zh-CN" altLang="en-US" dirty="0"/>
              <a:t>输出操作在主机控制下进行，其缺点是速度慢</a:t>
            </a:r>
          </a:p>
          <a:p>
            <a:pPr lvl="1"/>
            <a:r>
              <a:rPr lang="zh-CN" altLang="en-US" dirty="0"/>
              <a:t>脱机</a:t>
            </a:r>
            <a:r>
              <a:rPr lang="zh-CN" altLang="en-US" dirty="0" smtClean="0"/>
              <a:t>批处理</a:t>
            </a:r>
            <a:endParaRPr lang="en-US" altLang="zh-CN" dirty="0" smtClean="0"/>
          </a:p>
          <a:p>
            <a:pPr lvl="2"/>
            <a:r>
              <a:rPr lang="zh-CN" altLang="en-US" dirty="0"/>
              <a:t>除主机外另设一台外围</a:t>
            </a:r>
            <a:r>
              <a:rPr lang="zh-CN" altLang="en-US" dirty="0" smtClean="0"/>
              <a:t>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用户</a:t>
            </a:r>
            <a:r>
              <a:rPr lang="zh-CN" altLang="en-US" dirty="0"/>
              <a:t>作业通过外围机输入到磁带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主机从</a:t>
            </a:r>
            <a:r>
              <a:rPr lang="zh-CN" altLang="en-US" dirty="0"/>
              <a:t>磁带上把作业调</a:t>
            </a:r>
            <a:r>
              <a:rPr lang="zh-CN" altLang="en-US" dirty="0" smtClean="0"/>
              <a:t>入执行，并把</a:t>
            </a:r>
            <a:r>
              <a:rPr lang="zh-CN" altLang="en-US" dirty="0"/>
              <a:t>结果输出到</a:t>
            </a:r>
            <a:r>
              <a:rPr lang="zh-CN" altLang="en-US" dirty="0" smtClean="0"/>
              <a:t>磁带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再</a:t>
            </a:r>
            <a:r>
              <a:rPr lang="zh-CN" altLang="en-US" dirty="0"/>
              <a:t>由外围机把磁带上的信息在打印机上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lvl="2"/>
            <a:r>
              <a:rPr lang="zh-CN" altLang="en-US" dirty="0"/>
              <a:t>减少了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zh-CN" altLang="en-US" dirty="0" smtClean="0"/>
              <a:t>空闲时间，提高</a:t>
            </a:r>
            <a:r>
              <a:rPr lang="en-US" altLang="zh-CN" dirty="0"/>
              <a:t>I/O</a:t>
            </a:r>
            <a:r>
              <a:rPr lang="zh-CN" altLang="en-US" dirty="0"/>
              <a:t>速度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94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单道程序系统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早期批处理</a:t>
            </a:r>
            <a:r>
              <a:rPr lang="zh-CN" altLang="en-US" dirty="0"/>
              <a:t>的主要特征：单道</a:t>
            </a:r>
            <a:r>
              <a:rPr lang="zh-CN" altLang="en-US" dirty="0" smtClean="0"/>
              <a:t>批处理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内存</a:t>
            </a:r>
            <a:r>
              <a:rPr lang="zh-CN" altLang="en-US" dirty="0"/>
              <a:t>中仅一道程序，系统资源无法得到充分利用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3102703" y="3154719"/>
            <a:ext cx="62071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计算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136165" y="3881794"/>
            <a:ext cx="9525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启动</a:t>
            </a:r>
            <a:r>
              <a:rPr lang="en-US" altLang="zh-CN" sz="2000">
                <a:latin typeface="Times New Roman" panose="02020603050405020304" pitchFamily="18" charset="0"/>
              </a:rPr>
              <a:t>I/O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875690" y="3610331"/>
            <a:ext cx="1130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023453" y="3594456"/>
            <a:ext cx="0" cy="754063"/>
          </a:xfrm>
          <a:prstGeom prst="line">
            <a:avLst/>
          </a:prstGeom>
          <a:noFill/>
          <a:ln w="381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4023453" y="4350106"/>
            <a:ext cx="762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785453" y="4388206"/>
            <a:ext cx="0" cy="1006475"/>
          </a:xfrm>
          <a:prstGeom prst="line">
            <a:avLst/>
          </a:prstGeom>
          <a:noFill/>
          <a:ln w="381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4785453" y="5394681"/>
            <a:ext cx="1143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928453" y="4388206"/>
            <a:ext cx="0" cy="1006475"/>
          </a:xfrm>
          <a:prstGeom prst="line">
            <a:avLst/>
          </a:prstGeom>
          <a:noFill/>
          <a:ln w="381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5928453" y="4350106"/>
            <a:ext cx="762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690453" y="3613506"/>
            <a:ext cx="0" cy="754063"/>
          </a:xfrm>
          <a:prstGeom prst="line">
            <a:avLst/>
          </a:prstGeom>
          <a:noFill/>
          <a:ln w="381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6690453" y="3610331"/>
            <a:ext cx="9540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291365" y="3338869"/>
            <a:ext cx="1298575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用户程序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监督程序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I/O</a:t>
            </a:r>
            <a:r>
              <a:rPr lang="zh-CN" altLang="en-US" sz="2400">
                <a:latin typeface="Times New Roman" panose="02020603050405020304" pitchFamily="18" charset="0"/>
              </a:rPr>
              <a:t>操作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5660165" y="3586519"/>
            <a:ext cx="60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I/O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完成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468078" y="5499456"/>
            <a:ext cx="125888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结束中断</a:t>
            </a: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920265" y="2865794"/>
            <a:ext cx="660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请求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输入</a:t>
            </a:r>
            <a:r>
              <a:rPr lang="zh-CN" altLang="en-US" sz="120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6730140" y="3046769"/>
            <a:ext cx="1292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</a:rPr>
              <a:t>继续计算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49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多道程序设计技术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</a:t>
            </a:r>
            <a:r>
              <a:rPr lang="zh-CN" altLang="en-US" dirty="0"/>
              <a:t>个存储在主存中的程序，在管理程序的控制下交替运行，共享</a:t>
            </a:r>
            <a:r>
              <a:rPr lang="en-US" altLang="zh-CN" dirty="0"/>
              <a:t>CPU</a:t>
            </a:r>
            <a:r>
              <a:rPr lang="zh-CN" altLang="en-US" dirty="0"/>
              <a:t>和系统中的其他</a:t>
            </a:r>
            <a:r>
              <a:rPr lang="zh-CN" altLang="en-US" dirty="0" smtClean="0"/>
              <a:t>资源</a:t>
            </a:r>
          </a:p>
          <a:p>
            <a:r>
              <a:rPr lang="zh-CN" altLang="en-US" dirty="0" smtClean="0"/>
              <a:t>多道程序设计通过在内存中同时保存多道程序，让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在一个程序等待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时可以继续执行其他程序，从而显著提高了资源利用率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多道，即为操作系统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79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多道程序设计技术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57550" y="4775200"/>
            <a:ext cx="1006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运行处理</a:t>
            </a:r>
            <a:endParaRPr lang="zh-CN" altLang="en-US" sz="24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635500" y="4775200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输出数据</a:t>
            </a:r>
            <a:endParaRPr lang="zh-CN" altLang="en-US" sz="24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915025" y="4775200"/>
            <a:ext cx="889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等待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CPU</a:t>
            </a:r>
            <a:endParaRPr lang="en-US" altLang="zh-CN" sz="24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083425" y="4775200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运行处理</a:t>
            </a:r>
            <a:endParaRPr lang="zh-CN" altLang="en-US" sz="24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5638800" y="3308350"/>
            <a:ext cx="503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endParaRPr lang="zh-CN" altLang="en-US" sz="24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605588" y="3308350"/>
            <a:ext cx="498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等待</a:t>
            </a:r>
            <a:endParaRPr lang="zh-CN" altLang="en-US" sz="24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638800" y="3632200"/>
            <a:ext cx="498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结束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895975" y="3708400"/>
            <a:ext cx="228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endParaRPr lang="zh-CN" altLang="en-US" sz="24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618288" y="3622675"/>
            <a:ext cx="495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CPU</a:t>
            </a:r>
            <a:endParaRPr lang="en-US" altLang="zh-CN" sz="2400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2143125" y="2003425"/>
            <a:ext cx="113347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962025" y="1908175"/>
            <a:ext cx="4191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>
                <a:solidFill>
                  <a:srgbClr val="000000"/>
                </a:solidFill>
                <a:latin typeface="宋体" panose="02010600030101010101" pitchFamily="2" charset="-122"/>
              </a:rPr>
              <a:t>CPU</a:t>
            </a:r>
            <a:endParaRPr lang="en-US" altLang="zh-CN" sz="2400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962025" y="2651125"/>
            <a:ext cx="11033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宋体" panose="02010600030101010101" pitchFamily="2" charset="-122"/>
              </a:rPr>
              <a:t>输入设备</a:t>
            </a:r>
            <a:endParaRPr lang="zh-CN" altLang="en-US" sz="2400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962025" y="3336925"/>
            <a:ext cx="11033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宋体" panose="02010600030101010101" pitchFamily="2" charset="-122"/>
              </a:rPr>
              <a:t>输出设备</a:t>
            </a:r>
            <a:endParaRPr lang="zh-CN" altLang="en-US" sz="2400"/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962025" y="4365625"/>
            <a:ext cx="69373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200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endParaRPr lang="en-US" altLang="zh-CN" sz="2400"/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962025" y="5051425"/>
            <a:ext cx="69373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200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endParaRPr lang="en-US" altLang="zh-CN" sz="2400"/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5019675" y="2003425"/>
            <a:ext cx="178117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2381250" y="1600200"/>
            <a:ext cx="4933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A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B      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A      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endParaRPr lang="en-US" altLang="zh-CN" sz="2400" dirty="0"/>
          </a:p>
        </p:txBody>
      </p:sp>
      <p:grpSp>
        <p:nvGrpSpPr>
          <p:cNvPr id="37" name="Group 44"/>
          <p:cNvGrpSpPr>
            <a:grpSpLocks/>
          </p:cNvGrpSpPr>
          <p:nvPr/>
        </p:nvGrpSpPr>
        <p:grpSpPr bwMode="auto">
          <a:xfrm>
            <a:off x="3238500" y="1993900"/>
            <a:ext cx="38100" cy="571500"/>
            <a:chOff x="2359" y="1592"/>
            <a:chExt cx="24" cy="360"/>
          </a:xfrm>
        </p:grpSpPr>
        <p:sp>
          <p:nvSpPr>
            <p:cNvPr id="38" name="Freeform 36"/>
            <p:cNvSpPr>
              <a:spLocks noChangeArrowheads="1"/>
            </p:cNvSpPr>
            <p:nvPr/>
          </p:nvSpPr>
          <p:spPr bwMode="auto">
            <a:xfrm>
              <a:off x="2359" y="1592"/>
              <a:ext cx="24" cy="24"/>
            </a:xfrm>
            <a:custGeom>
              <a:avLst/>
              <a:gdLst>
                <a:gd name="T0" fmla="*/ 24 w 24"/>
                <a:gd name="T1" fmla="*/ 18 h 24"/>
                <a:gd name="T2" fmla="*/ 24 w 24"/>
                <a:gd name="T3" fmla="*/ 12 h 24"/>
                <a:gd name="T4" fmla="*/ 18 w 24"/>
                <a:gd name="T5" fmla="*/ 6 h 24"/>
                <a:gd name="T6" fmla="*/ 12 w 24"/>
                <a:gd name="T7" fmla="*/ 0 h 24"/>
                <a:gd name="T8" fmla="*/ 6 w 24"/>
                <a:gd name="T9" fmla="*/ 6 h 24"/>
                <a:gd name="T10" fmla="*/ 0 w 24"/>
                <a:gd name="T11" fmla="*/ 12 h 24"/>
                <a:gd name="T12" fmla="*/ 6 w 24"/>
                <a:gd name="T13" fmla="*/ 18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8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24" y="18"/>
                  </a:moveTo>
                  <a:lnTo>
                    <a:pt x="24" y="12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 noChangeArrowheads="1"/>
            </p:cNvSpPr>
            <p:nvPr/>
          </p:nvSpPr>
          <p:spPr bwMode="auto">
            <a:xfrm>
              <a:off x="2359" y="164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 noChangeArrowheads="1"/>
            </p:cNvSpPr>
            <p:nvPr/>
          </p:nvSpPr>
          <p:spPr bwMode="auto">
            <a:xfrm>
              <a:off x="2359" y="168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 noChangeArrowheads="1"/>
            </p:cNvSpPr>
            <p:nvPr/>
          </p:nvSpPr>
          <p:spPr bwMode="auto">
            <a:xfrm>
              <a:off x="2359" y="173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 noChangeArrowheads="1"/>
            </p:cNvSpPr>
            <p:nvPr/>
          </p:nvSpPr>
          <p:spPr bwMode="auto">
            <a:xfrm>
              <a:off x="2359" y="178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 noChangeArrowheads="1"/>
            </p:cNvSpPr>
            <p:nvPr/>
          </p:nvSpPr>
          <p:spPr bwMode="auto">
            <a:xfrm>
              <a:off x="2359" y="183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 noChangeArrowheads="1"/>
            </p:cNvSpPr>
            <p:nvPr/>
          </p:nvSpPr>
          <p:spPr bwMode="auto">
            <a:xfrm>
              <a:off x="2359" y="188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 noChangeArrowheads="1"/>
            </p:cNvSpPr>
            <p:nvPr/>
          </p:nvSpPr>
          <p:spPr bwMode="auto">
            <a:xfrm>
              <a:off x="2359" y="192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2657475" y="2289175"/>
            <a:ext cx="498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请求</a:t>
            </a:r>
            <a:endParaRPr lang="zh-CN" altLang="en-US" sz="2400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2657475" y="2613025"/>
            <a:ext cx="503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输入</a:t>
            </a:r>
            <a:endParaRPr lang="zh-CN" altLang="en-US" sz="2400"/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>
            <a:off x="3257550" y="2622550"/>
            <a:ext cx="17621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" name="Group 66"/>
          <p:cNvGrpSpPr>
            <a:grpSpLocks/>
          </p:cNvGrpSpPr>
          <p:nvPr/>
        </p:nvGrpSpPr>
        <p:grpSpPr bwMode="auto">
          <a:xfrm>
            <a:off x="4343400" y="1993900"/>
            <a:ext cx="38100" cy="1257300"/>
            <a:chOff x="3055" y="1592"/>
            <a:chExt cx="24" cy="792"/>
          </a:xfrm>
        </p:grpSpPr>
        <p:sp>
          <p:nvSpPr>
            <p:cNvPr id="51" name="Freeform 49"/>
            <p:cNvSpPr>
              <a:spLocks noChangeArrowheads="1"/>
            </p:cNvSpPr>
            <p:nvPr/>
          </p:nvSpPr>
          <p:spPr bwMode="auto">
            <a:xfrm>
              <a:off x="3055" y="1592"/>
              <a:ext cx="24" cy="24"/>
            </a:xfrm>
            <a:custGeom>
              <a:avLst/>
              <a:gdLst>
                <a:gd name="T0" fmla="*/ 24 w 24"/>
                <a:gd name="T1" fmla="*/ 18 h 24"/>
                <a:gd name="T2" fmla="*/ 24 w 24"/>
                <a:gd name="T3" fmla="*/ 12 h 24"/>
                <a:gd name="T4" fmla="*/ 18 w 24"/>
                <a:gd name="T5" fmla="*/ 6 h 24"/>
                <a:gd name="T6" fmla="*/ 12 w 24"/>
                <a:gd name="T7" fmla="*/ 0 h 24"/>
                <a:gd name="T8" fmla="*/ 6 w 24"/>
                <a:gd name="T9" fmla="*/ 6 h 24"/>
                <a:gd name="T10" fmla="*/ 0 w 24"/>
                <a:gd name="T11" fmla="*/ 12 h 24"/>
                <a:gd name="T12" fmla="*/ 6 w 24"/>
                <a:gd name="T13" fmla="*/ 18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8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24" y="18"/>
                  </a:moveTo>
                  <a:lnTo>
                    <a:pt x="24" y="12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 noChangeArrowheads="1"/>
            </p:cNvSpPr>
            <p:nvPr/>
          </p:nvSpPr>
          <p:spPr bwMode="auto">
            <a:xfrm>
              <a:off x="3055" y="164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 noChangeArrowheads="1"/>
            </p:cNvSpPr>
            <p:nvPr/>
          </p:nvSpPr>
          <p:spPr bwMode="auto">
            <a:xfrm>
              <a:off x="3055" y="168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 noChangeArrowheads="1"/>
            </p:cNvSpPr>
            <p:nvPr/>
          </p:nvSpPr>
          <p:spPr bwMode="auto">
            <a:xfrm>
              <a:off x="3055" y="173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 noChangeArrowheads="1"/>
            </p:cNvSpPr>
            <p:nvPr/>
          </p:nvSpPr>
          <p:spPr bwMode="auto">
            <a:xfrm>
              <a:off x="3055" y="178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 noChangeArrowheads="1"/>
            </p:cNvSpPr>
            <p:nvPr/>
          </p:nvSpPr>
          <p:spPr bwMode="auto">
            <a:xfrm>
              <a:off x="3055" y="183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 noChangeArrowheads="1"/>
            </p:cNvSpPr>
            <p:nvPr/>
          </p:nvSpPr>
          <p:spPr bwMode="auto">
            <a:xfrm>
              <a:off x="3055" y="188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 noChangeArrowheads="1"/>
            </p:cNvSpPr>
            <p:nvPr/>
          </p:nvSpPr>
          <p:spPr bwMode="auto">
            <a:xfrm>
              <a:off x="3055" y="192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 noChangeArrowheads="1"/>
            </p:cNvSpPr>
            <p:nvPr/>
          </p:nvSpPr>
          <p:spPr bwMode="auto">
            <a:xfrm>
              <a:off x="3055" y="197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 noChangeArrowheads="1"/>
            </p:cNvSpPr>
            <p:nvPr/>
          </p:nvSpPr>
          <p:spPr bwMode="auto">
            <a:xfrm>
              <a:off x="3055" y="202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 noChangeArrowheads="1"/>
            </p:cNvSpPr>
            <p:nvPr/>
          </p:nvSpPr>
          <p:spPr bwMode="auto">
            <a:xfrm>
              <a:off x="3055" y="207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 noChangeArrowheads="1"/>
            </p:cNvSpPr>
            <p:nvPr/>
          </p:nvSpPr>
          <p:spPr bwMode="auto">
            <a:xfrm>
              <a:off x="3055" y="212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 noChangeArrowheads="1"/>
            </p:cNvSpPr>
            <p:nvPr/>
          </p:nvSpPr>
          <p:spPr bwMode="auto">
            <a:xfrm>
              <a:off x="3055" y="216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 noChangeArrowheads="1"/>
            </p:cNvSpPr>
            <p:nvPr/>
          </p:nvSpPr>
          <p:spPr bwMode="auto">
            <a:xfrm>
              <a:off x="3055" y="221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 noChangeArrowheads="1"/>
            </p:cNvSpPr>
            <p:nvPr/>
          </p:nvSpPr>
          <p:spPr bwMode="auto">
            <a:xfrm>
              <a:off x="3055" y="226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 noChangeArrowheads="1"/>
            </p:cNvSpPr>
            <p:nvPr/>
          </p:nvSpPr>
          <p:spPr bwMode="auto">
            <a:xfrm>
              <a:off x="3055" y="231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 noChangeArrowheads="1"/>
            </p:cNvSpPr>
            <p:nvPr/>
          </p:nvSpPr>
          <p:spPr bwMode="auto">
            <a:xfrm>
              <a:off x="3055" y="236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8" name="Line 67"/>
          <p:cNvSpPr>
            <a:spLocks noChangeShapeType="1"/>
          </p:cNvSpPr>
          <p:nvPr/>
        </p:nvSpPr>
        <p:spPr bwMode="auto">
          <a:xfrm>
            <a:off x="4362450" y="3241675"/>
            <a:ext cx="17621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9" name="Group 77"/>
          <p:cNvGrpSpPr>
            <a:grpSpLocks/>
          </p:cNvGrpSpPr>
          <p:nvPr/>
        </p:nvGrpSpPr>
        <p:grpSpPr bwMode="auto">
          <a:xfrm>
            <a:off x="5000625" y="1993900"/>
            <a:ext cx="47625" cy="647700"/>
            <a:chOff x="3469" y="1592"/>
            <a:chExt cx="30" cy="408"/>
          </a:xfrm>
        </p:grpSpPr>
        <p:sp>
          <p:nvSpPr>
            <p:cNvPr id="70" name="Freeform 68"/>
            <p:cNvSpPr>
              <a:spLocks noChangeArrowheads="1"/>
            </p:cNvSpPr>
            <p:nvPr/>
          </p:nvSpPr>
          <p:spPr bwMode="auto">
            <a:xfrm>
              <a:off x="3469" y="159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18 w 24"/>
                <a:gd name="T3" fmla="*/ 6 h 24"/>
                <a:gd name="T4" fmla="*/ 12 w 24"/>
                <a:gd name="T5" fmla="*/ 0 h 24"/>
                <a:gd name="T6" fmla="*/ 6 w 24"/>
                <a:gd name="T7" fmla="*/ 6 h 24"/>
                <a:gd name="T8" fmla="*/ 0 w 24"/>
                <a:gd name="T9" fmla="*/ 12 h 24"/>
                <a:gd name="T10" fmla="*/ 0 w 24"/>
                <a:gd name="T11" fmla="*/ 18 h 24"/>
                <a:gd name="T12" fmla="*/ 6 w 24"/>
                <a:gd name="T13" fmla="*/ 18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18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 noChangeArrowheads="1"/>
            </p:cNvSpPr>
            <p:nvPr/>
          </p:nvSpPr>
          <p:spPr bwMode="auto">
            <a:xfrm>
              <a:off x="3469" y="1640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24 w 24"/>
                <a:gd name="T3" fmla="*/ 0 h 24"/>
                <a:gd name="T4" fmla="*/ 18 w 24"/>
                <a:gd name="T5" fmla="*/ 0 h 24"/>
                <a:gd name="T6" fmla="*/ 12 w 24"/>
                <a:gd name="T7" fmla="*/ 0 h 24"/>
                <a:gd name="T8" fmla="*/ 6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24 h 24"/>
                <a:gd name="T22" fmla="*/ 24 w 24"/>
                <a:gd name="T23" fmla="*/ 24 h 24"/>
                <a:gd name="T24" fmla="*/ 24 w 24"/>
                <a:gd name="T25" fmla="*/ 18 h 24"/>
                <a:gd name="T26" fmla="*/ 24 w 24"/>
                <a:gd name="T27" fmla="*/ 12 h 24"/>
                <a:gd name="T28" fmla="*/ 24 w 24"/>
                <a:gd name="T29" fmla="*/ 6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 noChangeArrowheads="1"/>
            </p:cNvSpPr>
            <p:nvPr/>
          </p:nvSpPr>
          <p:spPr bwMode="auto">
            <a:xfrm>
              <a:off x="3469" y="1688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24 w 24"/>
                <a:gd name="T3" fmla="*/ 0 h 24"/>
                <a:gd name="T4" fmla="*/ 18 w 24"/>
                <a:gd name="T5" fmla="*/ 0 h 24"/>
                <a:gd name="T6" fmla="*/ 12 w 24"/>
                <a:gd name="T7" fmla="*/ 0 h 24"/>
                <a:gd name="T8" fmla="*/ 6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24 h 24"/>
                <a:gd name="T22" fmla="*/ 24 w 24"/>
                <a:gd name="T23" fmla="*/ 24 h 24"/>
                <a:gd name="T24" fmla="*/ 24 w 24"/>
                <a:gd name="T25" fmla="*/ 18 h 24"/>
                <a:gd name="T26" fmla="*/ 24 w 24"/>
                <a:gd name="T27" fmla="*/ 12 h 24"/>
                <a:gd name="T28" fmla="*/ 24 w 24"/>
                <a:gd name="T29" fmla="*/ 6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 noChangeArrowheads="1"/>
            </p:cNvSpPr>
            <p:nvPr/>
          </p:nvSpPr>
          <p:spPr bwMode="auto">
            <a:xfrm>
              <a:off x="3469" y="1736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24 w 24"/>
                <a:gd name="T3" fmla="*/ 0 h 24"/>
                <a:gd name="T4" fmla="*/ 18 w 24"/>
                <a:gd name="T5" fmla="*/ 0 h 24"/>
                <a:gd name="T6" fmla="*/ 12 w 24"/>
                <a:gd name="T7" fmla="*/ 0 h 24"/>
                <a:gd name="T8" fmla="*/ 6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24 h 24"/>
                <a:gd name="T22" fmla="*/ 24 w 24"/>
                <a:gd name="T23" fmla="*/ 24 h 24"/>
                <a:gd name="T24" fmla="*/ 24 w 24"/>
                <a:gd name="T25" fmla="*/ 18 h 24"/>
                <a:gd name="T26" fmla="*/ 24 w 24"/>
                <a:gd name="T27" fmla="*/ 12 h 24"/>
                <a:gd name="T28" fmla="*/ 24 w 24"/>
                <a:gd name="T29" fmla="*/ 6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 noChangeArrowheads="1"/>
            </p:cNvSpPr>
            <p:nvPr/>
          </p:nvSpPr>
          <p:spPr bwMode="auto">
            <a:xfrm>
              <a:off x="3469" y="1784"/>
              <a:ext cx="30" cy="24"/>
            </a:xfrm>
            <a:custGeom>
              <a:avLst/>
              <a:gdLst>
                <a:gd name="T0" fmla="*/ 24 w 30"/>
                <a:gd name="T1" fmla="*/ 6 h 24"/>
                <a:gd name="T2" fmla="*/ 24 w 30"/>
                <a:gd name="T3" fmla="*/ 0 h 24"/>
                <a:gd name="T4" fmla="*/ 18 w 30"/>
                <a:gd name="T5" fmla="*/ 0 h 24"/>
                <a:gd name="T6" fmla="*/ 12 w 30"/>
                <a:gd name="T7" fmla="*/ 0 h 24"/>
                <a:gd name="T8" fmla="*/ 6 w 30"/>
                <a:gd name="T9" fmla="*/ 0 h 24"/>
                <a:gd name="T10" fmla="*/ 0 w 30"/>
                <a:gd name="T11" fmla="*/ 6 h 24"/>
                <a:gd name="T12" fmla="*/ 0 w 30"/>
                <a:gd name="T13" fmla="*/ 12 h 24"/>
                <a:gd name="T14" fmla="*/ 6 w 30"/>
                <a:gd name="T15" fmla="*/ 18 h 24"/>
                <a:gd name="T16" fmla="*/ 6 w 30"/>
                <a:gd name="T17" fmla="*/ 24 h 24"/>
                <a:gd name="T18" fmla="*/ 12 w 30"/>
                <a:gd name="T19" fmla="*/ 24 h 24"/>
                <a:gd name="T20" fmla="*/ 18 w 30"/>
                <a:gd name="T21" fmla="*/ 24 h 24"/>
                <a:gd name="T22" fmla="*/ 24 w 30"/>
                <a:gd name="T23" fmla="*/ 24 h 24"/>
                <a:gd name="T24" fmla="*/ 30 w 30"/>
                <a:gd name="T25" fmla="*/ 18 h 24"/>
                <a:gd name="T26" fmla="*/ 30 w 30"/>
                <a:gd name="T27" fmla="*/ 12 h 24"/>
                <a:gd name="T28" fmla="*/ 24 w 30"/>
                <a:gd name="T29" fmla="*/ 6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" h="24">
                  <a:moveTo>
                    <a:pt x="24" y="6"/>
                  </a:move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 noChangeArrowheads="1"/>
            </p:cNvSpPr>
            <p:nvPr/>
          </p:nvSpPr>
          <p:spPr bwMode="auto">
            <a:xfrm>
              <a:off x="3475" y="1832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18 w 24"/>
                <a:gd name="T3" fmla="*/ 0 h 24"/>
                <a:gd name="T4" fmla="*/ 12 w 24"/>
                <a:gd name="T5" fmla="*/ 0 h 24"/>
                <a:gd name="T6" fmla="*/ 6 w 24"/>
                <a:gd name="T7" fmla="*/ 0 h 24"/>
                <a:gd name="T8" fmla="*/ 0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2 h 24"/>
                <a:gd name="T24" fmla="*/ 24 w 24"/>
                <a:gd name="T25" fmla="*/ 6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 noChangeArrowheads="1"/>
            </p:cNvSpPr>
            <p:nvPr/>
          </p:nvSpPr>
          <p:spPr bwMode="auto">
            <a:xfrm>
              <a:off x="3475" y="1880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18 w 24"/>
                <a:gd name="T3" fmla="*/ 0 h 24"/>
                <a:gd name="T4" fmla="*/ 12 w 24"/>
                <a:gd name="T5" fmla="*/ 0 h 24"/>
                <a:gd name="T6" fmla="*/ 6 w 24"/>
                <a:gd name="T7" fmla="*/ 0 h 24"/>
                <a:gd name="T8" fmla="*/ 0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2 h 24"/>
                <a:gd name="T24" fmla="*/ 24 w 24"/>
                <a:gd name="T25" fmla="*/ 6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 noChangeArrowheads="1"/>
            </p:cNvSpPr>
            <p:nvPr/>
          </p:nvSpPr>
          <p:spPr bwMode="auto">
            <a:xfrm>
              <a:off x="3475" y="1928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18 w 24"/>
                <a:gd name="T3" fmla="*/ 0 h 24"/>
                <a:gd name="T4" fmla="*/ 12 w 24"/>
                <a:gd name="T5" fmla="*/ 0 h 24"/>
                <a:gd name="T6" fmla="*/ 6 w 24"/>
                <a:gd name="T7" fmla="*/ 0 h 24"/>
                <a:gd name="T8" fmla="*/ 0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2 h 24"/>
                <a:gd name="T24" fmla="*/ 24 w 24"/>
                <a:gd name="T25" fmla="*/ 6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 noChangeArrowheads="1"/>
            </p:cNvSpPr>
            <p:nvPr/>
          </p:nvSpPr>
          <p:spPr bwMode="auto">
            <a:xfrm>
              <a:off x="3475" y="1976"/>
              <a:ext cx="24" cy="24"/>
            </a:xfrm>
            <a:custGeom>
              <a:avLst/>
              <a:gdLst>
                <a:gd name="T0" fmla="*/ 24 w 24"/>
                <a:gd name="T1" fmla="*/ 6 h 24"/>
                <a:gd name="T2" fmla="*/ 18 w 24"/>
                <a:gd name="T3" fmla="*/ 0 h 24"/>
                <a:gd name="T4" fmla="*/ 12 w 24"/>
                <a:gd name="T5" fmla="*/ 0 h 24"/>
                <a:gd name="T6" fmla="*/ 6 w 24"/>
                <a:gd name="T7" fmla="*/ 0 h 24"/>
                <a:gd name="T8" fmla="*/ 0 w 24"/>
                <a:gd name="T9" fmla="*/ 0 h 24"/>
                <a:gd name="T10" fmla="*/ 0 w 24"/>
                <a:gd name="T11" fmla="*/ 6 h 24"/>
                <a:gd name="T12" fmla="*/ 0 w 24"/>
                <a:gd name="T13" fmla="*/ 12 h 24"/>
                <a:gd name="T14" fmla="*/ 0 w 24"/>
                <a:gd name="T15" fmla="*/ 18 h 24"/>
                <a:gd name="T16" fmla="*/ 6 w 24"/>
                <a:gd name="T17" fmla="*/ 24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2 h 24"/>
                <a:gd name="T24" fmla="*/ 24 w 24"/>
                <a:gd name="T25" fmla="*/ 6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6"/>
                  </a:move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" name="Line 78"/>
          <p:cNvSpPr>
            <a:spLocks noChangeShapeType="1"/>
          </p:cNvSpPr>
          <p:nvPr/>
        </p:nvSpPr>
        <p:spPr bwMode="auto">
          <a:xfrm>
            <a:off x="6800850" y="2622550"/>
            <a:ext cx="1066800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0" name="Group 88"/>
          <p:cNvGrpSpPr>
            <a:grpSpLocks/>
          </p:cNvGrpSpPr>
          <p:nvPr/>
        </p:nvGrpSpPr>
        <p:grpSpPr bwMode="auto">
          <a:xfrm>
            <a:off x="6791325" y="1993900"/>
            <a:ext cx="38100" cy="647700"/>
            <a:chOff x="4597" y="1592"/>
            <a:chExt cx="24" cy="408"/>
          </a:xfrm>
        </p:grpSpPr>
        <p:sp>
          <p:nvSpPr>
            <p:cNvPr id="81" name="Freeform 79"/>
            <p:cNvSpPr>
              <a:spLocks noChangeArrowheads="1"/>
            </p:cNvSpPr>
            <p:nvPr/>
          </p:nvSpPr>
          <p:spPr bwMode="auto">
            <a:xfrm>
              <a:off x="4597" y="1592"/>
              <a:ext cx="24" cy="24"/>
            </a:xfrm>
            <a:custGeom>
              <a:avLst/>
              <a:gdLst>
                <a:gd name="T0" fmla="*/ 24 w 24"/>
                <a:gd name="T1" fmla="*/ 18 h 24"/>
                <a:gd name="T2" fmla="*/ 24 w 24"/>
                <a:gd name="T3" fmla="*/ 12 h 24"/>
                <a:gd name="T4" fmla="*/ 18 w 24"/>
                <a:gd name="T5" fmla="*/ 6 h 24"/>
                <a:gd name="T6" fmla="*/ 12 w 24"/>
                <a:gd name="T7" fmla="*/ 0 h 24"/>
                <a:gd name="T8" fmla="*/ 6 w 24"/>
                <a:gd name="T9" fmla="*/ 6 h 24"/>
                <a:gd name="T10" fmla="*/ 0 w 24"/>
                <a:gd name="T11" fmla="*/ 12 h 24"/>
                <a:gd name="T12" fmla="*/ 6 w 24"/>
                <a:gd name="T13" fmla="*/ 18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8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24" y="18"/>
                  </a:moveTo>
                  <a:lnTo>
                    <a:pt x="24" y="12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 noChangeArrowheads="1"/>
            </p:cNvSpPr>
            <p:nvPr/>
          </p:nvSpPr>
          <p:spPr bwMode="auto">
            <a:xfrm>
              <a:off x="4597" y="164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 noChangeArrowheads="1"/>
            </p:cNvSpPr>
            <p:nvPr/>
          </p:nvSpPr>
          <p:spPr bwMode="auto">
            <a:xfrm>
              <a:off x="4597" y="168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 noChangeArrowheads="1"/>
            </p:cNvSpPr>
            <p:nvPr/>
          </p:nvSpPr>
          <p:spPr bwMode="auto">
            <a:xfrm>
              <a:off x="4597" y="173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 noChangeArrowheads="1"/>
            </p:cNvSpPr>
            <p:nvPr/>
          </p:nvSpPr>
          <p:spPr bwMode="auto">
            <a:xfrm>
              <a:off x="4597" y="178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 noChangeArrowheads="1"/>
            </p:cNvSpPr>
            <p:nvPr/>
          </p:nvSpPr>
          <p:spPr bwMode="auto">
            <a:xfrm>
              <a:off x="4597" y="183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 noChangeArrowheads="1"/>
            </p:cNvSpPr>
            <p:nvPr/>
          </p:nvSpPr>
          <p:spPr bwMode="auto">
            <a:xfrm>
              <a:off x="4597" y="188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 noChangeArrowheads="1"/>
            </p:cNvSpPr>
            <p:nvPr/>
          </p:nvSpPr>
          <p:spPr bwMode="auto">
            <a:xfrm>
              <a:off x="4597" y="192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 noChangeArrowheads="1"/>
            </p:cNvSpPr>
            <p:nvPr/>
          </p:nvSpPr>
          <p:spPr bwMode="auto">
            <a:xfrm>
              <a:off x="4597" y="197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0" name="Group 100"/>
          <p:cNvGrpSpPr>
            <a:grpSpLocks/>
          </p:cNvGrpSpPr>
          <p:nvPr/>
        </p:nvGrpSpPr>
        <p:grpSpPr bwMode="auto">
          <a:xfrm>
            <a:off x="6105525" y="3222625"/>
            <a:ext cx="800100" cy="38100"/>
            <a:chOff x="4165" y="2366"/>
            <a:chExt cx="504" cy="24"/>
          </a:xfrm>
        </p:grpSpPr>
        <p:sp>
          <p:nvSpPr>
            <p:cNvPr id="91" name="Freeform 89"/>
            <p:cNvSpPr>
              <a:spLocks noChangeArrowheads="1"/>
            </p:cNvSpPr>
            <p:nvPr/>
          </p:nvSpPr>
          <p:spPr bwMode="auto">
            <a:xfrm>
              <a:off x="4165" y="2366"/>
              <a:ext cx="24" cy="24"/>
            </a:xfrm>
            <a:custGeom>
              <a:avLst/>
              <a:gdLst>
                <a:gd name="T0" fmla="*/ 18 w 24"/>
                <a:gd name="T1" fmla="*/ 0 h 24"/>
                <a:gd name="T2" fmla="*/ 12 w 24"/>
                <a:gd name="T3" fmla="*/ 0 h 24"/>
                <a:gd name="T4" fmla="*/ 6 w 24"/>
                <a:gd name="T5" fmla="*/ 6 h 24"/>
                <a:gd name="T6" fmla="*/ 0 w 24"/>
                <a:gd name="T7" fmla="*/ 12 h 24"/>
                <a:gd name="T8" fmla="*/ 6 w 24"/>
                <a:gd name="T9" fmla="*/ 18 h 24"/>
                <a:gd name="T10" fmla="*/ 12 w 24"/>
                <a:gd name="T11" fmla="*/ 24 h 24"/>
                <a:gd name="T12" fmla="*/ 18 w 24"/>
                <a:gd name="T13" fmla="*/ 18 h 24"/>
                <a:gd name="T14" fmla="*/ 24 w 24"/>
                <a:gd name="T15" fmla="*/ 12 h 24"/>
                <a:gd name="T16" fmla="*/ 18 w 24"/>
                <a:gd name="T17" fmla="*/ 6 h 24"/>
                <a:gd name="T18" fmla="*/ 18 w 2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 noChangeArrowheads="1"/>
            </p:cNvSpPr>
            <p:nvPr/>
          </p:nvSpPr>
          <p:spPr bwMode="auto">
            <a:xfrm>
              <a:off x="4213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 noChangeArrowheads="1"/>
            </p:cNvSpPr>
            <p:nvPr/>
          </p:nvSpPr>
          <p:spPr bwMode="auto">
            <a:xfrm>
              <a:off x="4261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 noChangeArrowheads="1"/>
            </p:cNvSpPr>
            <p:nvPr/>
          </p:nvSpPr>
          <p:spPr bwMode="auto">
            <a:xfrm>
              <a:off x="4309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 noChangeArrowheads="1"/>
            </p:cNvSpPr>
            <p:nvPr/>
          </p:nvSpPr>
          <p:spPr bwMode="auto">
            <a:xfrm>
              <a:off x="4357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 noChangeArrowheads="1"/>
            </p:cNvSpPr>
            <p:nvPr/>
          </p:nvSpPr>
          <p:spPr bwMode="auto">
            <a:xfrm>
              <a:off x="4405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 noChangeArrowheads="1"/>
            </p:cNvSpPr>
            <p:nvPr/>
          </p:nvSpPr>
          <p:spPr bwMode="auto">
            <a:xfrm>
              <a:off x="4453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 noChangeArrowheads="1"/>
            </p:cNvSpPr>
            <p:nvPr/>
          </p:nvSpPr>
          <p:spPr bwMode="auto">
            <a:xfrm>
              <a:off x="4501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 noChangeArrowheads="1"/>
            </p:cNvSpPr>
            <p:nvPr/>
          </p:nvSpPr>
          <p:spPr bwMode="auto">
            <a:xfrm>
              <a:off x="4549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 noChangeArrowheads="1"/>
            </p:cNvSpPr>
            <p:nvPr/>
          </p:nvSpPr>
          <p:spPr bwMode="auto">
            <a:xfrm>
              <a:off x="4597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 noChangeArrowheads="1"/>
            </p:cNvSpPr>
            <p:nvPr/>
          </p:nvSpPr>
          <p:spPr bwMode="auto">
            <a:xfrm>
              <a:off x="4645" y="236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" name="Rectangle 102"/>
          <p:cNvSpPr>
            <a:spLocks noChangeArrowheads="1"/>
          </p:cNvSpPr>
          <p:nvPr/>
        </p:nvSpPr>
        <p:spPr bwMode="auto">
          <a:xfrm>
            <a:off x="3686175" y="2936875"/>
            <a:ext cx="498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请求</a:t>
            </a:r>
            <a:endParaRPr lang="zh-CN" altLang="en-US" sz="2400"/>
          </a:p>
        </p:txBody>
      </p:sp>
      <p:sp>
        <p:nvSpPr>
          <p:cNvPr id="104" name="Rectangle 103"/>
          <p:cNvSpPr>
            <a:spLocks noChangeArrowheads="1"/>
          </p:cNvSpPr>
          <p:nvPr/>
        </p:nvSpPr>
        <p:spPr bwMode="auto">
          <a:xfrm>
            <a:off x="3686175" y="3260725"/>
            <a:ext cx="503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输出</a:t>
            </a:r>
            <a:endParaRPr lang="zh-CN" altLang="en-US" sz="2400"/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5219700" y="2279650"/>
            <a:ext cx="503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输入</a:t>
            </a:r>
            <a:endParaRPr lang="zh-CN" altLang="en-US" sz="2400"/>
          </a:p>
        </p:txBody>
      </p:sp>
      <p:sp>
        <p:nvSpPr>
          <p:cNvPr id="107" name="Rectangle 106"/>
          <p:cNvSpPr>
            <a:spLocks noChangeArrowheads="1"/>
          </p:cNvSpPr>
          <p:nvPr/>
        </p:nvSpPr>
        <p:spPr bwMode="auto">
          <a:xfrm>
            <a:off x="5219700" y="2603500"/>
            <a:ext cx="498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结束</a:t>
            </a:r>
            <a:endParaRPr lang="zh-CN" altLang="en-US" sz="2400"/>
          </a:p>
        </p:txBody>
      </p:sp>
      <p:sp>
        <p:nvSpPr>
          <p:cNvPr id="109" name="Rectangle 108"/>
          <p:cNvSpPr>
            <a:spLocks noChangeArrowheads="1"/>
          </p:cNvSpPr>
          <p:nvPr/>
        </p:nvSpPr>
        <p:spPr bwMode="auto">
          <a:xfrm>
            <a:off x="6153150" y="2298700"/>
            <a:ext cx="498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请求</a:t>
            </a:r>
            <a:endParaRPr lang="zh-CN" altLang="en-US" sz="2400"/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6153150" y="2622550"/>
            <a:ext cx="5032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输入</a:t>
            </a:r>
            <a:endParaRPr lang="zh-CN" altLang="en-US" sz="2400"/>
          </a:p>
        </p:txBody>
      </p:sp>
      <p:sp>
        <p:nvSpPr>
          <p:cNvPr id="111" name="Line 110"/>
          <p:cNvSpPr>
            <a:spLocks noChangeShapeType="1"/>
          </p:cNvSpPr>
          <p:nvPr/>
        </p:nvSpPr>
        <p:spPr bwMode="auto">
          <a:xfrm>
            <a:off x="2143125" y="4546600"/>
            <a:ext cx="57245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Line 111"/>
          <p:cNvSpPr>
            <a:spLocks noChangeShapeType="1"/>
          </p:cNvSpPr>
          <p:nvPr/>
        </p:nvSpPr>
        <p:spPr bwMode="auto">
          <a:xfrm>
            <a:off x="3257550" y="4451350"/>
            <a:ext cx="1588" cy="104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Line 112"/>
          <p:cNvSpPr>
            <a:spLocks noChangeShapeType="1"/>
          </p:cNvSpPr>
          <p:nvPr/>
        </p:nvSpPr>
        <p:spPr bwMode="auto">
          <a:xfrm>
            <a:off x="5019675" y="4451350"/>
            <a:ext cx="9525" cy="104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Line 113"/>
          <p:cNvSpPr>
            <a:spLocks noChangeShapeType="1"/>
          </p:cNvSpPr>
          <p:nvPr/>
        </p:nvSpPr>
        <p:spPr bwMode="auto">
          <a:xfrm>
            <a:off x="6810375" y="4451350"/>
            <a:ext cx="1588" cy="104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Line 114"/>
          <p:cNvSpPr>
            <a:spLocks noChangeShapeType="1"/>
          </p:cNvSpPr>
          <p:nvPr/>
        </p:nvSpPr>
        <p:spPr bwMode="auto">
          <a:xfrm>
            <a:off x="3362325" y="5184775"/>
            <a:ext cx="27527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Line 115"/>
          <p:cNvSpPr>
            <a:spLocks noChangeShapeType="1"/>
          </p:cNvSpPr>
          <p:nvPr/>
        </p:nvSpPr>
        <p:spPr bwMode="auto">
          <a:xfrm>
            <a:off x="4362450" y="5070475"/>
            <a:ext cx="1588" cy="104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7" name="Group 130"/>
          <p:cNvGrpSpPr>
            <a:grpSpLocks/>
          </p:cNvGrpSpPr>
          <p:nvPr/>
        </p:nvGrpSpPr>
        <p:grpSpPr bwMode="auto">
          <a:xfrm>
            <a:off x="6115050" y="5175250"/>
            <a:ext cx="762000" cy="28575"/>
            <a:chOff x="4171" y="3596"/>
            <a:chExt cx="480" cy="18"/>
          </a:xfrm>
        </p:grpSpPr>
        <p:sp>
          <p:nvSpPr>
            <p:cNvPr id="118" name="Freeform 116"/>
            <p:cNvSpPr>
              <a:spLocks noChangeArrowheads="1"/>
            </p:cNvSpPr>
            <p:nvPr/>
          </p:nvSpPr>
          <p:spPr bwMode="auto">
            <a:xfrm>
              <a:off x="4171" y="3596"/>
              <a:ext cx="12" cy="18"/>
            </a:xfrm>
            <a:custGeom>
              <a:avLst/>
              <a:gdLst>
                <a:gd name="T0" fmla="*/ 12 w 12"/>
                <a:gd name="T1" fmla="*/ 0 h 18"/>
                <a:gd name="T2" fmla="*/ 6 w 12"/>
                <a:gd name="T3" fmla="*/ 0 h 18"/>
                <a:gd name="T4" fmla="*/ 0 w 12"/>
                <a:gd name="T5" fmla="*/ 6 h 18"/>
                <a:gd name="T6" fmla="*/ 6 w 12"/>
                <a:gd name="T7" fmla="*/ 18 h 18"/>
                <a:gd name="T8" fmla="*/ 6 w 12"/>
                <a:gd name="T9" fmla="*/ 12 h 18"/>
                <a:gd name="T10" fmla="*/ 12 w 12"/>
                <a:gd name="T11" fmla="*/ 6 h 18"/>
                <a:gd name="T12" fmla="*/ 12 w 12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6" y="12"/>
                  </a:lnTo>
                  <a:lnTo>
                    <a:pt x="12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117"/>
            <p:cNvSpPr>
              <a:spLocks noChangeArrowheads="1"/>
            </p:cNvSpPr>
            <p:nvPr/>
          </p:nvSpPr>
          <p:spPr bwMode="auto">
            <a:xfrm>
              <a:off x="4201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118"/>
            <p:cNvSpPr>
              <a:spLocks noChangeArrowheads="1"/>
            </p:cNvSpPr>
            <p:nvPr/>
          </p:nvSpPr>
          <p:spPr bwMode="auto">
            <a:xfrm>
              <a:off x="4237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119"/>
            <p:cNvSpPr>
              <a:spLocks noChangeArrowheads="1"/>
            </p:cNvSpPr>
            <p:nvPr/>
          </p:nvSpPr>
          <p:spPr bwMode="auto">
            <a:xfrm>
              <a:off x="4273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120"/>
            <p:cNvSpPr>
              <a:spLocks noChangeArrowheads="1"/>
            </p:cNvSpPr>
            <p:nvPr/>
          </p:nvSpPr>
          <p:spPr bwMode="auto">
            <a:xfrm>
              <a:off x="4309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121"/>
            <p:cNvSpPr>
              <a:spLocks noChangeArrowheads="1"/>
            </p:cNvSpPr>
            <p:nvPr/>
          </p:nvSpPr>
          <p:spPr bwMode="auto">
            <a:xfrm>
              <a:off x="4345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122"/>
            <p:cNvSpPr>
              <a:spLocks noChangeArrowheads="1"/>
            </p:cNvSpPr>
            <p:nvPr/>
          </p:nvSpPr>
          <p:spPr bwMode="auto">
            <a:xfrm>
              <a:off x="4381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123"/>
            <p:cNvSpPr>
              <a:spLocks noChangeArrowheads="1"/>
            </p:cNvSpPr>
            <p:nvPr/>
          </p:nvSpPr>
          <p:spPr bwMode="auto">
            <a:xfrm>
              <a:off x="4417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124"/>
            <p:cNvSpPr>
              <a:spLocks noChangeArrowheads="1"/>
            </p:cNvSpPr>
            <p:nvPr/>
          </p:nvSpPr>
          <p:spPr bwMode="auto">
            <a:xfrm>
              <a:off x="4453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125"/>
            <p:cNvSpPr>
              <a:spLocks noChangeArrowheads="1"/>
            </p:cNvSpPr>
            <p:nvPr/>
          </p:nvSpPr>
          <p:spPr bwMode="auto">
            <a:xfrm>
              <a:off x="4489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126"/>
            <p:cNvSpPr>
              <a:spLocks noChangeArrowheads="1"/>
            </p:cNvSpPr>
            <p:nvPr/>
          </p:nvSpPr>
          <p:spPr bwMode="auto">
            <a:xfrm>
              <a:off x="4525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127"/>
            <p:cNvSpPr>
              <a:spLocks noChangeArrowheads="1"/>
            </p:cNvSpPr>
            <p:nvPr/>
          </p:nvSpPr>
          <p:spPr bwMode="auto">
            <a:xfrm>
              <a:off x="4561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128"/>
            <p:cNvSpPr>
              <a:spLocks noChangeArrowheads="1"/>
            </p:cNvSpPr>
            <p:nvPr/>
          </p:nvSpPr>
          <p:spPr bwMode="auto">
            <a:xfrm>
              <a:off x="4597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29"/>
            <p:cNvSpPr>
              <a:spLocks noChangeArrowheads="1"/>
            </p:cNvSpPr>
            <p:nvPr/>
          </p:nvSpPr>
          <p:spPr bwMode="auto">
            <a:xfrm>
              <a:off x="4633" y="3596"/>
              <a:ext cx="18" cy="18"/>
            </a:xfrm>
            <a:custGeom>
              <a:avLst/>
              <a:gdLst>
                <a:gd name="T0" fmla="*/ 12 w 18"/>
                <a:gd name="T1" fmla="*/ 0 h 18"/>
                <a:gd name="T2" fmla="*/ 6 w 18"/>
                <a:gd name="T3" fmla="*/ 0 h 18"/>
                <a:gd name="T4" fmla="*/ 0 w 18"/>
                <a:gd name="T5" fmla="*/ 6 h 18"/>
                <a:gd name="T6" fmla="*/ 0 w 18"/>
                <a:gd name="T7" fmla="*/ 12 h 18"/>
                <a:gd name="T8" fmla="*/ 6 w 18"/>
                <a:gd name="T9" fmla="*/ 18 h 18"/>
                <a:gd name="T10" fmla="*/ 12 w 18"/>
                <a:gd name="T11" fmla="*/ 18 h 18"/>
                <a:gd name="T12" fmla="*/ 12 w 18"/>
                <a:gd name="T13" fmla="*/ 12 h 18"/>
                <a:gd name="T14" fmla="*/ 18 w 18"/>
                <a:gd name="T15" fmla="*/ 6 h 18"/>
                <a:gd name="T16" fmla="*/ 18 w 18"/>
                <a:gd name="T17" fmla="*/ 0 h 18"/>
                <a:gd name="T18" fmla="*/ 12 w 18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8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2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6124575" y="5089525"/>
            <a:ext cx="1588" cy="95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>
            <a:off x="6886575" y="5184775"/>
            <a:ext cx="990600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>
            <a:off x="6877050" y="5089525"/>
            <a:ext cx="1588" cy="95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2162175" y="4137025"/>
            <a:ext cx="1006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运行处理</a:t>
            </a:r>
            <a:endParaRPr lang="zh-CN" altLang="en-US" sz="2400"/>
          </a:p>
        </p:txBody>
      </p:sp>
      <p:sp>
        <p:nvSpPr>
          <p:cNvPr id="138" name="Rectangle 137"/>
          <p:cNvSpPr>
            <a:spLocks noChangeArrowheads="1"/>
          </p:cNvSpPr>
          <p:nvPr/>
        </p:nvSpPr>
        <p:spPr bwMode="auto">
          <a:xfrm>
            <a:off x="3411538" y="4137025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输入数据</a:t>
            </a:r>
            <a:endParaRPr lang="zh-CN" altLang="en-US" sz="2400"/>
          </a:p>
        </p:txBody>
      </p:sp>
      <p:sp>
        <p:nvSpPr>
          <p:cNvPr id="140" name="Rectangle 139"/>
          <p:cNvSpPr>
            <a:spLocks noChangeArrowheads="1"/>
          </p:cNvSpPr>
          <p:nvPr/>
        </p:nvSpPr>
        <p:spPr bwMode="auto">
          <a:xfrm>
            <a:off x="5356225" y="4137025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运行处理</a:t>
            </a:r>
            <a:endParaRPr lang="zh-CN" altLang="en-US" sz="2400"/>
          </a:p>
        </p:txBody>
      </p:sp>
      <p:sp>
        <p:nvSpPr>
          <p:cNvPr id="141" name="Rectangle 141"/>
          <p:cNvSpPr>
            <a:spLocks noChangeArrowheads="1"/>
          </p:cNvSpPr>
          <p:nvPr/>
        </p:nvSpPr>
        <p:spPr bwMode="auto">
          <a:xfrm>
            <a:off x="6867525" y="4137025"/>
            <a:ext cx="101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输入数据</a:t>
            </a:r>
            <a:endParaRPr lang="zh-CN" altLang="en-US" sz="2400"/>
          </a:p>
        </p:txBody>
      </p:sp>
      <p:grpSp>
        <p:nvGrpSpPr>
          <p:cNvPr id="142" name="Group 150"/>
          <p:cNvGrpSpPr>
            <a:grpSpLocks/>
          </p:cNvGrpSpPr>
          <p:nvPr/>
        </p:nvGrpSpPr>
        <p:grpSpPr bwMode="auto">
          <a:xfrm>
            <a:off x="4391025" y="1984375"/>
            <a:ext cx="571500" cy="38100"/>
            <a:chOff x="3085" y="1586"/>
            <a:chExt cx="360" cy="24"/>
          </a:xfrm>
        </p:grpSpPr>
        <p:sp>
          <p:nvSpPr>
            <p:cNvPr id="143" name="Freeform 142"/>
            <p:cNvSpPr>
              <a:spLocks noChangeArrowheads="1"/>
            </p:cNvSpPr>
            <p:nvPr/>
          </p:nvSpPr>
          <p:spPr bwMode="auto">
            <a:xfrm>
              <a:off x="3085" y="1586"/>
              <a:ext cx="24" cy="24"/>
            </a:xfrm>
            <a:custGeom>
              <a:avLst/>
              <a:gdLst>
                <a:gd name="T0" fmla="*/ 18 w 24"/>
                <a:gd name="T1" fmla="*/ 0 h 24"/>
                <a:gd name="T2" fmla="*/ 12 w 24"/>
                <a:gd name="T3" fmla="*/ 0 h 24"/>
                <a:gd name="T4" fmla="*/ 6 w 24"/>
                <a:gd name="T5" fmla="*/ 6 h 24"/>
                <a:gd name="T6" fmla="*/ 0 w 24"/>
                <a:gd name="T7" fmla="*/ 12 h 24"/>
                <a:gd name="T8" fmla="*/ 6 w 24"/>
                <a:gd name="T9" fmla="*/ 18 h 24"/>
                <a:gd name="T10" fmla="*/ 12 w 24"/>
                <a:gd name="T11" fmla="*/ 24 h 24"/>
                <a:gd name="T12" fmla="*/ 18 w 24"/>
                <a:gd name="T13" fmla="*/ 18 h 24"/>
                <a:gd name="T14" fmla="*/ 24 w 24"/>
                <a:gd name="T15" fmla="*/ 12 h 24"/>
                <a:gd name="T16" fmla="*/ 18 w 24"/>
                <a:gd name="T17" fmla="*/ 6 h 24"/>
                <a:gd name="T18" fmla="*/ 18 w 2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18" y="0"/>
                  </a:move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43"/>
            <p:cNvSpPr>
              <a:spLocks noChangeArrowheads="1"/>
            </p:cNvSpPr>
            <p:nvPr/>
          </p:nvSpPr>
          <p:spPr bwMode="auto">
            <a:xfrm>
              <a:off x="3133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44"/>
            <p:cNvSpPr>
              <a:spLocks noChangeArrowheads="1"/>
            </p:cNvSpPr>
            <p:nvPr/>
          </p:nvSpPr>
          <p:spPr bwMode="auto">
            <a:xfrm>
              <a:off x="3181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45"/>
            <p:cNvSpPr>
              <a:spLocks noChangeArrowheads="1"/>
            </p:cNvSpPr>
            <p:nvPr/>
          </p:nvSpPr>
          <p:spPr bwMode="auto">
            <a:xfrm>
              <a:off x="3229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146"/>
            <p:cNvSpPr>
              <a:spLocks noChangeArrowheads="1"/>
            </p:cNvSpPr>
            <p:nvPr/>
          </p:nvSpPr>
          <p:spPr bwMode="auto">
            <a:xfrm>
              <a:off x="3277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147"/>
            <p:cNvSpPr>
              <a:spLocks noChangeArrowheads="1"/>
            </p:cNvSpPr>
            <p:nvPr/>
          </p:nvSpPr>
          <p:spPr bwMode="auto">
            <a:xfrm>
              <a:off x="3325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148"/>
            <p:cNvSpPr>
              <a:spLocks noChangeArrowheads="1"/>
            </p:cNvSpPr>
            <p:nvPr/>
          </p:nvSpPr>
          <p:spPr bwMode="auto">
            <a:xfrm>
              <a:off x="3373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149"/>
            <p:cNvSpPr>
              <a:spLocks noChangeArrowheads="1"/>
            </p:cNvSpPr>
            <p:nvPr/>
          </p:nvSpPr>
          <p:spPr bwMode="auto">
            <a:xfrm>
              <a:off x="3421" y="1586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6 w 24"/>
                <a:gd name="T3" fmla="*/ 0 h 24"/>
                <a:gd name="T4" fmla="*/ 0 w 24"/>
                <a:gd name="T5" fmla="*/ 6 h 24"/>
                <a:gd name="T6" fmla="*/ 0 w 24"/>
                <a:gd name="T7" fmla="*/ 12 h 24"/>
                <a:gd name="T8" fmla="*/ 0 w 24"/>
                <a:gd name="T9" fmla="*/ 18 h 24"/>
                <a:gd name="T10" fmla="*/ 0 w 24"/>
                <a:gd name="T11" fmla="*/ 24 h 24"/>
                <a:gd name="T12" fmla="*/ 6 w 24"/>
                <a:gd name="T13" fmla="*/ 24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2 h 24"/>
                <a:gd name="T20" fmla="*/ 18 w 24"/>
                <a:gd name="T21" fmla="*/ 6 h 24"/>
                <a:gd name="T22" fmla="*/ 18 w 24"/>
                <a:gd name="T23" fmla="*/ 0 h 24"/>
                <a:gd name="T24" fmla="*/ 12 w 24"/>
                <a:gd name="T25" fmla="*/ 0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12" y="0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18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" name="Group 168"/>
          <p:cNvGrpSpPr>
            <a:grpSpLocks/>
          </p:cNvGrpSpPr>
          <p:nvPr/>
        </p:nvGrpSpPr>
        <p:grpSpPr bwMode="auto">
          <a:xfrm>
            <a:off x="6858000" y="1993900"/>
            <a:ext cx="38100" cy="1257300"/>
            <a:chOff x="4639" y="1592"/>
            <a:chExt cx="24" cy="792"/>
          </a:xfrm>
        </p:grpSpPr>
        <p:sp>
          <p:nvSpPr>
            <p:cNvPr id="152" name="Freeform 151"/>
            <p:cNvSpPr>
              <a:spLocks noChangeArrowheads="1"/>
            </p:cNvSpPr>
            <p:nvPr/>
          </p:nvSpPr>
          <p:spPr bwMode="auto">
            <a:xfrm>
              <a:off x="4639" y="1592"/>
              <a:ext cx="24" cy="24"/>
            </a:xfrm>
            <a:custGeom>
              <a:avLst/>
              <a:gdLst>
                <a:gd name="T0" fmla="*/ 24 w 24"/>
                <a:gd name="T1" fmla="*/ 18 h 24"/>
                <a:gd name="T2" fmla="*/ 24 w 24"/>
                <a:gd name="T3" fmla="*/ 12 h 24"/>
                <a:gd name="T4" fmla="*/ 18 w 24"/>
                <a:gd name="T5" fmla="*/ 6 h 24"/>
                <a:gd name="T6" fmla="*/ 12 w 24"/>
                <a:gd name="T7" fmla="*/ 0 h 24"/>
                <a:gd name="T8" fmla="*/ 6 w 24"/>
                <a:gd name="T9" fmla="*/ 6 h 24"/>
                <a:gd name="T10" fmla="*/ 0 w 24"/>
                <a:gd name="T11" fmla="*/ 12 h 24"/>
                <a:gd name="T12" fmla="*/ 6 w 24"/>
                <a:gd name="T13" fmla="*/ 18 h 24"/>
                <a:gd name="T14" fmla="*/ 12 w 24"/>
                <a:gd name="T15" fmla="*/ 24 h 24"/>
                <a:gd name="T16" fmla="*/ 18 w 24"/>
                <a:gd name="T17" fmla="*/ 18 h 24"/>
                <a:gd name="T18" fmla="*/ 24 w 24"/>
                <a:gd name="T19" fmla="*/ 18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24" y="18"/>
                  </a:moveTo>
                  <a:lnTo>
                    <a:pt x="24" y="12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52"/>
            <p:cNvSpPr>
              <a:spLocks noChangeArrowheads="1"/>
            </p:cNvSpPr>
            <p:nvPr/>
          </p:nvSpPr>
          <p:spPr bwMode="auto">
            <a:xfrm>
              <a:off x="4639" y="164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153"/>
            <p:cNvSpPr>
              <a:spLocks noChangeArrowheads="1"/>
            </p:cNvSpPr>
            <p:nvPr/>
          </p:nvSpPr>
          <p:spPr bwMode="auto">
            <a:xfrm>
              <a:off x="4639" y="168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154"/>
            <p:cNvSpPr>
              <a:spLocks noChangeArrowheads="1"/>
            </p:cNvSpPr>
            <p:nvPr/>
          </p:nvSpPr>
          <p:spPr bwMode="auto">
            <a:xfrm>
              <a:off x="4639" y="173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155"/>
            <p:cNvSpPr>
              <a:spLocks noChangeArrowheads="1"/>
            </p:cNvSpPr>
            <p:nvPr/>
          </p:nvSpPr>
          <p:spPr bwMode="auto">
            <a:xfrm>
              <a:off x="4639" y="178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156"/>
            <p:cNvSpPr>
              <a:spLocks noChangeArrowheads="1"/>
            </p:cNvSpPr>
            <p:nvPr/>
          </p:nvSpPr>
          <p:spPr bwMode="auto">
            <a:xfrm>
              <a:off x="4639" y="183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157"/>
            <p:cNvSpPr>
              <a:spLocks noChangeArrowheads="1"/>
            </p:cNvSpPr>
            <p:nvPr/>
          </p:nvSpPr>
          <p:spPr bwMode="auto">
            <a:xfrm>
              <a:off x="4639" y="188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158"/>
            <p:cNvSpPr>
              <a:spLocks noChangeArrowheads="1"/>
            </p:cNvSpPr>
            <p:nvPr/>
          </p:nvSpPr>
          <p:spPr bwMode="auto">
            <a:xfrm>
              <a:off x="4639" y="192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159"/>
            <p:cNvSpPr>
              <a:spLocks noChangeArrowheads="1"/>
            </p:cNvSpPr>
            <p:nvPr/>
          </p:nvSpPr>
          <p:spPr bwMode="auto">
            <a:xfrm>
              <a:off x="4639" y="197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160"/>
            <p:cNvSpPr>
              <a:spLocks noChangeArrowheads="1"/>
            </p:cNvSpPr>
            <p:nvPr/>
          </p:nvSpPr>
          <p:spPr bwMode="auto">
            <a:xfrm>
              <a:off x="4639" y="202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161"/>
            <p:cNvSpPr>
              <a:spLocks noChangeArrowheads="1"/>
            </p:cNvSpPr>
            <p:nvPr/>
          </p:nvSpPr>
          <p:spPr bwMode="auto">
            <a:xfrm>
              <a:off x="4639" y="207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162"/>
            <p:cNvSpPr>
              <a:spLocks noChangeArrowheads="1"/>
            </p:cNvSpPr>
            <p:nvPr/>
          </p:nvSpPr>
          <p:spPr bwMode="auto">
            <a:xfrm>
              <a:off x="4639" y="212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163"/>
            <p:cNvSpPr>
              <a:spLocks noChangeArrowheads="1"/>
            </p:cNvSpPr>
            <p:nvPr/>
          </p:nvSpPr>
          <p:spPr bwMode="auto">
            <a:xfrm>
              <a:off x="4639" y="2168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164"/>
            <p:cNvSpPr>
              <a:spLocks noChangeArrowheads="1"/>
            </p:cNvSpPr>
            <p:nvPr/>
          </p:nvSpPr>
          <p:spPr bwMode="auto">
            <a:xfrm>
              <a:off x="4639" y="2216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165"/>
            <p:cNvSpPr>
              <a:spLocks noChangeArrowheads="1"/>
            </p:cNvSpPr>
            <p:nvPr/>
          </p:nvSpPr>
          <p:spPr bwMode="auto">
            <a:xfrm>
              <a:off x="4639" y="2264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166"/>
            <p:cNvSpPr>
              <a:spLocks noChangeArrowheads="1"/>
            </p:cNvSpPr>
            <p:nvPr/>
          </p:nvSpPr>
          <p:spPr bwMode="auto">
            <a:xfrm>
              <a:off x="4639" y="2312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167"/>
            <p:cNvSpPr>
              <a:spLocks noChangeArrowheads="1"/>
            </p:cNvSpPr>
            <p:nvPr/>
          </p:nvSpPr>
          <p:spPr bwMode="auto">
            <a:xfrm>
              <a:off x="4639" y="2360"/>
              <a:ext cx="24" cy="24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6 h 24"/>
                <a:gd name="T4" fmla="*/ 24 w 24"/>
                <a:gd name="T5" fmla="*/ 0 h 24"/>
                <a:gd name="T6" fmla="*/ 18 w 24"/>
                <a:gd name="T7" fmla="*/ 0 h 24"/>
                <a:gd name="T8" fmla="*/ 12 w 24"/>
                <a:gd name="T9" fmla="*/ 0 h 24"/>
                <a:gd name="T10" fmla="*/ 6 w 24"/>
                <a:gd name="T11" fmla="*/ 0 h 24"/>
                <a:gd name="T12" fmla="*/ 0 w 24"/>
                <a:gd name="T13" fmla="*/ 6 h 24"/>
                <a:gd name="T14" fmla="*/ 0 w 24"/>
                <a:gd name="T15" fmla="*/ 12 h 24"/>
                <a:gd name="T16" fmla="*/ 6 w 24"/>
                <a:gd name="T17" fmla="*/ 18 h 24"/>
                <a:gd name="T18" fmla="*/ 12 w 24"/>
                <a:gd name="T19" fmla="*/ 24 h 24"/>
                <a:gd name="T20" fmla="*/ 18 w 24"/>
                <a:gd name="T21" fmla="*/ 18 h 24"/>
                <a:gd name="T22" fmla="*/ 24 w 24"/>
                <a:gd name="T23" fmla="*/ 18 h 24"/>
                <a:gd name="T24" fmla="*/ 24 w 24"/>
                <a:gd name="T25" fmla="*/ 12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lnTo>
                    <a:pt x="24" y="6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24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9" name="Line 169"/>
          <p:cNvSpPr>
            <a:spLocks noChangeShapeType="1"/>
          </p:cNvSpPr>
          <p:nvPr/>
        </p:nvSpPr>
        <p:spPr bwMode="auto">
          <a:xfrm>
            <a:off x="6877050" y="2003425"/>
            <a:ext cx="1000125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" name="Line 170"/>
          <p:cNvSpPr>
            <a:spLocks noChangeShapeType="1"/>
          </p:cNvSpPr>
          <p:nvPr/>
        </p:nvSpPr>
        <p:spPr bwMode="auto">
          <a:xfrm>
            <a:off x="3362325" y="2003425"/>
            <a:ext cx="990600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81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多道程序设计的特点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多道</a:t>
            </a:r>
            <a:r>
              <a:rPr lang="zh-CN" altLang="en-US" dirty="0"/>
              <a:t>：计算机内存中同时存放多道相互独立的</a:t>
            </a:r>
            <a:r>
              <a:rPr lang="zh-CN" altLang="en-US" dirty="0" smtClean="0"/>
              <a:t>程序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宏观上并行</a:t>
            </a:r>
            <a:r>
              <a:rPr lang="zh-CN" altLang="en-US" dirty="0"/>
              <a:t>：同时进入系统的多道程序都处于运行过程中，即它们先后开始了各自的运行，但都未运行</a:t>
            </a:r>
            <a:r>
              <a:rPr lang="zh-CN" altLang="en-US" dirty="0" smtClean="0"/>
              <a:t>完毕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微观上串行</a:t>
            </a:r>
            <a:r>
              <a:rPr lang="zh-CN" altLang="en-US" dirty="0"/>
              <a:t>：内存中的多道程序轮流占有 </a:t>
            </a:r>
            <a:r>
              <a:rPr lang="en-US" altLang="zh-CN" dirty="0"/>
              <a:t>CPU</a:t>
            </a:r>
            <a:r>
              <a:rPr lang="zh-CN" altLang="en-US" dirty="0"/>
              <a:t>，交替</a:t>
            </a:r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47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多道批处理</a:t>
            </a:r>
            <a:r>
              <a:rPr lang="zh-CN" altLang="en-US" dirty="0" smtClean="0"/>
              <a:t>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多道，必然涉及复杂的</a:t>
            </a:r>
            <a:r>
              <a:rPr lang="zh-CN" altLang="en-US" dirty="0" smtClean="0"/>
              <a:t>协调</a:t>
            </a:r>
            <a:endParaRPr lang="zh-CN" altLang="en-US" dirty="0"/>
          </a:p>
          <a:p>
            <a:pPr lvl="1"/>
            <a:r>
              <a:rPr lang="zh-CN" altLang="en-US" dirty="0"/>
              <a:t>处理机管理：如何分配回收处理机</a:t>
            </a:r>
          </a:p>
          <a:p>
            <a:pPr lvl="1"/>
            <a:r>
              <a:rPr lang="zh-CN" altLang="en-US" dirty="0"/>
              <a:t>内存管理：内存分配回收，信息保护</a:t>
            </a:r>
          </a:p>
          <a:p>
            <a:pPr lvl="1"/>
            <a:r>
              <a:rPr lang="zh-CN" altLang="en-US" dirty="0"/>
              <a:t>设备管理：设备分配回收、缓冲管理</a:t>
            </a:r>
          </a:p>
          <a:p>
            <a:pPr lvl="1"/>
            <a:r>
              <a:rPr lang="zh-CN" altLang="en-US" dirty="0"/>
              <a:t>文件管理：文件存储、共享保护及检索</a:t>
            </a:r>
          </a:p>
          <a:p>
            <a:pPr lvl="1"/>
            <a:r>
              <a:rPr lang="zh-CN" altLang="en-US" dirty="0"/>
              <a:t>作业管理：作业合理搭配（如</a:t>
            </a:r>
            <a:r>
              <a:rPr lang="en-US" altLang="zh-CN" dirty="0"/>
              <a:t>CPU</a:t>
            </a:r>
            <a:r>
              <a:rPr lang="zh-CN" altLang="en-US" dirty="0"/>
              <a:t>型与</a:t>
            </a:r>
            <a:r>
              <a:rPr lang="en-US" altLang="zh-CN" dirty="0"/>
              <a:t>I/O</a:t>
            </a:r>
            <a:r>
              <a:rPr lang="zh-CN" altLang="en-US" dirty="0"/>
              <a:t>型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上述协调问题解决好了，就是操作系统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486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多道批处理</a:t>
            </a:r>
            <a:r>
              <a:rPr lang="zh-CN" altLang="en-US" dirty="0" smtClean="0"/>
              <a:t>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在批处理系统中引入多道程序设计</a:t>
            </a:r>
            <a:r>
              <a:rPr lang="zh-CN" altLang="en-US" dirty="0" smtClean="0"/>
              <a:t>技术，就形成多道</a:t>
            </a:r>
            <a:r>
              <a:rPr lang="zh-CN" altLang="en-US" dirty="0"/>
              <a:t>批处理系统</a:t>
            </a:r>
            <a:endParaRPr lang="en-US" altLang="zh-CN" dirty="0" smtClean="0"/>
          </a:p>
          <a:p>
            <a:r>
              <a:rPr lang="zh-CN" altLang="en-US" dirty="0" smtClean="0"/>
              <a:t>特点</a:t>
            </a:r>
            <a:endParaRPr lang="zh-CN" altLang="en-US" dirty="0"/>
          </a:p>
          <a:p>
            <a:pPr lvl="1"/>
            <a:r>
              <a:rPr lang="zh-CN" altLang="en-US" dirty="0" smtClean="0"/>
              <a:t>用于计算而非交互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核心</a:t>
            </a:r>
            <a:r>
              <a:rPr lang="zh-CN" altLang="en-US" dirty="0"/>
              <a:t>诉</a:t>
            </a:r>
            <a:r>
              <a:rPr lang="zh-CN" altLang="en-US" dirty="0" smtClean="0"/>
              <a:t>求</a:t>
            </a:r>
            <a:r>
              <a:rPr lang="zh-CN" altLang="en-US" dirty="0"/>
              <a:t>：</a:t>
            </a:r>
            <a:r>
              <a:rPr lang="zh-CN" altLang="en-US" dirty="0" smtClean="0"/>
              <a:t>提高利用率，避免</a:t>
            </a:r>
            <a:r>
              <a:rPr lang="en-US" altLang="zh-CN" dirty="0"/>
              <a:t>CPU</a:t>
            </a:r>
            <a:r>
              <a:rPr lang="zh-CN" altLang="en-US" dirty="0"/>
              <a:t>空等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发生切换是因为当前程序暂时无法</a:t>
            </a:r>
            <a:r>
              <a:rPr lang="zh-CN" altLang="en-US" dirty="0" smtClean="0"/>
              <a:t>执行</a:t>
            </a:r>
            <a:endParaRPr lang="en-US" altLang="zh-CN" dirty="0" smtClean="0"/>
          </a:p>
          <a:p>
            <a:pPr lvl="1"/>
            <a:r>
              <a:rPr lang="zh-CN" altLang="en-US" dirty="0"/>
              <a:t>无序性：进入顺序与完成顺序无严格对应关系。</a:t>
            </a:r>
          </a:p>
          <a:p>
            <a:pPr lvl="1"/>
            <a:r>
              <a:rPr lang="zh-CN" altLang="en-US" dirty="0"/>
              <a:t>调度性：作业从提交到完成经历两级调度：作业调度、进程调度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67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作业与作业调度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en-US" altLang="zh-CN" dirty="0" smtClean="0"/>
          </a:p>
          <a:p>
            <a:pPr lvl="1"/>
            <a:r>
              <a:rPr lang="zh-CN" altLang="en-US" dirty="0"/>
              <a:t>位于</a:t>
            </a:r>
            <a:r>
              <a:rPr lang="zh-CN" altLang="en-US" dirty="0" smtClean="0"/>
              <a:t>磁带</a:t>
            </a:r>
            <a:r>
              <a:rPr lang="zh-CN" altLang="en-US" dirty="0"/>
              <a:t>上</a:t>
            </a:r>
            <a:r>
              <a:rPr lang="zh-CN" altLang="en-US" dirty="0" smtClean="0"/>
              <a:t>，</a:t>
            </a:r>
            <a:r>
              <a:rPr lang="zh-CN" altLang="en-US" dirty="0"/>
              <a:t>有选择</a:t>
            </a:r>
            <a:r>
              <a:rPr lang="zh-CN" altLang="en-US" dirty="0" smtClean="0"/>
              <a:t>地被装入内存</a:t>
            </a:r>
            <a:endParaRPr lang="en-US" altLang="zh-CN" dirty="0" smtClean="0"/>
          </a:p>
          <a:p>
            <a:pPr lvl="2"/>
            <a:r>
              <a:rPr lang="zh-CN" altLang="en-US" dirty="0"/>
              <a:t>广义：不一定磁带，只要有“后备队列”，开始运行前有调度选拔过程即可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计算</a:t>
            </a:r>
            <a:r>
              <a:rPr lang="zh-CN" altLang="en-US" dirty="0"/>
              <a:t>任务，有“提交”和</a:t>
            </a:r>
            <a:r>
              <a:rPr lang="zh-CN" altLang="en-US" dirty="0" smtClean="0"/>
              <a:t>“完成”</a:t>
            </a:r>
            <a:endParaRPr lang="en-US" altLang="zh-CN" dirty="0" smtClean="0"/>
          </a:p>
          <a:p>
            <a:r>
              <a:rPr lang="zh-CN" altLang="en-US" dirty="0" smtClean="0"/>
              <a:t>作业调度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从磁带上选择哪些</a:t>
            </a:r>
            <a:r>
              <a:rPr lang="zh-CN" altLang="en-US" dirty="0"/>
              <a:t>作业可被载入</a:t>
            </a:r>
            <a:r>
              <a:rPr lang="zh-CN" altLang="en-US" dirty="0" smtClean="0"/>
              <a:t>内存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载入内存后即成为进程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进程调度：内存</a:t>
            </a:r>
            <a:r>
              <a:rPr lang="zh-CN" altLang="en-US" dirty="0"/>
              <a:t>中的哪个进程可被</a:t>
            </a:r>
            <a:r>
              <a:rPr lang="en-US" altLang="zh-CN" dirty="0"/>
              <a:t>CPU</a:t>
            </a:r>
            <a:r>
              <a:rPr lang="zh-CN" altLang="en-US" dirty="0"/>
              <a:t>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087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分时技术</a:t>
            </a:r>
            <a:endParaRPr lang="zh-CN" altLang="en-US" dirty="0"/>
          </a:p>
          <a:p>
            <a:pPr lvl="1"/>
            <a:r>
              <a:rPr lang="zh-CN" altLang="en-US" dirty="0"/>
              <a:t>把处理机的运行时间分成很短的</a:t>
            </a:r>
            <a:r>
              <a:rPr lang="zh-CN" altLang="en-US" dirty="0" smtClean="0"/>
              <a:t>时间片（</a:t>
            </a:r>
            <a:r>
              <a:rPr lang="en-US" altLang="zh-CN" dirty="0" smtClean="0"/>
              <a:t>100ms</a:t>
            </a:r>
            <a:r>
              <a:rPr lang="zh-CN" altLang="en-US" dirty="0" smtClean="0"/>
              <a:t>以内），轮流</a:t>
            </a:r>
            <a:r>
              <a:rPr lang="zh-CN" altLang="en-US" dirty="0"/>
              <a:t>把处理机分配给各联机作业</a:t>
            </a:r>
            <a:r>
              <a:rPr lang="zh-CN" altLang="en-US" dirty="0" smtClean="0"/>
              <a:t>使用</a:t>
            </a:r>
            <a:endParaRPr lang="zh-CN" altLang="en-US" dirty="0"/>
          </a:p>
          <a:p>
            <a:pPr lvl="1"/>
            <a:r>
              <a:rPr lang="zh-CN" altLang="en-US" dirty="0"/>
              <a:t>若某个作业在分配给它的时间片内不能完成其计算，则该作业暂停运行，把处理机让给另一个作业使用，等待下一轮时再继续其</a:t>
            </a:r>
            <a:r>
              <a:rPr lang="zh-CN" altLang="en-US" dirty="0" smtClean="0"/>
              <a:t>运行</a:t>
            </a:r>
            <a:endParaRPr lang="en-US" altLang="zh-CN" dirty="0" smtClean="0"/>
          </a:p>
          <a:p>
            <a:r>
              <a:rPr lang="zh-CN" altLang="en-US" dirty="0"/>
              <a:t>时间片机制怎么实现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应用程序</a:t>
            </a:r>
            <a:r>
              <a:rPr lang="zh-CN" altLang="en-US" dirty="0"/>
              <a:t>执行一段时间就主动释放</a:t>
            </a:r>
            <a:r>
              <a:rPr lang="en-US" altLang="zh-CN" dirty="0"/>
              <a:t>CPU</a:t>
            </a:r>
            <a:r>
              <a:rPr lang="zh-CN" altLang="en-US" dirty="0"/>
              <a:t>？</a:t>
            </a:r>
          </a:p>
          <a:p>
            <a:pPr lvl="1"/>
            <a:r>
              <a:rPr lang="zh-CN" altLang="en-US" dirty="0" smtClean="0"/>
              <a:t>分配</a:t>
            </a:r>
            <a:r>
              <a:rPr lang="en-US" altLang="zh-CN" dirty="0"/>
              <a:t>CPU</a:t>
            </a:r>
            <a:r>
              <a:rPr lang="zh-CN" altLang="en-US" dirty="0"/>
              <a:t>前上好闹钟（回顾：中断机制，硬件由系统</a:t>
            </a:r>
            <a:r>
              <a:rPr lang="zh-CN" altLang="en-US" dirty="0" smtClean="0"/>
              <a:t>管理）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79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分时技术示意图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假设系统中有</a:t>
            </a:r>
            <a:r>
              <a:rPr lang="en-US" altLang="zh-CN" dirty="0"/>
              <a:t>4</a:t>
            </a:r>
            <a:r>
              <a:rPr lang="zh-CN" altLang="en-US" dirty="0"/>
              <a:t>个联机</a:t>
            </a:r>
            <a:r>
              <a:rPr lang="zh-CN" altLang="en-US" dirty="0" smtClean="0"/>
              <a:t>用户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81000" y="1889125"/>
            <a:ext cx="848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时间片  运行         就绪队列</a:t>
            </a:r>
            <a:r>
              <a:rPr lang="en-US" altLang="zh-CN" sz="2400"/>
              <a:t>              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57200" y="3136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1</a:t>
            </a:r>
          </a:p>
        </p:txBody>
      </p: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3176588" y="2451100"/>
            <a:ext cx="5791200" cy="457200"/>
            <a:chOff x="1905" y="1448"/>
            <a:chExt cx="3648" cy="28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1905" y="1448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用户1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913" y="1448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用户2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921" y="1448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用户3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929" y="1448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用户4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529" y="1592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536" y="1592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4545" y="1592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62"/>
          <p:cNvGrpSpPr>
            <a:grpSpLocks/>
          </p:cNvGrpSpPr>
          <p:nvPr/>
        </p:nvGrpSpPr>
        <p:grpSpPr bwMode="auto">
          <a:xfrm>
            <a:off x="1295400" y="3136900"/>
            <a:ext cx="6107113" cy="457200"/>
            <a:chOff x="720" y="1880"/>
            <a:chExt cx="3847" cy="288"/>
          </a:xfrm>
        </p:grpSpPr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720" y="188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用户1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927" y="188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用户2</a:t>
              </a: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935" y="188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用户3</a:t>
              </a: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943" y="188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用户4</a:t>
              </a:r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2550" y="202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3559" y="202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457200" y="3898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2</a:t>
            </a:r>
          </a:p>
        </p:txBody>
      </p:sp>
      <p:grpSp>
        <p:nvGrpSpPr>
          <p:cNvPr id="23" name="Group 64"/>
          <p:cNvGrpSpPr>
            <a:grpSpLocks/>
          </p:cNvGrpSpPr>
          <p:nvPr/>
        </p:nvGrpSpPr>
        <p:grpSpPr bwMode="auto">
          <a:xfrm>
            <a:off x="1295400" y="3898900"/>
            <a:ext cx="6107113" cy="457200"/>
            <a:chOff x="720" y="2360"/>
            <a:chExt cx="3847" cy="288"/>
          </a:xfrm>
        </p:grpSpPr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720" y="236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用户2</a:t>
              </a: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927" y="236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用户3</a:t>
              </a: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935" y="236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用户4</a:t>
              </a: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3943" y="236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用户1</a:t>
              </a:r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2550" y="250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>
              <a:off x="3559" y="250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Rectangle 31"/>
          <p:cNvSpPr>
            <a:spLocks noChangeArrowheads="1"/>
          </p:cNvSpPr>
          <p:nvPr/>
        </p:nvSpPr>
        <p:spPr bwMode="auto">
          <a:xfrm>
            <a:off x="457200" y="4660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3</a:t>
            </a:r>
          </a:p>
        </p:txBody>
      </p:sp>
      <p:grpSp>
        <p:nvGrpSpPr>
          <p:cNvPr id="31" name="Group 65"/>
          <p:cNvGrpSpPr>
            <a:grpSpLocks/>
          </p:cNvGrpSpPr>
          <p:nvPr/>
        </p:nvGrpSpPr>
        <p:grpSpPr bwMode="auto">
          <a:xfrm>
            <a:off x="1295400" y="4660900"/>
            <a:ext cx="6072188" cy="457200"/>
            <a:chOff x="720" y="2840"/>
            <a:chExt cx="3825" cy="288"/>
          </a:xfrm>
        </p:grpSpPr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720" y="284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用户3</a:t>
              </a: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1905" y="284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用户4</a:t>
              </a:r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2913" y="284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用户1</a:t>
              </a:r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3921" y="284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用户2</a:t>
              </a: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528" y="298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3537" y="298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457200" y="5422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4</a:t>
            </a:r>
          </a:p>
        </p:txBody>
      </p:sp>
      <p:grpSp>
        <p:nvGrpSpPr>
          <p:cNvPr id="39" name="Group 66"/>
          <p:cNvGrpSpPr>
            <a:grpSpLocks/>
          </p:cNvGrpSpPr>
          <p:nvPr/>
        </p:nvGrpSpPr>
        <p:grpSpPr bwMode="auto">
          <a:xfrm>
            <a:off x="1295400" y="5422900"/>
            <a:ext cx="6072188" cy="457200"/>
            <a:chOff x="720" y="3320"/>
            <a:chExt cx="3825" cy="288"/>
          </a:xfrm>
        </p:grpSpPr>
        <p:sp>
          <p:nvSpPr>
            <p:cNvPr id="40" name="Rectangle 40"/>
            <p:cNvSpPr>
              <a:spLocks noChangeArrowheads="1"/>
            </p:cNvSpPr>
            <p:nvPr/>
          </p:nvSpPr>
          <p:spPr bwMode="auto">
            <a:xfrm>
              <a:off x="720" y="332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用户4</a:t>
              </a:r>
            </a:p>
          </p:txBody>
        </p:sp>
        <p:sp>
          <p:nvSpPr>
            <p:cNvPr id="41" name="Rectangle 41"/>
            <p:cNvSpPr>
              <a:spLocks noChangeArrowheads="1"/>
            </p:cNvSpPr>
            <p:nvPr/>
          </p:nvSpPr>
          <p:spPr bwMode="auto">
            <a:xfrm>
              <a:off x="1905" y="332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用户1</a:t>
              </a:r>
            </a:p>
          </p:txBody>
        </p:sp>
        <p:sp>
          <p:nvSpPr>
            <p:cNvPr id="42" name="Rectangle 42"/>
            <p:cNvSpPr>
              <a:spLocks noChangeArrowheads="1"/>
            </p:cNvSpPr>
            <p:nvPr/>
          </p:nvSpPr>
          <p:spPr bwMode="auto">
            <a:xfrm>
              <a:off x="2913" y="332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用户2</a:t>
              </a:r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3921" y="332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用户3</a:t>
              </a: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2528" y="346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3537" y="346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Rectangle 47"/>
          <p:cNvSpPr>
            <a:spLocks noChangeArrowheads="1"/>
          </p:cNvSpPr>
          <p:nvPr/>
        </p:nvSpPr>
        <p:spPr bwMode="auto">
          <a:xfrm>
            <a:off x="455613" y="61849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5</a:t>
            </a:r>
          </a:p>
        </p:txBody>
      </p:sp>
      <p:grpSp>
        <p:nvGrpSpPr>
          <p:cNvPr id="47" name="Group 67"/>
          <p:cNvGrpSpPr>
            <a:grpSpLocks/>
          </p:cNvGrpSpPr>
          <p:nvPr/>
        </p:nvGrpSpPr>
        <p:grpSpPr bwMode="auto">
          <a:xfrm>
            <a:off x="1293813" y="6184900"/>
            <a:ext cx="6073775" cy="457200"/>
            <a:chOff x="719" y="3800"/>
            <a:chExt cx="3826" cy="288"/>
          </a:xfrm>
        </p:grpSpPr>
        <p:sp>
          <p:nvSpPr>
            <p:cNvPr id="48" name="Rectangle 48"/>
            <p:cNvSpPr>
              <a:spLocks noChangeArrowheads="1"/>
            </p:cNvSpPr>
            <p:nvPr/>
          </p:nvSpPr>
          <p:spPr bwMode="auto">
            <a:xfrm>
              <a:off x="719" y="380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用户1</a:t>
              </a:r>
            </a:p>
          </p:txBody>
        </p:sp>
        <p:sp>
          <p:nvSpPr>
            <p:cNvPr id="49" name="Rectangle 49"/>
            <p:cNvSpPr>
              <a:spLocks noChangeArrowheads="1"/>
            </p:cNvSpPr>
            <p:nvPr/>
          </p:nvSpPr>
          <p:spPr bwMode="auto">
            <a:xfrm>
              <a:off x="1905" y="380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用户2</a:t>
              </a:r>
            </a:p>
          </p:txBody>
        </p:sp>
        <p:sp>
          <p:nvSpPr>
            <p:cNvPr id="50" name="Rectangle 50"/>
            <p:cNvSpPr>
              <a:spLocks noChangeArrowheads="1"/>
            </p:cNvSpPr>
            <p:nvPr/>
          </p:nvSpPr>
          <p:spPr bwMode="auto">
            <a:xfrm>
              <a:off x="2913" y="380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用户3</a:t>
              </a:r>
            </a:p>
          </p:txBody>
        </p:sp>
        <p:sp>
          <p:nvSpPr>
            <p:cNvPr id="51" name="Rectangle 51"/>
            <p:cNvSpPr>
              <a:spLocks noChangeArrowheads="1"/>
            </p:cNvSpPr>
            <p:nvPr/>
          </p:nvSpPr>
          <p:spPr bwMode="auto">
            <a:xfrm>
              <a:off x="3921" y="3800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用户4</a:t>
              </a: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>
              <a:off x="2528" y="394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4"/>
            <p:cNvSpPr>
              <a:spLocks noChangeShapeType="1"/>
            </p:cNvSpPr>
            <p:nvPr/>
          </p:nvSpPr>
          <p:spPr bwMode="auto">
            <a:xfrm>
              <a:off x="3537" y="3944"/>
              <a:ext cx="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Rectangle 63"/>
          <p:cNvSpPr>
            <a:spLocks noChangeArrowheads="1"/>
          </p:cNvSpPr>
          <p:nvPr/>
        </p:nvSpPr>
        <p:spPr bwMode="auto">
          <a:xfrm>
            <a:off x="476250" y="25368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5090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30" grpId="0"/>
      <p:bldP spid="38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发展</a:t>
            </a:r>
            <a:r>
              <a:rPr lang="zh-CN" altLang="en-US" dirty="0" smtClean="0"/>
              <a:t>动力与主要特点</a:t>
            </a:r>
            <a:endParaRPr lang="zh-CN" altLang="en-US" dirty="0"/>
          </a:p>
          <a:p>
            <a:pPr lvl="1"/>
            <a:r>
              <a:rPr lang="zh-CN" altLang="en-US" dirty="0" smtClean="0"/>
              <a:t>交互设备发展：</a:t>
            </a:r>
            <a:r>
              <a:rPr lang="zh-CN" altLang="en-US" dirty="0"/>
              <a:t>键盘、屏幕（称为一个“终端”）被连接到计算机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共享主机：机器昂贵，多人多终端连接主机</a:t>
            </a:r>
          </a:p>
          <a:p>
            <a:pPr lvl="1"/>
            <a:r>
              <a:rPr lang="zh-CN" altLang="en-US" dirty="0" smtClean="0"/>
              <a:t>人机交互：通过</a:t>
            </a:r>
            <a:r>
              <a:rPr lang="zh-CN" altLang="en-US" dirty="0"/>
              <a:t>时间片轮转的方式使用</a:t>
            </a:r>
            <a:r>
              <a:rPr lang="en-US" altLang="zh-CN" dirty="0"/>
              <a:t>CPU</a:t>
            </a:r>
            <a:r>
              <a:rPr lang="zh-CN" altLang="en-US" dirty="0" smtClean="0"/>
              <a:t>，用户输入的命令在短</a:t>
            </a:r>
            <a:r>
              <a:rPr lang="zh-CN" altLang="en-US" dirty="0"/>
              <a:t>时间内可以获得响应</a:t>
            </a:r>
            <a:r>
              <a:rPr lang="zh-CN" altLang="en-US" dirty="0" smtClean="0"/>
              <a:t>，使用户感觉“独占”计算机资源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55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与</a:t>
            </a:r>
            <a:r>
              <a:rPr lang="zh-CN" altLang="en-US" dirty="0"/>
              <a:t>批处理的主要</a:t>
            </a:r>
            <a:r>
              <a:rPr lang="zh-CN" altLang="en-US" dirty="0" smtClean="0"/>
              <a:t>区别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批处理：作业一直占据</a:t>
            </a:r>
            <a:r>
              <a:rPr lang="en-US" altLang="zh-CN" dirty="0" smtClean="0"/>
              <a:t>CPU</a:t>
            </a:r>
            <a:r>
              <a:rPr lang="zh-CN" altLang="en-US" dirty="0" smtClean="0"/>
              <a:t>，</a:t>
            </a:r>
            <a:r>
              <a:rPr lang="zh-CN" altLang="en-US" dirty="0"/>
              <a:t>运行够了才</a:t>
            </a:r>
            <a:r>
              <a:rPr lang="zh-CN" altLang="en-US" dirty="0" smtClean="0"/>
              <a:t>释放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因而无法保证及时响应，没有交互能力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分时：系统</a:t>
            </a:r>
            <a:r>
              <a:rPr lang="zh-CN" altLang="en-US" dirty="0"/>
              <a:t>决定时间片</a:t>
            </a:r>
            <a:r>
              <a:rPr lang="zh-CN" altLang="en-US" dirty="0" smtClean="0"/>
              <a:t>长度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grpSp>
        <p:nvGrpSpPr>
          <p:cNvPr id="5" name="画布 1"/>
          <p:cNvGrpSpPr/>
          <p:nvPr/>
        </p:nvGrpSpPr>
        <p:grpSpPr>
          <a:xfrm>
            <a:off x="1387475" y="3397250"/>
            <a:ext cx="6346825" cy="3155950"/>
            <a:chOff x="0" y="0"/>
            <a:chExt cx="4006850" cy="1873250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4006850" cy="1873250"/>
            </a:xfrm>
            <a:prstGeom prst="rect">
              <a:avLst/>
            </a:prstGeom>
          </p:spPr>
        </p:sp>
        <p:grpSp>
          <p:nvGrpSpPr>
            <p:cNvPr id="7" name="组合 6"/>
            <p:cNvGrpSpPr/>
            <p:nvPr/>
          </p:nvGrpSpPr>
          <p:grpSpPr>
            <a:xfrm>
              <a:off x="93149" y="87040"/>
              <a:ext cx="3829050" cy="1636146"/>
              <a:chOff x="1214415" y="280965"/>
              <a:chExt cx="3829050" cy="1636146"/>
            </a:xfrm>
          </p:grpSpPr>
          <p:sp>
            <p:nvSpPr>
              <p:cNvPr id="8" name="文本框 2"/>
              <p:cNvSpPr txBox="1"/>
              <p:nvPr/>
            </p:nvSpPr>
            <p:spPr>
              <a:xfrm>
                <a:off x="2266950" y="285750"/>
                <a:ext cx="45656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 kern="10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手动</a:t>
                </a:r>
              </a:p>
            </p:txBody>
          </p:sp>
          <p:sp>
            <p:nvSpPr>
              <p:cNvPr id="9" name="文本框 2"/>
              <p:cNvSpPr txBox="1"/>
              <p:nvPr/>
            </p:nvSpPr>
            <p:spPr>
              <a:xfrm>
                <a:off x="2266950" y="656250"/>
                <a:ext cx="85661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单道批处理</a:t>
                </a:r>
                <a:endPara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" name="文本框 2"/>
              <p:cNvSpPr txBox="1"/>
              <p:nvPr/>
            </p:nvSpPr>
            <p:spPr>
              <a:xfrm>
                <a:off x="2266950" y="1072225"/>
                <a:ext cx="85661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多道批处理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1" name="文本框 2"/>
              <p:cNvSpPr txBox="1"/>
              <p:nvPr/>
            </p:nvSpPr>
            <p:spPr>
              <a:xfrm>
                <a:off x="2266950" y="1602645"/>
                <a:ext cx="45656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分时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362200" y="590550"/>
                <a:ext cx="16129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2"/>
              <p:cNvSpPr txBox="1"/>
              <p:nvPr/>
            </p:nvSpPr>
            <p:spPr>
              <a:xfrm>
                <a:off x="3475650" y="280965"/>
                <a:ext cx="32321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无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2362200" y="967400"/>
                <a:ext cx="22733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2"/>
              <p:cNvSpPr txBox="1"/>
              <p:nvPr/>
            </p:nvSpPr>
            <p:spPr>
              <a:xfrm>
                <a:off x="3475650" y="656250"/>
                <a:ext cx="45656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雏形</a:t>
                </a:r>
                <a:endPara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6" name="文本框 2"/>
              <p:cNvSpPr txBox="1"/>
              <p:nvPr/>
            </p:nvSpPr>
            <p:spPr>
              <a:xfrm>
                <a:off x="4320200" y="1352755"/>
                <a:ext cx="723265" cy="266310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操作系统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" name="直接连接符 16"/>
              <p:cNvCxnSpPr/>
              <p:nvPr/>
            </p:nvCxnSpPr>
            <p:spPr>
              <a:xfrm>
                <a:off x="1469050" y="1490005"/>
                <a:ext cx="250605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2"/>
              <p:cNvSpPr txBox="1"/>
              <p:nvPr/>
            </p:nvSpPr>
            <p:spPr>
              <a:xfrm>
                <a:off x="3123565" y="1060961"/>
                <a:ext cx="764263" cy="335449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zh-CN" sz="16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有作业调度</a:t>
                </a:r>
                <a:endPara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spcAft>
                    <a:spcPts val="0"/>
                  </a:spcAft>
                </a:pPr>
                <a:r>
                  <a:rPr lang="zh-CN" sz="16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利用率优先</a:t>
                </a:r>
                <a:endPara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9" name="文本框 2"/>
              <p:cNvSpPr txBox="1"/>
              <p:nvPr/>
            </p:nvSpPr>
            <p:spPr>
              <a:xfrm>
                <a:off x="1214415" y="840122"/>
                <a:ext cx="764263" cy="335449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仅用于计算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无交互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20" name="文本框 2"/>
              <p:cNvSpPr txBox="1"/>
              <p:nvPr/>
            </p:nvSpPr>
            <p:spPr>
              <a:xfrm>
                <a:off x="1571285" y="1558121"/>
                <a:ext cx="375655" cy="189301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zh-CN" sz="16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交互</a:t>
                </a:r>
                <a:endParaRPr lang="zh-CN" sz="16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21" name="文本框 2"/>
              <p:cNvSpPr txBox="1"/>
              <p:nvPr/>
            </p:nvSpPr>
            <p:spPr>
              <a:xfrm>
                <a:off x="3123565" y="1581662"/>
                <a:ext cx="1023336" cy="335449"/>
              </a:xfrm>
              <a:prstGeom prst="rect">
                <a:avLst/>
              </a:prstGeom>
              <a:solidFill>
                <a:schemeClr val="lt1"/>
              </a:solidFill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91440" tIns="36000" rIns="9144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zh-CN" sz="16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可能有作业调度</a:t>
                </a:r>
                <a:endPara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spcAft>
                    <a:spcPts val="0"/>
                  </a:spcAft>
                </a:pPr>
                <a:r>
                  <a:rPr lang="zh-CN" sz="1600" dirty="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响应优先</a:t>
                </a:r>
                <a:endParaRPr lang="zh-CN" sz="16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22" name="直接箭头连接符 21"/>
              <p:cNvCxnSpPr/>
              <p:nvPr/>
            </p:nvCxnSpPr>
            <p:spPr>
              <a:xfrm>
                <a:off x="4362450" y="967400"/>
                <a:ext cx="0" cy="90155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>
                <a:off x="2027850" y="590550"/>
                <a:ext cx="0" cy="12756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3748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在特定的</a:t>
            </a:r>
            <a:r>
              <a:rPr lang="zh-CN" altLang="en-US" dirty="0">
                <a:solidFill>
                  <a:srgbClr val="FF0000"/>
                </a:solidFill>
              </a:rPr>
              <a:t>时间约束</a:t>
            </a:r>
            <a:r>
              <a:rPr lang="zh-CN" altLang="en-US" dirty="0"/>
              <a:t>下执行任务，对外部事件作出</a:t>
            </a:r>
            <a:r>
              <a:rPr lang="zh-CN" altLang="en-US" dirty="0">
                <a:solidFill>
                  <a:srgbClr val="FF0000"/>
                </a:solidFill>
              </a:rPr>
              <a:t>快速</a:t>
            </a:r>
            <a:r>
              <a:rPr lang="zh-CN" altLang="en-US" dirty="0" smtClean="0">
                <a:solidFill>
                  <a:srgbClr val="FF0000"/>
                </a:solidFill>
              </a:rPr>
              <a:t>响应</a:t>
            </a:r>
            <a:endParaRPr lang="en-US" altLang="zh-CN" dirty="0" smtClean="0"/>
          </a:p>
          <a:p>
            <a:r>
              <a:rPr lang="zh-CN" altLang="en-US" dirty="0" smtClean="0"/>
              <a:t>核心特征：时间敏感性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系统</a:t>
            </a:r>
            <a:r>
              <a:rPr lang="zh-CN" altLang="en-US" dirty="0"/>
              <a:t>必须在</a:t>
            </a:r>
            <a:r>
              <a:rPr lang="zh-CN" altLang="en-US" dirty="0" smtClean="0"/>
              <a:t>规定时间</a:t>
            </a:r>
            <a:r>
              <a:rPr lang="zh-CN" altLang="en-US" dirty="0"/>
              <a:t>内完成某项任务或对</a:t>
            </a:r>
            <a:r>
              <a:rPr lang="zh-CN" altLang="en-US" dirty="0" smtClean="0"/>
              <a:t>某事件</a:t>
            </a:r>
            <a:r>
              <a:rPr lang="zh-CN" altLang="en-US" dirty="0"/>
              <a:t>作出响应，否则将导致系统功能失效或严重</a:t>
            </a:r>
            <a:r>
              <a:rPr lang="zh-CN" altLang="en-US" dirty="0" smtClean="0"/>
              <a:t>后果</a:t>
            </a:r>
            <a:endParaRPr lang="en-US" altLang="zh-CN" dirty="0" smtClean="0"/>
          </a:p>
          <a:p>
            <a:r>
              <a:rPr lang="zh-CN" altLang="en-US" dirty="0" smtClean="0"/>
              <a:t>按用途分类</a:t>
            </a:r>
            <a:endParaRPr lang="zh-CN" altLang="en-US" dirty="0"/>
          </a:p>
          <a:p>
            <a:pPr lvl="1"/>
            <a:r>
              <a:rPr lang="zh-CN" altLang="en-US" dirty="0"/>
              <a:t>实时控制系统</a:t>
            </a:r>
            <a:r>
              <a:rPr lang="zh-CN" altLang="en-US" dirty="0" smtClean="0"/>
              <a:t>：对生产过程进行实时控制</a:t>
            </a:r>
            <a:endParaRPr lang="zh-CN" altLang="en-US" dirty="0"/>
          </a:p>
          <a:p>
            <a:pPr lvl="1"/>
            <a:r>
              <a:rPr lang="zh-CN" altLang="en-US" dirty="0"/>
              <a:t>实时信息处理系统</a:t>
            </a:r>
            <a:r>
              <a:rPr lang="zh-CN" altLang="en-US" dirty="0" smtClean="0"/>
              <a:t>：对</a:t>
            </a:r>
            <a:r>
              <a:rPr lang="zh-CN" altLang="en-US" dirty="0"/>
              <a:t>信息进行</a:t>
            </a:r>
            <a:r>
              <a:rPr lang="zh-CN" altLang="en-US" dirty="0" smtClean="0"/>
              <a:t>实时处理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5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实时系统的特点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时间约束（</a:t>
            </a:r>
            <a:r>
              <a:rPr lang="en-US" altLang="zh-CN" dirty="0"/>
              <a:t>Time Constraints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硬实时系统（</a:t>
            </a:r>
            <a:r>
              <a:rPr lang="en-US" altLang="zh-CN" dirty="0"/>
              <a:t>Hard Real-Time System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软实时系统（</a:t>
            </a:r>
            <a:r>
              <a:rPr lang="en-US" altLang="zh-CN" dirty="0"/>
              <a:t>Soft Real-Time System</a:t>
            </a:r>
            <a:r>
              <a:rPr lang="zh-CN" altLang="en-US" dirty="0"/>
              <a:t>）</a:t>
            </a:r>
          </a:p>
          <a:p>
            <a:r>
              <a:rPr lang="zh-CN" altLang="en-US" dirty="0" smtClean="0"/>
              <a:t>高</a:t>
            </a:r>
            <a:r>
              <a:rPr lang="zh-CN" altLang="en-US" dirty="0"/>
              <a:t>可靠性和</a:t>
            </a:r>
            <a:r>
              <a:rPr lang="zh-CN" altLang="en-US" dirty="0" smtClean="0"/>
              <a:t>稳定性</a:t>
            </a:r>
            <a:endParaRPr lang="zh-CN" altLang="en-US" dirty="0"/>
          </a:p>
          <a:p>
            <a:r>
              <a:rPr lang="zh-CN" altLang="en-US" dirty="0" smtClean="0"/>
              <a:t>任务</a:t>
            </a:r>
            <a:r>
              <a:rPr lang="zh-CN" altLang="en-US" dirty="0"/>
              <a:t>优先级（</a:t>
            </a:r>
            <a:r>
              <a:rPr lang="en-US" altLang="zh-CN" dirty="0"/>
              <a:t>Priority Scheduling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确保关键任务能够及时完成</a:t>
            </a:r>
          </a:p>
          <a:p>
            <a:r>
              <a:rPr lang="zh-CN" altLang="en-US" dirty="0"/>
              <a:t>快速上下文切换（</a:t>
            </a:r>
            <a:r>
              <a:rPr lang="en-US" altLang="zh-CN" dirty="0"/>
              <a:t>Fast Context Switching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 smtClean="0"/>
              <a:t>以</a:t>
            </a:r>
            <a:r>
              <a:rPr lang="zh-CN" altLang="en-US" dirty="0"/>
              <a:t>保证高优先级任务能够尽快执行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007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实时系统的</a:t>
            </a:r>
            <a:r>
              <a:rPr lang="zh-CN" altLang="en-US" dirty="0" smtClean="0"/>
              <a:t>底层机制也</a:t>
            </a:r>
            <a:r>
              <a:rPr lang="zh-CN" altLang="en-US" dirty="0"/>
              <a:t>无非是分时或批处理</a:t>
            </a:r>
          </a:p>
          <a:p>
            <a:pPr lvl="1"/>
            <a:r>
              <a:rPr lang="zh-CN" altLang="en-US" dirty="0"/>
              <a:t>只是增加了某些实时性要求，对系统调度机制做了针对性优化</a:t>
            </a:r>
          </a:p>
          <a:p>
            <a:pPr lvl="1"/>
            <a:r>
              <a:rPr lang="zh-CN" altLang="en-US" dirty="0"/>
              <a:t>通常是特定</a:t>
            </a:r>
            <a:r>
              <a:rPr lang="zh-CN" altLang="en-US" dirty="0" smtClean="0"/>
              <a:t>场合的专用</a:t>
            </a:r>
            <a:r>
              <a:rPr lang="zh-CN" altLang="en-US" dirty="0"/>
              <a:t>系统，特定实时性要求</a:t>
            </a:r>
          </a:p>
          <a:p>
            <a:pPr lvl="1"/>
            <a:r>
              <a:rPr lang="zh-CN" altLang="en-US" dirty="0"/>
              <a:t>并不神秘高深，优化往往是升级硬件、简化软件</a:t>
            </a:r>
          </a:p>
          <a:p>
            <a:pPr lvl="1"/>
            <a:r>
              <a:rPr lang="zh-CN" altLang="en-US" dirty="0"/>
              <a:t>操作系统必是多任务，并非实时性控制程序都算</a:t>
            </a:r>
            <a:r>
              <a:rPr lang="zh-CN" altLang="en-US" dirty="0" smtClean="0"/>
              <a:t>实时操作系统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38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操作系统分类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按运行机制划分</a:t>
            </a:r>
          </a:p>
          <a:p>
            <a:pPr lvl="1"/>
            <a:r>
              <a:rPr lang="zh-CN" altLang="en-US" dirty="0"/>
              <a:t>多道</a:t>
            </a:r>
            <a:r>
              <a:rPr lang="zh-CN" altLang="en-US" dirty="0" smtClean="0"/>
              <a:t>批处理、分时、实时</a:t>
            </a:r>
            <a:endParaRPr lang="zh-CN" altLang="en-US" dirty="0"/>
          </a:p>
          <a:p>
            <a:pPr lvl="1"/>
            <a:r>
              <a:rPr lang="zh-CN" altLang="en-US" dirty="0"/>
              <a:t>如果一个操作系统兼有批处理、分时和实时操作系统三者</a:t>
            </a:r>
            <a:r>
              <a:rPr lang="zh-CN" altLang="en-US" dirty="0" smtClean="0"/>
              <a:t>或两者</a:t>
            </a:r>
            <a:r>
              <a:rPr lang="zh-CN" altLang="en-US" dirty="0"/>
              <a:t>的功能，则</a:t>
            </a:r>
            <a:r>
              <a:rPr lang="zh-CN" altLang="en-US" dirty="0" smtClean="0"/>
              <a:t>称为</a:t>
            </a:r>
            <a:r>
              <a:rPr lang="zh-CN" altLang="en-US" dirty="0">
                <a:solidFill>
                  <a:srgbClr val="FF0000"/>
                </a:solidFill>
              </a:rPr>
              <a:t>通用操作系统</a:t>
            </a:r>
          </a:p>
          <a:p>
            <a:r>
              <a:rPr lang="zh-CN" altLang="en-US" dirty="0"/>
              <a:t>按工作场合</a:t>
            </a:r>
            <a:r>
              <a:rPr lang="zh-CN" altLang="en-US" dirty="0" smtClean="0"/>
              <a:t>划分</a:t>
            </a:r>
            <a:endParaRPr lang="en-US" altLang="zh-CN" dirty="0" smtClean="0"/>
          </a:p>
          <a:p>
            <a:pPr lvl="1"/>
            <a:r>
              <a:rPr lang="zh-CN" altLang="en-US" dirty="0"/>
              <a:t>嵌入式操作系统</a:t>
            </a:r>
          </a:p>
          <a:p>
            <a:pPr lvl="1"/>
            <a:r>
              <a:rPr lang="zh-CN" altLang="en-US" dirty="0"/>
              <a:t>个人计算机操作系统</a:t>
            </a:r>
          </a:p>
          <a:p>
            <a:pPr lvl="1"/>
            <a:r>
              <a:rPr lang="zh-CN" altLang="en-US" dirty="0"/>
              <a:t>网络操作系统</a:t>
            </a:r>
          </a:p>
          <a:p>
            <a:pPr lvl="1"/>
            <a:r>
              <a:rPr lang="zh-CN" altLang="en-US" dirty="0" smtClean="0"/>
              <a:t>分布式操作系统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61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操作系统的基本特征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并发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同一时间间隔内发生两个或多个</a:t>
            </a:r>
            <a:r>
              <a:rPr lang="zh-CN" altLang="en-US" dirty="0" smtClean="0"/>
              <a:t>事件</a:t>
            </a:r>
            <a:endParaRPr lang="en-US" altLang="zh-CN" dirty="0" smtClean="0"/>
          </a:p>
          <a:p>
            <a:pPr lvl="1"/>
            <a:r>
              <a:rPr lang="zh-CN" altLang="en-US" dirty="0"/>
              <a:t>宏观上一段时间内有多道程序在同时运行，但</a:t>
            </a:r>
            <a:r>
              <a:rPr lang="zh-CN" altLang="en-US" dirty="0" smtClean="0"/>
              <a:t>在</a:t>
            </a:r>
            <a:r>
              <a:rPr lang="zh-CN" altLang="en-US" dirty="0"/>
              <a:t>单</a:t>
            </a:r>
            <a:r>
              <a:rPr lang="zh-CN" altLang="en-US" dirty="0" smtClean="0"/>
              <a:t>个</a:t>
            </a:r>
            <a:r>
              <a:rPr lang="zh-CN" altLang="en-US" dirty="0"/>
              <a:t>处理机上，微观上这些程序是交替执行的</a:t>
            </a:r>
            <a:endParaRPr lang="en-US" altLang="zh-CN" dirty="0" smtClean="0"/>
          </a:p>
          <a:p>
            <a:pPr lvl="1"/>
            <a:r>
              <a:rPr lang="zh-CN" altLang="en-US" dirty="0"/>
              <a:t>并行</a:t>
            </a:r>
            <a:r>
              <a:rPr lang="zh-CN" altLang="en-US" dirty="0" smtClean="0"/>
              <a:t>：指</a:t>
            </a:r>
            <a:r>
              <a:rPr lang="zh-CN" altLang="en-US" dirty="0"/>
              <a:t>两个或多个事件在同一时刻</a:t>
            </a:r>
            <a:r>
              <a:rPr lang="zh-CN" altLang="en-US" dirty="0" smtClean="0"/>
              <a:t>发生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75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操作系统的基本特征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共享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系统</a:t>
            </a:r>
            <a:r>
              <a:rPr lang="zh-CN" altLang="en-US" dirty="0"/>
              <a:t>中的资源可供多个并发执行的进程共同使用</a:t>
            </a:r>
          </a:p>
          <a:p>
            <a:pPr lvl="1"/>
            <a:r>
              <a:rPr lang="zh-CN" altLang="en-US" dirty="0"/>
              <a:t>互斥共享：一段时间只允许一个进程访问</a:t>
            </a:r>
          </a:p>
          <a:p>
            <a:pPr lvl="1"/>
            <a:r>
              <a:rPr lang="zh-CN" altLang="en-US" dirty="0"/>
              <a:t>同时访问：一段时间允许多个进程访问</a:t>
            </a:r>
          </a:p>
          <a:p>
            <a:pPr lvl="1"/>
            <a:r>
              <a:rPr lang="zh-CN" altLang="en-US" dirty="0"/>
              <a:t>时分复用、空分复用</a:t>
            </a:r>
          </a:p>
          <a:p>
            <a:r>
              <a:rPr lang="zh-CN" altLang="en-US" dirty="0"/>
              <a:t>并发与共享互为存在条件</a:t>
            </a:r>
          </a:p>
          <a:p>
            <a:pPr lvl="1"/>
            <a:r>
              <a:rPr lang="zh-CN" altLang="en-US" dirty="0"/>
              <a:t>程序的并发执行带来资源共享问题</a:t>
            </a:r>
          </a:p>
          <a:p>
            <a:pPr lvl="1"/>
            <a:r>
              <a:rPr lang="zh-CN" altLang="en-US" dirty="0"/>
              <a:t>系统对资源共享的管理影响到程序并发执行的效率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910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操作系统的基本特征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</a:p>
          <a:p>
            <a:pPr lvl="1"/>
            <a:r>
              <a:rPr lang="zh-CN" altLang="en-US" dirty="0"/>
              <a:t>把一个物理上的实体变为若干个逻辑上的对应物</a:t>
            </a:r>
          </a:p>
          <a:p>
            <a:pPr lvl="1"/>
            <a:r>
              <a:rPr lang="zh-CN" altLang="en-US" dirty="0"/>
              <a:t>分时技术、虚拟内存、虚拟设备</a:t>
            </a:r>
          </a:p>
          <a:p>
            <a:r>
              <a:rPr lang="zh-CN" altLang="en-US" dirty="0"/>
              <a:t>异步（不确定）</a:t>
            </a:r>
          </a:p>
          <a:p>
            <a:pPr lvl="1"/>
            <a:r>
              <a:rPr lang="zh-CN" altLang="en-US" dirty="0"/>
              <a:t>任务的执行顺序和每个任务的执行时间是不确定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r>
              <a:rPr lang="zh-CN" altLang="zh-CN" dirty="0"/>
              <a:t>四个基本特征，背后</a:t>
            </a:r>
            <a:r>
              <a:rPr lang="zh-CN" altLang="zh-CN" dirty="0" smtClean="0"/>
              <a:t>的中心</a:t>
            </a:r>
            <a:r>
              <a:rPr lang="zh-CN" altLang="zh-CN" dirty="0"/>
              <a:t>：多任务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685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的两种运行状态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核心态</a:t>
            </a:r>
            <a:r>
              <a:rPr lang="zh-CN" altLang="en-US" dirty="0"/>
              <a:t>：又称管态、系统</a:t>
            </a:r>
            <a:r>
              <a:rPr lang="zh-CN" altLang="en-US" dirty="0" smtClean="0"/>
              <a:t>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0000"/>
                </a:solidFill>
              </a:rPr>
              <a:t>操作系统</a:t>
            </a:r>
            <a:r>
              <a:rPr lang="zh-CN" altLang="en-US" dirty="0" smtClean="0"/>
              <a:t>程序</a:t>
            </a:r>
            <a:r>
              <a:rPr lang="zh-CN" altLang="en-US" dirty="0"/>
              <a:t>执行时机器所处的</a:t>
            </a:r>
            <a:r>
              <a:rPr lang="zh-CN" altLang="en-US" dirty="0" smtClean="0"/>
              <a:t>状态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具有</a:t>
            </a:r>
            <a:r>
              <a:rPr lang="zh-CN" altLang="en-US" dirty="0"/>
              <a:t>较高的特权，能执行</a:t>
            </a:r>
            <a:r>
              <a:rPr lang="zh-CN" altLang="en-US" dirty="0">
                <a:solidFill>
                  <a:srgbClr val="FF0000"/>
                </a:solidFill>
              </a:rPr>
              <a:t>一切</a:t>
            </a:r>
            <a:r>
              <a:rPr lang="zh-CN" altLang="en-US" dirty="0"/>
              <a:t>指令，访问</a:t>
            </a:r>
            <a:r>
              <a:rPr lang="zh-CN" altLang="en-US" dirty="0">
                <a:solidFill>
                  <a:srgbClr val="FF0000"/>
                </a:solidFill>
              </a:rPr>
              <a:t>所有</a:t>
            </a:r>
            <a:r>
              <a:rPr lang="zh-CN" altLang="en-US" dirty="0"/>
              <a:t>的寄存器和存储</a:t>
            </a:r>
            <a:r>
              <a:rPr lang="zh-CN" altLang="en-US" dirty="0" smtClean="0"/>
              <a:t>区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用户态</a:t>
            </a:r>
            <a:r>
              <a:rPr lang="zh-CN" altLang="en-US" dirty="0"/>
              <a:t>：又称目</a:t>
            </a:r>
            <a:r>
              <a:rPr lang="zh-CN" altLang="en-US" dirty="0" smtClean="0"/>
              <a:t>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用户程序</a:t>
            </a:r>
            <a:r>
              <a:rPr lang="zh-CN" altLang="en-US" dirty="0"/>
              <a:t>执行时机器所处的</a:t>
            </a:r>
            <a:r>
              <a:rPr lang="zh-CN" altLang="en-US" dirty="0" smtClean="0"/>
              <a:t>状态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具有</a:t>
            </a:r>
            <a:r>
              <a:rPr lang="zh-CN" altLang="en-US" dirty="0"/>
              <a:t>较低特权，只能执行</a:t>
            </a:r>
            <a:r>
              <a:rPr lang="zh-CN" altLang="en-US" dirty="0">
                <a:solidFill>
                  <a:srgbClr val="FF0000"/>
                </a:solidFill>
              </a:rPr>
              <a:t>规定</a:t>
            </a:r>
            <a:r>
              <a:rPr lang="zh-CN" altLang="en-US" dirty="0"/>
              <a:t>的指令，访问</a:t>
            </a:r>
            <a:r>
              <a:rPr lang="zh-CN" altLang="en-US" dirty="0">
                <a:solidFill>
                  <a:srgbClr val="FF0000"/>
                </a:solidFill>
              </a:rPr>
              <a:t>指定</a:t>
            </a:r>
            <a:r>
              <a:rPr lang="zh-CN" altLang="en-US" dirty="0"/>
              <a:t>的寄存器和存储</a:t>
            </a:r>
            <a:r>
              <a:rPr lang="zh-CN" altLang="en-US" dirty="0" smtClean="0"/>
              <a:t>区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32</a:t>
            </a:r>
            <a:r>
              <a:rPr lang="zh-CN" altLang="en-US" dirty="0" smtClean="0"/>
              <a:t>位</a:t>
            </a:r>
            <a:r>
              <a:rPr lang="en-US" altLang="zh-CN" dirty="0" smtClean="0"/>
              <a:t>Windows</a:t>
            </a:r>
            <a:r>
              <a:rPr lang="zh-CN" altLang="en-US" dirty="0"/>
              <a:t>下</a:t>
            </a:r>
            <a:r>
              <a:rPr lang="zh-CN" altLang="en-US" dirty="0" smtClean="0"/>
              <a:t>，用户程序只可访问</a:t>
            </a:r>
            <a:r>
              <a:rPr lang="en-US" altLang="zh-CN" dirty="0" smtClean="0"/>
              <a:t>0-2G</a:t>
            </a:r>
            <a:r>
              <a:rPr lang="zh-CN" altLang="en-US" dirty="0" smtClean="0"/>
              <a:t>内存地址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32</a:t>
            </a:r>
            <a:r>
              <a:rPr lang="zh-CN" altLang="en-US" dirty="0" smtClean="0"/>
              <a:t>位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下，</a:t>
            </a:r>
            <a:r>
              <a:rPr lang="zh-CN" altLang="en-US" dirty="0"/>
              <a:t>用户程序只可</a:t>
            </a:r>
            <a:r>
              <a:rPr lang="zh-CN" altLang="en-US" dirty="0" smtClean="0"/>
              <a:t>访问</a:t>
            </a:r>
            <a:r>
              <a:rPr lang="en-US" altLang="zh-CN" dirty="0" smtClean="0"/>
              <a:t>0-3G</a:t>
            </a:r>
            <a:r>
              <a:rPr lang="zh-CN" altLang="en-US" dirty="0"/>
              <a:t>内存地址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 bwMode="auto">
          <a:xfrm>
            <a:off x="5469310" y="3119216"/>
            <a:ext cx="2803020" cy="865795"/>
          </a:xfrm>
          <a:prstGeom prst="wedgeRoundRectCallout">
            <a:avLst>
              <a:gd name="adj1" fmla="val 1759"/>
              <a:gd name="adj2" fmla="val 220261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谁保证遵守？编译器</a:t>
            </a:r>
            <a:endParaRPr lang="en-US" altLang="zh-CN" sz="2000" dirty="0" smtClean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怎样限制？以后讲解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1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的两种运行状态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状态间的转换</a:t>
            </a:r>
            <a:endParaRPr lang="en-US" altLang="zh-CN" dirty="0" smtClean="0"/>
          </a:p>
          <a:p>
            <a:pPr lvl="1"/>
            <a:r>
              <a:rPr lang="zh-CN" altLang="en-US" dirty="0"/>
              <a:t>内核态切换到用户</a:t>
            </a:r>
            <a:r>
              <a:rPr lang="zh-CN" altLang="en-US" dirty="0" smtClean="0"/>
              <a:t>态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设置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特定寄存器的特定位即可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从</a:t>
            </a:r>
            <a:r>
              <a:rPr lang="en-US" altLang="zh-CN" dirty="0" smtClean="0"/>
              <a:t>OS</a:t>
            </a:r>
            <a:r>
              <a:rPr lang="zh-CN" altLang="en-US" dirty="0" smtClean="0"/>
              <a:t>程序切换到用户程序时执行</a:t>
            </a:r>
            <a:endParaRPr lang="en-US" altLang="zh-CN" dirty="0" smtClean="0"/>
          </a:p>
          <a:p>
            <a:pPr lvl="1"/>
            <a:r>
              <a:rPr lang="zh-CN" altLang="en-US" dirty="0"/>
              <a:t>用户</a:t>
            </a:r>
            <a:r>
              <a:rPr lang="zh-CN" altLang="en-US" dirty="0" smtClean="0"/>
              <a:t>态切换到内核态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出于安全，显然不可随意切换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切换时机：发生中断或异常，则</a:t>
            </a:r>
            <a:r>
              <a:rPr lang="en-US" altLang="zh-CN" dirty="0" smtClean="0"/>
              <a:t>CPU</a:t>
            </a:r>
            <a:r>
              <a:rPr lang="zh-CN" altLang="en-US" dirty="0" smtClean="0"/>
              <a:t>自动切换到内核态，并跳转执行处理程序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063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的两种运行状态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系统的保护措施</a:t>
            </a:r>
            <a:endParaRPr lang="en-US" altLang="zh-CN" dirty="0" smtClean="0"/>
          </a:p>
          <a:p>
            <a:pPr lvl="1"/>
            <a:r>
              <a:rPr lang="zh-CN" altLang="en-US" dirty="0"/>
              <a:t>访问</a:t>
            </a:r>
            <a:r>
              <a:rPr lang="en-US" altLang="zh-CN" dirty="0"/>
              <a:t>I/O</a:t>
            </a:r>
            <a:r>
              <a:rPr lang="zh-CN" altLang="en-US" dirty="0"/>
              <a:t>设备的指令，特权指令</a:t>
            </a:r>
          </a:p>
          <a:p>
            <a:pPr lvl="1"/>
            <a:r>
              <a:rPr lang="zh-CN" altLang="en-US" dirty="0"/>
              <a:t>访问</a:t>
            </a:r>
            <a:r>
              <a:rPr lang="en-US" altLang="zh-CN" dirty="0"/>
              <a:t>I/O</a:t>
            </a:r>
            <a:r>
              <a:rPr lang="zh-CN" altLang="en-US" dirty="0"/>
              <a:t>设备的地址，映射到高地址内存</a:t>
            </a:r>
          </a:p>
          <a:p>
            <a:pPr lvl="1"/>
            <a:r>
              <a:rPr lang="en-US" altLang="zh-CN" dirty="0"/>
              <a:t>OS</a:t>
            </a:r>
            <a:r>
              <a:rPr lang="zh-CN" altLang="en-US" dirty="0"/>
              <a:t>内核的程序、数据放在高地址内存</a:t>
            </a:r>
          </a:p>
          <a:p>
            <a:pPr lvl="2"/>
            <a:r>
              <a:rPr lang="zh-CN" altLang="en-US" dirty="0" smtClean="0"/>
              <a:t>包括中断</a:t>
            </a:r>
            <a:r>
              <a:rPr lang="zh-CN" altLang="en-US" dirty="0"/>
              <a:t>向量</a:t>
            </a:r>
            <a:r>
              <a:rPr lang="zh-CN" altLang="en-US" dirty="0" smtClean="0"/>
              <a:t>表、中断处理程序、系统</a:t>
            </a:r>
            <a:r>
              <a:rPr lang="zh-CN" altLang="en-US" dirty="0"/>
              <a:t>调用</a:t>
            </a:r>
            <a:r>
              <a:rPr lang="zh-CN" altLang="en-US" dirty="0" smtClean="0"/>
              <a:t>处理程序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用户程序执行期间，一旦发生</a:t>
            </a:r>
            <a:r>
              <a:rPr lang="zh-CN" altLang="en-US" dirty="0" smtClean="0">
                <a:solidFill>
                  <a:srgbClr val="FF0000"/>
                </a:solidFill>
              </a:rPr>
              <a:t>中断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rgbClr val="FF0000"/>
                </a:solidFill>
              </a:rPr>
              <a:t>系统调用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CPU</a:t>
            </a:r>
            <a:r>
              <a:rPr lang="zh-CN" altLang="en-US" dirty="0" smtClean="0">
                <a:solidFill>
                  <a:srgbClr val="FF0000"/>
                </a:solidFill>
              </a:rPr>
              <a:t>自动</a:t>
            </a:r>
            <a:r>
              <a:rPr lang="zh-CN" altLang="en-US" dirty="0" smtClean="0"/>
              <a:t>切换到内核态，</a:t>
            </a:r>
            <a:r>
              <a:rPr lang="zh-CN" altLang="en-US" dirty="0" smtClean="0">
                <a:solidFill>
                  <a:srgbClr val="FF0000"/>
                </a:solidFill>
              </a:rPr>
              <a:t>自动</a:t>
            </a:r>
            <a:r>
              <a:rPr lang="zh-CN" altLang="en-US" dirty="0" smtClean="0"/>
              <a:t>跳转到</a:t>
            </a:r>
            <a:r>
              <a:rPr lang="en-US" altLang="zh-CN" dirty="0" smtClean="0"/>
              <a:t>OS</a:t>
            </a:r>
            <a:r>
              <a:rPr lang="zh-CN" altLang="en-US" dirty="0" smtClean="0"/>
              <a:t>预备</a:t>
            </a:r>
            <a:r>
              <a:rPr lang="zh-CN" altLang="en-US" dirty="0"/>
              <a:t>（在高地址区）</a:t>
            </a:r>
            <a:r>
              <a:rPr lang="zh-CN" altLang="en-US" dirty="0" smtClean="0"/>
              <a:t>的程序，于是</a:t>
            </a:r>
            <a:r>
              <a:rPr lang="en-US" altLang="zh-CN" dirty="0" smtClean="0"/>
              <a:t>OS</a:t>
            </a:r>
            <a:r>
              <a:rPr lang="zh-CN" altLang="en-US" dirty="0" smtClean="0"/>
              <a:t>接管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OS</a:t>
            </a:r>
            <a:r>
              <a:rPr lang="zh-CN" altLang="en-US" dirty="0" smtClean="0"/>
              <a:t>处理完中断或系统调用，执行</a:t>
            </a:r>
            <a:r>
              <a:rPr lang="zh-CN" altLang="en-US" dirty="0" smtClean="0">
                <a:solidFill>
                  <a:srgbClr val="FF0000"/>
                </a:solidFill>
              </a:rPr>
              <a:t>切换程序</a:t>
            </a:r>
            <a:r>
              <a:rPr lang="zh-CN" altLang="en-US" dirty="0" smtClean="0"/>
              <a:t>，恢复用户态并跳转到用户程序先前的断点，用户程序恢复执行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5867966" y="225431"/>
            <a:ext cx="3105118" cy="2076627"/>
          </a:xfrm>
          <a:prstGeom prst="wedgeRoundRectCallout">
            <a:avLst>
              <a:gd name="adj1" fmla="val 1878"/>
              <a:gd name="adj2" fmla="val 126773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如前述，</a:t>
            </a:r>
            <a:r>
              <a:rPr lang="en-US" altLang="zh-CN" sz="2000" dirty="0" err="1" smtClean="0"/>
              <a:t>printf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调用了系统的接口</a:t>
            </a:r>
            <a:endParaRPr lang="en-US" altLang="zh-CN" sz="2000" dirty="0" smtClean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en-US" altLang="zh-CN" sz="2000" dirty="0" err="1" smtClean="0"/>
              <a:t>printf</a:t>
            </a:r>
            <a:r>
              <a:rPr lang="en-US" altLang="zh-CN" sz="2000" dirty="0"/>
              <a:t>()</a:t>
            </a:r>
            <a:r>
              <a:rPr lang="zh-CN" altLang="en-US" sz="2000" dirty="0" smtClean="0"/>
              <a:t>是应用程序的一部分，是用户态程序</a:t>
            </a:r>
            <a:endParaRPr lang="en-US" altLang="zh-CN" sz="2000" dirty="0" smtClean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）具体方式：其程序中安插了系统调用指令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726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的两种运行状态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用户程序</a:t>
            </a:r>
            <a:endParaRPr lang="en-US" altLang="zh-CN" dirty="0"/>
          </a:p>
          <a:p>
            <a:pPr lvl="1"/>
            <a:r>
              <a:rPr lang="zh-CN" altLang="en-US" dirty="0"/>
              <a:t>无法操控</a:t>
            </a:r>
            <a:r>
              <a:rPr lang="en-US" altLang="zh-CN" dirty="0"/>
              <a:t>I/O</a:t>
            </a:r>
            <a:r>
              <a:rPr lang="zh-CN" altLang="en-US" dirty="0"/>
              <a:t>设备，无法修改中断处理</a:t>
            </a:r>
          </a:p>
          <a:p>
            <a:pPr lvl="2"/>
            <a:r>
              <a:rPr lang="zh-CN" altLang="en-US" dirty="0"/>
              <a:t>例如：无法篡改定时器以延长时间片</a:t>
            </a:r>
          </a:p>
          <a:p>
            <a:pPr lvl="1"/>
            <a:r>
              <a:rPr lang="zh-CN" altLang="en-US" dirty="0"/>
              <a:t>可以使用系统调用指令，触发异常</a:t>
            </a:r>
            <a:endParaRPr lang="en-US" altLang="zh-CN" dirty="0"/>
          </a:p>
          <a:p>
            <a:pPr lvl="2"/>
            <a:r>
              <a:rPr lang="zh-CN" altLang="en-US" dirty="0"/>
              <a:t>请求</a:t>
            </a:r>
            <a:r>
              <a:rPr lang="en-US" altLang="zh-CN" dirty="0"/>
              <a:t>OS</a:t>
            </a:r>
            <a:r>
              <a:rPr lang="zh-CN" altLang="en-US" dirty="0"/>
              <a:t>执行某种服务，如读写文件、屏幕</a:t>
            </a:r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" t="30278" r="417" b="30000"/>
          <a:stretch>
            <a:fillRect/>
          </a:stretch>
        </p:blipFill>
        <p:spPr bwMode="auto">
          <a:xfrm>
            <a:off x="677864" y="4066965"/>
            <a:ext cx="7736837" cy="232430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2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的两种运行状态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大家都是程序，凭什么</a:t>
            </a:r>
            <a:r>
              <a:rPr lang="en-US" altLang="zh-CN" dirty="0"/>
              <a:t>OS</a:t>
            </a:r>
            <a:r>
              <a:rPr lang="zh-CN" altLang="en-US" dirty="0"/>
              <a:t>能得到高权限</a:t>
            </a:r>
          </a:p>
          <a:p>
            <a:pPr lvl="1"/>
            <a:r>
              <a:rPr lang="zh-CN" altLang="en-US" dirty="0"/>
              <a:t>启动过程先下手为强，率先获取，封锁覆盖一切高权限环节（如中断处理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想象</a:t>
            </a:r>
            <a:r>
              <a:rPr lang="zh-CN" altLang="en-US" dirty="0" smtClean="0"/>
              <a:t>一下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分时系统</a:t>
            </a:r>
            <a:r>
              <a:rPr lang="zh-CN" altLang="en-US" dirty="0"/>
              <a:t>通过时间片控制进程切换的过程是怎样的？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853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章 导论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zh-CN" altLang="en-US" dirty="0" smtClean="0"/>
              <a:t>操作系统做什么</a:t>
            </a:r>
            <a:endParaRPr lang="zh-CN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zh-CN" altLang="en-US" dirty="0" smtClean="0"/>
              <a:t>计算机系统</a:t>
            </a:r>
            <a:endParaRPr lang="zh-CN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zh-CN" altLang="en-US" dirty="0" smtClean="0"/>
              <a:t>历史发展与操作模式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4.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资源管理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91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操作系统的资源管理功能包括：</a:t>
            </a:r>
          </a:p>
          <a:p>
            <a:pPr lvl="1"/>
            <a:r>
              <a:rPr lang="zh-CN" altLang="en-US" dirty="0"/>
              <a:t>处理机管理：也称进程管理</a:t>
            </a:r>
          </a:p>
          <a:p>
            <a:pPr lvl="1"/>
            <a:r>
              <a:rPr lang="zh-CN" altLang="en-US" dirty="0"/>
              <a:t>存储器管理</a:t>
            </a:r>
          </a:p>
          <a:p>
            <a:pPr lvl="1"/>
            <a:r>
              <a:rPr lang="zh-CN" altLang="en-US" dirty="0"/>
              <a:t>设备管理</a:t>
            </a:r>
          </a:p>
          <a:p>
            <a:pPr lvl="1"/>
            <a:r>
              <a:rPr lang="zh-CN" altLang="en-US" dirty="0"/>
              <a:t>文件管理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660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进程是正在执行的</a:t>
            </a:r>
            <a:r>
              <a:rPr lang="zh-CN" altLang="en-US" dirty="0" smtClean="0"/>
              <a:t>程序</a:t>
            </a:r>
            <a:endParaRPr lang="zh-CN" altLang="en-US" dirty="0"/>
          </a:p>
          <a:p>
            <a:pPr lvl="1"/>
            <a:r>
              <a:rPr lang="zh-CN" altLang="en-US" dirty="0" smtClean="0"/>
              <a:t>进程</a:t>
            </a:r>
            <a:r>
              <a:rPr lang="zh-CN" altLang="en-US" dirty="0"/>
              <a:t>需要一定的资源，包括</a:t>
            </a:r>
            <a:r>
              <a:rPr lang="en-US" altLang="zh-CN" dirty="0"/>
              <a:t>CPU</a:t>
            </a:r>
            <a:r>
              <a:rPr lang="zh-CN" altLang="en-US" dirty="0"/>
              <a:t>时间，存储器，文件，以及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</a:p>
          <a:p>
            <a:r>
              <a:rPr lang="zh-CN" altLang="en-US" dirty="0"/>
              <a:t>进程管理的主要任务是对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实施有效管理</a:t>
            </a:r>
            <a:endParaRPr lang="zh-CN" altLang="en-US" dirty="0"/>
          </a:p>
          <a:p>
            <a:pPr lvl="1"/>
            <a:r>
              <a:rPr lang="zh-CN" altLang="en-US" dirty="0"/>
              <a:t>进程控制：负责进程的创建、撤消及状态转换</a:t>
            </a:r>
          </a:p>
          <a:p>
            <a:pPr lvl="1"/>
            <a:r>
              <a:rPr lang="zh-CN" altLang="en-US" dirty="0"/>
              <a:t>进程同步：对并发执行的进程进行</a:t>
            </a:r>
            <a:r>
              <a:rPr lang="zh-CN" altLang="en-US" dirty="0" smtClean="0"/>
              <a:t>协调，有</a:t>
            </a:r>
            <a:r>
              <a:rPr lang="zh-CN" altLang="en-US" dirty="0"/>
              <a:t>同步与互斥</a:t>
            </a:r>
          </a:p>
          <a:p>
            <a:pPr lvl="1"/>
            <a:r>
              <a:rPr lang="zh-CN" altLang="en-US" dirty="0"/>
              <a:t>进程通信：负责完成进程间的信息交换</a:t>
            </a:r>
          </a:p>
          <a:p>
            <a:pPr lvl="1"/>
            <a:r>
              <a:rPr lang="zh-CN" altLang="en-US" dirty="0"/>
              <a:t>调度：决定哪个进程优先使用</a:t>
            </a:r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35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内存可以</a:t>
            </a:r>
            <a:r>
              <a:rPr lang="zh-CN" altLang="en-US" dirty="0" smtClean="0"/>
              <a:t>看做一</a:t>
            </a:r>
            <a:r>
              <a:rPr lang="zh-CN" altLang="en-US" dirty="0"/>
              <a:t>个大数组，每个单元有自己的地址</a:t>
            </a:r>
          </a:p>
          <a:p>
            <a:pPr lvl="1"/>
            <a:r>
              <a:rPr lang="zh-CN" altLang="en-US" dirty="0"/>
              <a:t>内存可被</a:t>
            </a:r>
            <a:r>
              <a:rPr lang="en-US" altLang="zh-CN" dirty="0"/>
              <a:t>CPU</a:t>
            </a:r>
            <a:r>
              <a:rPr lang="zh-CN" altLang="en-US" dirty="0"/>
              <a:t>和</a:t>
            </a:r>
            <a:r>
              <a:rPr lang="en-US" altLang="zh-CN" dirty="0"/>
              <a:t>I/O</a:t>
            </a:r>
            <a:r>
              <a:rPr lang="zh-CN" altLang="en-US" dirty="0"/>
              <a:t>设备共享、可快速存取数据</a:t>
            </a:r>
          </a:p>
          <a:p>
            <a:pPr lvl="1"/>
            <a:r>
              <a:rPr lang="en-US" altLang="zh-CN" dirty="0" smtClean="0"/>
              <a:t>CPU</a:t>
            </a:r>
            <a:r>
              <a:rPr lang="zh-CN" altLang="en-US" dirty="0"/>
              <a:t>执行的指令必须存放在内存中</a:t>
            </a:r>
          </a:p>
          <a:p>
            <a:r>
              <a:rPr lang="zh-CN" altLang="en-US" dirty="0"/>
              <a:t>内存管理功能</a:t>
            </a:r>
          </a:p>
          <a:p>
            <a:pPr lvl="1"/>
            <a:r>
              <a:rPr lang="zh-CN" altLang="en-US" dirty="0" smtClean="0"/>
              <a:t>按需分配、记录和</a:t>
            </a:r>
            <a:r>
              <a:rPr lang="zh-CN" altLang="en-US" dirty="0"/>
              <a:t>收回内存空间</a:t>
            </a:r>
          </a:p>
          <a:p>
            <a:pPr lvl="1"/>
            <a:r>
              <a:rPr lang="zh-CN" altLang="en-US" dirty="0"/>
              <a:t>内存扩充：逻辑上的扩充，虚拟内存</a:t>
            </a:r>
          </a:p>
          <a:p>
            <a:pPr lvl="1"/>
            <a:r>
              <a:rPr lang="zh-CN" altLang="en-US" dirty="0"/>
              <a:t>内存保护：彼此隔离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2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设备管理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为用户隐藏具体硬件设备的特性</a:t>
            </a:r>
            <a:endParaRPr lang="en-US" altLang="zh-CN" dirty="0" smtClean="0"/>
          </a:p>
          <a:p>
            <a:pPr lvl="1"/>
            <a:r>
              <a:rPr lang="zh-CN" altLang="en-US" dirty="0"/>
              <a:t>通用设备驱动接口、特定硬件设备的驱动程序</a:t>
            </a:r>
            <a:endParaRPr lang="zh-CN" altLang="en-US" dirty="0" smtClean="0"/>
          </a:p>
          <a:p>
            <a:r>
              <a:rPr lang="zh-CN" altLang="en-US" dirty="0" smtClean="0"/>
              <a:t>设备管理</a:t>
            </a:r>
            <a:r>
              <a:rPr lang="zh-CN" altLang="en-US" dirty="0"/>
              <a:t>的功能</a:t>
            </a:r>
          </a:p>
          <a:p>
            <a:pPr lvl="1"/>
            <a:r>
              <a:rPr lang="zh-CN" altLang="en-US" dirty="0"/>
              <a:t>设备分配：根据用户的</a:t>
            </a:r>
            <a:r>
              <a:rPr lang="en-US" altLang="zh-CN" dirty="0"/>
              <a:t>I/O</a:t>
            </a:r>
            <a:r>
              <a:rPr lang="zh-CN" altLang="en-US" dirty="0"/>
              <a:t>请求，为之分配所需的设备，设备使用完成后还应回收</a:t>
            </a:r>
          </a:p>
          <a:p>
            <a:pPr lvl="1"/>
            <a:r>
              <a:rPr lang="zh-CN" altLang="en-US" dirty="0"/>
              <a:t>缓冲管理：对各类设备缓冲区进行有效管理</a:t>
            </a:r>
          </a:p>
          <a:p>
            <a:pPr lvl="1"/>
            <a:r>
              <a:rPr lang="zh-CN" altLang="en-US" dirty="0"/>
              <a:t>设备驱动</a:t>
            </a:r>
            <a:r>
              <a:rPr lang="zh-CN" altLang="en-US" dirty="0" smtClean="0"/>
              <a:t>：设备</a:t>
            </a:r>
            <a:r>
              <a:rPr lang="zh-CN" altLang="en-US" dirty="0"/>
              <a:t>启动、</a:t>
            </a:r>
            <a:r>
              <a:rPr lang="en-US" altLang="zh-CN" dirty="0"/>
              <a:t>I/O</a:t>
            </a:r>
            <a:r>
              <a:rPr lang="zh-CN" altLang="en-US" dirty="0"/>
              <a:t>操作及</a:t>
            </a:r>
            <a:r>
              <a:rPr lang="zh-CN" altLang="en-US" dirty="0" smtClean="0"/>
              <a:t>中断处理等</a:t>
            </a:r>
            <a:endParaRPr lang="zh-CN" altLang="en-US" dirty="0"/>
          </a:p>
          <a:p>
            <a:pPr lvl="1"/>
            <a:r>
              <a:rPr lang="zh-CN" altLang="en-US" dirty="0"/>
              <a:t>设备独立性：又称设备无关性，是指用户程序中的设备与实际使用的物理设备无关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5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操作系统</a:t>
            </a:r>
            <a:r>
              <a:rPr lang="zh-CN" altLang="en-US" dirty="0"/>
              <a:t>文件管理的功能</a:t>
            </a:r>
          </a:p>
          <a:p>
            <a:pPr lvl="1"/>
            <a:r>
              <a:rPr lang="zh-CN" altLang="en-US" dirty="0"/>
              <a:t>文件存储空间的管理：对文件存储空间进行管理，包括存储空间的分配与回收等功能。</a:t>
            </a:r>
          </a:p>
          <a:p>
            <a:pPr lvl="1"/>
            <a:r>
              <a:rPr lang="zh-CN" altLang="en-US" dirty="0"/>
              <a:t>目录管理：管理文件的数据结构，提供按名存取的功能。</a:t>
            </a:r>
          </a:p>
          <a:p>
            <a:pPr lvl="1"/>
            <a:r>
              <a:rPr lang="zh-CN" altLang="en-US" dirty="0"/>
              <a:t>文件操作管理：从外存读入数据或将数据写入外存</a:t>
            </a:r>
          </a:p>
          <a:p>
            <a:pPr lvl="1"/>
            <a:r>
              <a:rPr lang="zh-CN" altLang="en-US" dirty="0"/>
              <a:t>文件保护：防止未授权用户存取文件；防止授权用户以不正确方式存取文件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10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FA51B3A-0759-9C21-0BA2-F23CC990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A10B780-7968-3B1F-A824-A70A801F5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zh-CN" altLang="en-US" sz="2400" dirty="0"/>
              <a:t>1.5 How does the distinction between kernel mode and user mode function as a rudimentary form of protection (security)?  </a:t>
            </a:r>
            <a:endParaRPr lang="en-US" altLang="zh-CN" sz="2400" dirty="0"/>
          </a:p>
          <a:p>
            <a:pPr eaLnBrk="1" hangingPunct="1"/>
            <a:endParaRPr lang="zh-CN" altLang="en-US" sz="2400" dirty="0"/>
          </a:p>
          <a:p>
            <a:pPr eaLnBrk="1" hangingPunct="1"/>
            <a:r>
              <a:rPr lang="zh-CN" altLang="en-US" sz="2400" dirty="0"/>
              <a:t>1.6 Which of the following instructions should be privileged? </a:t>
            </a:r>
          </a:p>
          <a:p>
            <a:pPr lvl="1" eaLnBrk="1" hangingPunct="1"/>
            <a:r>
              <a:rPr lang="zh-CN" altLang="en-US" sz="2000" dirty="0"/>
              <a:t>a. Set value of timer. </a:t>
            </a:r>
            <a:r>
              <a:rPr lang="en-US" altLang="zh-CN" sz="2000" dirty="0"/>
              <a:t>     </a:t>
            </a:r>
            <a:r>
              <a:rPr lang="zh-CN" altLang="en-US" sz="2000" dirty="0"/>
              <a:t> b. Read the clock. </a:t>
            </a:r>
          </a:p>
          <a:p>
            <a:pPr lvl="1" eaLnBrk="1" hangingPunct="1"/>
            <a:r>
              <a:rPr lang="zh-CN" altLang="en-US" sz="2000" dirty="0"/>
              <a:t>c. Clear memory. </a:t>
            </a:r>
            <a:r>
              <a:rPr lang="en-US" altLang="zh-CN" sz="2000" dirty="0"/>
              <a:t>          </a:t>
            </a:r>
            <a:r>
              <a:rPr lang="zh-CN" altLang="en-US" sz="2000" dirty="0"/>
              <a:t>  d. Issue a trap instruction. </a:t>
            </a:r>
          </a:p>
          <a:p>
            <a:pPr lvl="1" eaLnBrk="1" hangingPunct="1"/>
            <a:r>
              <a:rPr lang="zh-CN" altLang="en-US" sz="2000" dirty="0"/>
              <a:t>e. Turn off interrupts. </a:t>
            </a:r>
            <a:r>
              <a:rPr lang="en-US" altLang="zh-CN" sz="2000" dirty="0"/>
              <a:t>    </a:t>
            </a:r>
            <a:r>
              <a:rPr lang="zh-CN" altLang="en-US" sz="2000" dirty="0"/>
              <a:t>f. Modify entries in device-status table. </a:t>
            </a:r>
          </a:p>
          <a:p>
            <a:pPr lvl="1" eaLnBrk="1" hangingPunct="1"/>
            <a:r>
              <a:rPr lang="zh-CN" altLang="en-US" sz="2000" dirty="0"/>
              <a:t>g. Switch from user to kernel mode. </a:t>
            </a:r>
          </a:p>
          <a:p>
            <a:pPr lvl="1" eaLnBrk="1" hangingPunct="1"/>
            <a:r>
              <a:rPr lang="zh-CN" altLang="en-US" sz="2000" dirty="0"/>
              <a:t>h. Access I/O device. 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F13FC15-20CA-3E72-0141-CB00A548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073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B0344BF-E2CC-AF46-5603-6E29166A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25"/>
            <a:ext cx="7850187" cy="746125"/>
          </a:xfrm>
        </p:spPr>
        <p:txBody>
          <a:bodyPr/>
          <a:lstStyle/>
          <a:p>
            <a:r>
              <a:rPr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049E568-79EF-7665-F6E5-B7F1BEB71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 dirty="0"/>
              <a:t>请简述计算机从开机到操作系统完全启动的基本过程？</a:t>
            </a:r>
            <a:endParaRPr lang="en-US" altLang="zh-CN" dirty="0"/>
          </a:p>
          <a:p>
            <a:r>
              <a:rPr lang="zh-CN" altLang="en-US" dirty="0"/>
              <a:t>什么是引导扇区（</a:t>
            </a:r>
            <a:r>
              <a:rPr lang="en" altLang="zh-CN" dirty="0"/>
              <a:t>Boot Sector</a:t>
            </a:r>
            <a:r>
              <a:rPr lang="zh-CN" altLang="en" dirty="0"/>
              <a:t>）？</a:t>
            </a:r>
            <a:r>
              <a:rPr lang="zh-CN" altLang="en-US" dirty="0"/>
              <a:t>它在操作系统的启动过程中起什么作用？</a:t>
            </a:r>
          </a:p>
          <a:p>
            <a:r>
              <a:rPr lang="zh-CN" altLang="en-US" dirty="0"/>
              <a:t>请描述一个程序从点击图标到完全运行的典型执行流程？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42948B4C-9D1D-4CAB-BB94-A932EBB8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954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xmlns="" id="{FEA7051E-A558-4680-4BAD-9114B2D95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1</a:t>
            </a:r>
          </a:p>
        </p:txBody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xmlns="" id="{4A7EBB4A-5FF8-0C62-4456-53F09CCE0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393113" cy="5000625"/>
          </a:xfrm>
        </p:spPr>
        <p:txBody>
          <a:bodyPr/>
          <a:lstStyle/>
          <a:p>
            <a:pPr eaLnBrk="1" hangingPunct="1"/>
            <a:r>
              <a:rPr lang="zh-CN" altLang="en-US" dirty="0"/>
              <a:t>在脱机批处理方式中，有一台负责与外部设备交换信息的计算机，一般称之为</a:t>
            </a:r>
            <a:r>
              <a:rPr lang="en-US" altLang="zh-CN" dirty="0"/>
              <a:t>_____</a:t>
            </a:r>
            <a:r>
              <a:rPr lang="zh-CN" altLang="en-US" dirty="0"/>
              <a:t>。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   A</a:t>
            </a:r>
            <a:r>
              <a:rPr lang="zh-CN" altLang="en-US" dirty="0"/>
              <a:t>．终端处理机            </a:t>
            </a:r>
            <a:r>
              <a:rPr lang="en-US" altLang="zh-CN" dirty="0"/>
              <a:t>B</a:t>
            </a:r>
            <a:r>
              <a:rPr lang="zh-CN" altLang="en-US" dirty="0"/>
              <a:t>．外围处理机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   C</a:t>
            </a:r>
            <a:r>
              <a:rPr lang="zh-CN" altLang="en-US" dirty="0"/>
              <a:t>．客户机                   </a:t>
            </a:r>
            <a:r>
              <a:rPr lang="en-US" altLang="zh-CN" dirty="0"/>
              <a:t>D</a:t>
            </a:r>
            <a:r>
              <a:rPr lang="zh-CN" altLang="en-US" dirty="0"/>
              <a:t>．服务处理机</a:t>
            </a:r>
            <a:endParaRPr lang="en-US" altLang="zh-CN" dirty="0"/>
          </a:p>
          <a:p>
            <a:pPr eaLnBrk="1" hangingPunct="1"/>
            <a:r>
              <a:rPr lang="zh-CN" altLang="en-US" dirty="0"/>
              <a:t>在计算机系统中，操作系统是</a:t>
            </a:r>
            <a:r>
              <a:rPr lang="en-US" altLang="zh-CN" dirty="0"/>
              <a:t>_____</a:t>
            </a:r>
            <a:r>
              <a:rPr lang="zh-CN" altLang="en-US" dirty="0"/>
              <a:t>。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   A. </a:t>
            </a:r>
            <a:r>
              <a:rPr lang="zh-CN" altLang="en-US" dirty="0"/>
              <a:t>一般应用软件 	     </a:t>
            </a:r>
            <a:r>
              <a:rPr lang="en-US" altLang="zh-CN" dirty="0"/>
              <a:t>B. </a:t>
            </a:r>
            <a:r>
              <a:rPr lang="zh-CN" altLang="en-US" dirty="0"/>
              <a:t>核心系统软件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C. </a:t>
            </a:r>
            <a:r>
              <a:rPr lang="zh-CN" altLang="en-US" dirty="0"/>
              <a:t>用户应用软件           </a:t>
            </a:r>
            <a:r>
              <a:rPr lang="en-US" altLang="zh-CN" dirty="0"/>
              <a:t>D. </a:t>
            </a:r>
            <a:r>
              <a:rPr lang="zh-CN" altLang="en-US" dirty="0"/>
              <a:t>硬件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0C226CBB-0607-BBD7-FE28-8AF21A17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1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xmlns="" id="{F8CE7EB6-F78E-B879-1D19-09F5D58D5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2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xmlns="" id="{691651A2-D95D-F3AC-8B31-CAC2298CC4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393113" cy="5000625"/>
          </a:xfrm>
        </p:spPr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实时操作系统必须在</a:t>
            </a:r>
            <a:r>
              <a:rPr lang="zh-CN" altLang="en-US" dirty="0"/>
              <a:t>_____</a:t>
            </a:r>
            <a:r>
              <a:rPr lang="zh-CN" altLang="en-US" dirty="0">
                <a:latin typeface="Times New Roman" panose="02020603050405020304" pitchFamily="18" charset="0"/>
              </a:rPr>
              <a:t>内处理来自外部的事件。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A.</a:t>
            </a:r>
            <a:r>
              <a:rPr lang="zh-CN" altLang="en-US" dirty="0">
                <a:latin typeface="Times New Roman" panose="02020603050405020304" pitchFamily="18" charset="0"/>
              </a:rPr>
              <a:t>时间片                                 </a:t>
            </a:r>
            <a:r>
              <a:rPr lang="en-US" altLang="zh-CN" dirty="0"/>
              <a:t>B.</a:t>
            </a:r>
            <a:r>
              <a:rPr lang="zh-CN" altLang="en-US" dirty="0">
                <a:latin typeface="Times New Roman" panose="02020603050405020304" pitchFamily="18" charset="0"/>
              </a:rPr>
              <a:t>周转时间</a:t>
            </a:r>
            <a:r>
              <a:rPr lang="zh-CN" altLang="en-US" dirty="0"/>
              <a:t> 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C.</a:t>
            </a:r>
            <a:r>
              <a:rPr lang="zh-CN" altLang="en-US" dirty="0">
                <a:latin typeface="Times New Roman" panose="02020603050405020304" pitchFamily="18" charset="0"/>
              </a:rPr>
              <a:t>被控制对象规定时间         </a:t>
            </a:r>
            <a:r>
              <a:rPr lang="en-US" altLang="zh-CN" dirty="0"/>
              <a:t>D.</a:t>
            </a:r>
            <a:r>
              <a:rPr lang="zh-CN" altLang="en-US" dirty="0">
                <a:latin typeface="Times New Roman" panose="02020603050405020304" pitchFamily="18" charset="0"/>
              </a:rPr>
              <a:t>一个机器周期</a:t>
            </a:r>
            <a:endParaRPr lang="zh-CN" altLang="en-US" dirty="0"/>
          </a:p>
          <a:p>
            <a:pPr eaLnBrk="1" hangingPunct="1"/>
            <a:r>
              <a:rPr lang="zh-CN" altLang="en-US" dirty="0"/>
              <a:t>在设计实时操作系统时，不重点考虑的是</a:t>
            </a:r>
            <a:r>
              <a:rPr lang="en-US" altLang="zh-CN" dirty="0"/>
              <a:t>______</a:t>
            </a:r>
            <a:r>
              <a:rPr lang="zh-CN" altLang="en-US" dirty="0"/>
              <a:t>。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  A</a:t>
            </a:r>
            <a:r>
              <a:rPr lang="zh-CN" altLang="en-US" dirty="0"/>
              <a:t>．及时响应，快速处理       </a:t>
            </a:r>
            <a:r>
              <a:rPr lang="en-US" altLang="zh-CN" dirty="0"/>
              <a:t>B</a:t>
            </a:r>
            <a:r>
              <a:rPr lang="zh-CN" altLang="en-US" dirty="0"/>
              <a:t>．有高安全性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  C</a:t>
            </a:r>
            <a:r>
              <a:rPr lang="zh-CN" altLang="en-US" dirty="0"/>
              <a:t>．提高系统资源的利用率    </a:t>
            </a:r>
            <a:r>
              <a:rPr lang="en-US" altLang="zh-CN" dirty="0"/>
              <a:t>D</a:t>
            </a:r>
            <a:r>
              <a:rPr lang="zh-CN" altLang="en-US" dirty="0"/>
              <a:t>．有高可靠性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269292C1-7DAB-29C9-F463-13E76361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74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xmlns="" id="{9E222617-522C-05AB-D0EC-8FBA5E60A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3</a:t>
            </a:r>
          </a:p>
        </p:txBody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xmlns="" id="{1E353901-4BC7-D60E-2EDE-BAB993D39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393113" cy="5000625"/>
          </a:xfrm>
        </p:spPr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下述关于并发性的叙述中正确的是</a:t>
            </a:r>
            <a:r>
              <a:rPr lang="zh-CN" altLang="en-US" dirty="0"/>
              <a:t>_____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A.</a:t>
            </a:r>
            <a:r>
              <a:rPr lang="zh-CN" altLang="en-US" dirty="0">
                <a:latin typeface="Times New Roman" panose="02020603050405020304" pitchFamily="18" charset="0"/>
              </a:rPr>
              <a:t>并发性是指若干事件在不同时间间隔内发生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B.</a:t>
            </a:r>
            <a:r>
              <a:rPr lang="zh-CN" altLang="en-US" dirty="0">
                <a:latin typeface="Times New Roman" panose="02020603050405020304" pitchFamily="18" charset="0"/>
              </a:rPr>
              <a:t>并发性是指若干事件在同一时间间隔内发生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C.</a:t>
            </a:r>
            <a:r>
              <a:rPr lang="zh-CN" altLang="en-US" dirty="0">
                <a:latin typeface="Times New Roman" panose="02020603050405020304" pitchFamily="18" charset="0"/>
              </a:rPr>
              <a:t>并发性是指若干事件在不同时刻发生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D.</a:t>
            </a:r>
            <a:r>
              <a:rPr lang="zh-CN" altLang="en-US" dirty="0">
                <a:latin typeface="Times New Roman" panose="02020603050405020304" pitchFamily="18" charset="0"/>
              </a:rPr>
              <a:t>并发性是指若干事件在同一时刻发生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分时系统追求的目标是</a:t>
            </a:r>
            <a:r>
              <a:rPr lang="zh-CN" altLang="en-US" dirty="0"/>
              <a:t>_____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A.</a:t>
            </a:r>
            <a:r>
              <a:rPr lang="zh-CN" altLang="en-US" dirty="0">
                <a:latin typeface="Times New Roman" panose="02020603050405020304" pitchFamily="18" charset="0"/>
              </a:rPr>
              <a:t>快速响应用户    </a:t>
            </a:r>
            <a:r>
              <a:rPr lang="en-US" altLang="zh-CN" dirty="0"/>
              <a:t>B.</a:t>
            </a:r>
            <a:r>
              <a:rPr lang="zh-CN" altLang="en-US" dirty="0">
                <a:latin typeface="Times New Roman" panose="02020603050405020304" pitchFamily="18" charset="0"/>
              </a:rPr>
              <a:t>充分利用</a:t>
            </a:r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设备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C.</a:t>
            </a:r>
            <a:r>
              <a:rPr lang="zh-CN" altLang="en-US" dirty="0">
                <a:latin typeface="Times New Roman" panose="02020603050405020304" pitchFamily="18" charset="0"/>
              </a:rPr>
              <a:t>充分利用内存    </a:t>
            </a:r>
            <a:r>
              <a:rPr lang="en-US" altLang="zh-CN" dirty="0"/>
              <a:t>D.</a:t>
            </a:r>
            <a:r>
              <a:rPr lang="zh-CN" altLang="en-US" dirty="0">
                <a:latin typeface="Times New Roman" panose="02020603050405020304" pitchFamily="18" charset="0"/>
              </a:rPr>
              <a:t>提供系统吞吐率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418DC60-D98F-13C1-8DE1-C4E625B1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76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xmlns="" id="{442F38BC-2D24-A1FC-ED74-6FBDD309B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4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xmlns="" id="{07DD1CFA-391F-75F5-C7AC-8FF383783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393113" cy="5000625"/>
          </a:xfrm>
        </p:spPr>
        <p:txBody>
          <a:bodyPr/>
          <a:lstStyle/>
          <a:p>
            <a:pPr eaLnBrk="1" hangingPunct="1"/>
            <a:r>
              <a:rPr lang="zh-CN" altLang="en-US" dirty="0"/>
              <a:t>一个多道批处理系统，提高了计算机系统的资源利用率，同时</a:t>
            </a:r>
            <a:r>
              <a:rPr lang="en-US" altLang="zh-CN" dirty="0"/>
              <a:t>_____</a:t>
            </a:r>
            <a:r>
              <a:rPr lang="zh-CN" altLang="en-US" dirty="0"/>
              <a:t>。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A. </a:t>
            </a:r>
            <a:r>
              <a:rPr lang="zh-CN" altLang="en-US" dirty="0"/>
              <a:t>减少各个作业的执行时间</a:t>
            </a:r>
            <a:endParaRPr lang="en-US" altLang="zh-CN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B. </a:t>
            </a:r>
            <a:r>
              <a:rPr lang="zh-CN" altLang="en-US" dirty="0"/>
              <a:t>增加了单位时间内作业的吞吐量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C. </a:t>
            </a:r>
            <a:r>
              <a:rPr lang="zh-CN" altLang="en-US" dirty="0"/>
              <a:t>减少了部分作业的执行时间</a:t>
            </a:r>
            <a:endParaRPr lang="en-US" altLang="zh-CN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D. </a:t>
            </a:r>
            <a:r>
              <a:rPr lang="zh-CN" altLang="en-US" dirty="0"/>
              <a:t>减少单位时间内作业的吞吐量</a:t>
            </a:r>
            <a:endParaRPr lang="en-US" altLang="zh-CN" dirty="0"/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批处理系统的主要缺点是</a:t>
            </a:r>
            <a:r>
              <a:rPr lang="zh-CN" altLang="en-US" dirty="0"/>
              <a:t>_____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A. </a:t>
            </a:r>
            <a:r>
              <a:rPr lang="zh-CN" altLang="en-US" dirty="0">
                <a:latin typeface="Times New Roman" panose="02020603050405020304" pitchFamily="18" charset="0"/>
              </a:rPr>
              <a:t>无交互能力              </a:t>
            </a:r>
            <a:r>
              <a:rPr lang="en-US" altLang="zh-CN" dirty="0"/>
              <a:t>B.</a:t>
            </a:r>
            <a:r>
              <a:rPr lang="zh-CN" altLang="en-US" dirty="0"/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系统吞吐量小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C. </a:t>
            </a:r>
            <a:r>
              <a:rPr lang="zh-CN" altLang="en-US" dirty="0">
                <a:latin typeface="Times New Roman" panose="02020603050405020304" pitchFamily="18" charset="0"/>
              </a:rPr>
              <a:t>资源利用率低</a:t>
            </a:r>
            <a:r>
              <a:rPr lang="zh-CN" altLang="en-US" dirty="0"/>
              <a:t>         </a:t>
            </a:r>
            <a:r>
              <a:rPr lang="en-US" altLang="zh-CN" dirty="0"/>
              <a:t>D. CPU</a:t>
            </a:r>
            <a:r>
              <a:rPr lang="zh-CN" altLang="en-US" dirty="0">
                <a:latin typeface="Times New Roman" panose="02020603050405020304" pitchFamily="18" charset="0"/>
              </a:rPr>
              <a:t>利用率不高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0D41BA1-9D2F-D990-B1D5-AC54E691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91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xmlns="" id="{0C954844-4009-4103-150B-C01D6A853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5</a:t>
            </a:r>
          </a:p>
        </p:txBody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xmlns="" id="{81BDE61C-3947-464C-ECC0-A2370522B6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393113" cy="50006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从用户的观点看，操作系统是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A.</a:t>
            </a:r>
            <a:r>
              <a:rPr lang="zh-CN" altLang="en-US">
                <a:latin typeface="Times New Roman" panose="02020603050405020304" pitchFamily="18" charset="0"/>
              </a:rPr>
              <a:t>合理地组织计算机工作流程的软件</a:t>
            </a:r>
            <a:endParaRPr lang="zh-CN" altLang="en-US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B. </a:t>
            </a:r>
            <a:r>
              <a:rPr lang="zh-CN" altLang="en-US">
                <a:latin typeface="Times New Roman" panose="02020603050405020304" pitchFamily="18" charset="0"/>
              </a:rPr>
              <a:t>由若干层次的程序按一定的结构组成的有机体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C. </a:t>
            </a:r>
            <a:r>
              <a:rPr lang="zh-CN" altLang="en-US">
                <a:latin typeface="Times New Roman" panose="02020603050405020304" pitchFamily="18" charset="0"/>
              </a:rPr>
              <a:t>控制和管理计算机资源的软件</a:t>
            </a:r>
            <a:endParaRPr lang="zh-CN" altLang="en-US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D.</a:t>
            </a:r>
            <a:r>
              <a:rPr lang="zh-CN" altLang="en-US">
                <a:latin typeface="Times New Roman" panose="02020603050405020304" pitchFamily="18" charset="0"/>
              </a:rPr>
              <a:t>用户与计算机之间的接口</a:t>
            </a:r>
            <a:endParaRPr lang="zh-CN" altLang="en-US"/>
          </a:p>
          <a:p>
            <a:pPr algn="just"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所谓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是指将一个以上的作业放入内存，并且同时处于运行状态，这些作业共享处理机的时间和外围设备等资源。</a:t>
            </a:r>
            <a:endParaRPr lang="zh-CN" altLang="en-US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A.</a:t>
            </a:r>
            <a:r>
              <a:rPr lang="zh-CN" altLang="en-US">
                <a:latin typeface="Times New Roman" panose="02020603050405020304" pitchFamily="18" charset="0"/>
              </a:rPr>
              <a:t>多道程序设计       </a:t>
            </a:r>
            <a:r>
              <a:rPr lang="en-US" altLang="zh-CN"/>
              <a:t>B.</a:t>
            </a:r>
            <a:r>
              <a:rPr lang="zh-CN" altLang="en-US">
                <a:latin typeface="Times New Roman" panose="02020603050405020304" pitchFamily="18" charset="0"/>
              </a:rPr>
              <a:t>多重处理</a:t>
            </a:r>
            <a:endParaRPr lang="zh-CN" altLang="en-US"/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C.</a:t>
            </a:r>
            <a:r>
              <a:rPr lang="zh-CN" altLang="en-US">
                <a:latin typeface="Times New Roman" panose="02020603050405020304" pitchFamily="18" charset="0"/>
              </a:rPr>
              <a:t>共行执行               </a:t>
            </a:r>
            <a:r>
              <a:rPr lang="en-US" altLang="zh-CN"/>
              <a:t>D.</a:t>
            </a:r>
            <a:r>
              <a:rPr lang="zh-CN" altLang="en-US">
                <a:latin typeface="Times New Roman" panose="02020603050405020304" pitchFamily="18" charset="0"/>
              </a:rPr>
              <a:t>实时处理</a:t>
            </a:r>
            <a:r>
              <a:rPr lang="zh-CN" altLang="en-US"/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6FF146C-E4E8-2B60-C406-20E483C6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60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xmlns="" id="{0B6CCD17-B06B-FB94-98C8-EB9185E79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选择题</a:t>
            </a:r>
            <a:r>
              <a:rPr lang="en-US" altLang="zh-CN"/>
              <a:t>6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xmlns="" id="{A61BAF4D-DAD8-E5DA-B8D4-CF244CF175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393113" cy="5000625"/>
          </a:xfrm>
        </p:spPr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</a:rPr>
              <a:t>操作系统中最基本的两个特征是</a:t>
            </a:r>
            <a:r>
              <a:rPr lang="zh-CN" altLang="en-US" dirty="0"/>
              <a:t>_____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A.</a:t>
            </a:r>
            <a:r>
              <a:rPr lang="zh-CN" altLang="en-US" dirty="0">
                <a:latin typeface="Times New Roman" panose="02020603050405020304" pitchFamily="18" charset="0"/>
              </a:rPr>
              <a:t> 虚拟和不确定      </a:t>
            </a:r>
            <a:r>
              <a:rPr lang="en-US" altLang="zh-CN" dirty="0"/>
              <a:t>B.</a:t>
            </a:r>
            <a:r>
              <a:rPr lang="zh-CN" altLang="en-US" dirty="0">
                <a:latin typeface="Times New Roman" panose="02020603050405020304" pitchFamily="18" charset="0"/>
              </a:rPr>
              <a:t>共享和虚拟</a:t>
            </a:r>
            <a:r>
              <a:rPr lang="zh-CN" altLang="en-US" dirty="0"/>
              <a:t> 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dirty="0"/>
              <a:t>C.</a:t>
            </a:r>
            <a:r>
              <a:rPr lang="zh-CN" altLang="en-US" dirty="0"/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并发和共享          </a:t>
            </a:r>
            <a:r>
              <a:rPr lang="en-US" altLang="zh-CN" dirty="0"/>
              <a:t>D.</a:t>
            </a:r>
            <a:r>
              <a:rPr lang="zh-CN" altLang="en-US" dirty="0">
                <a:latin typeface="Times New Roman" panose="02020603050405020304" pitchFamily="18" charset="0"/>
              </a:rPr>
              <a:t>并发和不确定</a:t>
            </a:r>
            <a:endParaRPr lang="zh-CN" altLang="en-US" dirty="0"/>
          </a:p>
          <a:p>
            <a:pPr algn="just"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99120951-3544-E729-BFFF-85BD3826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2FC2A-5BB9-8744-BD29-7C6EF21A0FC0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67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填空题</a:t>
            </a:r>
            <a:r>
              <a:rPr lang="en-US" altLang="zh-CN" dirty="0" smtClean="0"/>
              <a:t>1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68413"/>
            <a:ext cx="8458200" cy="50768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操作系统的基本特征是</a:t>
            </a:r>
            <a:r>
              <a:rPr lang="zh-CN" altLang="en-US" dirty="0" smtClean="0"/>
              <a:t> 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①</a:t>
            </a:r>
            <a:r>
              <a:rPr lang="zh-CN" altLang="en-US" u="sng" dirty="0" smtClean="0"/>
              <a:t>  </a:t>
            </a:r>
            <a:r>
              <a:rPr lang="zh-CN" altLang="en-US" dirty="0" smtClean="0"/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、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②</a:t>
            </a:r>
            <a:r>
              <a:rPr lang="zh-CN" altLang="en-US" u="sng" dirty="0" smtClean="0"/>
              <a:t>  </a:t>
            </a:r>
            <a:r>
              <a:rPr lang="zh-CN" altLang="en-US" dirty="0" smtClean="0"/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、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③</a:t>
            </a:r>
            <a:r>
              <a:rPr lang="zh-CN" altLang="en-US" u="sng" dirty="0" smtClean="0"/>
              <a:t>  </a:t>
            </a:r>
            <a:r>
              <a:rPr lang="zh-CN" altLang="en-US" dirty="0" smtClean="0"/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、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④</a:t>
            </a:r>
            <a:r>
              <a:rPr lang="zh-CN" altLang="en-US" u="sng" dirty="0" smtClean="0"/>
              <a:t>  </a:t>
            </a:r>
            <a:r>
              <a:rPr lang="zh-CN" altLang="en-US" dirty="0" smtClean="0"/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zh-CN" alt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实时系统按应用的不同分为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①</a:t>
            </a:r>
            <a:r>
              <a:rPr lang="zh-CN" altLang="en-US" u="sng" dirty="0" smtClean="0"/>
              <a:t>  </a:t>
            </a:r>
            <a:r>
              <a:rPr lang="zh-CN" altLang="en-US" dirty="0" smtClean="0">
                <a:latin typeface="Times New Roman" panose="02020603050405020304" pitchFamily="18" charset="0"/>
              </a:rPr>
              <a:t>和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②</a:t>
            </a:r>
            <a:r>
              <a:rPr lang="zh-CN" altLang="en-US" u="sng" dirty="0" smtClean="0"/>
              <a:t>  </a:t>
            </a:r>
            <a:r>
              <a:rPr lang="zh-CN" altLang="en-US" dirty="0" smtClean="0">
                <a:latin typeface="Times New Roman" panose="02020603050405020304" pitchFamily="18" charset="0"/>
              </a:rPr>
              <a:t>两种。</a:t>
            </a:r>
            <a:endParaRPr lang="zh-CN" altLang="en-US" dirty="0" smtClean="0"/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如果操作系统具有很强交互性，可同时供多个用户使用，系统响应比较及时，则属于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①</a:t>
            </a:r>
            <a:r>
              <a:rPr lang="zh-CN" altLang="en-US" u="sng" dirty="0" smtClean="0"/>
              <a:t>  </a:t>
            </a:r>
            <a:r>
              <a:rPr lang="zh-CN" altLang="en-US" dirty="0" smtClean="0">
                <a:latin typeface="Times New Roman" panose="02020603050405020304" pitchFamily="18" charset="0"/>
              </a:rPr>
              <a:t>类型；如果</a:t>
            </a:r>
            <a:r>
              <a:rPr lang="en-US" altLang="zh-CN" dirty="0" smtClean="0"/>
              <a:t>OS</a:t>
            </a:r>
            <a:r>
              <a:rPr lang="zh-CN" altLang="en-US" dirty="0" smtClean="0">
                <a:latin typeface="Times New Roman" panose="02020603050405020304" pitchFamily="18" charset="0"/>
              </a:rPr>
              <a:t>可靠，响应及时但仅有简单的交互能力则属于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②</a:t>
            </a:r>
            <a:r>
              <a:rPr lang="zh-CN" altLang="en-US" u="sng" dirty="0" smtClean="0"/>
              <a:t>  </a:t>
            </a:r>
            <a:r>
              <a:rPr lang="zh-CN" altLang="en-US" dirty="0" smtClean="0">
                <a:latin typeface="Times New Roman" panose="02020603050405020304" pitchFamily="18" charset="0"/>
              </a:rPr>
              <a:t>类型；如果</a:t>
            </a:r>
            <a:r>
              <a:rPr lang="en-US" altLang="zh-CN" dirty="0" smtClean="0"/>
              <a:t>OS</a:t>
            </a:r>
            <a:r>
              <a:rPr lang="zh-CN" altLang="en-US" dirty="0" smtClean="0">
                <a:latin typeface="Times New Roman" panose="02020603050405020304" pitchFamily="18" charset="0"/>
              </a:rPr>
              <a:t>在用户提交作业后，不提供交互能力，它所追求的是计算机资源的高利用率，大吞吐量和作业流程的自动化，则属于</a:t>
            </a:r>
            <a:r>
              <a:rPr lang="zh-CN" altLang="en-US" u="sng" dirty="0" smtClean="0"/>
              <a:t>  </a:t>
            </a:r>
            <a:r>
              <a:rPr lang="zh-CN" altLang="en-US" u="sng" dirty="0" smtClean="0">
                <a:latin typeface="Times New Roman" panose="02020603050405020304" pitchFamily="18" charset="0"/>
              </a:rPr>
              <a:t>③</a:t>
            </a:r>
            <a:r>
              <a:rPr lang="zh-CN" altLang="en-US" u="sng" dirty="0" smtClean="0"/>
              <a:t>  </a:t>
            </a:r>
            <a:r>
              <a:rPr lang="zh-CN" altLang="en-US" dirty="0" smtClean="0">
                <a:latin typeface="Times New Roman" panose="02020603050405020304" pitchFamily="18" charset="0"/>
              </a:rPr>
              <a:t>类型。</a:t>
            </a:r>
            <a:endParaRPr lang="zh-CN" altLang="en-US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EB0E7-9CA2-4434-946F-4EC1C325EB9D}" type="slidenum">
              <a:rPr lang="zh-CN" altLang="en-US"/>
              <a:pPr>
                <a:defRPr/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2807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填空题</a:t>
            </a:r>
            <a:r>
              <a:rPr lang="en-US" altLang="zh-CN" smtClean="0"/>
              <a:t>2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96975"/>
            <a:ext cx="8278813" cy="5076825"/>
          </a:xfrm>
        </p:spPr>
        <p:txBody>
          <a:bodyPr/>
          <a:lstStyle/>
          <a:p>
            <a:pPr algn="just" eaLnBrk="1" hangingPunct="1"/>
            <a:r>
              <a:rPr lang="zh-CN" altLang="en-US" smtClean="0">
                <a:latin typeface="Times New Roman" panose="02020603050405020304" pitchFamily="18" charset="0"/>
              </a:rPr>
              <a:t>如果一个操作系统兼有批处理、分时和实时操作系统三者或其中两者的功能，这样的操作系统称为</a:t>
            </a:r>
            <a:r>
              <a:rPr lang="zh-CN" altLang="en-US" smtClean="0"/>
              <a:t>_____</a:t>
            </a:r>
            <a:r>
              <a:rPr lang="zh-CN" altLang="en-US" smtClean="0">
                <a:latin typeface="Times New Roman" panose="02020603050405020304" pitchFamily="18" charset="0"/>
              </a:rPr>
              <a:t>。</a:t>
            </a:r>
            <a:endParaRPr lang="zh-CN" altLang="en-US" smtClean="0"/>
          </a:p>
          <a:p>
            <a:pPr algn="just" eaLnBrk="1" hangingPunct="1"/>
            <a:r>
              <a:rPr lang="zh-CN" altLang="en-US" smtClean="0">
                <a:latin typeface="Times New Roman" panose="02020603050405020304" pitchFamily="18" charset="0"/>
              </a:rPr>
              <a:t>操作系统是计算机系统中的一个</a:t>
            </a:r>
            <a:r>
              <a:rPr lang="zh-CN" altLang="en-US" u="sng" smtClean="0"/>
              <a:t>  </a:t>
            </a:r>
            <a:r>
              <a:rPr lang="zh-CN" altLang="en-US" u="sng" smtClean="0">
                <a:latin typeface="Times New Roman" panose="02020603050405020304" pitchFamily="18" charset="0"/>
              </a:rPr>
              <a:t>①</a:t>
            </a:r>
            <a:r>
              <a:rPr lang="zh-CN" altLang="en-US" u="sng" smtClean="0"/>
              <a:t>  </a:t>
            </a:r>
            <a:r>
              <a:rPr lang="zh-CN" altLang="en-US" smtClean="0">
                <a:latin typeface="Times New Roman" panose="02020603050405020304" pitchFamily="18" charset="0"/>
              </a:rPr>
              <a:t>，它管理和控制计算机系统中的</a:t>
            </a:r>
            <a:r>
              <a:rPr lang="zh-CN" altLang="en-US" u="sng" smtClean="0"/>
              <a:t>  </a:t>
            </a:r>
            <a:r>
              <a:rPr lang="zh-CN" altLang="en-US" u="sng" smtClean="0">
                <a:latin typeface="Times New Roman" panose="02020603050405020304" pitchFamily="18" charset="0"/>
              </a:rPr>
              <a:t>②</a:t>
            </a:r>
            <a:r>
              <a:rPr lang="zh-CN" altLang="en-US" u="sng" smtClean="0"/>
              <a:t>  </a:t>
            </a:r>
            <a:r>
              <a:rPr lang="zh-CN" altLang="en-US" smtClean="0">
                <a:latin typeface="Times New Roman" panose="02020603050405020304" pitchFamily="18" charset="0"/>
              </a:rPr>
              <a:t>。</a:t>
            </a:r>
            <a:endParaRPr lang="zh-CN" altLang="en-US" smtClean="0"/>
          </a:p>
          <a:p>
            <a:pPr algn="just" eaLnBrk="1" hangingPunct="1"/>
            <a:r>
              <a:rPr lang="zh-CN" altLang="en-US" smtClean="0">
                <a:latin typeface="Times New Roman" panose="02020603050405020304" pitchFamily="18" charset="0"/>
              </a:rPr>
              <a:t>没有配置</a:t>
            </a:r>
            <a:r>
              <a:rPr lang="zh-CN" altLang="en-US" smtClean="0"/>
              <a:t>_____</a:t>
            </a:r>
            <a:r>
              <a:rPr lang="zh-CN" altLang="en-US" smtClean="0">
                <a:latin typeface="Times New Roman" panose="02020603050405020304" pitchFamily="18" charset="0"/>
              </a:rPr>
              <a:t>的计算机称为裸机。</a:t>
            </a:r>
            <a:endParaRPr lang="zh-CN" altLang="en-US" smtClean="0"/>
          </a:p>
          <a:p>
            <a:pPr algn="just" eaLnBrk="1" hangingPunct="1"/>
            <a:r>
              <a:rPr lang="zh-CN" altLang="en-US" smtClean="0">
                <a:latin typeface="Times New Roman" panose="02020603050405020304" pitchFamily="18" charset="0"/>
              </a:rPr>
              <a:t>在主机控制下进行的输入</a:t>
            </a:r>
            <a:r>
              <a:rPr lang="zh-CN" altLang="en-US" smtClean="0"/>
              <a:t>/</a:t>
            </a:r>
            <a:r>
              <a:rPr lang="zh-CN" altLang="en-US" smtClean="0">
                <a:latin typeface="Times New Roman" panose="02020603050405020304" pitchFamily="18" charset="0"/>
              </a:rPr>
              <a:t>输出操作称为</a:t>
            </a:r>
            <a:r>
              <a:rPr lang="zh-CN" altLang="en-US" smtClean="0"/>
              <a:t>_____</a:t>
            </a:r>
            <a:r>
              <a:rPr lang="zh-CN" altLang="en-US" smtClean="0">
                <a:latin typeface="Times New Roman" panose="02020603050405020304" pitchFamily="18" charset="0"/>
              </a:rPr>
              <a:t>操作。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C11778-E17D-43C8-862D-B9CD150BAEAD}" type="slidenum">
              <a:rPr lang="zh-CN" altLang="en-US"/>
              <a:pPr>
                <a:defRPr/>
              </a:pPr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0360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填空题</a:t>
            </a:r>
            <a:r>
              <a:rPr lang="en-US" altLang="zh-CN" smtClean="0"/>
              <a:t>3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96975"/>
            <a:ext cx="8278813" cy="5076825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</a:rPr>
              <a:t>在单处理机系统中，多道程序运行的特点是多道、</a:t>
            </a:r>
            <a:r>
              <a:rPr lang="zh-CN" altLang="en-US" u="sng" smtClean="0"/>
              <a:t>  </a:t>
            </a:r>
            <a:r>
              <a:rPr lang="zh-CN" altLang="en-US" u="sng" smtClean="0">
                <a:latin typeface="Times New Roman" panose="02020603050405020304" pitchFamily="18" charset="0"/>
              </a:rPr>
              <a:t>①</a:t>
            </a:r>
            <a:r>
              <a:rPr lang="zh-CN" altLang="en-US" u="sng" smtClean="0"/>
              <a:t>  </a:t>
            </a:r>
            <a:r>
              <a:rPr lang="zh-CN" altLang="en-US" smtClean="0">
                <a:latin typeface="Times New Roman" panose="02020603050405020304" pitchFamily="18" charset="0"/>
              </a:rPr>
              <a:t>和</a:t>
            </a:r>
            <a:r>
              <a:rPr lang="zh-CN" altLang="en-US" u="sng" smtClean="0"/>
              <a:t>  </a:t>
            </a:r>
            <a:r>
              <a:rPr lang="zh-CN" altLang="en-US" u="sng" smtClean="0">
                <a:latin typeface="Times New Roman" panose="02020603050405020304" pitchFamily="18" charset="0"/>
              </a:rPr>
              <a:t>②</a:t>
            </a:r>
            <a:r>
              <a:rPr lang="zh-CN" altLang="en-US" u="sng" smtClean="0"/>
              <a:t>  </a:t>
            </a:r>
            <a:r>
              <a:rPr lang="zh-CN" altLang="en-US" smtClean="0">
                <a:latin typeface="Times New Roman" panose="02020603050405020304" pitchFamily="18" charset="0"/>
              </a:rPr>
              <a:t>。</a:t>
            </a:r>
            <a:r>
              <a:rPr lang="zh-CN" altLang="en-US" smtClean="0"/>
              <a:t> </a:t>
            </a:r>
          </a:p>
          <a:p>
            <a:pPr eaLnBrk="1" hangingPunct="1"/>
            <a:r>
              <a:rPr lang="zh-CN" altLang="en-US" smtClean="0"/>
              <a:t>按内存中同时运行程序的数目可以将批处理系统分为两类：</a:t>
            </a:r>
            <a:r>
              <a:rPr lang="zh-CN" altLang="en-US" u="sng" smtClean="0"/>
              <a:t>  ①  </a:t>
            </a:r>
            <a:r>
              <a:rPr lang="zh-CN" altLang="en-US" smtClean="0"/>
              <a:t> 和 </a:t>
            </a:r>
            <a:r>
              <a:rPr lang="zh-CN" altLang="en-US" u="sng" smtClean="0"/>
              <a:t>  ②  </a:t>
            </a:r>
            <a:r>
              <a:rPr lang="zh-CN" altLang="en-US" smtClean="0"/>
              <a:t> 。</a:t>
            </a:r>
          </a:p>
          <a:p>
            <a:pPr eaLnBrk="1" hangingPunct="1"/>
            <a:r>
              <a:rPr lang="zh-CN" altLang="en-US" smtClean="0"/>
              <a:t>操作系统的基本类型主要有 </a:t>
            </a:r>
            <a:r>
              <a:rPr lang="zh-CN" altLang="en-US" u="sng" smtClean="0"/>
              <a:t>  ①  </a:t>
            </a:r>
            <a:r>
              <a:rPr lang="zh-CN" altLang="en-US" smtClean="0"/>
              <a:t> 、</a:t>
            </a:r>
            <a:r>
              <a:rPr lang="zh-CN" altLang="en-US" u="sng" smtClean="0"/>
              <a:t>  ②  </a:t>
            </a:r>
            <a:r>
              <a:rPr lang="zh-CN" altLang="en-US" smtClean="0"/>
              <a:t> 、</a:t>
            </a:r>
            <a:r>
              <a:rPr lang="zh-CN" altLang="en-US" u="sng" smtClean="0"/>
              <a:t>  ③  </a:t>
            </a:r>
            <a:r>
              <a:rPr lang="zh-CN" altLang="en-US" smtClean="0"/>
              <a:t> 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10C705-05E7-4438-893C-31ECD99EBDFC}" type="slidenum">
              <a:rPr lang="zh-CN" altLang="en-US"/>
              <a:pPr>
                <a:defRPr/>
              </a:pPr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284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操作系统课件模板" id="{0D2B8607-4739-144E-A205-A5D57C41C081}" vid="{8AD7C6F1-63D5-6344-AC6B-4C503594B1A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操作系统课件模板</Template>
  <TotalTime>2658</TotalTime>
  <Words>4554</Words>
  <Application>Microsoft Office PowerPoint</Application>
  <PresentationFormat>全屏显示(4:3)</PresentationFormat>
  <Paragraphs>699</Paragraphs>
  <Slides>63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3" baseType="lpstr">
      <vt:lpstr>等线</vt:lpstr>
      <vt:lpstr>宋体</vt:lpstr>
      <vt:lpstr>Arial</vt:lpstr>
      <vt:lpstr>Calibri</vt:lpstr>
      <vt:lpstr>Century</vt:lpstr>
      <vt:lpstr>Consolas</vt:lpstr>
      <vt:lpstr>Tahoma</vt:lpstr>
      <vt:lpstr>Times New Roman</vt:lpstr>
      <vt:lpstr>Wingdings</vt:lpstr>
      <vt:lpstr>1_Blends</vt:lpstr>
      <vt:lpstr>第1章 导论</vt:lpstr>
      <vt:lpstr>前言</vt:lpstr>
      <vt:lpstr>计算机系统的四个部分</vt:lpstr>
      <vt:lpstr>计算机系统的四个部分</vt:lpstr>
      <vt:lpstr>计算机系统的四个部分</vt:lpstr>
      <vt:lpstr>虚拟机</vt:lpstr>
      <vt:lpstr>配置操作系统的主要目标</vt:lpstr>
      <vt:lpstr>研究操作系统的两个观点</vt:lpstr>
      <vt:lpstr>操作系统定义</vt:lpstr>
      <vt:lpstr>OS管理的计算机系统资源</vt:lpstr>
      <vt:lpstr>资源的共享使用方式</vt:lpstr>
      <vt:lpstr>第1章 导论</vt:lpstr>
      <vt:lpstr>程序的执行：指令与寄存器</vt:lpstr>
      <vt:lpstr>计算机启动过程</vt:lpstr>
      <vt:lpstr>计算机启动过程</vt:lpstr>
      <vt:lpstr>中断</vt:lpstr>
      <vt:lpstr>中断</vt:lpstr>
      <vt:lpstr>栈</vt:lpstr>
      <vt:lpstr>第1章 导论</vt:lpstr>
      <vt:lpstr>概述</vt:lpstr>
      <vt:lpstr>手工操作阶段</vt:lpstr>
      <vt:lpstr>早期批处理</vt:lpstr>
      <vt:lpstr>早期批处理</vt:lpstr>
      <vt:lpstr>单道程序系统</vt:lpstr>
      <vt:lpstr>多道程序设计技术</vt:lpstr>
      <vt:lpstr>多道程序设计技术</vt:lpstr>
      <vt:lpstr>多道程序设计的特点</vt:lpstr>
      <vt:lpstr>多道批处理系统</vt:lpstr>
      <vt:lpstr>多道批处理系统</vt:lpstr>
      <vt:lpstr>作业与作业调度</vt:lpstr>
      <vt:lpstr>分时系统</vt:lpstr>
      <vt:lpstr>分时技术示意图</vt:lpstr>
      <vt:lpstr>分时系统</vt:lpstr>
      <vt:lpstr>分时系统</vt:lpstr>
      <vt:lpstr>实时系统</vt:lpstr>
      <vt:lpstr>实时系统的特点</vt:lpstr>
      <vt:lpstr>实时系统</vt:lpstr>
      <vt:lpstr>操作系统分类</vt:lpstr>
      <vt:lpstr>操作系统的基本特征</vt:lpstr>
      <vt:lpstr>操作系统的基本特征</vt:lpstr>
      <vt:lpstr>操作系统的基本特征</vt:lpstr>
      <vt:lpstr>CPU的两种运行状态</vt:lpstr>
      <vt:lpstr>CPU的两种运行状态</vt:lpstr>
      <vt:lpstr>CPU的两种运行状态</vt:lpstr>
      <vt:lpstr>CPU的两种运行状态</vt:lpstr>
      <vt:lpstr>CPU的两种运行状态</vt:lpstr>
      <vt:lpstr>第1章 导论</vt:lpstr>
      <vt:lpstr>概述</vt:lpstr>
      <vt:lpstr>进程管理</vt:lpstr>
      <vt:lpstr>内存管理</vt:lpstr>
      <vt:lpstr>设备管理</vt:lpstr>
      <vt:lpstr>文件管理</vt:lpstr>
      <vt:lpstr>练习题</vt:lpstr>
      <vt:lpstr>练习题</vt:lpstr>
      <vt:lpstr>选择题1</vt:lpstr>
      <vt:lpstr>选择题2</vt:lpstr>
      <vt:lpstr>选择题3</vt:lpstr>
      <vt:lpstr>选择题4</vt:lpstr>
      <vt:lpstr>选择题5</vt:lpstr>
      <vt:lpstr>选择题6</vt:lpstr>
      <vt:lpstr>填空题1</vt:lpstr>
      <vt:lpstr>填空题2</vt:lpstr>
      <vt:lpstr>填空题3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I/O系统</dc:title>
  <dc:creator>Kong</dc:creator>
  <cp:lastModifiedBy>Copper</cp:lastModifiedBy>
  <cp:revision>142</cp:revision>
  <dcterms:created xsi:type="dcterms:W3CDTF">2024-01-15T08:08:31Z</dcterms:created>
  <dcterms:modified xsi:type="dcterms:W3CDTF">2026-01-27T18:22:07Z</dcterms:modified>
</cp:coreProperties>
</file>