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2"/>
  </p:notesMasterIdLst>
  <p:sldIdLst>
    <p:sldId id="257" r:id="rId2"/>
    <p:sldId id="658" r:id="rId3"/>
    <p:sldId id="385" r:id="rId4"/>
    <p:sldId id="546" r:id="rId5"/>
    <p:sldId id="524" r:id="rId6"/>
    <p:sldId id="659" r:id="rId7"/>
    <p:sldId id="660" r:id="rId8"/>
    <p:sldId id="667" r:id="rId9"/>
    <p:sldId id="261" r:id="rId10"/>
    <p:sldId id="547" r:id="rId11"/>
    <p:sldId id="548" r:id="rId12"/>
    <p:sldId id="412" r:id="rId13"/>
    <p:sldId id="549" r:id="rId14"/>
    <p:sldId id="259" r:id="rId15"/>
    <p:sldId id="386" r:id="rId16"/>
    <p:sldId id="589" r:id="rId17"/>
    <p:sldId id="565" r:id="rId18"/>
    <p:sldId id="550" r:id="rId19"/>
    <p:sldId id="567" r:id="rId20"/>
    <p:sldId id="551" r:id="rId21"/>
    <p:sldId id="465" r:id="rId22"/>
    <p:sldId id="391" r:id="rId23"/>
    <p:sldId id="568" r:id="rId24"/>
    <p:sldId id="669" r:id="rId25"/>
    <p:sldId id="262" r:id="rId26"/>
    <p:sldId id="668" r:id="rId27"/>
    <p:sldId id="570" r:id="rId28"/>
    <p:sldId id="263" r:id="rId29"/>
    <p:sldId id="686" r:id="rId30"/>
    <p:sldId id="569" r:id="rId31"/>
    <p:sldId id="590" r:id="rId32"/>
    <p:sldId id="413" r:id="rId33"/>
    <p:sldId id="268" r:id="rId34"/>
    <p:sldId id="592" r:id="rId35"/>
    <p:sldId id="593" r:id="rId36"/>
    <p:sldId id="594" r:id="rId37"/>
    <p:sldId id="571" r:id="rId38"/>
    <p:sldId id="671" r:id="rId39"/>
    <p:sldId id="672" r:id="rId40"/>
    <p:sldId id="673" r:id="rId41"/>
    <p:sldId id="674" r:id="rId42"/>
    <p:sldId id="675" r:id="rId43"/>
    <p:sldId id="676" r:id="rId44"/>
    <p:sldId id="677" r:id="rId45"/>
    <p:sldId id="678" r:id="rId46"/>
    <p:sldId id="679" r:id="rId47"/>
    <p:sldId id="680" r:id="rId48"/>
    <p:sldId id="681" r:id="rId49"/>
    <p:sldId id="682" r:id="rId50"/>
    <p:sldId id="685" r:id="rId5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9900"/>
    <a:srgbClr val="FF66FF"/>
    <a:srgbClr val="FFCC00"/>
    <a:srgbClr val="FF9966"/>
    <a:srgbClr val="FFCCFF"/>
    <a:srgbClr val="7B9495"/>
    <a:srgbClr val="55595D"/>
    <a:srgbClr val="3D8F76"/>
    <a:srgbClr val="32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0311" autoAdjust="0"/>
  </p:normalViewPr>
  <p:slideViewPr>
    <p:cSldViewPr snapToGrid="0">
      <p:cViewPr varScale="1">
        <p:scale>
          <a:sx n="101" d="100"/>
          <a:sy n="101" d="100"/>
        </p:scale>
        <p:origin x="181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2C4591-32D9-4248-9B09-4A3FCC9A2071}" type="datetimeFigureOut">
              <a:rPr kumimoji="1" lang="zh-CN" altLang="en-US" smtClean="0"/>
              <a:t>2026/2/8</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85ACA3-2961-3740-91A0-2A6370DAD6B5}" type="slidenum">
              <a:rPr kumimoji="1" lang="zh-CN" altLang="en-US" smtClean="0"/>
              <a:t>‹#›</a:t>
            </a:fld>
            <a:endParaRPr kumimoji="1" lang="zh-CN" altLang="en-US"/>
          </a:p>
        </p:txBody>
      </p:sp>
    </p:spTree>
    <p:extLst>
      <p:ext uri="{BB962C8B-B14F-4D97-AF65-F5344CB8AC3E}">
        <p14:creationId xmlns:p14="http://schemas.microsoft.com/office/powerpoint/2010/main" val="3964223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1</a:t>
            </a:fld>
            <a:endParaRPr kumimoji="1" lang="zh-CN" altLang="en-US"/>
          </a:p>
        </p:txBody>
      </p:sp>
    </p:spTree>
    <p:extLst>
      <p:ext uri="{BB962C8B-B14F-4D97-AF65-F5344CB8AC3E}">
        <p14:creationId xmlns:p14="http://schemas.microsoft.com/office/powerpoint/2010/main" val="37879947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7</a:t>
            </a:fld>
            <a:endParaRPr kumimoji="1" lang="zh-CN" altLang="en-US"/>
          </a:p>
        </p:txBody>
      </p:sp>
    </p:spTree>
    <p:extLst>
      <p:ext uri="{BB962C8B-B14F-4D97-AF65-F5344CB8AC3E}">
        <p14:creationId xmlns:p14="http://schemas.microsoft.com/office/powerpoint/2010/main" val="1091864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8</a:t>
            </a:fld>
            <a:endParaRPr kumimoji="1" lang="zh-CN" altLang="en-US"/>
          </a:p>
        </p:txBody>
      </p:sp>
    </p:spTree>
    <p:extLst>
      <p:ext uri="{BB962C8B-B14F-4D97-AF65-F5344CB8AC3E}">
        <p14:creationId xmlns:p14="http://schemas.microsoft.com/office/powerpoint/2010/main" val="2318130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9</a:t>
            </a:fld>
            <a:endParaRPr kumimoji="1" lang="zh-CN" altLang="en-US"/>
          </a:p>
        </p:txBody>
      </p:sp>
    </p:spTree>
    <p:extLst>
      <p:ext uri="{BB962C8B-B14F-4D97-AF65-F5344CB8AC3E}">
        <p14:creationId xmlns:p14="http://schemas.microsoft.com/office/powerpoint/2010/main" val="2270339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12</a:t>
            </a:fld>
            <a:endParaRPr kumimoji="1" lang="zh-CN" altLang="en-US"/>
          </a:p>
        </p:txBody>
      </p:sp>
    </p:spTree>
    <p:extLst>
      <p:ext uri="{BB962C8B-B14F-4D97-AF65-F5344CB8AC3E}">
        <p14:creationId xmlns:p14="http://schemas.microsoft.com/office/powerpoint/2010/main" val="3540525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13</a:t>
            </a:fld>
            <a:endParaRPr kumimoji="1" lang="zh-CN" altLang="en-US"/>
          </a:p>
        </p:txBody>
      </p:sp>
    </p:spTree>
    <p:extLst>
      <p:ext uri="{BB962C8B-B14F-4D97-AF65-F5344CB8AC3E}">
        <p14:creationId xmlns:p14="http://schemas.microsoft.com/office/powerpoint/2010/main" val="558821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Junction Point</a:t>
            </a:r>
            <a:r>
              <a:rPr lang="zh-CN" altLang="en-US" dirty="0" smtClean="0"/>
              <a:t>使用案例：</a:t>
            </a:r>
          </a:p>
          <a:p>
            <a:r>
              <a:rPr lang="en-US" altLang="zh-CN" dirty="0" smtClean="0"/>
              <a:t>1</a:t>
            </a:r>
            <a:r>
              <a:rPr lang="zh-CN" altLang="en-US" dirty="0" smtClean="0"/>
              <a:t>）</a:t>
            </a:r>
            <a:r>
              <a:rPr lang="en-US" altLang="zh-CN" dirty="0" smtClean="0"/>
              <a:t>Windows XP</a:t>
            </a:r>
            <a:r>
              <a:rPr lang="zh-CN" altLang="en-US" dirty="0" smtClean="0"/>
              <a:t>年代，用户文件保存于</a:t>
            </a:r>
            <a:r>
              <a:rPr lang="en-US" altLang="zh-CN" dirty="0" smtClean="0"/>
              <a:t>C:\Documents and Settings</a:t>
            </a:r>
          </a:p>
          <a:p>
            <a:r>
              <a:rPr lang="en-US" altLang="zh-CN" dirty="0" smtClean="0"/>
              <a:t>2</a:t>
            </a:r>
            <a:r>
              <a:rPr lang="zh-CN" altLang="en-US" dirty="0" smtClean="0"/>
              <a:t>）</a:t>
            </a:r>
            <a:r>
              <a:rPr lang="en-US" altLang="zh-CN" dirty="0" smtClean="0"/>
              <a:t>Windows Vista</a:t>
            </a:r>
            <a:r>
              <a:rPr lang="zh-CN" altLang="en-US" dirty="0" smtClean="0"/>
              <a:t>之后改为</a:t>
            </a:r>
            <a:r>
              <a:rPr lang="en-US" altLang="zh-CN" dirty="0" smtClean="0"/>
              <a:t>C:\Users</a:t>
            </a:r>
          </a:p>
          <a:p>
            <a:r>
              <a:rPr lang="en-US" altLang="zh-CN" dirty="0" smtClean="0"/>
              <a:t>3</a:t>
            </a:r>
            <a:r>
              <a:rPr lang="zh-CN" altLang="en-US" dirty="0" smtClean="0"/>
              <a:t>）但一些老程序假定用户文件在</a:t>
            </a:r>
            <a:r>
              <a:rPr lang="en-US" altLang="zh-CN" dirty="0" smtClean="0"/>
              <a:t>C:\Documents and Settings</a:t>
            </a:r>
            <a:r>
              <a:rPr lang="zh-CN" altLang="en-US" dirty="0" smtClean="0"/>
              <a:t>，试图访问该路径</a:t>
            </a:r>
          </a:p>
          <a:p>
            <a:r>
              <a:rPr lang="en-US" altLang="zh-CN" dirty="0" smtClean="0"/>
              <a:t>4</a:t>
            </a:r>
            <a:r>
              <a:rPr lang="zh-CN" altLang="en-US" dirty="0" smtClean="0"/>
              <a:t>）为兼容，后续系统在</a:t>
            </a:r>
            <a:r>
              <a:rPr lang="en-US" altLang="zh-CN" dirty="0" smtClean="0"/>
              <a:t>C</a:t>
            </a:r>
            <a:r>
              <a:rPr lang="zh-CN" altLang="en-US" dirty="0" smtClean="0"/>
              <a:t>盘根目录下创建名为</a:t>
            </a:r>
            <a:r>
              <a:rPr lang="en-US" altLang="zh-CN" dirty="0" smtClean="0"/>
              <a:t>Documents and Settings</a:t>
            </a:r>
            <a:r>
              <a:rPr lang="zh-CN" altLang="en-US" dirty="0" smtClean="0"/>
              <a:t>的</a:t>
            </a:r>
            <a:r>
              <a:rPr lang="en-US" altLang="zh-CN" dirty="0" smtClean="0"/>
              <a:t>Junction Point</a:t>
            </a:r>
            <a:r>
              <a:rPr lang="zh-CN" altLang="en-US" dirty="0" smtClean="0"/>
              <a:t>，链接到</a:t>
            </a:r>
            <a:r>
              <a:rPr lang="en-US" altLang="zh-CN" dirty="0" smtClean="0"/>
              <a:t>C:\Users</a:t>
            </a:r>
          </a:p>
          <a:p>
            <a:r>
              <a:rPr lang="en-US" altLang="zh-CN" dirty="0" smtClean="0"/>
              <a:t>5</a:t>
            </a:r>
            <a:r>
              <a:rPr lang="zh-CN" altLang="en-US" dirty="0" smtClean="0"/>
              <a:t>）图形界面下双击</a:t>
            </a:r>
            <a:r>
              <a:rPr lang="en-US" altLang="zh-CN" dirty="0" smtClean="0"/>
              <a:t>Documents and Settings</a:t>
            </a:r>
            <a:r>
              <a:rPr lang="zh-CN" altLang="en-US" dirty="0" smtClean="0"/>
              <a:t>的图标，禁止访问，但命令行下，可通过</a:t>
            </a:r>
            <a:r>
              <a:rPr lang="en-US" altLang="zh-CN" dirty="0" smtClean="0"/>
              <a:t>cd</a:t>
            </a:r>
            <a:r>
              <a:rPr lang="zh-CN" altLang="en-US" dirty="0" smtClean="0"/>
              <a:t>进入</a:t>
            </a:r>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28</a:t>
            </a:fld>
            <a:endParaRPr kumimoji="1" lang="zh-CN" altLang="en-US"/>
          </a:p>
        </p:txBody>
      </p:sp>
    </p:spTree>
    <p:extLst>
      <p:ext uri="{BB962C8B-B14F-4D97-AF65-F5344CB8AC3E}">
        <p14:creationId xmlns:p14="http://schemas.microsoft.com/office/powerpoint/2010/main" val="30486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29</a:t>
            </a:fld>
            <a:endParaRPr kumimoji="1" lang="zh-CN" altLang="en-US"/>
          </a:p>
        </p:txBody>
      </p:sp>
    </p:spTree>
    <p:extLst>
      <p:ext uri="{BB962C8B-B14F-4D97-AF65-F5344CB8AC3E}">
        <p14:creationId xmlns:p14="http://schemas.microsoft.com/office/powerpoint/2010/main" val="2626666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31</a:t>
            </a:fld>
            <a:endParaRPr kumimoji="1" lang="zh-CN" altLang="en-US"/>
          </a:p>
        </p:txBody>
      </p:sp>
    </p:spTree>
    <p:extLst>
      <p:ext uri="{BB962C8B-B14F-4D97-AF65-F5344CB8AC3E}">
        <p14:creationId xmlns:p14="http://schemas.microsoft.com/office/powerpoint/2010/main" val="3338843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33</a:t>
            </a:fld>
            <a:endParaRPr kumimoji="1" lang="zh-CN" altLang="en-US"/>
          </a:p>
        </p:txBody>
      </p:sp>
    </p:spTree>
    <p:extLst>
      <p:ext uri="{BB962C8B-B14F-4D97-AF65-F5344CB8AC3E}">
        <p14:creationId xmlns:p14="http://schemas.microsoft.com/office/powerpoint/2010/main" val="20884947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11">
            <a:extLst>
              <a:ext uri="{FF2B5EF4-FFF2-40B4-BE49-F238E27FC236}">
                <a16:creationId xmlns="" xmlns:a16="http://schemas.microsoft.com/office/drawing/2014/main" id="{7B338C99-4BFA-EC8E-7B91-F5844CDD83BD}"/>
              </a:ext>
            </a:extLst>
          </p:cNvPr>
          <p:cNvSpPr>
            <a:spLocks noChangeArrowheads="1"/>
          </p:cNvSpPr>
          <p:nvPr/>
        </p:nvSpPr>
        <p:spPr bwMode="auto">
          <a:xfrm flipV="1">
            <a:off x="315915" y="3260759"/>
            <a:ext cx="8693150" cy="5556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65548" name="Rectangle 12"/>
          <p:cNvSpPr>
            <a:spLocks noGrp="1" noChangeArrowheads="1"/>
          </p:cNvSpPr>
          <p:nvPr>
            <p:ph type="ctrTitle"/>
          </p:nvPr>
        </p:nvSpPr>
        <p:spPr>
          <a:xfrm>
            <a:off x="2088682" y="1828800"/>
            <a:ext cx="6674317" cy="1143000"/>
          </a:xfrm>
        </p:spPr>
        <p:txBody>
          <a:bodyPr/>
          <a:lstStyle>
            <a:lvl1pPr>
              <a:defRPr/>
            </a:lvl1pPr>
          </a:lstStyle>
          <a:p>
            <a:r>
              <a:rPr lang="zh-CN" altLang="en-US" noProof="1" smtClean="0"/>
              <a:t>单击此处编辑母版标题样式</a:t>
            </a:r>
            <a:endParaRPr lang="zh-CN" altLang="en-US" noProof="1"/>
          </a:p>
        </p:txBody>
      </p:sp>
      <p:sp>
        <p:nvSpPr>
          <p:cNvPr id="6554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smtClean="0"/>
              <a:t>单击此处编辑母版副标题样式</a:t>
            </a:r>
            <a:endParaRPr lang="zh-CN" altLang="en-US" noProof="1"/>
          </a:p>
        </p:txBody>
      </p:sp>
      <p:sp>
        <p:nvSpPr>
          <p:cNvPr id="12" name="Rectangle 14">
            <a:extLst>
              <a:ext uri="{FF2B5EF4-FFF2-40B4-BE49-F238E27FC236}">
                <a16:creationId xmlns="" xmlns:a16="http://schemas.microsoft.com/office/drawing/2014/main" id="{69E201AF-481D-D7F5-F5A3-B7C5682D2571}"/>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3" name="Rectangle 15">
            <a:extLst>
              <a:ext uri="{FF2B5EF4-FFF2-40B4-BE49-F238E27FC236}">
                <a16:creationId xmlns="" xmlns:a16="http://schemas.microsoft.com/office/drawing/2014/main" id="{701192B2-B64A-92F9-322E-CE658D3C1F41}"/>
              </a:ext>
            </a:extLst>
          </p:cNvPr>
          <p:cNvSpPr>
            <a:spLocks noGrp="1" noChangeArrowheads="1"/>
          </p:cNvSpPr>
          <p:nvPr>
            <p:ph type="ftr" sz="quarter" idx="11"/>
          </p:nvPr>
        </p:nvSpPr>
        <p:spPr>
          <a:xfrm>
            <a:off x="3429000" y="6248400"/>
            <a:ext cx="2895600" cy="457200"/>
          </a:xfrm>
          <a:prstGeom prst="rect">
            <a:avLst/>
          </a:prstGeom>
        </p:spPr>
        <p:txBody>
          <a:bodyPr/>
          <a:lstStyle>
            <a:lvl1pPr>
              <a:defRPr>
                <a:solidFill>
                  <a:schemeClr val="bg2"/>
                </a:solidFill>
              </a:defRPr>
            </a:lvl1pPr>
          </a:lstStyle>
          <a:p>
            <a:pPr>
              <a:defRPr/>
            </a:pPr>
            <a:endParaRPr lang="en-US" altLang="zh-CN"/>
          </a:p>
        </p:txBody>
      </p:sp>
      <p:sp>
        <p:nvSpPr>
          <p:cNvPr id="14" name="Rectangle 16">
            <a:extLst>
              <a:ext uri="{FF2B5EF4-FFF2-40B4-BE49-F238E27FC236}">
                <a16:creationId xmlns="" xmlns:a16="http://schemas.microsoft.com/office/drawing/2014/main" id="{1003B9B5-2387-F5A9-AE3D-CEEB0E21370C}"/>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6B6F798D-A431-694C-B66B-13A47D786A04}" type="slidenum">
              <a:rPr lang="zh-CN" altLang="en-US"/>
              <a:pPr/>
              <a:t>‹#›</a:t>
            </a:fld>
            <a:endParaRPr lang="zh-CN" altLang="en-US"/>
          </a:p>
        </p:txBody>
      </p:sp>
      <p:pic>
        <p:nvPicPr>
          <p:cNvPr id="15" name="图片 14">
            <a:extLst>
              <a:ext uri="{FF2B5EF4-FFF2-40B4-BE49-F238E27FC236}">
                <a16:creationId xmlns="" xmlns:a16="http://schemas.microsoft.com/office/drawing/2014/main" id="{E26E1406-7E5E-7B8E-2119-BA64BFFD8107}"/>
              </a:ext>
            </a:extLst>
          </p:cNvPr>
          <p:cNvPicPr>
            <a:picLocks noChangeAspect="1"/>
          </p:cNvPicPr>
          <p:nvPr userDrawn="1"/>
        </p:nvPicPr>
        <p:blipFill>
          <a:blip r:embed="rId2"/>
          <a:stretch>
            <a:fillRect/>
          </a:stretch>
        </p:blipFill>
        <p:spPr>
          <a:xfrm>
            <a:off x="381000" y="1071012"/>
            <a:ext cx="1863615" cy="2189747"/>
          </a:xfrm>
          <a:prstGeom prst="rect">
            <a:avLst/>
          </a:prstGeom>
        </p:spPr>
      </p:pic>
      <p:pic>
        <p:nvPicPr>
          <p:cNvPr id="17" name="Picture 6">
            <a:extLst>
              <a:ext uri="{FF2B5EF4-FFF2-40B4-BE49-F238E27FC236}">
                <a16:creationId xmlns="" xmlns:a16="http://schemas.microsoft.com/office/drawing/2014/main" id="{C401CBDC-AA8E-6DF1-BD9D-89438EB384E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9093" y="3310673"/>
            <a:ext cx="1414007" cy="254885"/>
          </a:xfrm>
          <a:prstGeom prst="rect">
            <a:avLst/>
          </a:prstGeom>
          <a:solidFill>
            <a:srgbClr val="5D9C89"/>
          </a:solidFill>
        </p:spPr>
      </p:pic>
    </p:spTree>
    <p:extLst>
      <p:ext uri="{BB962C8B-B14F-4D97-AF65-F5344CB8AC3E}">
        <p14:creationId xmlns:p14="http://schemas.microsoft.com/office/powerpoint/2010/main" val="4915519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atin typeface="Century" panose="02040604050505020304" pitchFamily="18" charset="0"/>
              </a:defRPr>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normAutofit/>
          </a:bodyPr>
          <a:lstStyle>
            <a:lvl1pPr hangingPunct="1">
              <a:buClr>
                <a:schemeClr val="accent4"/>
              </a:buClr>
              <a:defRPr sz="3000">
                <a:latin typeface="Century" panose="02040604050505020304" pitchFamily="18" charset="0"/>
              </a:defRPr>
            </a:lvl1pPr>
            <a:lvl2pPr hangingPunct="1">
              <a:buClr>
                <a:srgbClr val="C00000"/>
              </a:buClr>
              <a:defRPr sz="2600">
                <a:latin typeface="Century" panose="02040604050505020304" pitchFamily="18" charset="0"/>
              </a:defRPr>
            </a:lvl2pPr>
            <a:lvl3pPr hangingPunct="1">
              <a:buClr>
                <a:schemeClr val="tx2"/>
              </a:buClr>
              <a:defRPr sz="2200">
                <a:latin typeface="Century" panose="02040604050505020304" pitchFamily="18" charset="0"/>
              </a:defRPr>
            </a:lvl3pPr>
            <a:lvl4pPr hangingPunct="1">
              <a:buClr>
                <a:schemeClr val="accent2">
                  <a:lumMod val="50000"/>
                </a:schemeClr>
              </a:buClr>
              <a:defRPr sz="1800">
                <a:latin typeface="Century" panose="02040604050505020304" pitchFamily="18" charset="0"/>
              </a:defRPr>
            </a:lvl4pPr>
            <a:lvl5pPr hangingPunct="1">
              <a:buClr>
                <a:schemeClr val="accent5">
                  <a:lumMod val="25000"/>
                </a:schemeClr>
              </a:buClr>
              <a:defRPr sz="1800">
                <a:latin typeface="Century" panose="02040604050505020304" pitchFamily="18" charset="0"/>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11">
            <a:extLst>
              <a:ext uri="{FF2B5EF4-FFF2-40B4-BE49-F238E27FC236}">
                <a16:creationId xmlns="" xmlns:a16="http://schemas.microsoft.com/office/drawing/2014/main" id="{D84B8634-86D3-A0AE-194D-6A15AFAFFACB}"/>
              </a:ext>
            </a:extLst>
          </p:cNvPr>
          <p:cNvSpPr>
            <a:spLocks noGrp="1" noChangeArrowheads="1"/>
          </p:cNvSpPr>
          <p:nvPr>
            <p:ph type="dt" sz="half" idx="10"/>
          </p:nvPr>
        </p:nvSpPr>
        <p:spPr>
          <a:ln/>
        </p:spPr>
        <p:txBody>
          <a:bodyPr/>
          <a:lstStyle>
            <a:lvl1pPr>
              <a:defRPr/>
            </a:lvl1pPr>
          </a:lstStyle>
          <a:p>
            <a:pPr>
              <a:defRPr/>
            </a:pPr>
            <a:endParaRPr lang="en-US" altLang="zh-CN" dirty="0"/>
          </a:p>
        </p:txBody>
      </p:sp>
      <p:sp>
        <p:nvSpPr>
          <p:cNvPr id="5" name="Rectangle 12">
            <a:extLst>
              <a:ext uri="{FF2B5EF4-FFF2-40B4-BE49-F238E27FC236}">
                <a16:creationId xmlns="" xmlns:a16="http://schemas.microsoft.com/office/drawing/2014/main" id="{0723DE67-FDB7-4E97-1714-22C53D101CB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dirty="0"/>
          </a:p>
        </p:txBody>
      </p:sp>
      <p:sp>
        <p:nvSpPr>
          <p:cNvPr id="6" name="Rectangle 13">
            <a:extLst>
              <a:ext uri="{FF2B5EF4-FFF2-40B4-BE49-F238E27FC236}">
                <a16:creationId xmlns="" xmlns:a16="http://schemas.microsoft.com/office/drawing/2014/main" id="{724CAC9F-9A1C-2025-A160-151BDB7FFF03}"/>
              </a:ext>
            </a:extLst>
          </p:cNvPr>
          <p:cNvSpPr>
            <a:spLocks noGrp="1" noChangeArrowheads="1"/>
          </p:cNvSpPr>
          <p:nvPr>
            <p:ph type="sldNum" sz="quarter" idx="12"/>
          </p:nvPr>
        </p:nvSpPr>
        <p:spPr>
          <a:ln/>
        </p:spPr>
        <p:txBody>
          <a:bodyPr/>
          <a:lstStyle>
            <a:lvl1pPr>
              <a:defRPr/>
            </a:lvl1pPr>
          </a:lstStyle>
          <a:p>
            <a:fld id="{4093CC90-4002-504C-BD88-C9A1D374048E}" type="slidenum">
              <a:rPr lang="zh-CN" altLang="en-US" smtClean="0"/>
              <a:pPr/>
              <a:t>‹#›</a:t>
            </a:fld>
            <a:endParaRPr lang="zh-CN" altLang="en-US" dirty="0"/>
          </a:p>
        </p:txBody>
      </p:sp>
    </p:spTree>
    <p:extLst>
      <p:ext uri="{BB962C8B-B14F-4D97-AF65-F5344CB8AC3E}">
        <p14:creationId xmlns:p14="http://schemas.microsoft.com/office/powerpoint/2010/main" val="14958660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6"/>
            <a:ext cx="7772400" cy="1362075"/>
          </a:xfrm>
        </p:spPr>
        <p:txBody>
          <a:bodyPr anchor="t"/>
          <a:lstStyle>
            <a:lvl1pPr algn="l">
              <a:defRPr sz="3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884" indent="0">
              <a:buNone/>
              <a:defRPr sz="1350"/>
            </a:lvl2pPr>
            <a:lvl3pPr marL="685766" indent="0">
              <a:buNone/>
              <a:defRPr sz="1200"/>
            </a:lvl3pPr>
            <a:lvl4pPr marL="1028649" indent="0">
              <a:buNone/>
              <a:defRPr sz="1050"/>
            </a:lvl4pPr>
            <a:lvl5pPr marL="1371532" indent="0">
              <a:buNone/>
              <a:defRPr sz="1050"/>
            </a:lvl5pPr>
            <a:lvl6pPr marL="1714415" indent="0">
              <a:buNone/>
              <a:defRPr sz="1050"/>
            </a:lvl6pPr>
            <a:lvl7pPr marL="2057297" indent="0">
              <a:buNone/>
              <a:defRPr sz="1050"/>
            </a:lvl7pPr>
            <a:lvl8pPr marL="2400180" indent="0">
              <a:buNone/>
              <a:defRPr sz="1050"/>
            </a:lvl8pPr>
            <a:lvl9pPr marL="2743064" indent="0">
              <a:buNone/>
              <a:defRPr sz="1050"/>
            </a:lvl9pPr>
          </a:lstStyle>
          <a:p>
            <a:pPr lvl="0"/>
            <a:r>
              <a:rPr lang="zh-CN" altLang="en-US" noProof="1" smtClean="0"/>
              <a:t>单击此处编辑母版文本样式</a:t>
            </a:r>
          </a:p>
        </p:txBody>
      </p:sp>
      <p:sp>
        <p:nvSpPr>
          <p:cNvPr id="7" name="日期占位符 6">
            <a:extLst>
              <a:ext uri="{FF2B5EF4-FFF2-40B4-BE49-F238E27FC236}">
                <a16:creationId xmlns="" xmlns:a16="http://schemas.microsoft.com/office/drawing/2014/main" id="{FFBDFF65-8CBE-FC8E-C2AB-BF39F778E411}"/>
              </a:ext>
            </a:extLst>
          </p:cNvPr>
          <p:cNvSpPr>
            <a:spLocks noGrp="1"/>
          </p:cNvSpPr>
          <p:nvPr>
            <p:ph type="dt" sz="half" idx="10"/>
          </p:nvPr>
        </p:nvSpPr>
        <p:spPr/>
        <p:txBody>
          <a:bodyPr/>
          <a:lstStyle/>
          <a:p>
            <a:pPr>
              <a:defRPr/>
            </a:pPr>
            <a:endParaRPr lang="en-US" altLang="zh-CN" dirty="0"/>
          </a:p>
        </p:txBody>
      </p:sp>
      <p:sp>
        <p:nvSpPr>
          <p:cNvPr id="8" name="页脚占位符 7">
            <a:extLst>
              <a:ext uri="{FF2B5EF4-FFF2-40B4-BE49-F238E27FC236}">
                <a16:creationId xmlns="" xmlns:a16="http://schemas.microsoft.com/office/drawing/2014/main" id="{557BB269-8BCF-19AE-2E4C-4F50A72F7BB4}"/>
              </a:ext>
            </a:extLst>
          </p:cNvPr>
          <p:cNvSpPr>
            <a:spLocks noGrp="1"/>
          </p:cNvSpPr>
          <p:nvPr>
            <p:ph type="ftr" sz="quarter" idx="11"/>
          </p:nvPr>
        </p:nvSpPr>
        <p:spPr>
          <a:xfrm>
            <a:off x="3352800" y="6324600"/>
            <a:ext cx="2895600" cy="457200"/>
          </a:xfrm>
          <a:prstGeom prst="rect">
            <a:avLst/>
          </a:prstGeom>
        </p:spPr>
        <p:txBody>
          <a:bodyPr/>
          <a:lstStyle/>
          <a:p>
            <a:pPr>
              <a:defRPr/>
            </a:pPr>
            <a:endParaRPr lang="en-US" altLang="zh-CN"/>
          </a:p>
        </p:txBody>
      </p:sp>
      <p:sp>
        <p:nvSpPr>
          <p:cNvPr id="9" name="灯片编号占位符 8">
            <a:extLst>
              <a:ext uri="{FF2B5EF4-FFF2-40B4-BE49-F238E27FC236}">
                <a16:creationId xmlns="" xmlns:a16="http://schemas.microsoft.com/office/drawing/2014/main" id="{EC4B4EC5-8D14-B9F8-3A0E-6B6E3FB2CF26}"/>
              </a:ext>
            </a:extLst>
          </p:cNvPr>
          <p:cNvSpPr>
            <a:spLocks noGrp="1"/>
          </p:cNvSpPr>
          <p:nvPr>
            <p:ph type="sldNum" sz="quarter" idx="12"/>
          </p:nvPr>
        </p:nvSpPr>
        <p:spPr/>
        <p:txBody>
          <a:bodyPr/>
          <a:lstStyle/>
          <a:p>
            <a:fld id="{6F73D78D-38BD-D44D-8D86-2D2DB0BEC18B}" type="slidenum">
              <a:rPr lang="zh-CN" altLang="en-US" smtClean="0"/>
              <a:pPr/>
              <a:t>‹#›</a:t>
            </a:fld>
            <a:endParaRPr lang="zh-CN" altLang="en-US" dirty="0"/>
          </a:p>
        </p:txBody>
      </p:sp>
    </p:spTree>
    <p:extLst>
      <p:ext uri="{BB962C8B-B14F-4D97-AF65-F5344CB8AC3E}">
        <p14:creationId xmlns:p14="http://schemas.microsoft.com/office/powerpoint/2010/main" val="436934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9350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8974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Rectangle 11">
            <a:extLst>
              <a:ext uri="{FF2B5EF4-FFF2-40B4-BE49-F238E27FC236}">
                <a16:creationId xmlns="" xmlns:a16="http://schemas.microsoft.com/office/drawing/2014/main" id="{577088FB-A6B7-73F5-7F94-4748D69CAC8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 xmlns:a16="http://schemas.microsoft.com/office/drawing/2014/main" id="{8B037231-D77C-7620-5048-020218A5671E}"/>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 xmlns:a16="http://schemas.microsoft.com/office/drawing/2014/main" id="{1616081F-299F-D60B-0ECC-280BE114E5F3}"/>
              </a:ext>
            </a:extLst>
          </p:cNvPr>
          <p:cNvSpPr>
            <a:spLocks noGrp="1" noChangeArrowheads="1"/>
          </p:cNvSpPr>
          <p:nvPr>
            <p:ph type="sldNum" sz="quarter" idx="12"/>
          </p:nvPr>
        </p:nvSpPr>
        <p:spPr>
          <a:ln/>
        </p:spPr>
        <p:txBody>
          <a:bodyPr/>
          <a:lstStyle>
            <a:lvl1pPr>
              <a:defRPr/>
            </a:lvl1pPr>
          </a:lstStyle>
          <a:p>
            <a:fld id="{78968A19-278A-0A41-BBE8-65E5D3125EB9}" type="slidenum">
              <a:rPr lang="zh-CN" altLang="en-US"/>
              <a:pPr/>
              <a:t>‹#›</a:t>
            </a:fld>
            <a:endParaRPr lang="zh-CN" altLang="en-US"/>
          </a:p>
        </p:txBody>
      </p:sp>
    </p:spTree>
    <p:extLst>
      <p:ext uri="{BB962C8B-B14F-4D97-AF65-F5344CB8AC3E}">
        <p14:creationId xmlns:p14="http://schemas.microsoft.com/office/powerpoint/2010/main" val="35398470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8" y="1535113"/>
            <a:ext cx="4041775"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Rectangle 11">
            <a:extLst>
              <a:ext uri="{FF2B5EF4-FFF2-40B4-BE49-F238E27FC236}">
                <a16:creationId xmlns="" xmlns:a16="http://schemas.microsoft.com/office/drawing/2014/main" id="{68794170-3BE8-63A8-84A0-433E04CC412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 xmlns:a16="http://schemas.microsoft.com/office/drawing/2014/main" id="{4EE836C1-36AB-35B2-63E3-C5C32DFB7DE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9" name="Rectangle 13">
            <a:extLst>
              <a:ext uri="{FF2B5EF4-FFF2-40B4-BE49-F238E27FC236}">
                <a16:creationId xmlns="" xmlns:a16="http://schemas.microsoft.com/office/drawing/2014/main" id="{A14EBA2A-C5A1-FF69-4383-F487A84086FC}"/>
              </a:ext>
            </a:extLst>
          </p:cNvPr>
          <p:cNvSpPr>
            <a:spLocks noGrp="1" noChangeArrowheads="1"/>
          </p:cNvSpPr>
          <p:nvPr>
            <p:ph type="sldNum" sz="quarter" idx="12"/>
          </p:nvPr>
        </p:nvSpPr>
        <p:spPr>
          <a:ln/>
        </p:spPr>
        <p:txBody>
          <a:bodyPr/>
          <a:lstStyle>
            <a:lvl1pPr>
              <a:defRPr/>
            </a:lvl1pPr>
          </a:lstStyle>
          <a:p>
            <a:fld id="{A45D52E0-A696-0244-8333-2084DA18EEE0}" type="slidenum">
              <a:rPr lang="zh-CN" altLang="en-US"/>
              <a:pPr/>
              <a:t>‹#›</a:t>
            </a:fld>
            <a:endParaRPr lang="zh-CN" altLang="en-US"/>
          </a:p>
        </p:txBody>
      </p:sp>
    </p:spTree>
    <p:extLst>
      <p:ext uri="{BB962C8B-B14F-4D97-AF65-F5344CB8AC3E}">
        <p14:creationId xmlns:p14="http://schemas.microsoft.com/office/powerpoint/2010/main" val="29636659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11">
            <a:extLst>
              <a:ext uri="{FF2B5EF4-FFF2-40B4-BE49-F238E27FC236}">
                <a16:creationId xmlns="" xmlns:a16="http://schemas.microsoft.com/office/drawing/2014/main" id="{90622892-0589-9624-9441-6D3D8D420AC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 xmlns:a16="http://schemas.microsoft.com/office/drawing/2014/main" id="{DE3302D8-0022-5549-6AF3-C9DF37FD08A8}"/>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5" name="Rectangle 13">
            <a:extLst>
              <a:ext uri="{FF2B5EF4-FFF2-40B4-BE49-F238E27FC236}">
                <a16:creationId xmlns="" xmlns:a16="http://schemas.microsoft.com/office/drawing/2014/main" id="{5BAF381E-A9DD-B4FB-A99D-D6A7443039BB}"/>
              </a:ext>
            </a:extLst>
          </p:cNvPr>
          <p:cNvSpPr>
            <a:spLocks noGrp="1" noChangeArrowheads="1"/>
          </p:cNvSpPr>
          <p:nvPr>
            <p:ph type="sldNum" sz="quarter" idx="12"/>
          </p:nvPr>
        </p:nvSpPr>
        <p:spPr>
          <a:ln/>
        </p:spPr>
        <p:txBody>
          <a:bodyPr/>
          <a:lstStyle>
            <a:lvl1pPr>
              <a:defRPr/>
            </a:lvl1pPr>
          </a:lstStyle>
          <a:p>
            <a:fld id="{4DE15609-3D60-D842-9ED4-D898F320B191}" type="slidenum">
              <a:rPr lang="zh-CN" altLang="en-US"/>
              <a:pPr/>
              <a:t>‹#›</a:t>
            </a:fld>
            <a:endParaRPr lang="zh-CN" altLang="en-US"/>
          </a:p>
        </p:txBody>
      </p:sp>
    </p:spTree>
    <p:extLst>
      <p:ext uri="{BB962C8B-B14F-4D97-AF65-F5344CB8AC3E}">
        <p14:creationId xmlns:p14="http://schemas.microsoft.com/office/powerpoint/2010/main" val="3752375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 xmlns:a16="http://schemas.microsoft.com/office/drawing/2014/main" id="{31F610FA-62F8-3A69-9BB8-68EAD4093A7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 xmlns:a16="http://schemas.microsoft.com/office/drawing/2014/main" id="{030F8BB0-0FEC-EDAC-A497-49A707FDB0DF}"/>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4" name="Rectangle 13">
            <a:extLst>
              <a:ext uri="{FF2B5EF4-FFF2-40B4-BE49-F238E27FC236}">
                <a16:creationId xmlns="" xmlns:a16="http://schemas.microsoft.com/office/drawing/2014/main" id="{1004B668-435E-6B54-9B71-30E6E86C672E}"/>
              </a:ext>
            </a:extLst>
          </p:cNvPr>
          <p:cNvSpPr>
            <a:spLocks noGrp="1" noChangeArrowheads="1"/>
          </p:cNvSpPr>
          <p:nvPr>
            <p:ph type="sldNum" sz="quarter" idx="12"/>
          </p:nvPr>
        </p:nvSpPr>
        <p:spPr>
          <a:ln/>
        </p:spPr>
        <p:txBody>
          <a:bodyPr/>
          <a:lstStyle>
            <a:lvl1pPr>
              <a:defRPr/>
            </a:lvl1pPr>
          </a:lstStyle>
          <a:p>
            <a:fld id="{8C438AA8-90D7-9745-B439-F7E019CC101C}" type="slidenum">
              <a:rPr lang="zh-CN" altLang="en-US"/>
              <a:pPr/>
              <a:t>‹#›</a:t>
            </a:fld>
            <a:endParaRPr lang="zh-CN" altLang="en-US"/>
          </a:p>
        </p:txBody>
      </p:sp>
    </p:spTree>
    <p:extLst>
      <p:ext uri="{BB962C8B-B14F-4D97-AF65-F5344CB8AC3E}">
        <p14:creationId xmlns:p14="http://schemas.microsoft.com/office/powerpoint/2010/main" val="6756153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lstStyle>
            <a:lvl1pPr algn="l">
              <a:defRPr sz="15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6"/>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2" y="1435103"/>
            <a:ext cx="3008313" cy="4691063"/>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smtClean="0"/>
              <a:t>单击此处编辑母版文本样式</a:t>
            </a:r>
          </a:p>
        </p:txBody>
      </p:sp>
      <p:sp>
        <p:nvSpPr>
          <p:cNvPr id="5" name="Rectangle 11">
            <a:extLst>
              <a:ext uri="{FF2B5EF4-FFF2-40B4-BE49-F238E27FC236}">
                <a16:creationId xmlns="" xmlns:a16="http://schemas.microsoft.com/office/drawing/2014/main" id="{077BF47D-FB2C-CA75-3290-9D390F1A1B8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 xmlns:a16="http://schemas.microsoft.com/office/drawing/2014/main" id="{FCEDDD16-8334-8815-AE79-D96BE28013B5}"/>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 xmlns:a16="http://schemas.microsoft.com/office/drawing/2014/main" id="{EF672E88-31B4-2E74-6924-50EA7B00DFE2}"/>
              </a:ext>
            </a:extLst>
          </p:cNvPr>
          <p:cNvSpPr>
            <a:spLocks noGrp="1" noChangeArrowheads="1"/>
          </p:cNvSpPr>
          <p:nvPr>
            <p:ph type="sldNum" sz="quarter" idx="12"/>
          </p:nvPr>
        </p:nvSpPr>
        <p:spPr>
          <a:ln/>
        </p:spPr>
        <p:txBody>
          <a:bodyPr/>
          <a:lstStyle>
            <a:lvl1pPr>
              <a:defRPr/>
            </a:lvl1pPr>
          </a:lstStyle>
          <a:p>
            <a:fld id="{D70B590F-D627-7E4E-9EE8-F0575448761B}" type="slidenum">
              <a:rPr lang="zh-CN" altLang="en-US"/>
              <a:pPr/>
              <a:t>‹#›</a:t>
            </a:fld>
            <a:endParaRPr lang="zh-CN" altLang="en-US"/>
          </a:p>
        </p:txBody>
      </p:sp>
    </p:spTree>
    <p:extLst>
      <p:ext uri="{BB962C8B-B14F-4D97-AF65-F5344CB8AC3E}">
        <p14:creationId xmlns:p14="http://schemas.microsoft.com/office/powerpoint/2010/main" val="22466116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15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smtClean="0"/>
              <a:t>单击此处编辑母版文本样式</a:t>
            </a:r>
          </a:p>
        </p:txBody>
      </p:sp>
      <p:sp>
        <p:nvSpPr>
          <p:cNvPr id="5" name="Rectangle 11">
            <a:extLst>
              <a:ext uri="{FF2B5EF4-FFF2-40B4-BE49-F238E27FC236}">
                <a16:creationId xmlns="" xmlns:a16="http://schemas.microsoft.com/office/drawing/2014/main" id="{7DF7E1FA-7229-6F80-9195-95494C6B6D4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 xmlns:a16="http://schemas.microsoft.com/office/drawing/2014/main" id="{BA7BEB0C-60AB-4B90-0858-DC9F851CFC6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 xmlns:a16="http://schemas.microsoft.com/office/drawing/2014/main" id="{C8113A4C-B97F-6D35-E97A-9BCA743B1036}"/>
              </a:ext>
            </a:extLst>
          </p:cNvPr>
          <p:cNvSpPr>
            <a:spLocks noGrp="1" noChangeArrowheads="1"/>
          </p:cNvSpPr>
          <p:nvPr>
            <p:ph type="sldNum" sz="quarter" idx="12"/>
          </p:nvPr>
        </p:nvSpPr>
        <p:spPr>
          <a:ln/>
        </p:spPr>
        <p:txBody>
          <a:bodyPr/>
          <a:lstStyle>
            <a:lvl1pPr>
              <a:defRPr/>
            </a:lvl1pPr>
          </a:lstStyle>
          <a:p>
            <a:fld id="{A75CE171-2466-3E49-953C-8D9416E27C46}" type="slidenum">
              <a:rPr lang="zh-CN" altLang="en-US"/>
              <a:pPr/>
              <a:t>‹#›</a:t>
            </a:fld>
            <a:endParaRPr lang="zh-CN" altLang="en-US"/>
          </a:p>
        </p:txBody>
      </p:sp>
    </p:spTree>
    <p:extLst>
      <p:ext uri="{BB962C8B-B14F-4D97-AF65-F5344CB8AC3E}">
        <p14:creationId xmlns:p14="http://schemas.microsoft.com/office/powerpoint/2010/main" val="20427270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11">
            <a:extLst>
              <a:ext uri="{FF2B5EF4-FFF2-40B4-BE49-F238E27FC236}">
                <a16:creationId xmlns="" xmlns:a16="http://schemas.microsoft.com/office/drawing/2014/main" id="{8969790B-5FDE-ACFE-CBF8-D6D25FB9781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 xmlns:a16="http://schemas.microsoft.com/office/drawing/2014/main" id="{042DD340-A062-ECA2-BACD-72DF641D7A99}"/>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 xmlns:a16="http://schemas.microsoft.com/office/drawing/2014/main" id="{5A990D87-E397-DDBA-9741-B7BDB82788A5}"/>
              </a:ext>
            </a:extLst>
          </p:cNvPr>
          <p:cNvSpPr>
            <a:spLocks noGrp="1" noChangeArrowheads="1"/>
          </p:cNvSpPr>
          <p:nvPr>
            <p:ph type="sldNum" sz="quarter" idx="12"/>
          </p:nvPr>
        </p:nvSpPr>
        <p:spPr>
          <a:ln/>
        </p:spPr>
        <p:txBody>
          <a:bodyPr/>
          <a:lstStyle>
            <a:lvl1pPr>
              <a:defRPr/>
            </a:lvl1pPr>
          </a:lstStyle>
          <a:p>
            <a:fld id="{DE6A2B9D-4C43-344E-A3AD-CDEFA12D4607}" type="slidenum">
              <a:rPr lang="zh-CN" altLang="en-US"/>
              <a:pPr/>
              <a:t>‹#›</a:t>
            </a:fld>
            <a:endParaRPr lang="zh-CN" altLang="en-US"/>
          </a:p>
        </p:txBody>
      </p:sp>
    </p:spTree>
    <p:extLst>
      <p:ext uri="{BB962C8B-B14F-4D97-AF65-F5344CB8AC3E}">
        <p14:creationId xmlns:p14="http://schemas.microsoft.com/office/powerpoint/2010/main" val="37123752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04041" y="225431"/>
            <a:ext cx="1989137" cy="5903913"/>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935038" y="225431"/>
            <a:ext cx="5816600" cy="5903913"/>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11">
            <a:extLst>
              <a:ext uri="{FF2B5EF4-FFF2-40B4-BE49-F238E27FC236}">
                <a16:creationId xmlns="" xmlns:a16="http://schemas.microsoft.com/office/drawing/2014/main" id="{BB6D72A0-9ACC-FB01-B500-09347F0725E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 xmlns:a16="http://schemas.microsoft.com/office/drawing/2014/main" id="{1C2E9BFB-3F4C-57E7-BA00-4AD71CFAAD3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 xmlns:a16="http://schemas.microsoft.com/office/drawing/2014/main" id="{04462F64-AE9C-AD7E-F866-AAEDC027A672}"/>
              </a:ext>
            </a:extLst>
          </p:cNvPr>
          <p:cNvSpPr>
            <a:spLocks noGrp="1" noChangeArrowheads="1"/>
          </p:cNvSpPr>
          <p:nvPr>
            <p:ph type="sldNum" sz="quarter" idx="12"/>
          </p:nvPr>
        </p:nvSpPr>
        <p:spPr>
          <a:ln/>
        </p:spPr>
        <p:txBody>
          <a:bodyPr/>
          <a:lstStyle>
            <a:lvl1pPr>
              <a:defRPr/>
            </a:lvl1pPr>
          </a:lstStyle>
          <a:p>
            <a:fld id="{854D01F4-2BF8-A745-90E2-0A334AE3AAFA}" type="slidenum">
              <a:rPr lang="zh-CN" altLang="en-US"/>
              <a:pPr/>
              <a:t>‹#›</a:t>
            </a:fld>
            <a:endParaRPr lang="zh-CN" altLang="en-US"/>
          </a:p>
        </p:txBody>
      </p:sp>
    </p:spTree>
    <p:extLst>
      <p:ext uri="{BB962C8B-B14F-4D97-AF65-F5344CB8AC3E}">
        <p14:creationId xmlns:p14="http://schemas.microsoft.com/office/powerpoint/2010/main" val="24677225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935038" y="1233488"/>
            <a:ext cx="3810000" cy="489585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图表占位符 3"/>
          <p:cNvSpPr>
            <a:spLocks noGrp="1"/>
          </p:cNvSpPr>
          <p:nvPr>
            <p:ph type="chart" sz="half" idx="2"/>
          </p:nvPr>
        </p:nvSpPr>
        <p:spPr>
          <a:xfrm>
            <a:off x="4897438" y="1233488"/>
            <a:ext cx="3810000" cy="4895850"/>
          </a:xfrm>
        </p:spPr>
        <p:txBody>
          <a:bodyPr/>
          <a:lstStyle/>
          <a:p>
            <a:pPr lvl="0"/>
            <a:r>
              <a:rPr lang="zh-CN" altLang="en-US" noProof="0" smtClean="0"/>
              <a:t>单击图标添加图表</a:t>
            </a:r>
            <a:endParaRPr lang="zh-CN" altLang="en-US" noProof="0"/>
          </a:p>
        </p:txBody>
      </p:sp>
      <p:sp>
        <p:nvSpPr>
          <p:cNvPr id="5" name="Rectangle 11">
            <a:extLst>
              <a:ext uri="{FF2B5EF4-FFF2-40B4-BE49-F238E27FC236}">
                <a16:creationId xmlns="" xmlns:a16="http://schemas.microsoft.com/office/drawing/2014/main" id="{EF4DAB6F-0109-F932-D41D-114D2B361EA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 xmlns:a16="http://schemas.microsoft.com/office/drawing/2014/main" id="{3B9B9A9B-4F44-E332-8013-87B918E44541}"/>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 xmlns:a16="http://schemas.microsoft.com/office/drawing/2014/main" id="{D1D42F48-85F2-C1B3-34A9-42D4A700CCFC}"/>
              </a:ext>
            </a:extLst>
          </p:cNvPr>
          <p:cNvSpPr>
            <a:spLocks noGrp="1" noChangeArrowheads="1"/>
          </p:cNvSpPr>
          <p:nvPr>
            <p:ph type="sldNum" sz="quarter" idx="12"/>
          </p:nvPr>
        </p:nvSpPr>
        <p:spPr>
          <a:ln/>
        </p:spPr>
        <p:txBody>
          <a:bodyPr/>
          <a:lstStyle>
            <a:lvl1pPr>
              <a:defRPr/>
            </a:lvl1pPr>
          </a:lstStyle>
          <a:p>
            <a:fld id="{C3310DF3-193F-E44C-B1F0-408591F45CF7}" type="slidenum">
              <a:rPr lang="zh-CN" altLang="en-US"/>
              <a:pPr/>
              <a:t>‹#›</a:t>
            </a:fld>
            <a:endParaRPr lang="zh-CN" altLang="en-US"/>
          </a:p>
        </p:txBody>
      </p:sp>
    </p:spTree>
    <p:extLst>
      <p:ext uri="{BB962C8B-B14F-4D97-AF65-F5344CB8AC3E}">
        <p14:creationId xmlns:p14="http://schemas.microsoft.com/office/powerpoint/2010/main" val="30402187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smtClean="0"/>
              <a:t>单击此处编辑母版标题样式</a:t>
            </a:r>
            <a:endParaRPr lang="zh-CN" altLang="en-US" noProof="1"/>
          </a:p>
        </p:txBody>
      </p:sp>
      <p:sp>
        <p:nvSpPr>
          <p:cNvPr id="3" name="图表占位符 2"/>
          <p:cNvSpPr>
            <a:spLocks noGrp="1"/>
          </p:cNvSpPr>
          <p:nvPr>
            <p:ph type="chart" idx="1"/>
          </p:nvPr>
        </p:nvSpPr>
        <p:spPr>
          <a:xfrm>
            <a:off x="935038" y="1233488"/>
            <a:ext cx="7772400" cy="4895850"/>
          </a:xfrm>
        </p:spPr>
        <p:txBody>
          <a:bodyPr/>
          <a:lstStyle/>
          <a:p>
            <a:pPr lvl="0"/>
            <a:r>
              <a:rPr lang="zh-CN" altLang="en-US" noProof="0" smtClean="0"/>
              <a:t>单击图标添加图表</a:t>
            </a:r>
            <a:endParaRPr lang="zh-CN" altLang="en-US" noProof="0"/>
          </a:p>
        </p:txBody>
      </p:sp>
      <p:sp>
        <p:nvSpPr>
          <p:cNvPr id="4" name="Rectangle 11">
            <a:extLst>
              <a:ext uri="{FF2B5EF4-FFF2-40B4-BE49-F238E27FC236}">
                <a16:creationId xmlns="" xmlns:a16="http://schemas.microsoft.com/office/drawing/2014/main" id="{F708D4BC-3A8D-E878-0802-13BCC7E23DC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 xmlns:a16="http://schemas.microsoft.com/office/drawing/2014/main" id="{925FD2C4-690E-646E-8669-143AD1BD9F2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 xmlns:a16="http://schemas.microsoft.com/office/drawing/2014/main" id="{54E36240-FA62-8027-3821-D40DEB78E100}"/>
              </a:ext>
            </a:extLst>
          </p:cNvPr>
          <p:cNvSpPr>
            <a:spLocks noGrp="1" noChangeArrowheads="1"/>
          </p:cNvSpPr>
          <p:nvPr>
            <p:ph type="sldNum" sz="quarter" idx="12"/>
          </p:nvPr>
        </p:nvSpPr>
        <p:spPr>
          <a:ln/>
        </p:spPr>
        <p:txBody>
          <a:bodyPr/>
          <a:lstStyle>
            <a:lvl1pPr>
              <a:defRPr/>
            </a:lvl1pPr>
          </a:lstStyle>
          <a:p>
            <a:fld id="{05BB1C6D-14C1-844E-9115-70642E9631DF}" type="slidenum">
              <a:rPr lang="zh-CN" altLang="en-US"/>
              <a:pPr/>
              <a:t>‹#›</a:t>
            </a:fld>
            <a:endParaRPr lang="zh-CN" altLang="en-US"/>
          </a:p>
        </p:txBody>
      </p:sp>
    </p:spTree>
    <p:extLst>
      <p:ext uri="{BB962C8B-B14F-4D97-AF65-F5344CB8AC3E}">
        <p14:creationId xmlns:p14="http://schemas.microsoft.com/office/powerpoint/2010/main" val="11149289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tiff"/><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tif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 xmlns:a16="http://schemas.microsoft.com/office/drawing/2014/main" id="{A9824247-C8A8-C57F-CAEC-3A223BA6F4D0}"/>
              </a:ext>
            </a:extLst>
          </p:cNvPr>
          <p:cNvSpPr>
            <a:spLocks noChangeArrowheads="1"/>
          </p:cNvSpPr>
          <p:nvPr/>
        </p:nvSpPr>
        <p:spPr bwMode="auto">
          <a:xfrm>
            <a:off x="711201" y="26988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7" name="Rectangle 8">
            <a:extLst>
              <a:ext uri="{FF2B5EF4-FFF2-40B4-BE49-F238E27FC236}">
                <a16:creationId xmlns="" xmlns:a16="http://schemas.microsoft.com/office/drawing/2014/main" id="{4A0B2333-B6EA-176D-0028-5AB7711DF1B1}"/>
              </a:ext>
            </a:extLst>
          </p:cNvPr>
          <p:cNvSpPr>
            <a:spLocks noChangeArrowheads="1"/>
          </p:cNvSpPr>
          <p:nvPr/>
        </p:nvSpPr>
        <p:spPr bwMode="auto">
          <a:xfrm>
            <a:off x="392116" y="106045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8" name="Rectangle 9">
            <a:extLst>
              <a:ext uri="{FF2B5EF4-FFF2-40B4-BE49-F238E27FC236}">
                <a16:creationId xmlns="" xmlns:a16="http://schemas.microsoft.com/office/drawing/2014/main" id="{0D3A9279-CA87-4E7F-DAC6-015EE242A976}"/>
              </a:ext>
            </a:extLst>
          </p:cNvPr>
          <p:cNvSpPr>
            <a:spLocks noGrp="1" noChangeArrowheads="1"/>
          </p:cNvSpPr>
          <p:nvPr>
            <p:ph type="title" idx="4294967295"/>
          </p:nvPr>
        </p:nvSpPr>
        <p:spPr bwMode="auto">
          <a:xfrm>
            <a:off x="1042988" y="225431"/>
            <a:ext cx="7850187"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p>
        </p:txBody>
      </p:sp>
      <p:sp>
        <p:nvSpPr>
          <p:cNvPr id="1029" name="Rectangle 10">
            <a:extLst>
              <a:ext uri="{FF2B5EF4-FFF2-40B4-BE49-F238E27FC236}">
                <a16:creationId xmlns="" xmlns:a16="http://schemas.microsoft.com/office/drawing/2014/main" id="{86AE627A-1B93-6388-397F-5C8186FBAFEE}"/>
              </a:ext>
            </a:extLst>
          </p:cNvPr>
          <p:cNvSpPr>
            <a:spLocks noGrp="1" noChangeArrowheads="1"/>
          </p:cNvSpPr>
          <p:nvPr>
            <p:ph type="body" idx="4294967295"/>
          </p:nvPr>
        </p:nvSpPr>
        <p:spPr bwMode="auto">
          <a:xfrm>
            <a:off x="935038" y="1233488"/>
            <a:ext cx="777240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4523" name="Rectangle 11">
            <a:extLst>
              <a:ext uri="{FF2B5EF4-FFF2-40B4-BE49-F238E27FC236}">
                <a16:creationId xmlns="" xmlns:a16="http://schemas.microsoft.com/office/drawing/2014/main" id="{DE3D8E3B-D458-C570-9919-DE02EA9FC78D}"/>
              </a:ext>
            </a:extLst>
          </p:cNvPr>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buClrTx/>
              <a:buSzTx/>
              <a:buFontTx/>
              <a:buNone/>
              <a:defRPr kumimoji="0" sz="1050"/>
            </a:lvl1pPr>
          </a:lstStyle>
          <a:p>
            <a:pPr>
              <a:defRPr/>
            </a:pPr>
            <a:endParaRPr lang="en-US" altLang="zh-CN" dirty="0"/>
          </a:p>
        </p:txBody>
      </p:sp>
      <p:sp>
        <p:nvSpPr>
          <p:cNvPr id="64525" name="Rectangle 13">
            <a:extLst>
              <a:ext uri="{FF2B5EF4-FFF2-40B4-BE49-F238E27FC236}">
                <a16:creationId xmlns="" xmlns:a16="http://schemas.microsoft.com/office/drawing/2014/main" id="{C2D98F74-F2B6-4A7D-03A8-AB9BF3598B96}"/>
              </a:ext>
            </a:extLst>
          </p:cNvPr>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050"/>
            </a:lvl1pPr>
          </a:lstStyle>
          <a:p>
            <a:fld id="{6F73D78D-38BD-D44D-8D86-2D2DB0BEC18B}" type="slidenum">
              <a:rPr lang="zh-CN" altLang="en-US" smtClean="0"/>
              <a:pPr/>
              <a:t>‹#›</a:t>
            </a:fld>
            <a:endParaRPr lang="zh-CN" altLang="en-US" dirty="0"/>
          </a:p>
        </p:txBody>
      </p:sp>
      <p:pic>
        <p:nvPicPr>
          <p:cNvPr id="6" name="图片 5">
            <a:extLst>
              <a:ext uri="{FF2B5EF4-FFF2-40B4-BE49-F238E27FC236}">
                <a16:creationId xmlns="" xmlns:a16="http://schemas.microsoft.com/office/drawing/2014/main" id="{3CE6F6BF-4B21-EBA8-0316-496A78B2CDF2}"/>
              </a:ext>
            </a:extLst>
          </p:cNvPr>
          <p:cNvPicPr>
            <a:picLocks noChangeAspect="1"/>
          </p:cNvPicPr>
          <p:nvPr userDrawn="1"/>
        </p:nvPicPr>
        <p:blipFill>
          <a:blip r:embed="rId15"/>
          <a:stretch>
            <a:fillRect/>
          </a:stretch>
        </p:blipFill>
        <p:spPr>
          <a:xfrm rot="3532301">
            <a:off x="53066" y="473997"/>
            <a:ext cx="678101" cy="376134"/>
          </a:xfrm>
          <a:prstGeom prst="rect">
            <a:avLst/>
          </a:prstGeom>
        </p:spPr>
      </p:pic>
      <p:pic>
        <p:nvPicPr>
          <p:cNvPr id="2" name="Picture 6">
            <a:extLst>
              <a:ext uri="{FF2B5EF4-FFF2-40B4-BE49-F238E27FC236}">
                <a16:creationId xmlns="" xmlns:a16="http://schemas.microsoft.com/office/drawing/2014/main" id="{30C888A5-CC91-E55B-7B85-6EA66F09083F}"/>
              </a:ext>
            </a:extLst>
          </p:cNvPr>
          <p:cNvPicPr>
            <a:picLocks noChangeAspect="1" noChangeArrowheads="1"/>
          </p:cNvPicPr>
          <p:nvPr userDrawn="1"/>
        </p:nvPicPr>
        <p:blipFill rotWithShape="1">
          <a:blip r:embed="rId16">
            <a:extLst>
              <a:ext uri="{28A0092B-C50C-407E-A947-70E740481C1C}">
                <a14:useLocalDpi xmlns:a14="http://schemas.microsoft.com/office/drawing/2010/main" val="0"/>
              </a:ext>
            </a:extLst>
          </a:blip>
          <a:srcRect r="151"/>
          <a:stretch/>
        </p:blipFill>
        <p:spPr bwMode="auto">
          <a:xfrm>
            <a:off x="320498" y="941908"/>
            <a:ext cx="1042988" cy="188292"/>
          </a:xfrm>
          <a:prstGeom prst="rect">
            <a:avLst/>
          </a:prstGeom>
          <a:solidFill>
            <a:schemeClr val="tx1">
              <a:lumMod val="65000"/>
              <a:lumOff val="35000"/>
            </a:schemeClr>
          </a:solidFill>
        </p:spPr>
      </p:pic>
      <p:pic>
        <p:nvPicPr>
          <p:cNvPr id="3" name="图片 2">
            <a:extLst>
              <a:ext uri="{FF2B5EF4-FFF2-40B4-BE49-F238E27FC236}">
                <a16:creationId xmlns="" xmlns:a16="http://schemas.microsoft.com/office/drawing/2014/main" id="{1403A0A2-1BB5-3BCB-F943-2DCD1F4C13A5}"/>
              </a:ext>
            </a:extLst>
          </p:cNvPr>
          <p:cNvPicPr>
            <a:picLocks noChangeAspect="1"/>
          </p:cNvPicPr>
          <p:nvPr userDrawn="1"/>
        </p:nvPicPr>
        <p:blipFill>
          <a:blip r:embed="rId17"/>
          <a:stretch>
            <a:fillRect/>
          </a:stretch>
        </p:blipFill>
        <p:spPr>
          <a:xfrm>
            <a:off x="8532443" y="5624518"/>
            <a:ext cx="512549" cy="1106809"/>
          </a:xfrm>
          <a:prstGeom prst="rect">
            <a:avLst/>
          </a:prstGeom>
        </p:spPr>
      </p:pic>
    </p:spTree>
    <p:extLst>
      <p:ext uri="{BB962C8B-B14F-4D97-AF65-F5344CB8AC3E}">
        <p14:creationId xmlns:p14="http://schemas.microsoft.com/office/powerpoint/2010/main" val="37945150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hf hdr="0" ftr="0" dt="0"/>
  <p:txStyles>
    <p:titleStyle>
      <a:lvl1pPr algn="l" rtl="0" eaLnBrk="1" fontAlgn="base" hangingPunct="1">
        <a:spcBef>
          <a:spcPct val="0"/>
        </a:spcBef>
        <a:spcAft>
          <a:spcPct val="0"/>
        </a:spcAft>
        <a:defRPr sz="3300">
          <a:solidFill>
            <a:schemeClr val="tx2"/>
          </a:solidFill>
          <a:latin typeface="+mj-lt"/>
          <a:ea typeface="+mj-ea"/>
          <a:cs typeface="+mj-cs"/>
        </a:defRPr>
      </a:lvl1pPr>
      <a:lvl2pPr algn="l" rtl="0" eaLnBrk="1" fontAlgn="base" hangingPunct="1">
        <a:spcBef>
          <a:spcPct val="0"/>
        </a:spcBef>
        <a:spcAft>
          <a:spcPct val="0"/>
        </a:spcAft>
        <a:defRPr sz="33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sz="33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sz="33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sz="3300">
          <a:solidFill>
            <a:schemeClr val="tx2"/>
          </a:solidFill>
          <a:latin typeface="Tahoma" panose="020B0604030504040204" pitchFamily="34" charset="0"/>
          <a:ea typeface="宋体" panose="02010600030101010101" pitchFamily="2" charset="-122"/>
        </a:defRPr>
      </a:lvl5pPr>
      <a:lvl6pPr marL="342884" algn="l" rtl="0" eaLnBrk="1" fontAlgn="base" hangingPunct="1">
        <a:spcBef>
          <a:spcPct val="0"/>
        </a:spcBef>
        <a:spcAft>
          <a:spcPct val="0"/>
        </a:spcAft>
        <a:defRPr kumimoji="1" sz="3300">
          <a:solidFill>
            <a:schemeClr val="tx2"/>
          </a:solidFill>
          <a:latin typeface="Tahoma" panose="020B0604030504040204" pitchFamily="34" charset="0"/>
          <a:ea typeface="宋体" panose="02010600030101010101" pitchFamily="2" charset="-122"/>
        </a:defRPr>
      </a:lvl6pPr>
      <a:lvl7pPr marL="685766" algn="l" rtl="0" eaLnBrk="1" fontAlgn="base" hangingPunct="1">
        <a:spcBef>
          <a:spcPct val="0"/>
        </a:spcBef>
        <a:spcAft>
          <a:spcPct val="0"/>
        </a:spcAft>
        <a:defRPr kumimoji="1" sz="3300">
          <a:solidFill>
            <a:schemeClr val="tx2"/>
          </a:solidFill>
          <a:latin typeface="Tahoma" panose="020B0604030504040204" pitchFamily="34" charset="0"/>
          <a:ea typeface="宋体" panose="02010600030101010101" pitchFamily="2" charset="-122"/>
        </a:defRPr>
      </a:lvl7pPr>
      <a:lvl8pPr marL="1028649" algn="l" rtl="0" eaLnBrk="1" fontAlgn="base" hangingPunct="1">
        <a:spcBef>
          <a:spcPct val="0"/>
        </a:spcBef>
        <a:spcAft>
          <a:spcPct val="0"/>
        </a:spcAft>
        <a:defRPr kumimoji="1" sz="3300">
          <a:solidFill>
            <a:schemeClr val="tx2"/>
          </a:solidFill>
          <a:latin typeface="Tahoma" panose="020B0604030504040204" pitchFamily="34" charset="0"/>
          <a:ea typeface="宋体" panose="02010600030101010101" pitchFamily="2" charset="-122"/>
        </a:defRPr>
      </a:lvl8pPr>
      <a:lvl9pPr marL="1371532" algn="l" rtl="0" eaLnBrk="1" fontAlgn="base" hangingPunct="1">
        <a:spcBef>
          <a:spcPct val="0"/>
        </a:spcBef>
        <a:spcAft>
          <a:spcPct val="0"/>
        </a:spcAft>
        <a:defRPr kumimoji="1" sz="3300">
          <a:solidFill>
            <a:schemeClr val="tx2"/>
          </a:solidFill>
          <a:latin typeface="Tahoma" panose="020B0604030504040204" pitchFamily="34" charset="0"/>
          <a:ea typeface="宋体" panose="02010600030101010101" pitchFamily="2" charset="-122"/>
        </a:defRPr>
      </a:lvl9pPr>
    </p:titleStyle>
    <p:bodyStyle>
      <a:lvl1pPr marL="257162" indent="-257162" algn="l" rtl="0" eaLnBrk="1" fontAlgn="base" hangingPunct="1">
        <a:lnSpc>
          <a:spcPct val="114000"/>
        </a:lnSpc>
        <a:spcBef>
          <a:spcPct val="20000"/>
        </a:spcBef>
        <a:spcAft>
          <a:spcPct val="0"/>
        </a:spcAft>
        <a:buClr>
          <a:schemeClr val="tx1"/>
        </a:buClr>
        <a:buSzPct val="60000"/>
        <a:buFont typeface="Wingdings" pitchFamily="2" charset="2"/>
        <a:buChar char="n"/>
        <a:defRPr sz="2250">
          <a:solidFill>
            <a:schemeClr val="tx1"/>
          </a:solidFill>
          <a:latin typeface="+mn-lt"/>
          <a:ea typeface="+mn-ea"/>
          <a:cs typeface="+mn-cs"/>
        </a:defRPr>
      </a:lvl1pPr>
      <a:lvl2pPr marL="557185" indent="-214303" algn="l" rtl="0" eaLnBrk="1" fontAlgn="base" hangingPunct="1">
        <a:lnSpc>
          <a:spcPct val="114000"/>
        </a:lnSpc>
        <a:spcBef>
          <a:spcPct val="20000"/>
        </a:spcBef>
        <a:spcAft>
          <a:spcPct val="0"/>
        </a:spcAft>
        <a:buClr>
          <a:srgbClr val="C00000"/>
        </a:buClr>
        <a:buSzPct val="55000"/>
        <a:buFont typeface="Wingdings" pitchFamily="2" charset="2"/>
        <a:buChar char="n"/>
        <a:defRPr sz="1950">
          <a:solidFill>
            <a:schemeClr val="tx1"/>
          </a:solidFill>
          <a:latin typeface="+mn-lt"/>
          <a:ea typeface="+mn-ea"/>
        </a:defRPr>
      </a:lvl2pPr>
      <a:lvl3pPr marL="857207" indent="-171442" algn="l" rtl="0" eaLnBrk="1" fontAlgn="base" hangingPunct="1">
        <a:lnSpc>
          <a:spcPct val="114000"/>
        </a:lnSpc>
        <a:spcBef>
          <a:spcPct val="20000"/>
        </a:spcBef>
        <a:spcAft>
          <a:spcPct val="0"/>
        </a:spcAft>
        <a:buClr>
          <a:schemeClr val="tx2"/>
        </a:buClr>
        <a:buSzPct val="50000"/>
        <a:buFont typeface="Wingdings" pitchFamily="2" charset="2"/>
        <a:buChar char="n"/>
        <a:defRPr sz="1650">
          <a:solidFill>
            <a:schemeClr val="tx1"/>
          </a:solidFill>
          <a:latin typeface="+mn-lt"/>
          <a:ea typeface="+mn-ea"/>
        </a:defRPr>
      </a:lvl3pPr>
      <a:lvl4pPr marL="1200090" indent="-171442" algn="l" rtl="0" eaLnBrk="1" fontAlgn="base" hangingPunct="1">
        <a:lnSpc>
          <a:spcPct val="114000"/>
        </a:lnSpc>
        <a:spcBef>
          <a:spcPct val="20000"/>
        </a:spcBef>
        <a:spcAft>
          <a:spcPct val="0"/>
        </a:spcAft>
        <a:buClr>
          <a:schemeClr val="accent6">
            <a:lumMod val="50000"/>
          </a:schemeClr>
        </a:buClr>
        <a:buSzPct val="55000"/>
        <a:buFont typeface="Wingdings" pitchFamily="2" charset="2"/>
        <a:buChar char="n"/>
        <a:defRPr sz="1350">
          <a:solidFill>
            <a:schemeClr val="tx1"/>
          </a:solidFill>
          <a:latin typeface="+mn-lt"/>
          <a:ea typeface="+mn-ea"/>
        </a:defRPr>
      </a:lvl4pPr>
      <a:lvl5pPr marL="1542974" indent="-171442" algn="l" rtl="0" eaLnBrk="1" fontAlgn="base" hangingPunct="1">
        <a:lnSpc>
          <a:spcPct val="114000"/>
        </a:lnSpc>
        <a:spcBef>
          <a:spcPct val="20000"/>
        </a:spcBef>
        <a:spcAft>
          <a:spcPct val="0"/>
        </a:spcAft>
        <a:buClr>
          <a:schemeClr val="accent5">
            <a:lumMod val="25000"/>
          </a:schemeClr>
        </a:buClr>
        <a:buSzPct val="50000"/>
        <a:buFont typeface="Wingdings" pitchFamily="2" charset="2"/>
        <a:buChar char="n"/>
        <a:defRPr sz="1350">
          <a:solidFill>
            <a:schemeClr val="tx1"/>
          </a:solidFill>
          <a:latin typeface="+mn-lt"/>
          <a:ea typeface="+mn-ea"/>
        </a:defRPr>
      </a:lvl5pPr>
      <a:lvl6pPr marL="1885856" indent="-171442" algn="l" rtl="0" eaLnBrk="1" fontAlgn="base" hangingPunct="1">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6pPr>
      <a:lvl7pPr marL="2228739" indent="-171442" algn="l" rtl="0" eaLnBrk="1" fontAlgn="base" hangingPunct="1">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7pPr>
      <a:lvl8pPr marL="2571622" indent="-171442" algn="l" rtl="0" eaLnBrk="1" fontAlgn="base" hangingPunct="1">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8pPr>
      <a:lvl9pPr marL="2914505" indent="-171442" algn="l" rtl="0" eaLnBrk="1" fontAlgn="base" hangingPunct="1">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9pPr>
    </p:bodyStyle>
    <p:otherStyle>
      <a:defPPr>
        <a:defRPr lang="zh-CN"/>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A478220-5F10-3448-53B0-A082ACF36790}"/>
              </a:ext>
            </a:extLst>
          </p:cNvPr>
          <p:cNvSpPr>
            <a:spLocks noGrp="1"/>
          </p:cNvSpPr>
          <p:nvPr>
            <p:ph type="title"/>
          </p:nvPr>
        </p:nvSpPr>
        <p:spPr>
          <a:xfrm>
            <a:off x="1042988" y="225431"/>
            <a:ext cx="7850187" cy="746125"/>
          </a:xfrm>
        </p:spPr>
        <p:txBody>
          <a:bodyPr/>
          <a:lstStyle/>
          <a:p>
            <a:r>
              <a:rPr lang="zh-CN" altLang="en-US" dirty="0" smtClean="0"/>
              <a:t>第</a:t>
            </a:r>
            <a:r>
              <a:rPr lang="en-US" altLang="zh-CN" dirty="0" smtClean="0"/>
              <a:t>13</a:t>
            </a:r>
            <a:r>
              <a:rPr lang="zh-CN" altLang="en-US" dirty="0" smtClean="0"/>
              <a:t>章 文件系统接口</a:t>
            </a:r>
            <a:endParaRPr lang="zh-CN" altLang="en-US" dirty="0"/>
          </a:p>
        </p:txBody>
      </p:sp>
      <p:sp>
        <p:nvSpPr>
          <p:cNvPr id="3" name="内容占位符 2">
            <a:extLst>
              <a:ext uri="{FF2B5EF4-FFF2-40B4-BE49-F238E27FC236}">
                <a16:creationId xmlns="" xmlns:a16="http://schemas.microsoft.com/office/drawing/2014/main" id="{AD7B2C0A-B2D8-3755-E6C0-89A613AD7E93}"/>
              </a:ext>
            </a:extLst>
          </p:cNvPr>
          <p:cNvSpPr>
            <a:spLocks noGrp="1"/>
          </p:cNvSpPr>
          <p:nvPr>
            <p:ph idx="1"/>
          </p:nvPr>
        </p:nvSpPr>
        <p:spPr>
          <a:xfrm>
            <a:off x="935038" y="1233488"/>
            <a:ext cx="7772400" cy="4895850"/>
          </a:xfrm>
        </p:spPr>
        <p:txBody>
          <a:bodyPr>
            <a:normAutofit/>
          </a:bodyPr>
          <a:lstStyle/>
          <a:p>
            <a:r>
              <a:rPr lang="zh-CN" altLang="en-US" dirty="0"/>
              <a:t>本章内容</a:t>
            </a:r>
            <a:endParaRPr lang="en-US" altLang="zh-CN" dirty="0"/>
          </a:p>
          <a:p>
            <a:r>
              <a:rPr lang="en-US" altLang="zh-CN" dirty="0">
                <a:solidFill>
                  <a:srgbClr val="FF0000"/>
                </a:solidFill>
              </a:rPr>
              <a:t>1</a:t>
            </a:r>
            <a:r>
              <a:rPr lang="en-US" altLang="zh-CN" dirty="0" smtClean="0">
                <a:solidFill>
                  <a:srgbClr val="FF0000"/>
                </a:solidFill>
              </a:rPr>
              <a:t>. </a:t>
            </a:r>
            <a:r>
              <a:rPr lang="zh-CN" altLang="en-US" dirty="0" smtClean="0">
                <a:solidFill>
                  <a:srgbClr val="FF0000"/>
                </a:solidFill>
              </a:rPr>
              <a:t>文件概念</a:t>
            </a:r>
            <a:endParaRPr lang="zh-CN" altLang="zh-CN" dirty="0">
              <a:solidFill>
                <a:srgbClr val="FF0000"/>
              </a:solidFill>
            </a:endParaRPr>
          </a:p>
          <a:p>
            <a:r>
              <a:rPr lang="en-US" altLang="zh-CN" dirty="0"/>
              <a:t>2.</a:t>
            </a:r>
            <a:r>
              <a:rPr lang="zh-CN" altLang="en-US" dirty="0"/>
              <a:t> </a:t>
            </a:r>
            <a:r>
              <a:rPr lang="zh-CN" altLang="en-US" dirty="0" smtClean="0"/>
              <a:t>访问方法</a:t>
            </a:r>
            <a:endParaRPr lang="en-US" altLang="zh-CN" dirty="0" smtClean="0"/>
          </a:p>
          <a:p>
            <a:r>
              <a:rPr lang="en-US" altLang="zh-CN" dirty="0" smtClean="0"/>
              <a:t>3</a:t>
            </a:r>
            <a:r>
              <a:rPr lang="en-US" altLang="zh-CN" dirty="0"/>
              <a:t>.</a:t>
            </a:r>
            <a:r>
              <a:rPr lang="zh-CN" altLang="en-US" dirty="0"/>
              <a:t> </a:t>
            </a:r>
            <a:r>
              <a:rPr lang="zh-CN" altLang="en-US" dirty="0" smtClean="0"/>
              <a:t>目录结构</a:t>
            </a:r>
            <a:endParaRPr lang="en-US" altLang="zh-CN" dirty="0" smtClean="0"/>
          </a:p>
          <a:p>
            <a:r>
              <a:rPr lang="en-US" altLang="zh-CN" dirty="0" smtClean="0"/>
              <a:t>4. </a:t>
            </a:r>
            <a:r>
              <a:rPr lang="zh-CN" altLang="en-US" dirty="0" smtClean="0"/>
              <a:t>保护</a:t>
            </a:r>
            <a:endParaRPr lang="en-US" altLang="zh-CN" dirty="0" smtClean="0"/>
          </a:p>
          <a:p>
            <a:r>
              <a:rPr lang="en-US" altLang="zh-CN" dirty="0" smtClean="0"/>
              <a:t>5. </a:t>
            </a:r>
            <a:r>
              <a:rPr lang="zh-CN" altLang="en-US" dirty="0" smtClean="0"/>
              <a:t>内存映射文件</a:t>
            </a:r>
            <a:endParaRPr lang="en-US" altLang="zh-CN" dirty="0" smtClean="0"/>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a:t>
            </a:fld>
            <a:endParaRPr lang="zh-CN" altLang="en-US" dirty="0"/>
          </a:p>
        </p:txBody>
      </p:sp>
    </p:spTree>
    <p:extLst>
      <p:ext uri="{BB962C8B-B14F-4D97-AF65-F5344CB8AC3E}">
        <p14:creationId xmlns:p14="http://schemas.microsoft.com/office/powerpoint/2010/main" val="9844324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文件系统的概念</a:t>
            </a:r>
            <a:endParaRPr lang="zh-CN" altLang="en-US" dirty="0"/>
          </a:p>
        </p:txBody>
      </p:sp>
      <p:sp>
        <p:nvSpPr>
          <p:cNvPr id="5" name="内容占位符 4"/>
          <p:cNvSpPr>
            <a:spLocks noGrp="1"/>
          </p:cNvSpPr>
          <p:nvPr>
            <p:ph idx="1"/>
          </p:nvPr>
        </p:nvSpPr>
        <p:spPr/>
        <p:txBody>
          <a:bodyPr/>
          <a:lstStyle/>
          <a:p>
            <a:r>
              <a:rPr lang="zh-CN" altLang="en-US" dirty="0"/>
              <a:t>文件</a:t>
            </a:r>
          </a:p>
          <a:p>
            <a:pPr lvl="1"/>
            <a:r>
              <a:rPr lang="zh-CN" altLang="en-US" dirty="0"/>
              <a:t>具有文件名的一组相关信息的集合</a:t>
            </a:r>
            <a:r>
              <a:rPr lang="zh-CN" altLang="en-US" dirty="0" smtClean="0"/>
              <a:t>，存放</a:t>
            </a:r>
            <a:r>
              <a:rPr lang="zh-CN" altLang="en-US" dirty="0"/>
              <a:t>在</a:t>
            </a:r>
            <a:r>
              <a:rPr lang="zh-CN" altLang="en-US" dirty="0" smtClean="0"/>
              <a:t>外存</a:t>
            </a:r>
            <a:endParaRPr lang="zh-CN" altLang="en-US" dirty="0"/>
          </a:p>
          <a:p>
            <a:pPr lvl="1"/>
            <a:r>
              <a:rPr lang="zh-CN" altLang="en-US" dirty="0"/>
              <a:t>由若干记录组成</a:t>
            </a:r>
          </a:p>
          <a:p>
            <a:pPr lvl="2"/>
            <a:r>
              <a:rPr lang="zh-CN" altLang="en-US" dirty="0"/>
              <a:t>记录是一些相关数据项的集合</a:t>
            </a:r>
          </a:p>
          <a:p>
            <a:pPr lvl="2"/>
            <a:r>
              <a:rPr lang="zh-CN" altLang="en-US" dirty="0"/>
              <a:t>数据项是数据组织中可以命名的最小逻辑</a:t>
            </a:r>
            <a:r>
              <a:rPr lang="zh-CN" altLang="en-US" dirty="0" smtClean="0"/>
              <a:t>单位</a:t>
            </a:r>
            <a:endParaRPr lang="en-US" altLang="zh-CN" dirty="0" smtClean="0"/>
          </a:p>
          <a:p>
            <a:pPr lvl="1"/>
            <a:r>
              <a:rPr lang="zh-CN" altLang="en-US" dirty="0"/>
              <a:t>记录和数据项，是文件内部数据的组织</a:t>
            </a:r>
            <a:r>
              <a:rPr lang="zh-CN" altLang="en-US" dirty="0" smtClean="0"/>
              <a:t>方式，多数</a:t>
            </a:r>
            <a:r>
              <a:rPr lang="zh-CN" altLang="en-US" dirty="0"/>
              <a:t>情况下，</a:t>
            </a:r>
            <a:r>
              <a:rPr lang="en-US" altLang="zh-CN" dirty="0"/>
              <a:t>OS</a:t>
            </a:r>
            <a:r>
              <a:rPr lang="zh-CN" altLang="en-US" dirty="0"/>
              <a:t>把文件看作数据流，不关心组织</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a:t>
            </a:fld>
            <a:endParaRPr lang="zh-CN" altLang="en-US" dirty="0"/>
          </a:p>
        </p:txBody>
      </p:sp>
    </p:spTree>
    <p:extLst>
      <p:ext uri="{BB962C8B-B14F-4D97-AF65-F5344CB8AC3E}">
        <p14:creationId xmlns:p14="http://schemas.microsoft.com/office/powerpoint/2010/main" val="37523001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文件系统的概念</a:t>
            </a:r>
          </a:p>
        </p:txBody>
      </p:sp>
      <p:sp>
        <p:nvSpPr>
          <p:cNvPr id="8" name="内容占位符 7"/>
          <p:cNvSpPr>
            <a:spLocks noGrp="1"/>
          </p:cNvSpPr>
          <p:nvPr>
            <p:ph idx="1"/>
          </p:nvPr>
        </p:nvSpPr>
        <p:spPr/>
        <p:txBody>
          <a:bodyPr/>
          <a:lstStyle/>
          <a:p>
            <a:r>
              <a:rPr lang="zh-CN" altLang="en-US" dirty="0"/>
              <a:t>文件系统</a:t>
            </a:r>
          </a:p>
          <a:p>
            <a:pPr lvl="1"/>
            <a:r>
              <a:rPr lang="zh-CN" altLang="en-US" dirty="0"/>
              <a:t>操作系统中与管理文件有关的软件和数据的集合</a:t>
            </a:r>
          </a:p>
          <a:p>
            <a:pPr lvl="2"/>
            <a:r>
              <a:rPr lang="zh-CN" altLang="en-US" dirty="0" smtClean="0"/>
              <a:t>管理外存文件，提供</a:t>
            </a:r>
            <a:r>
              <a:rPr lang="zh-CN" altLang="en-US" dirty="0"/>
              <a:t>对</a:t>
            </a:r>
            <a:r>
              <a:rPr lang="zh-CN" altLang="en-US" dirty="0" smtClean="0"/>
              <a:t>文件存取</a:t>
            </a:r>
            <a:r>
              <a:rPr lang="zh-CN" altLang="en-US" dirty="0"/>
              <a:t>、共享及保护的手段</a:t>
            </a:r>
          </a:p>
          <a:p>
            <a:pPr lvl="2"/>
            <a:r>
              <a:rPr lang="zh-CN" altLang="en-US" dirty="0" smtClean="0"/>
              <a:t>构成：管理</a:t>
            </a:r>
            <a:r>
              <a:rPr lang="zh-CN" altLang="en-US" dirty="0"/>
              <a:t>文件所需的数据结构</a:t>
            </a:r>
            <a:r>
              <a:rPr lang="zh-CN" altLang="en-US" dirty="0" smtClean="0"/>
              <a:t>、管理</a:t>
            </a:r>
            <a:r>
              <a:rPr lang="zh-CN" altLang="en-US" dirty="0"/>
              <a:t>软件和被管理的</a:t>
            </a:r>
            <a:r>
              <a:rPr lang="zh-CN" altLang="en-US" dirty="0" smtClean="0"/>
              <a:t>文件</a:t>
            </a:r>
            <a:endParaRPr lang="en-US" altLang="zh-CN" dirty="0"/>
          </a:p>
          <a:p>
            <a:pPr lvl="1"/>
            <a:r>
              <a:rPr lang="zh-CN" altLang="en-US" dirty="0" smtClean="0"/>
              <a:t>文件系统</a:t>
            </a:r>
            <a:r>
              <a:rPr lang="zh-CN" altLang="en-US" dirty="0"/>
              <a:t>的主要功能</a:t>
            </a:r>
          </a:p>
          <a:p>
            <a:pPr lvl="2"/>
            <a:r>
              <a:rPr lang="zh-CN" altLang="en-US" dirty="0"/>
              <a:t>实现文件的按名存取</a:t>
            </a:r>
          </a:p>
          <a:p>
            <a:pPr lvl="2"/>
            <a:r>
              <a:rPr lang="zh-CN" altLang="en-US" dirty="0"/>
              <a:t>为用户提供接口</a:t>
            </a:r>
          </a:p>
          <a:p>
            <a:pPr lvl="2"/>
            <a:r>
              <a:rPr lang="zh-CN" altLang="en-US" dirty="0"/>
              <a:t>实施对文件和目录的管理</a:t>
            </a:r>
          </a:p>
          <a:p>
            <a:pPr lvl="2"/>
            <a:r>
              <a:rPr lang="zh-CN" altLang="en-US" dirty="0"/>
              <a:t>文件存储空间的分配及回收</a:t>
            </a:r>
          </a:p>
          <a:p>
            <a:pPr lvl="2"/>
            <a:r>
              <a:rPr lang="zh-CN" altLang="en-US" dirty="0"/>
              <a:t>文件的共享及保护</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a:t>
            </a:fld>
            <a:endParaRPr lang="zh-CN" altLang="en-US" dirty="0"/>
          </a:p>
        </p:txBody>
      </p:sp>
    </p:spTree>
    <p:extLst>
      <p:ext uri="{BB962C8B-B14F-4D97-AF65-F5344CB8AC3E}">
        <p14:creationId xmlns:p14="http://schemas.microsoft.com/office/powerpoint/2010/main" val="5815509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文件属性</a:t>
            </a:r>
          </a:p>
        </p:txBody>
      </p:sp>
      <p:sp>
        <p:nvSpPr>
          <p:cNvPr id="11" name="内容占位符 10"/>
          <p:cNvSpPr>
            <a:spLocks noGrp="1"/>
          </p:cNvSpPr>
          <p:nvPr>
            <p:ph idx="1"/>
          </p:nvPr>
        </p:nvSpPr>
        <p:spPr/>
        <p:txBody>
          <a:bodyPr/>
          <a:lstStyle/>
          <a:p>
            <a:r>
              <a:rPr lang="zh-CN" altLang="en-US" dirty="0"/>
              <a:t>文件属性通常包含</a:t>
            </a:r>
          </a:p>
          <a:p>
            <a:pPr lvl="1"/>
            <a:r>
              <a:rPr lang="zh-CN" altLang="en-US" dirty="0" smtClean="0"/>
              <a:t>名称、标识符、类型、位置、大小、保护、时间</a:t>
            </a:r>
            <a:r>
              <a:rPr lang="zh-CN" altLang="en-US" dirty="0"/>
              <a:t>、日期和用户标识</a:t>
            </a:r>
          </a:p>
          <a:p>
            <a:r>
              <a:rPr lang="zh-CN" altLang="en-US" dirty="0"/>
              <a:t>所有文件的属性信息都保存在目录结构中</a:t>
            </a:r>
          </a:p>
          <a:p>
            <a:pPr lvl="1"/>
            <a:r>
              <a:rPr lang="zh-CN" altLang="en-US" dirty="0"/>
              <a:t>通常目录项包含文件名及标识号，而标识号定位文件其他属性信息</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4</a:t>
            </a:fld>
            <a:endParaRPr lang="zh-CN" altLang="en-US" dirty="0"/>
          </a:p>
        </p:txBody>
      </p:sp>
    </p:spTree>
    <p:extLst>
      <p:ext uri="{BB962C8B-B14F-4D97-AF65-F5344CB8AC3E}">
        <p14:creationId xmlns:p14="http://schemas.microsoft.com/office/powerpoint/2010/main" val="9283552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A478220-5F10-3448-53B0-A082ACF36790}"/>
              </a:ext>
            </a:extLst>
          </p:cNvPr>
          <p:cNvSpPr>
            <a:spLocks noGrp="1"/>
          </p:cNvSpPr>
          <p:nvPr>
            <p:ph type="title"/>
          </p:nvPr>
        </p:nvSpPr>
        <p:spPr>
          <a:xfrm>
            <a:off x="1042988" y="225431"/>
            <a:ext cx="7850187" cy="746125"/>
          </a:xfrm>
        </p:spPr>
        <p:txBody>
          <a:bodyPr/>
          <a:lstStyle/>
          <a:p>
            <a:r>
              <a:rPr lang="zh-CN" altLang="en-US" dirty="0"/>
              <a:t>文件操作</a:t>
            </a:r>
          </a:p>
        </p:txBody>
      </p:sp>
      <p:sp>
        <p:nvSpPr>
          <p:cNvPr id="3" name="内容占位符 2">
            <a:extLst>
              <a:ext uri="{FF2B5EF4-FFF2-40B4-BE49-F238E27FC236}">
                <a16:creationId xmlns="" xmlns:a16="http://schemas.microsoft.com/office/drawing/2014/main" id="{AD7B2C0A-B2D8-3755-E6C0-89A613AD7E93}"/>
              </a:ext>
            </a:extLst>
          </p:cNvPr>
          <p:cNvSpPr>
            <a:spLocks noGrp="1"/>
          </p:cNvSpPr>
          <p:nvPr>
            <p:ph idx="1"/>
          </p:nvPr>
        </p:nvSpPr>
        <p:spPr>
          <a:xfrm>
            <a:off x="935038" y="1233488"/>
            <a:ext cx="7772400" cy="4895850"/>
          </a:xfrm>
        </p:spPr>
        <p:txBody>
          <a:bodyPr>
            <a:normAutofit/>
          </a:bodyPr>
          <a:lstStyle/>
          <a:p>
            <a:r>
              <a:rPr lang="zh-CN" altLang="en-US" dirty="0"/>
              <a:t>基本文件操作</a:t>
            </a:r>
          </a:p>
          <a:p>
            <a:pPr lvl="1"/>
            <a:r>
              <a:rPr lang="zh-CN" altLang="en-US" dirty="0"/>
              <a:t>建立文件</a:t>
            </a:r>
          </a:p>
          <a:p>
            <a:pPr lvl="2"/>
            <a:r>
              <a:rPr lang="zh-CN" altLang="en-US" dirty="0"/>
              <a:t>分配必要空间</a:t>
            </a:r>
          </a:p>
          <a:p>
            <a:pPr lvl="2"/>
            <a:r>
              <a:rPr lang="zh-CN" altLang="en-US" dirty="0" smtClean="0"/>
              <a:t>建立目录</a:t>
            </a:r>
            <a:r>
              <a:rPr lang="zh-CN" altLang="en-US" dirty="0"/>
              <a:t>项并</a:t>
            </a:r>
            <a:r>
              <a:rPr lang="zh-CN" altLang="en-US" dirty="0" smtClean="0"/>
              <a:t>记录文件名</a:t>
            </a:r>
            <a:r>
              <a:rPr lang="zh-CN" altLang="en-US" dirty="0"/>
              <a:t>及其在外存的地址等</a:t>
            </a:r>
          </a:p>
          <a:p>
            <a:pPr lvl="1"/>
            <a:r>
              <a:rPr lang="zh-CN" altLang="en-US" dirty="0"/>
              <a:t>删除文件</a:t>
            </a:r>
          </a:p>
          <a:p>
            <a:pPr lvl="2"/>
            <a:r>
              <a:rPr lang="zh-CN" altLang="en-US" dirty="0"/>
              <a:t>在目录中搜索给定名称的文件</a:t>
            </a:r>
          </a:p>
          <a:p>
            <a:pPr lvl="2"/>
            <a:r>
              <a:rPr lang="zh-CN" altLang="en-US" dirty="0"/>
              <a:t>释放文件占用的所有存储空间</a:t>
            </a:r>
          </a:p>
          <a:p>
            <a:pPr lvl="2"/>
            <a:r>
              <a:rPr lang="zh-CN" altLang="en-US" dirty="0"/>
              <a:t>删除相应目录</a:t>
            </a:r>
            <a:r>
              <a:rPr lang="zh-CN" altLang="en-US" dirty="0" smtClean="0"/>
              <a:t>项</a:t>
            </a:r>
            <a:endParaRPr lang="en-US" altLang="zh-CN" dirty="0" smtClean="0"/>
          </a:p>
          <a:p>
            <a:pPr lvl="1"/>
            <a:r>
              <a:rPr lang="zh-CN" altLang="en-US" dirty="0"/>
              <a:t>截断文件</a:t>
            </a:r>
          </a:p>
          <a:p>
            <a:pPr lvl="2"/>
            <a:r>
              <a:rPr lang="zh-CN" altLang="en-US" dirty="0"/>
              <a:t>不改变文件属性，只是将其长度设为</a:t>
            </a:r>
            <a:r>
              <a:rPr lang="en-US" altLang="zh-CN" dirty="0"/>
              <a:t>0</a:t>
            </a:r>
            <a:r>
              <a:rPr lang="zh-CN" altLang="en-US" dirty="0"/>
              <a:t>并释放其</a:t>
            </a:r>
            <a:r>
              <a:rPr lang="zh-CN" altLang="en-US" dirty="0" smtClean="0"/>
              <a:t>空间</a:t>
            </a:r>
            <a:endParaRPr lang="zh-CN" altLang="en-US" dirty="0"/>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5</a:t>
            </a:fld>
            <a:endParaRPr lang="zh-CN" altLang="en-US" dirty="0"/>
          </a:p>
        </p:txBody>
      </p:sp>
    </p:spTree>
    <p:extLst>
      <p:ext uri="{BB962C8B-B14F-4D97-AF65-F5344CB8AC3E}">
        <p14:creationId xmlns:p14="http://schemas.microsoft.com/office/powerpoint/2010/main" val="11124023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A478220-5F10-3448-53B0-A082ACF36790}"/>
              </a:ext>
            </a:extLst>
          </p:cNvPr>
          <p:cNvSpPr>
            <a:spLocks noGrp="1"/>
          </p:cNvSpPr>
          <p:nvPr>
            <p:ph type="title"/>
          </p:nvPr>
        </p:nvSpPr>
        <p:spPr>
          <a:xfrm>
            <a:off x="1042988" y="225431"/>
            <a:ext cx="7850187" cy="746125"/>
          </a:xfrm>
        </p:spPr>
        <p:txBody>
          <a:bodyPr/>
          <a:lstStyle/>
          <a:p>
            <a:r>
              <a:rPr lang="zh-CN" altLang="en-US" dirty="0"/>
              <a:t>文件操作</a:t>
            </a:r>
          </a:p>
        </p:txBody>
      </p:sp>
      <p:sp>
        <p:nvSpPr>
          <p:cNvPr id="3" name="内容占位符 2">
            <a:extLst>
              <a:ext uri="{FF2B5EF4-FFF2-40B4-BE49-F238E27FC236}">
                <a16:creationId xmlns="" xmlns:a16="http://schemas.microsoft.com/office/drawing/2014/main" id="{AD7B2C0A-B2D8-3755-E6C0-89A613AD7E93}"/>
              </a:ext>
            </a:extLst>
          </p:cNvPr>
          <p:cNvSpPr>
            <a:spLocks noGrp="1"/>
          </p:cNvSpPr>
          <p:nvPr>
            <p:ph idx="1"/>
          </p:nvPr>
        </p:nvSpPr>
        <p:spPr>
          <a:xfrm>
            <a:off x="935038" y="1233488"/>
            <a:ext cx="7772400" cy="4895850"/>
          </a:xfrm>
        </p:spPr>
        <p:txBody>
          <a:bodyPr>
            <a:normAutofit/>
          </a:bodyPr>
          <a:lstStyle/>
          <a:p>
            <a:r>
              <a:rPr lang="zh-CN" altLang="en-US" dirty="0"/>
              <a:t>基本文件操作</a:t>
            </a:r>
          </a:p>
          <a:p>
            <a:pPr lvl="1"/>
            <a:r>
              <a:rPr lang="zh-CN" altLang="en-US" dirty="0"/>
              <a:t>读文件</a:t>
            </a:r>
          </a:p>
          <a:p>
            <a:pPr lvl="2"/>
            <a:r>
              <a:rPr lang="zh-CN" altLang="en-US" dirty="0"/>
              <a:t>执行一个系统调用，指明文件名和要读入的内存位置</a:t>
            </a:r>
          </a:p>
          <a:p>
            <a:pPr lvl="2"/>
            <a:r>
              <a:rPr lang="zh-CN" altLang="en-US" dirty="0"/>
              <a:t>系统搜索目录找到文件的目录项</a:t>
            </a:r>
          </a:p>
          <a:p>
            <a:pPr lvl="2"/>
            <a:r>
              <a:rPr lang="zh-CN" altLang="en-US" dirty="0"/>
              <a:t>从目录</a:t>
            </a:r>
            <a:r>
              <a:rPr lang="zh-CN" altLang="en-US" dirty="0" smtClean="0"/>
              <a:t>项得到</a:t>
            </a:r>
            <a:r>
              <a:rPr lang="zh-CN" altLang="en-US" dirty="0"/>
              <a:t>文件在外存的地址</a:t>
            </a:r>
            <a:r>
              <a:rPr lang="zh-CN" altLang="en-US" dirty="0" smtClean="0"/>
              <a:t>，读数据入</a:t>
            </a:r>
            <a:r>
              <a:rPr lang="zh-CN" altLang="en-US" dirty="0"/>
              <a:t>内存</a:t>
            </a:r>
          </a:p>
          <a:p>
            <a:pPr lvl="1"/>
            <a:r>
              <a:rPr lang="zh-CN" altLang="en-US" dirty="0"/>
              <a:t>写文件</a:t>
            </a:r>
          </a:p>
          <a:p>
            <a:pPr lvl="2"/>
            <a:r>
              <a:rPr lang="zh-CN" altLang="en-US" dirty="0"/>
              <a:t>执行一个系统调用，指明文件名和要写入的内容</a:t>
            </a:r>
          </a:p>
          <a:p>
            <a:pPr lvl="2"/>
            <a:r>
              <a:rPr lang="zh-CN" altLang="en-US" dirty="0"/>
              <a:t>系统搜索目录找到文件的目录项</a:t>
            </a:r>
          </a:p>
          <a:p>
            <a:pPr lvl="2"/>
            <a:r>
              <a:rPr lang="zh-CN" altLang="en-US" dirty="0"/>
              <a:t>再利用目录中的文件指针将信息写入文件</a:t>
            </a:r>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6</a:t>
            </a:fld>
            <a:endParaRPr lang="zh-CN" altLang="en-US" dirty="0"/>
          </a:p>
        </p:txBody>
      </p:sp>
    </p:spTree>
    <p:extLst>
      <p:ext uri="{BB962C8B-B14F-4D97-AF65-F5344CB8AC3E}">
        <p14:creationId xmlns:p14="http://schemas.microsoft.com/office/powerpoint/2010/main" val="22651110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A478220-5F10-3448-53B0-A082ACF36790}"/>
              </a:ext>
            </a:extLst>
          </p:cNvPr>
          <p:cNvSpPr>
            <a:spLocks noGrp="1"/>
          </p:cNvSpPr>
          <p:nvPr>
            <p:ph type="title"/>
          </p:nvPr>
        </p:nvSpPr>
        <p:spPr>
          <a:xfrm>
            <a:off x="1042988" y="225431"/>
            <a:ext cx="7850187" cy="746125"/>
          </a:xfrm>
        </p:spPr>
        <p:txBody>
          <a:bodyPr/>
          <a:lstStyle/>
          <a:p>
            <a:r>
              <a:rPr lang="zh-CN" altLang="en-US" dirty="0"/>
              <a:t>文件操作</a:t>
            </a:r>
          </a:p>
        </p:txBody>
      </p:sp>
      <p:sp>
        <p:nvSpPr>
          <p:cNvPr id="3" name="内容占位符 2">
            <a:extLst>
              <a:ext uri="{FF2B5EF4-FFF2-40B4-BE49-F238E27FC236}">
                <a16:creationId xmlns="" xmlns:a16="http://schemas.microsoft.com/office/drawing/2014/main" id="{AD7B2C0A-B2D8-3755-E6C0-89A613AD7E93}"/>
              </a:ext>
            </a:extLst>
          </p:cNvPr>
          <p:cNvSpPr>
            <a:spLocks noGrp="1"/>
          </p:cNvSpPr>
          <p:nvPr>
            <p:ph idx="1"/>
          </p:nvPr>
        </p:nvSpPr>
        <p:spPr>
          <a:xfrm>
            <a:off x="935038" y="1233488"/>
            <a:ext cx="7772400" cy="4895850"/>
          </a:xfrm>
        </p:spPr>
        <p:txBody>
          <a:bodyPr>
            <a:normAutofit/>
          </a:bodyPr>
          <a:lstStyle/>
          <a:p>
            <a:r>
              <a:rPr lang="zh-CN" altLang="en-US" dirty="0"/>
              <a:t>基本文件操作</a:t>
            </a:r>
          </a:p>
          <a:p>
            <a:pPr lvl="1"/>
            <a:r>
              <a:rPr lang="zh-CN" altLang="en-US" dirty="0"/>
              <a:t>在文件内重定位</a:t>
            </a:r>
          </a:p>
          <a:p>
            <a:pPr lvl="2"/>
            <a:r>
              <a:rPr lang="zh-CN" altLang="en-US" dirty="0"/>
              <a:t>搜索相应目录表项，设置当前文件指针为给定值</a:t>
            </a:r>
          </a:p>
          <a:p>
            <a:pPr lvl="1"/>
            <a:r>
              <a:rPr lang="zh-CN" altLang="en-US" dirty="0" smtClean="0"/>
              <a:t>打开</a:t>
            </a:r>
            <a:r>
              <a:rPr lang="zh-CN" altLang="en-US" dirty="0"/>
              <a:t>文件</a:t>
            </a:r>
          </a:p>
          <a:p>
            <a:pPr lvl="2"/>
            <a:r>
              <a:rPr lang="zh-CN" altLang="en-US" dirty="0"/>
              <a:t>将文件的目录信息读入内存</a:t>
            </a:r>
            <a:r>
              <a:rPr lang="zh-CN" altLang="en-US" dirty="0">
                <a:solidFill>
                  <a:srgbClr val="FF0000"/>
                </a:solidFill>
              </a:rPr>
              <a:t>打开文件表</a:t>
            </a:r>
            <a:r>
              <a:rPr lang="zh-CN" altLang="en-US" dirty="0"/>
              <a:t>中，建立起用户进程和文件之间的</a:t>
            </a:r>
            <a:r>
              <a:rPr lang="zh-CN" altLang="en-US" dirty="0" smtClean="0"/>
              <a:t>联系</a:t>
            </a:r>
            <a:endParaRPr lang="en-US" altLang="zh-CN" dirty="0" smtClean="0"/>
          </a:p>
          <a:p>
            <a:pPr lvl="1"/>
            <a:r>
              <a:rPr lang="zh-CN" altLang="en-US" dirty="0" smtClean="0"/>
              <a:t>关闭</a:t>
            </a:r>
            <a:r>
              <a:rPr lang="zh-CN" altLang="en-US" dirty="0"/>
              <a:t>文件</a:t>
            </a:r>
          </a:p>
          <a:p>
            <a:pPr lvl="2"/>
            <a:r>
              <a:rPr lang="zh-CN" altLang="en-US" dirty="0"/>
              <a:t>撤消主存中有关该文件的目录信息，切断用户进程与该文件的联系</a:t>
            </a:r>
            <a:endParaRPr lang="en-US" altLang="zh-CN" dirty="0"/>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7</a:t>
            </a:fld>
            <a:endParaRPr lang="zh-CN" altLang="en-US" dirty="0"/>
          </a:p>
        </p:txBody>
      </p:sp>
      <p:sp>
        <p:nvSpPr>
          <p:cNvPr id="6" name="圆角矩形标注 5"/>
          <p:cNvSpPr/>
          <p:nvPr/>
        </p:nvSpPr>
        <p:spPr bwMode="auto">
          <a:xfrm>
            <a:off x="6088380" y="3837073"/>
            <a:ext cx="1931670" cy="507414"/>
          </a:xfrm>
          <a:prstGeom prst="wedgeRoundRectCallout">
            <a:avLst>
              <a:gd name="adj1" fmla="val -61816"/>
              <a:gd name="adj2" fmla="val -59438"/>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lang="zh-CN" altLang="en-US" sz="2000" dirty="0">
                <a:latin typeface="Consolas" panose="020B0609020204030204" pitchFamily="49" charset="0"/>
              </a:rPr>
              <a:t>后续</a:t>
            </a:r>
            <a:r>
              <a:rPr lang="zh-CN" altLang="en-US" sz="2000" dirty="0" smtClean="0">
                <a:latin typeface="Consolas" panose="020B0609020204030204" pitchFamily="49" charset="0"/>
              </a:rPr>
              <a:t>章节介绍</a:t>
            </a:r>
            <a:endParaRPr kumimoji="1" lang="zh-CN" altLang="en-US"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endParaRPr>
          </a:p>
        </p:txBody>
      </p:sp>
    </p:spTree>
    <p:extLst>
      <p:ext uri="{BB962C8B-B14F-4D97-AF65-F5344CB8AC3E}">
        <p14:creationId xmlns:p14="http://schemas.microsoft.com/office/powerpoint/2010/main" val="6790164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smtClean="0"/>
              <a:t>文件操作</a:t>
            </a:r>
            <a:endParaRPr lang="zh-CN" altLang="en-US" dirty="0"/>
          </a:p>
        </p:txBody>
      </p:sp>
      <p:sp>
        <p:nvSpPr>
          <p:cNvPr id="7" name="内容占位符 6"/>
          <p:cNvSpPr>
            <a:spLocks noGrp="1"/>
          </p:cNvSpPr>
          <p:nvPr>
            <p:ph idx="1"/>
          </p:nvPr>
        </p:nvSpPr>
        <p:spPr/>
        <p:txBody>
          <a:bodyPr/>
          <a:lstStyle/>
          <a:p>
            <a:r>
              <a:rPr lang="zh-CN" altLang="en-US" dirty="0"/>
              <a:t>打开的文件有如下相关信息</a:t>
            </a:r>
          </a:p>
          <a:p>
            <a:pPr lvl="1"/>
            <a:r>
              <a:rPr lang="zh-CN" altLang="en-US" dirty="0"/>
              <a:t>文件</a:t>
            </a:r>
            <a:r>
              <a:rPr lang="zh-CN" altLang="en-US" dirty="0" smtClean="0"/>
              <a:t>指针</a:t>
            </a:r>
            <a:endParaRPr lang="en-US" altLang="zh-CN" dirty="0" smtClean="0"/>
          </a:p>
          <a:p>
            <a:pPr lvl="1"/>
            <a:r>
              <a:rPr lang="zh-CN" altLang="en-US" dirty="0" smtClean="0"/>
              <a:t>文件打开计数</a:t>
            </a:r>
            <a:endParaRPr lang="en-US" altLang="zh-CN" dirty="0" smtClean="0"/>
          </a:p>
          <a:p>
            <a:pPr lvl="1"/>
            <a:r>
              <a:rPr lang="zh-CN" altLang="en-US" dirty="0" smtClean="0"/>
              <a:t>文件</a:t>
            </a:r>
            <a:r>
              <a:rPr lang="zh-CN" altLang="en-US" dirty="0"/>
              <a:t>磁盘</a:t>
            </a:r>
            <a:r>
              <a:rPr lang="zh-CN" altLang="en-US" dirty="0" smtClean="0"/>
              <a:t>位置</a:t>
            </a:r>
            <a:endParaRPr lang="en-US" altLang="zh-CN" dirty="0" smtClean="0"/>
          </a:p>
          <a:p>
            <a:pPr lvl="1"/>
            <a:r>
              <a:rPr lang="zh-CN" altLang="en-US" dirty="0" smtClean="0"/>
              <a:t>访问权限</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8</a:t>
            </a:fld>
            <a:endParaRPr lang="zh-CN" altLang="en-US" dirty="0"/>
          </a:p>
        </p:txBody>
      </p:sp>
    </p:spTree>
    <p:extLst>
      <p:ext uri="{BB962C8B-B14F-4D97-AF65-F5344CB8AC3E}">
        <p14:creationId xmlns:p14="http://schemas.microsoft.com/office/powerpoint/2010/main" val="27727366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文件类型</a:t>
            </a:r>
          </a:p>
        </p:txBody>
      </p:sp>
      <p:sp>
        <p:nvSpPr>
          <p:cNvPr id="7" name="内容占位符 6"/>
          <p:cNvSpPr>
            <a:spLocks noGrp="1"/>
          </p:cNvSpPr>
          <p:nvPr>
            <p:ph idx="1"/>
          </p:nvPr>
        </p:nvSpPr>
        <p:spPr/>
        <p:txBody>
          <a:bodyPr/>
          <a:lstStyle/>
          <a:p>
            <a:r>
              <a:rPr lang="zh-CN" altLang="en-US" dirty="0"/>
              <a:t>标注文件类型</a:t>
            </a:r>
          </a:p>
          <a:p>
            <a:pPr lvl="1"/>
            <a:r>
              <a:rPr lang="zh-CN" altLang="en-US" dirty="0" smtClean="0"/>
              <a:t>常用</a:t>
            </a:r>
            <a:r>
              <a:rPr lang="zh-CN" altLang="en-US" dirty="0"/>
              <a:t>方法</a:t>
            </a:r>
            <a:r>
              <a:rPr lang="zh-CN" altLang="en-US" dirty="0" smtClean="0"/>
              <a:t>是</a:t>
            </a:r>
            <a:r>
              <a:rPr lang="zh-CN" altLang="en-US" dirty="0"/>
              <a:t>在</a:t>
            </a:r>
            <a:r>
              <a:rPr lang="zh-CN" altLang="en-US" dirty="0" smtClean="0"/>
              <a:t>文件名中包含</a:t>
            </a:r>
            <a:r>
              <a:rPr lang="zh-CN" altLang="en-US" dirty="0"/>
              <a:t>类型：如名称</a:t>
            </a:r>
            <a:r>
              <a:rPr lang="en-US" altLang="zh-CN" dirty="0"/>
              <a:t>.</a:t>
            </a:r>
            <a:r>
              <a:rPr lang="zh-CN" altLang="en-US" dirty="0"/>
              <a:t>扩展名</a:t>
            </a:r>
          </a:p>
          <a:p>
            <a:pPr lvl="1"/>
            <a:r>
              <a:rPr lang="en-US" altLang="zh-CN" dirty="0" err="1" smtClean="0"/>
              <a:t>MacOS</a:t>
            </a:r>
            <a:r>
              <a:rPr lang="zh-CN" altLang="en-US" dirty="0"/>
              <a:t>：每个文件有其类型，也有创建者属性，其中包含创建它的程序名称</a:t>
            </a:r>
          </a:p>
          <a:p>
            <a:pPr lvl="1"/>
            <a:r>
              <a:rPr lang="en-US" altLang="zh-CN" dirty="0"/>
              <a:t>UNIX</a:t>
            </a:r>
            <a:r>
              <a:rPr lang="zh-CN" altLang="en-US" dirty="0"/>
              <a:t>：采用魔数（</a:t>
            </a:r>
            <a:r>
              <a:rPr lang="en-US" altLang="zh-CN" dirty="0"/>
              <a:t>magic number</a:t>
            </a:r>
            <a:r>
              <a:rPr lang="zh-CN" altLang="en-US" dirty="0"/>
              <a:t>，保存在文件</a:t>
            </a:r>
            <a:r>
              <a:rPr lang="zh-CN" altLang="en-US" dirty="0" smtClean="0"/>
              <a:t>开始）</a:t>
            </a:r>
            <a:r>
              <a:rPr lang="zh-CN" altLang="en-US" dirty="0"/>
              <a:t>表明文件类型，但不是所有文件都</a:t>
            </a:r>
            <a:r>
              <a:rPr lang="zh-CN" altLang="en-US" dirty="0" smtClean="0"/>
              <a:t>有</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9</a:t>
            </a:fld>
            <a:endParaRPr lang="zh-CN" altLang="en-US" dirty="0"/>
          </a:p>
        </p:txBody>
      </p:sp>
    </p:spTree>
    <p:extLst>
      <p:ext uri="{BB962C8B-B14F-4D97-AF65-F5344CB8AC3E}">
        <p14:creationId xmlns:p14="http://schemas.microsoft.com/office/powerpoint/2010/main" val="38556030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文件类型</a:t>
            </a:r>
          </a:p>
        </p:txBody>
      </p:sp>
      <p:sp>
        <p:nvSpPr>
          <p:cNvPr id="6" name="内容占位符 5"/>
          <p:cNvSpPr>
            <a:spLocks noGrp="1"/>
          </p:cNvSpPr>
          <p:nvPr>
            <p:ph idx="1"/>
          </p:nvPr>
        </p:nvSpPr>
        <p:spPr/>
        <p:txBody>
          <a:bodyPr/>
          <a:lstStyle/>
          <a:p>
            <a:r>
              <a:rPr lang="zh-CN" altLang="en-US" dirty="0" smtClean="0"/>
              <a:t>分类</a:t>
            </a:r>
            <a:endParaRPr lang="en-US" altLang="zh-CN" dirty="0" smtClean="0"/>
          </a:p>
          <a:p>
            <a:pPr lvl="1"/>
            <a:r>
              <a:rPr lang="zh-CN" altLang="en-US" dirty="0"/>
              <a:t>按用途分类</a:t>
            </a:r>
          </a:p>
          <a:p>
            <a:pPr lvl="2"/>
            <a:r>
              <a:rPr lang="zh-CN" altLang="en-US" dirty="0"/>
              <a:t>系统文件、库文件、</a:t>
            </a:r>
            <a:r>
              <a:rPr lang="zh-CN" altLang="en-US" dirty="0" smtClean="0"/>
              <a:t>用户文件</a:t>
            </a:r>
            <a:endParaRPr lang="zh-CN" altLang="en-US" dirty="0"/>
          </a:p>
          <a:p>
            <a:pPr lvl="1"/>
            <a:r>
              <a:rPr lang="zh-CN" altLang="en-US" dirty="0"/>
              <a:t>按保护级别分类</a:t>
            </a:r>
          </a:p>
          <a:p>
            <a:pPr lvl="2"/>
            <a:r>
              <a:rPr lang="zh-CN" altLang="en-US" dirty="0"/>
              <a:t>只读文件、读写文件、执行文件、不保护</a:t>
            </a:r>
            <a:r>
              <a:rPr lang="zh-CN" altLang="en-US" dirty="0" smtClean="0"/>
              <a:t>文件</a:t>
            </a:r>
            <a:endParaRPr lang="zh-CN" altLang="en-US" dirty="0"/>
          </a:p>
          <a:p>
            <a:pPr lvl="1"/>
            <a:r>
              <a:rPr lang="zh-CN" altLang="en-US" dirty="0"/>
              <a:t>按信息流向分类</a:t>
            </a:r>
          </a:p>
          <a:p>
            <a:pPr lvl="2"/>
            <a:r>
              <a:rPr lang="zh-CN" altLang="en-US" dirty="0"/>
              <a:t>输入文件、输出文件、输入输出</a:t>
            </a:r>
            <a:r>
              <a:rPr lang="zh-CN" altLang="en-US" dirty="0" smtClean="0"/>
              <a:t>文件</a:t>
            </a:r>
            <a:endParaRPr lang="zh-CN" altLang="en-US" dirty="0"/>
          </a:p>
          <a:p>
            <a:pPr lvl="1"/>
            <a:r>
              <a:rPr lang="zh-CN" altLang="en-US" dirty="0"/>
              <a:t>按数据形式分类</a:t>
            </a:r>
          </a:p>
          <a:p>
            <a:pPr lvl="2"/>
            <a:r>
              <a:rPr lang="zh-CN" altLang="en-US" dirty="0"/>
              <a:t>源文件、目标文件、可执行</a:t>
            </a:r>
            <a:r>
              <a:rPr lang="zh-CN" altLang="en-US" dirty="0" smtClean="0"/>
              <a:t>文件</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10</a:t>
            </a:fld>
            <a:endParaRPr lang="zh-CN" altLang="en-US" dirty="0"/>
          </a:p>
        </p:txBody>
      </p:sp>
    </p:spTree>
    <p:extLst>
      <p:ext uri="{BB962C8B-B14F-4D97-AF65-F5344CB8AC3E}">
        <p14:creationId xmlns:p14="http://schemas.microsoft.com/office/powerpoint/2010/main" val="10720221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文件结构</a:t>
            </a:r>
          </a:p>
        </p:txBody>
      </p:sp>
      <p:sp>
        <p:nvSpPr>
          <p:cNvPr id="9" name="内容占位符 8"/>
          <p:cNvSpPr>
            <a:spLocks noGrp="1"/>
          </p:cNvSpPr>
          <p:nvPr>
            <p:ph idx="1"/>
          </p:nvPr>
        </p:nvSpPr>
        <p:spPr/>
        <p:txBody>
          <a:bodyPr/>
          <a:lstStyle/>
          <a:p>
            <a:r>
              <a:rPr lang="zh-CN" altLang="en-US" dirty="0"/>
              <a:t>文件结构指文件的组织形式，两个层面</a:t>
            </a:r>
          </a:p>
          <a:p>
            <a:pPr lvl="1"/>
            <a:r>
              <a:rPr lang="zh-CN" altLang="en-US" dirty="0"/>
              <a:t>逻辑结构</a:t>
            </a:r>
            <a:r>
              <a:rPr lang="zh-CN" altLang="en-US" dirty="0" smtClean="0"/>
              <a:t>：从</a:t>
            </a:r>
            <a:r>
              <a:rPr lang="zh-CN" altLang="en-US" dirty="0"/>
              <a:t>用户</a:t>
            </a:r>
            <a:r>
              <a:rPr lang="zh-CN" altLang="en-US" dirty="0" smtClean="0"/>
              <a:t>观点所</a:t>
            </a:r>
            <a:r>
              <a:rPr lang="zh-CN" altLang="en-US" dirty="0"/>
              <a:t>看到的文件组织形式</a:t>
            </a:r>
          </a:p>
          <a:p>
            <a:pPr lvl="2"/>
            <a:r>
              <a:rPr lang="zh-CN" altLang="en-US" dirty="0"/>
              <a:t>即文件内部数据的组织结构，每个应用程序必须有自己的代码对文件进行合适的解释</a:t>
            </a:r>
          </a:p>
          <a:p>
            <a:pPr lvl="2"/>
            <a:r>
              <a:rPr lang="zh-CN" altLang="en-US" dirty="0"/>
              <a:t>逻辑结构可分为两类</a:t>
            </a:r>
          </a:p>
          <a:p>
            <a:pPr lvl="3"/>
            <a:r>
              <a:rPr lang="zh-CN" altLang="en-US" dirty="0"/>
              <a:t>记录式文件：是一种有结构文件，由一组相关记录</a:t>
            </a:r>
            <a:r>
              <a:rPr lang="zh-CN" altLang="en-US" dirty="0" smtClean="0"/>
              <a:t>组成</a:t>
            </a:r>
            <a:endParaRPr lang="en-US" altLang="zh-CN" dirty="0" smtClean="0"/>
          </a:p>
          <a:p>
            <a:pPr lvl="4"/>
            <a:r>
              <a:rPr lang="zh-CN" altLang="en-US" dirty="0" smtClean="0"/>
              <a:t>又</a:t>
            </a:r>
            <a:r>
              <a:rPr lang="zh-CN" altLang="en-US" dirty="0"/>
              <a:t>分为</a:t>
            </a:r>
            <a:r>
              <a:rPr lang="zh-CN" altLang="en-US" dirty="0" smtClean="0"/>
              <a:t>：等长</a:t>
            </a:r>
            <a:r>
              <a:rPr lang="zh-CN" altLang="en-US" dirty="0"/>
              <a:t>记录文件、变长记录文件</a:t>
            </a:r>
          </a:p>
          <a:p>
            <a:pPr lvl="3"/>
            <a:r>
              <a:rPr lang="zh-CN" altLang="en-US" dirty="0"/>
              <a:t>流式文件：是一种无结构文件，由字符序列构成</a:t>
            </a:r>
          </a:p>
          <a:p>
            <a:pPr lvl="2"/>
            <a:r>
              <a:rPr lang="zh-CN" altLang="en-US" dirty="0"/>
              <a:t>如前述，多数情况下，</a:t>
            </a:r>
            <a:r>
              <a:rPr lang="en-US" altLang="zh-CN" dirty="0"/>
              <a:t>OS</a:t>
            </a:r>
            <a:r>
              <a:rPr lang="zh-CN" altLang="en-US" dirty="0"/>
              <a:t>把文件看作</a:t>
            </a:r>
            <a:r>
              <a:rPr lang="zh-CN" altLang="en-US" dirty="0" smtClean="0"/>
              <a:t>数据流</a:t>
            </a:r>
            <a:endParaRPr lang="en-US" altLang="zh-CN" dirty="0" smtClean="0"/>
          </a:p>
          <a:p>
            <a:pPr lvl="3"/>
            <a:r>
              <a:rPr lang="zh-CN" altLang="en-US" dirty="0" smtClean="0"/>
              <a:t>但</a:t>
            </a:r>
            <a:r>
              <a:rPr lang="zh-CN" altLang="en-US" dirty="0"/>
              <a:t>必须</a:t>
            </a:r>
            <a:r>
              <a:rPr lang="zh-CN" altLang="en-US" dirty="0" smtClean="0"/>
              <a:t>至少能看懂一</a:t>
            </a:r>
            <a:r>
              <a:rPr lang="zh-CN" altLang="en-US" dirty="0"/>
              <a:t>种结构，即可执行文件结构，以便能装入和运行</a:t>
            </a:r>
            <a:r>
              <a:rPr lang="zh-CN" altLang="en-US" dirty="0" smtClean="0"/>
              <a:t>程序</a:t>
            </a:r>
            <a:endParaRPr lang="en-US" altLang="zh-CN" dirty="0" smtClean="0"/>
          </a:p>
          <a:p>
            <a:pPr lvl="3"/>
            <a:r>
              <a:rPr lang="zh-CN" altLang="en-US" dirty="0"/>
              <a:t>另一个通常能看懂的结构</a:t>
            </a:r>
            <a:r>
              <a:rPr lang="zh-CN" altLang="en-US" dirty="0" smtClean="0"/>
              <a:t>，即文件夹</a:t>
            </a:r>
            <a:r>
              <a:rPr lang="zh-CN" altLang="en-US" dirty="0"/>
              <a:t>文件</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11</a:t>
            </a:fld>
            <a:endParaRPr lang="zh-CN" altLang="en-US" dirty="0"/>
          </a:p>
        </p:txBody>
      </p:sp>
    </p:spTree>
    <p:extLst>
      <p:ext uri="{BB962C8B-B14F-4D97-AF65-F5344CB8AC3E}">
        <p14:creationId xmlns:p14="http://schemas.microsoft.com/office/powerpoint/2010/main" val="37847511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文件结构</a:t>
            </a:r>
          </a:p>
        </p:txBody>
      </p:sp>
      <p:sp>
        <p:nvSpPr>
          <p:cNvPr id="7" name="内容占位符 6"/>
          <p:cNvSpPr>
            <a:spLocks noGrp="1"/>
          </p:cNvSpPr>
          <p:nvPr>
            <p:ph idx="1"/>
          </p:nvPr>
        </p:nvSpPr>
        <p:spPr/>
        <p:txBody>
          <a:bodyPr/>
          <a:lstStyle/>
          <a:p>
            <a:r>
              <a:rPr lang="zh-CN" altLang="en-US" dirty="0"/>
              <a:t>文件结构指文件的组织形式，两个层面</a:t>
            </a:r>
          </a:p>
          <a:p>
            <a:pPr lvl="1"/>
            <a:r>
              <a:rPr lang="zh-CN" altLang="en-US" dirty="0"/>
              <a:t>物理结构：又称文件的存储结构，是文件在外存上的存储</a:t>
            </a:r>
            <a:r>
              <a:rPr lang="zh-CN" altLang="en-US" dirty="0" smtClean="0"/>
              <a:t>组织形式</a:t>
            </a:r>
            <a:endParaRPr lang="en-US" altLang="zh-CN" dirty="0" smtClean="0"/>
          </a:p>
          <a:p>
            <a:pPr lvl="2"/>
            <a:r>
              <a:rPr lang="zh-CN" altLang="en-US" dirty="0" smtClean="0"/>
              <a:t>即如何组织多个盘块以构建一个文件</a:t>
            </a:r>
          </a:p>
          <a:p>
            <a:pPr lvl="2"/>
            <a:r>
              <a:rPr lang="zh-CN" altLang="en-US" dirty="0" smtClean="0"/>
              <a:t>与</a:t>
            </a:r>
            <a:r>
              <a:rPr lang="zh-CN" altLang="en-US" dirty="0"/>
              <a:t>存储设备特性、外存分配方式</a:t>
            </a:r>
            <a:r>
              <a:rPr lang="zh-CN" altLang="en-US" dirty="0" smtClean="0"/>
              <a:t>有关</a:t>
            </a:r>
            <a:endParaRPr lang="en-US" altLang="zh-CN" dirty="0" smtClean="0"/>
          </a:p>
          <a:p>
            <a:pPr lvl="2"/>
            <a:r>
              <a:rPr lang="zh-CN" altLang="en-US" dirty="0"/>
              <a:t>常见的文件物理结构有以下几种</a:t>
            </a:r>
            <a:r>
              <a:rPr lang="zh-CN" altLang="en-US" dirty="0" smtClean="0"/>
              <a:t>形式</a:t>
            </a:r>
            <a:endParaRPr lang="zh-CN" altLang="en-US" dirty="0"/>
          </a:p>
          <a:p>
            <a:pPr lvl="3"/>
            <a:r>
              <a:rPr lang="zh-CN" altLang="en-US" dirty="0"/>
              <a:t>顺序结构</a:t>
            </a:r>
          </a:p>
          <a:p>
            <a:pPr lvl="3"/>
            <a:r>
              <a:rPr lang="zh-CN" altLang="en-US" dirty="0"/>
              <a:t>链接结构</a:t>
            </a:r>
          </a:p>
          <a:p>
            <a:pPr lvl="3"/>
            <a:r>
              <a:rPr lang="zh-CN" altLang="en-US" dirty="0"/>
              <a:t>索引</a:t>
            </a:r>
            <a:r>
              <a:rPr lang="zh-CN" altLang="en-US" dirty="0" smtClean="0"/>
              <a:t>结构</a:t>
            </a:r>
            <a:endParaRPr lang="zh-CN" altLang="en-US" dirty="0"/>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p:txBody>
          <a:bodyPr/>
          <a:lstStyle/>
          <a:p>
            <a:fld id="{4093CC90-4002-504C-BD88-C9A1D374048E}" type="slidenum">
              <a:rPr lang="zh-CN" altLang="en-US" smtClean="0"/>
              <a:pPr/>
              <a:t>12</a:t>
            </a:fld>
            <a:endParaRPr lang="zh-CN" altLang="en-US" dirty="0"/>
          </a:p>
        </p:txBody>
      </p:sp>
      <p:sp>
        <p:nvSpPr>
          <p:cNvPr id="5" name="圆角矩形标注 4"/>
          <p:cNvSpPr/>
          <p:nvPr/>
        </p:nvSpPr>
        <p:spPr bwMode="auto">
          <a:xfrm>
            <a:off x="3817303" y="4456198"/>
            <a:ext cx="2007870" cy="507414"/>
          </a:xfrm>
          <a:prstGeom prst="wedgeRoundRectCallout">
            <a:avLst>
              <a:gd name="adj1" fmla="val -69706"/>
              <a:gd name="adj2" fmla="val -6877"/>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lang="zh-CN" altLang="en-US" sz="2000" dirty="0" smtClean="0">
                <a:latin typeface="Consolas" panose="020B0609020204030204" pitchFamily="49" charset="0"/>
              </a:rPr>
              <a:t>下一章的重点</a:t>
            </a:r>
            <a:endParaRPr kumimoji="1" lang="zh-CN" altLang="en-US"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endParaRPr>
          </a:p>
        </p:txBody>
      </p:sp>
    </p:spTree>
    <p:extLst>
      <p:ext uri="{BB962C8B-B14F-4D97-AF65-F5344CB8AC3E}">
        <p14:creationId xmlns:p14="http://schemas.microsoft.com/office/powerpoint/2010/main" val="21624350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第</a:t>
            </a:r>
            <a:r>
              <a:rPr lang="en-US" altLang="zh-CN" dirty="0"/>
              <a:t>13</a:t>
            </a:r>
            <a:r>
              <a:rPr lang="zh-CN" altLang="en-US" dirty="0"/>
              <a:t>章 文件系统接口</a:t>
            </a:r>
          </a:p>
        </p:txBody>
      </p:sp>
      <p:sp>
        <p:nvSpPr>
          <p:cNvPr id="5" name="内容占位符 4"/>
          <p:cNvSpPr>
            <a:spLocks noGrp="1"/>
          </p:cNvSpPr>
          <p:nvPr>
            <p:ph idx="1"/>
          </p:nvPr>
        </p:nvSpPr>
        <p:spPr/>
        <p:txBody>
          <a:bodyPr/>
          <a:lstStyle/>
          <a:p>
            <a:r>
              <a:rPr lang="zh-CN" altLang="en-US" dirty="0"/>
              <a:t>本章内容</a:t>
            </a:r>
            <a:endParaRPr lang="en-US" altLang="zh-CN" dirty="0"/>
          </a:p>
          <a:p>
            <a:r>
              <a:rPr lang="en-US" altLang="zh-CN" dirty="0"/>
              <a:t>1. </a:t>
            </a:r>
            <a:r>
              <a:rPr lang="zh-CN" altLang="en-US" dirty="0"/>
              <a:t>文件概念</a:t>
            </a:r>
            <a:endParaRPr lang="zh-CN" altLang="zh-CN" dirty="0"/>
          </a:p>
          <a:p>
            <a:r>
              <a:rPr lang="en-US" altLang="zh-CN" dirty="0">
                <a:solidFill>
                  <a:srgbClr val="FF0000"/>
                </a:solidFill>
              </a:rPr>
              <a:t>2.</a:t>
            </a:r>
            <a:r>
              <a:rPr lang="zh-CN" altLang="en-US" dirty="0">
                <a:solidFill>
                  <a:srgbClr val="FF0000"/>
                </a:solidFill>
              </a:rPr>
              <a:t> 访问方法</a:t>
            </a:r>
            <a:endParaRPr lang="en-US" altLang="zh-CN" dirty="0">
              <a:solidFill>
                <a:srgbClr val="FF0000"/>
              </a:solidFill>
            </a:endParaRPr>
          </a:p>
          <a:p>
            <a:r>
              <a:rPr lang="en-US" altLang="zh-CN" dirty="0"/>
              <a:t>3.</a:t>
            </a:r>
            <a:r>
              <a:rPr lang="zh-CN" altLang="en-US" dirty="0"/>
              <a:t> 目录结构</a:t>
            </a:r>
            <a:endParaRPr lang="en-US" altLang="zh-CN" dirty="0"/>
          </a:p>
          <a:p>
            <a:r>
              <a:rPr lang="en-US" altLang="zh-CN" dirty="0"/>
              <a:t>4. </a:t>
            </a:r>
            <a:r>
              <a:rPr lang="zh-CN" altLang="en-US" dirty="0"/>
              <a:t>保护</a:t>
            </a:r>
            <a:endParaRPr lang="en-US" altLang="zh-CN" dirty="0"/>
          </a:p>
          <a:p>
            <a:r>
              <a:rPr lang="en-US" altLang="zh-CN" dirty="0"/>
              <a:t>5. </a:t>
            </a:r>
            <a:r>
              <a:rPr lang="zh-CN" altLang="en-US" dirty="0"/>
              <a:t>内存映射</a:t>
            </a:r>
            <a:r>
              <a:rPr lang="zh-CN" altLang="en-US" dirty="0" smtClean="0"/>
              <a:t>文件</a:t>
            </a:r>
            <a:endParaRPr lang="en-US" altLang="zh-CN" dirty="0"/>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p:txBody>
          <a:bodyPr/>
          <a:lstStyle/>
          <a:p>
            <a:fld id="{4093CC90-4002-504C-BD88-C9A1D374048E}" type="slidenum">
              <a:rPr lang="zh-CN" altLang="en-US" smtClean="0"/>
              <a:pPr/>
              <a:t>13</a:t>
            </a:fld>
            <a:endParaRPr lang="zh-CN" altLang="en-US" dirty="0"/>
          </a:p>
        </p:txBody>
      </p:sp>
    </p:spTree>
    <p:extLst>
      <p:ext uri="{BB962C8B-B14F-4D97-AF65-F5344CB8AC3E}">
        <p14:creationId xmlns:p14="http://schemas.microsoft.com/office/powerpoint/2010/main" val="24004613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常用的存取方法</a:t>
            </a:r>
          </a:p>
        </p:txBody>
      </p:sp>
      <p:sp>
        <p:nvSpPr>
          <p:cNvPr id="6" name="内容占位符 5"/>
          <p:cNvSpPr>
            <a:spLocks noGrp="1"/>
          </p:cNvSpPr>
          <p:nvPr>
            <p:ph idx="1"/>
          </p:nvPr>
        </p:nvSpPr>
        <p:spPr/>
        <p:txBody>
          <a:bodyPr/>
          <a:lstStyle/>
          <a:p>
            <a:r>
              <a:rPr lang="zh-CN" altLang="en-US" dirty="0"/>
              <a:t>常用的文件存取方法</a:t>
            </a:r>
          </a:p>
          <a:p>
            <a:pPr lvl="1"/>
            <a:r>
              <a:rPr lang="zh-CN" altLang="en-US" dirty="0"/>
              <a:t>顺序存取法</a:t>
            </a:r>
          </a:p>
          <a:p>
            <a:pPr lvl="1"/>
            <a:r>
              <a:rPr lang="zh-CN" altLang="en-US" dirty="0"/>
              <a:t>直接存取法</a:t>
            </a:r>
          </a:p>
          <a:p>
            <a:pPr lvl="1"/>
            <a:r>
              <a:rPr lang="zh-CN" altLang="en-US" dirty="0"/>
              <a:t>按键存取</a:t>
            </a:r>
            <a:r>
              <a:rPr lang="zh-CN" altLang="en-US" dirty="0" smtClean="0"/>
              <a:t>法</a:t>
            </a:r>
            <a:endParaRPr lang="en-US" altLang="zh-CN" dirty="0" smtClean="0"/>
          </a:p>
          <a:p>
            <a:r>
              <a:rPr lang="zh-CN" altLang="en-US" dirty="0" smtClean="0"/>
              <a:t>本节</a:t>
            </a:r>
            <a:r>
              <a:rPr lang="zh-CN" altLang="zh-CN" dirty="0" smtClean="0"/>
              <a:t>讨论</a:t>
            </a:r>
            <a:r>
              <a:rPr lang="zh-CN" altLang="zh-CN" dirty="0"/>
              <a:t>的</a:t>
            </a:r>
            <a:r>
              <a:rPr lang="zh-CN" altLang="zh-CN" dirty="0" smtClean="0"/>
              <a:t>是</a:t>
            </a:r>
            <a:r>
              <a:rPr lang="zh-CN" altLang="en-US" dirty="0" smtClean="0"/>
              <a:t>程序通常采用哪些方式</a:t>
            </a:r>
            <a:r>
              <a:rPr lang="zh-CN" altLang="zh-CN" dirty="0" smtClean="0"/>
              <a:t>在</a:t>
            </a:r>
            <a:r>
              <a:rPr lang="zh-CN" altLang="en-US" dirty="0" smtClean="0"/>
              <a:t>其</a:t>
            </a:r>
            <a:r>
              <a:rPr lang="zh-CN" altLang="zh-CN" dirty="0" smtClean="0"/>
              <a:t>逻辑</a:t>
            </a:r>
            <a:r>
              <a:rPr lang="zh-CN" altLang="zh-CN" dirty="0"/>
              <a:t>结构中找到</a:t>
            </a:r>
            <a:r>
              <a:rPr lang="zh-CN" altLang="zh-CN" dirty="0" smtClean="0"/>
              <a:t>数据</a:t>
            </a:r>
            <a:endParaRPr lang="en-US" altLang="zh-CN" dirty="0" smtClean="0"/>
          </a:p>
          <a:p>
            <a:pPr lvl="1"/>
            <a:r>
              <a:rPr lang="zh-CN" altLang="en-US" dirty="0" smtClean="0"/>
              <a:t>对于文件系统的设计，本节反映了要满足的需求</a:t>
            </a:r>
            <a:endParaRPr lang="en-US" altLang="zh-CN" dirty="0" smtClean="0"/>
          </a:p>
          <a:p>
            <a:pPr lvl="1"/>
            <a:r>
              <a:rPr lang="zh-CN" altLang="en-US" dirty="0" smtClean="0"/>
              <a:t>最终反映到</a:t>
            </a:r>
            <a:r>
              <a:rPr lang="zh-CN" altLang="zh-CN" dirty="0" smtClean="0"/>
              <a:t>物理结构</a:t>
            </a:r>
            <a:r>
              <a:rPr lang="zh-CN" altLang="en-US" dirty="0" smtClean="0"/>
              <a:t>设计上，并用以评判之</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14</a:t>
            </a:fld>
            <a:endParaRPr lang="zh-CN" altLang="en-US" dirty="0"/>
          </a:p>
        </p:txBody>
      </p:sp>
    </p:spTree>
    <p:extLst>
      <p:ext uri="{BB962C8B-B14F-4D97-AF65-F5344CB8AC3E}">
        <p14:creationId xmlns:p14="http://schemas.microsoft.com/office/powerpoint/2010/main" val="7823585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常用的存取方法</a:t>
            </a:r>
          </a:p>
        </p:txBody>
      </p:sp>
      <p:sp>
        <p:nvSpPr>
          <p:cNvPr id="5" name="内容占位符 4"/>
          <p:cNvSpPr>
            <a:spLocks noGrp="1"/>
          </p:cNvSpPr>
          <p:nvPr>
            <p:ph idx="1"/>
          </p:nvPr>
        </p:nvSpPr>
        <p:spPr/>
        <p:txBody>
          <a:bodyPr/>
          <a:lstStyle/>
          <a:p>
            <a:r>
              <a:rPr lang="zh-CN" altLang="en-US" dirty="0"/>
              <a:t>顺序访问：按照文件中记录的顺序依次访问</a:t>
            </a:r>
          </a:p>
          <a:p>
            <a:pPr lvl="1"/>
            <a:r>
              <a:rPr lang="zh-CN" altLang="en-US" dirty="0"/>
              <a:t>在记录式文件中</a:t>
            </a:r>
            <a:r>
              <a:rPr lang="zh-CN" altLang="en-US" dirty="0" smtClean="0"/>
              <a:t>，反映</a:t>
            </a:r>
            <a:r>
              <a:rPr lang="zh-CN" altLang="en-US" dirty="0"/>
              <a:t>为按记录的排列</a:t>
            </a:r>
            <a:r>
              <a:rPr lang="zh-CN" altLang="en-US" dirty="0" smtClean="0"/>
              <a:t>顺序存取</a:t>
            </a:r>
            <a:endParaRPr lang="zh-CN" altLang="en-US" dirty="0"/>
          </a:p>
          <a:p>
            <a:pPr lvl="1"/>
            <a:r>
              <a:rPr lang="zh-CN" altLang="en-US" dirty="0"/>
              <a:t>在流式文件中</a:t>
            </a:r>
            <a:r>
              <a:rPr lang="zh-CN" altLang="en-US" dirty="0" smtClean="0"/>
              <a:t>，反映</a:t>
            </a:r>
            <a:r>
              <a:rPr lang="zh-CN" altLang="en-US" dirty="0"/>
              <a:t>为当前读写指针的变化</a:t>
            </a:r>
          </a:p>
          <a:p>
            <a:r>
              <a:rPr lang="zh-CN" altLang="en-US" dirty="0"/>
              <a:t>直接访问：允许程序按任意顺序</a:t>
            </a:r>
            <a:r>
              <a:rPr lang="zh-CN" altLang="en-US" dirty="0" smtClean="0"/>
              <a:t>进行读写</a:t>
            </a:r>
            <a:endParaRPr lang="zh-CN" altLang="en-US" dirty="0"/>
          </a:p>
          <a:p>
            <a:pPr lvl="1"/>
            <a:r>
              <a:rPr lang="zh-CN" altLang="en-US" dirty="0"/>
              <a:t>即读写的位置前后随机跳跃，又称随机访问</a:t>
            </a:r>
          </a:p>
          <a:p>
            <a:r>
              <a:rPr lang="zh-CN" altLang="en-US" dirty="0"/>
              <a:t>其他访问方式：如按键存取法</a:t>
            </a:r>
          </a:p>
          <a:p>
            <a:pPr lvl="1"/>
            <a:r>
              <a:rPr lang="zh-CN" altLang="en-US" dirty="0"/>
              <a:t>实质上也是直接存取法，根据文件记录中数据项（通常称为键），经过某种方法计算处理，转换成相应的物理地址后进行存取</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15</a:t>
            </a:fld>
            <a:endParaRPr lang="zh-CN" altLang="en-US" dirty="0"/>
          </a:p>
        </p:txBody>
      </p:sp>
    </p:spTree>
    <p:extLst>
      <p:ext uri="{BB962C8B-B14F-4D97-AF65-F5344CB8AC3E}">
        <p14:creationId xmlns:p14="http://schemas.microsoft.com/office/powerpoint/2010/main" val="22268997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第</a:t>
            </a:r>
            <a:r>
              <a:rPr lang="en-US" altLang="zh-CN" dirty="0"/>
              <a:t>13</a:t>
            </a:r>
            <a:r>
              <a:rPr lang="zh-CN" altLang="en-US" dirty="0"/>
              <a:t>章 文件系统接口</a:t>
            </a:r>
          </a:p>
        </p:txBody>
      </p:sp>
      <p:sp>
        <p:nvSpPr>
          <p:cNvPr id="7" name="内容占位符 6"/>
          <p:cNvSpPr>
            <a:spLocks noGrp="1"/>
          </p:cNvSpPr>
          <p:nvPr>
            <p:ph idx="1"/>
          </p:nvPr>
        </p:nvSpPr>
        <p:spPr/>
        <p:txBody>
          <a:bodyPr/>
          <a:lstStyle/>
          <a:p>
            <a:r>
              <a:rPr lang="zh-CN" altLang="en-US" dirty="0"/>
              <a:t>本章内容</a:t>
            </a:r>
            <a:endParaRPr lang="en-US" altLang="zh-CN" dirty="0"/>
          </a:p>
          <a:p>
            <a:r>
              <a:rPr lang="en-US" altLang="zh-CN" dirty="0"/>
              <a:t>1. </a:t>
            </a:r>
            <a:r>
              <a:rPr lang="zh-CN" altLang="en-US" dirty="0"/>
              <a:t>文件概念</a:t>
            </a:r>
            <a:endParaRPr lang="zh-CN" altLang="zh-CN" dirty="0"/>
          </a:p>
          <a:p>
            <a:r>
              <a:rPr lang="en-US" altLang="zh-CN" dirty="0"/>
              <a:t>2.</a:t>
            </a:r>
            <a:r>
              <a:rPr lang="zh-CN" altLang="en-US" dirty="0"/>
              <a:t> 访问方法</a:t>
            </a:r>
            <a:endParaRPr lang="en-US" altLang="zh-CN" dirty="0"/>
          </a:p>
          <a:p>
            <a:r>
              <a:rPr lang="en-US" altLang="zh-CN" dirty="0">
                <a:solidFill>
                  <a:srgbClr val="FF0000"/>
                </a:solidFill>
              </a:rPr>
              <a:t>3.</a:t>
            </a:r>
            <a:r>
              <a:rPr lang="zh-CN" altLang="en-US" dirty="0">
                <a:solidFill>
                  <a:srgbClr val="FF0000"/>
                </a:solidFill>
              </a:rPr>
              <a:t> 目录结构</a:t>
            </a:r>
            <a:endParaRPr lang="en-US" altLang="zh-CN" dirty="0">
              <a:solidFill>
                <a:srgbClr val="FF0000"/>
              </a:solidFill>
            </a:endParaRPr>
          </a:p>
          <a:p>
            <a:r>
              <a:rPr lang="en-US" altLang="zh-CN" dirty="0"/>
              <a:t>4. </a:t>
            </a:r>
            <a:r>
              <a:rPr lang="zh-CN" altLang="en-US" dirty="0"/>
              <a:t>保护</a:t>
            </a:r>
            <a:endParaRPr lang="en-US" altLang="zh-CN" dirty="0"/>
          </a:p>
          <a:p>
            <a:r>
              <a:rPr lang="en-US" altLang="zh-CN" dirty="0"/>
              <a:t>5. </a:t>
            </a:r>
            <a:r>
              <a:rPr lang="zh-CN" altLang="en-US" dirty="0"/>
              <a:t>内存映射</a:t>
            </a:r>
            <a:r>
              <a:rPr lang="zh-CN" altLang="en-US" dirty="0" smtClean="0"/>
              <a:t>文件</a:t>
            </a:r>
            <a:endParaRPr lang="en-US" altLang="zh-CN"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16</a:t>
            </a:fld>
            <a:endParaRPr lang="zh-CN" altLang="en-US" dirty="0"/>
          </a:p>
        </p:txBody>
      </p:sp>
    </p:spTree>
    <p:extLst>
      <p:ext uri="{BB962C8B-B14F-4D97-AF65-F5344CB8AC3E}">
        <p14:creationId xmlns:p14="http://schemas.microsoft.com/office/powerpoint/2010/main" val="30459227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8"/>
          <p:cNvSpPr>
            <a:spLocks noGrp="1"/>
          </p:cNvSpPr>
          <p:nvPr>
            <p:ph type="title"/>
          </p:nvPr>
        </p:nvSpPr>
        <p:spPr/>
        <p:txBody>
          <a:bodyPr/>
          <a:lstStyle/>
          <a:p>
            <a:r>
              <a:rPr lang="zh-CN" altLang="en-US" dirty="0" smtClean="0"/>
              <a:t>概述</a:t>
            </a:r>
            <a:endParaRPr lang="zh-CN" altLang="en-US" dirty="0"/>
          </a:p>
        </p:txBody>
      </p:sp>
      <p:sp>
        <p:nvSpPr>
          <p:cNvPr id="20" name="内容占位符 19"/>
          <p:cNvSpPr>
            <a:spLocks noGrp="1"/>
          </p:cNvSpPr>
          <p:nvPr>
            <p:ph idx="1"/>
          </p:nvPr>
        </p:nvSpPr>
        <p:spPr/>
        <p:txBody>
          <a:bodyPr/>
          <a:lstStyle/>
          <a:p>
            <a:r>
              <a:rPr lang="zh-CN" altLang="en-US" dirty="0" smtClean="0"/>
              <a:t>目录</a:t>
            </a:r>
            <a:r>
              <a:rPr lang="zh-CN" altLang="en-US" dirty="0"/>
              <a:t>可看作符号表，它能将文件名称转换</a:t>
            </a:r>
            <a:r>
              <a:rPr lang="zh-CN" altLang="en-US" dirty="0" smtClean="0"/>
              <a:t>成文件控制块（</a:t>
            </a:r>
            <a:r>
              <a:rPr lang="en-US" altLang="zh-CN" dirty="0" smtClean="0"/>
              <a:t>FCB</a:t>
            </a:r>
            <a:r>
              <a:rPr lang="zh-CN" altLang="en-US" dirty="0" smtClean="0"/>
              <a:t>）</a:t>
            </a:r>
            <a:endParaRPr lang="zh-CN" altLang="en-US" dirty="0"/>
          </a:p>
          <a:p>
            <a:pPr lvl="1"/>
            <a:r>
              <a:rPr lang="en-US" altLang="zh-CN" dirty="0" smtClean="0"/>
              <a:t>FCB</a:t>
            </a:r>
            <a:r>
              <a:rPr lang="zh-CN" altLang="en-US" dirty="0" smtClean="0"/>
              <a:t>即目录表项，每个</a:t>
            </a:r>
            <a:r>
              <a:rPr lang="en-US" altLang="zh-CN" dirty="0" smtClean="0"/>
              <a:t>FCB</a:t>
            </a:r>
            <a:r>
              <a:rPr lang="zh-CN" altLang="en-US" dirty="0" smtClean="0"/>
              <a:t>对应</a:t>
            </a:r>
            <a:r>
              <a:rPr lang="zh-CN" altLang="en-US" dirty="0"/>
              <a:t>一个文件，保存文件属性信息</a:t>
            </a:r>
          </a:p>
          <a:p>
            <a:pPr lvl="1"/>
            <a:r>
              <a:rPr lang="zh-CN" altLang="en-US" dirty="0"/>
              <a:t>实现</a:t>
            </a:r>
            <a:r>
              <a:rPr lang="zh-CN" altLang="en-US" dirty="0" smtClean="0"/>
              <a:t>“按名存取”</a:t>
            </a:r>
            <a:endParaRPr lang="en-US" altLang="zh-CN" dirty="0" smtClean="0"/>
          </a:p>
          <a:p>
            <a:pPr lvl="2"/>
            <a:r>
              <a:rPr lang="zh-CN" altLang="en-US" dirty="0" smtClean="0"/>
              <a:t>用户</a:t>
            </a:r>
            <a:r>
              <a:rPr lang="zh-CN" altLang="en-US" dirty="0"/>
              <a:t>只需提供文件名就可以找到目录项进而操作文件</a:t>
            </a:r>
          </a:p>
          <a:p>
            <a:pPr lvl="1"/>
            <a:r>
              <a:rPr lang="zh-CN" altLang="en-US" dirty="0"/>
              <a:t>目录的操作</a:t>
            </a:r>
          </a:p>
          <a:p>
            <a:pPr lvl="2"/>
            <a:r>
              <a:rPr lang="zh-CN" altLang="en-US" dirty="0"/>
              <a:t>搜索文件、创建文件、删除文件、列目录、重命名文件、遍历文件系统</a:t>
            </a:r>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p:txBody>
          <a:bodyPr/>
          <a:lstStyle/>
          <a:p>
            <a:fld id="{4093CC90-4002-504C-BD88-C9A1D374048E}" type="slidenum">
              <a:rPr lang="zh-CN" altLang="en-US" smtClean="0"/>
              <a:pPr/>
              <a:t>17</a:t>
            </a:fld>
            <a:endParaRPr lang="zh-CN" altLang="en-US" dirty="0"/>
          </a:p>
        </p:txBody>
      </p:sp>
    </p:spTree>
    <p:extLst>
      <p:ext uri="{BB962C8B-B14F-4D97-AF65-F5344CB8AC3E}">
        <p14:creationId xmlns:p14="http://schemas.microsoft.com/office/powerpoint/2010/main" val="25983013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概述</a:t>
            </a:r>
          </a:p>
        </p:txBody>
      </p:sp>
      <p:sp>
        <p:nvSpPr>
          <p:cNvPr id="5" name="内容占位符 4"/>
          <p:cNvSpPr>
            <a:spLocks noGrp="1"/>
          </p:cNvSpPr>
          <p:nvPr>
            <p:ph idx="1"/>
          </p:nvPr>
        </p:nvSpPr>
        <p:spPr/>
        <p:txBody>
          <a:bodyPr/>
          <a:lstStyle/>
          <a:p>
            <a:r>
              <a:rPr lang="zh-CN" altLang="en-US" dirty="0"/>
              <a:t>目录</a:t>
            </a:r>
            <a:r>
              <a:rPr lang="zh-CN" altLang="en-US" dirty="0" smtClean="0"/>
              <a:t>项（</a:t>
            </a:r>
            <a:r>
              <a:rPr lang="en-US" altLang="zh-CN" dirty="0" smtClean="0"/>
              <a:t>FCB</a:t>
            </a:r>
            <a:r>
              <a:rPr lang="zh-CN" altLang="en-US" dirty="0" smtClean="0"/>
              <a:t>）的</a:t>
            </a:r>
            <a:r>
              <a:rPr lang="zh-CN" altLang="en-US" dirty="0"/>
              <a:t>内容</a:t>
            </a:r>
          </a:p>
          <a:p>
            <a:pPr lvl="1"/>
            <a:r>
              <a:rPr lang="zh-CN" altLang="en-US" dirty="0"/>
              <a:t>具体内容因操作系统而异，但至少应包括</a:t>
            </a:r>
            <a:r>
              <a:rPr lang="zh-CN" altLang="en-US" dirty="0" smtClean="0"/>
              <a:t>以下</a:t>
            </a:r>
            <a:endParaRPr lang="zh-CN" altLang="en-US" dirty="0"/>
          </a:p>
          <a:p>
            <a:pPr lvl="2"/>
            <a:r>
              <a:rPr lang="zh-CN" altLang="en-US" dirty="0"/>
              <a:t>文件名：标识一个文件的符号名</a:t>
            </a:r>
          </a:p>
          <a:p>
            <a:pPr lvl="2"/>
            <a:r>
              <a:rPr lang="zh-CN" altLang="en-US" dirty="0"/>
              <a:t>文件类型：如文本文件</a:t>
            </a:r>
          </a:p>
          <a:p>
            <a:pPr lvl="2"/>
            <a:r>
              <a:rPr lang="zh-CN" altLang="en-US" dirty="0"/>
              <a:t>文件结构：说明文件的逻辑结构和物理结构</a:t>
            </a:r>
          </a:p>
          <a:p>
            <a:pPr lvl="2"/>
            <a:r>
              <a:rPr lang="zh-CN" altLang="en-US" dirty="0"/>
              <a:t>文件的物理位置：指示文件在外存上的存储位置。包括设备名、存储地址及文件长度等</a:t>
            </a:r>
          </a:p>
          <a:p>
            <a:pPr lvl="2"/>
            <a:r>
              <a:rPr lang="zh-CN" altLang="en-US" dirty="0"/>
              <a:t>存取控制信息：指示文件的存取权限</a:t>
            </a:r>
          </a:p>
          <a:p>
            <a:pPr lvl="2"/>
            <a:r>
              <a:rPr lang="zh-CN" altLang="en-US" dirty="0"/>
              <a:t>管理信息：包括文件建立的日期及时间、上次存取日期及时间、当前文件使用状态信息</a:t>
            </a:r>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p:txBody>
          <a:bodyPr/>
          <a:lstStyle/>
          <a:p>
            <a:fld id="{4093CC90-4002-504C-BD88-C9A1D374048E}" type="slidenum">
              <a:rPr lang="zh-CN" altLang="en-US" smtClean="0"/>
              <a:pPr/>
              <a:t>18</a:t>
            </a:fld>
            <a:endParaRPr lang="zh-CN" altLang="en-US" dirty="0"/>
          </a:p>
        </p:txBody>
      </p:sp>
    </p:spTree>
    <p:extLst>
      <p:ext uri="{BB962C8B-B14F-4D97-AF65-F5344CB8AC3E}">
        <p14:creationId xmlns:p14="http://schemas.microsoft.com/office/powerpoint/2010/main" val="42818848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单级目录结构</a:t>
            </a:r>
          </a:p>
        </p:txBody>
      </p:sp>
      <p:sp>
        <p:nvSpPr>
          <p:cNvPr id="7" name="内容占位符 6"/>
          <p:cNvSpPr>
            <a:spLocks noGrp="1"/>
          </p:cNvSpPr>
          <p:nvPr>
            <p:ph idx="1"/>
          </p:nvPr>
        </p:nvSpPr>
        <p:spPr/>
        <p:txBody>
          <a:bodyPr/>
          <a:lstStyle/>
          <a:p>
            <a:r>
              <a:rPr lang="zh-CN" altLang="en-US" dirty="0"/>
              <a:t>单级目录结构又称一级目录结构</a:t>
            </a:r>
          </a:p>
          <a:p>
            <a:pPr lvl="1"/>
            <a:r>
              <a:rPr lang="zh-CN" altLang="en-US" dirty="0"/>
              <a:t>所有文件的目录项都包含在一张目录表中</a:t>
            </a:r>
          </a:p>
          <a:p>
            <a:pPr lvl="1"/>
            <a:r>
              <a:rPr lang="zh-CN" altLang="en-US" dirty="0"/>
              <a:t>每个文件占据其中的一个表目</a:t>
            </a:r>
          </a:p>
          <a:p>
            <a:r>
              <a:rPr lang="zh-CN" altLang="en-US" dirty="0"/>
              <a:t>特点</a:t>
            </a:r>
          </a:p>
          <a:p>
            <a:pPr lvl="1"/>
            <a:r>
              <a:rPr lang="zh-CN" altLang="en-US" dirty="0"/>
              <a:t>易于实现，管理简单</a:t>
            </a:r>
          </a:p>
          <a:p>
            <a:pPr lvl="1"/>
            <a:r>
              <a:rPr lang="zh-CN" altLang="en-US" dirty="0"/>
              <a:t>但当系统中文件数增多时，查找时间较长，易发生重名问题</a:t>
            </a:r>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p:txBody>
          <a:bodyPr/>
          <a:lstStyle/>
          <a:p>
            <a:fld id="{4093CC90-4002-504C-BD88-C9A1D374048E}" type="slidenum">
              <a:rPr lang="zh-CN" altLang="en-US" smtClean="0"/>
              <a:pPr/>
              <a:t>19</a:t>
            </a:fld>
            <a:endParaRPr lang="zh-CN" altLang="en-US" dirty="0"/>
          </a:p>
        </p:txBody>
      </p:sp>
      <p:pic>
        <p:nvPicPr>
          <p:cNvPr id="2" name="图片 1"/>
          <p:cNvPicPr>
            <a:picLocks noChangeAspect="1"/>
          </p:cNvPicPr>
          <p:nvPr/>
        </p:nvPicPr>
        <p:blipFill>
          <a:blip r:embed="rId2"/>
          <a:stretch>
            <a:fillRect/>
          </a:stretch>
        </p:blipFill>
        <p:spPr>
          <a:xfrm>
            <a:off x="1647826" y="5194459"/>
            <a:ext cx="5795010" cy="1108710"/>
          </a:xfrm>
          <a:prstGeom prst="rect">
            <a:avLst/>
          </a:prstGeom>
        </p:spPr>
      </p:pic>
    </p:spTree>
    <p:extLst>
      <p:ext uri="{BB962C8B-B14F-4D97-AF65-F5344CB8AC3E}">
        <p14:creationId xmlns:p14="http://schemas.microsoft.com/office/powerpoint/2010/main" val="26986357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二级目录结构</a:t>
            </a:r>
          </a:p>
        </p:txBody>
      </p:sp>
      <p:sp>
        <p:nvSpPr>
          <p:cNvPr id="7" name="内容占位符 6"/>
          <p:cNvSpPr>
            <a:spLocks noGrp="1"/>
          </p:cNvSpPr>
          <p:nvPr>
            <p:ph idx="1"/>
          </p:nvPr>
        </p:nvSpPr>
        <p:spPr/>
        <p:txBody>
          <a:bodyPr/>
          <a:lstStyle/>
          <a:p>
            <a:r>
              <a:rPr lang="zh-CN" altLang="en-US" dirty="0"/>
              <a:t>二级目录结构将文件目录分成</a:t>
            </a:r>
          </a:p>
          <a:p>
            <a:pPr lvl="1"/>
            <a:r>
              <a:rPr lang="zh-CN" altLang="en-US" dirty="0"/>
              <a:t>主文件目录：记录用户名及相应用户文件目录所在的存储位置</a:t>
            </a:r>
          </a:p>
          <a:p>
            <a:pPr lvl="1"/>
            <a:r>
              <a:rPr lang="zh-CN" altLang="en-US" dirty="0"/>
              <a:t>用户文件目录：记录该用户文件的有关</a:t>
            </a:r>
            <a:r>
              <a:rPr lang="zh-CN" altLang="en-US" dirty="0" smtClean="0"/>
              <a:t>信息</a:t>
            </a:r>
            <a:endParaRPr lang="en-US" altLang="zh-CN" dirty="0" smtClean="0"/>
          </a:p>
          <a:p>
            <a:r>
              <a:rPr lang="zh-CN" altLang="en-US" dirty="0"/>
              <a:t>特点</a:t>
            </a:r>
          </a:p>
          <a:p>
            <a:pPr lvl="1"/>
            <a:r>
              <a:rPr lang="zh-CN" altLang="en-US" dirty="0"/>
              <a:t>可解决文件重名问题，可获得较高的查找速度</a:t>
            </a:r>
          </a:p>
          <a:p>
            <a:pPr lvl="1"/>
            <a:r>
              <a:rPr lang="zh-CN" altLang="en-US" dirty="0"/>
              <a:t>缺乏灵活性，无法反映复杂的文件组织</a:t>
            </a:r>
            <a:r>
              <a:rPr lang="zh-CN" altLang="en-US" dirty="0" smtClean="0"/>
              <a:t>形式</a:t>
            </a:r>
            <a:endParaRPr lang="zh-CN" altLang="en-US" dirty="0"/>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p:txBody>
          <a:bodyPr/>
          <a:lstStyle/>
          <a:p>
            <a:fld id="{4093CC90-4002-504C-BD88-C9A1D374048E}" type="slidenum">
              <a:rPr lang="zh-CN" altLang="en-US" smtClean="0"/>
              <a:pPr/>
              <a:t>20</a:t>
            </a:fld>
            <a:endParaRPr lang="zh-CN" altLang="en-US" dirty="0"/>
          </a:p>
        </p:txBody>
      </p:sp>
    </p:spTree>
    <p:extLst>
      <p:ext uri="{BB962C8B-B14F-4D97-AF65-F5344CB8AC3E}">
        <p14:creationId xmlns:p14="http://schemas.microsoft.com/office/powerpoint/2010/main" val="34312245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二级目录结构</a:t>
            </a:r>
          </a:p>
        </p:txBody>
      </p:sp>
      <p:sp>
        <p:nvSpPr>
          <p:cNvPr id="6" name="内容占位符 5"/>
          <p:cNvSpPr>
            <a:spLocks noGrp="1"/>
          </p:cNvSpPr>
          <p:nvPr>
            <p:ph idx="1"/>
          </p:nvPr>
        </p:nvSpPr>
        <p:spPr/>
        <p:txBody>
          <a:bodyPr/>
          <a:lstStyle/>
          <a:p>
            <a:r>
              <a:rPr lang="zh-CN" altLang="en-US" dirty="0" smtClean="0"/>
              <a:t>文件夹：本质</a:t>
            </a:r>
            <a:r>
              <a:rPr lang="zh-CN" altLang="en-US" dirty="0"/>
              <a:t>是文件，</a:t>
            </a:r>
            <a:r>
              <a:rPr lang="zh-CN" altLang="en-US" dirty="0" smtClean="0"/>
              <a:t>特殊性在于</a:t>
            </a:r>
            <a:endParaRPr lang="zh-CN" altLang="en-US" dirty="0"/>
          </a:p>
          <a:p>
            <a:pPr lvl="1"/>
            <a:r>
              <a:rPr lang="zh-CN" altLang="en-US" dirty="0" smtClean="0"/>
              <a:t>文件内容</a:t>
            </a:r>
            <a:r>
              <a:rPr lang="zh-CN" altLang="en-US" dirty="0"/>
              <a:t>是其</a:t>
            </a:r>
            <a:r>
              <a:rPr lang="zh-CN" altLang="en-US" dirty="0" smtClean="0"/>
              <a:t>下级文件的</a:t>
            </a:r>
            <a:r>
              <a:rPr lang="zh-CN" altLang="en-US" dirty="0"/>
              <a:t>目录信息</a:t>
            </a:r>
          </a:p>
          <a:p>
            <a:pPr lvl="1"/>
            <a:r>
              <a:rPr lang="en-US" altLang="zh-CN" dirty="0" smtClean="0"/>
              <a:t>OS</a:t>
            </a:r>
            <a:r>
              <a:rPr lang="zh-CN" altLang="en-US" dirty="0"/>
              <a:t>关心并理解其逻辑</a:t>
            </a:r>
            <a:r>
              <a:rPr lang="zh-CN" altLang="en-US" dirty="0" smtClean="0"/>
              <a:t>结构</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21</a:t>
            </a:fld>
            <a:endParaRPr lang="zh-CN" altLang="en-US" dirty="0"/>
          </a:p>
        </p:txBody>
      </p:sp>
      <p:pic>
        <p:nvPicPr>
          <p:cNvPr id="7" name="图片 6"/>
          <p:cNvPicPr>
            <a:picLocks noChangeAspect="1"/>
          </p:cNvPicPr>
          <p:nvPr/>
        </p:nvPicPr>
        <p:blipFill>
          <a:blip r:embed="rId2"/>
          <a:stretch>
            <a:fillRect/>
          </a:stretch>
        </p:blipFill>
        <p:spPr>
          <a:xfrm>
            <a:off x="2009776" y="4043839"/>
            <a:ext cx="6183630" cy="1973580"/>
          </a:xfrm>
          <a:prstGeom prst="rect">
            <a:avLst/>
          </a:prstGeom>
        </p:spPr>
      </p:pic>
      <p:sp>
        <p:nvSpPr>
          <p:cNvPr id="8" name="圆角矩形标注 7"/>
          <p:cNvSpPr/>
          <p:nvPr/>
        </p:nvSpPr>
        <p:spPr bwMode="auto">
          <a:xfrm>
            <a:off x="5886451" y="3019425"/>
            <a:ext cx="2800349" cy="762482"/>
          </a:xfrm>
          <a:prstGeom prst="wedgeRoundRectCallout">
            <a:avLst>
              <a:gd name="adj1" fmla="val -42495"/>
              <a:gd name="adj2" fmla="val 81356"/>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kumimoji="1" lang="zh-CN" altLang="en-US"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rPr>
              <a:t>根目录下看到</a:t>
            </a:r>
            <a:r>
              <a:rPr kumimoji="1" lang="en-US" altLang="zh-CN"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rPr>
              <a:t>4</a:t>
            </a:r>
            <a:r>
              <a:rPr kumimoji="1" lang="zh-CN" altLang="en-US" sz="2000" dirty="0" smtClean="0">
                <a:latin typeface="Consolas" panose="020B0609020204030204" pitchFamily="49" charset="0"/>
                <a:ea typeface="宋体" panose="02010600030101010101" pitchFamily="2" charset="-122"/>
              </a:rPr>
              <a:t>个文件，</a:t>
            </a:r>
            <a:r>
              <a:rPr kumimoji="1" lang="en-US" altLang="zh-CN" sz="2000" dirty="0" smtClean="0">
                <a:latin typeface="Consolas" panose="020B0609020204030204" pitchFamily="49" charset="0"/>
                <a:ea typeface="宋体" panose="02010600030101010101" pitchFamily="2" charset="-122"/>
              </a:rPr>
              <a:t>user1</a:t>
            </a:r>
            <a:r>
              <a:rPr kumimoji="1" lang="zh-CN" altLang="en-US" sz="2000" dirty="0" smtClean="0">
                <a:latin typeface="Consolas" panose="020B0609020204030204" pitchFamily="49" charset="0"/>
                <a:ea typeface="宋体" panose="02010600030101010101" pitchFamily="2" charset="-122"/>
              </a:rPr>
              <a:t>是一个目录项</a:t>
            </a:r>
            <a:endParaRPr kumimoji="1" lang="zh-CN" altLang="en-US"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endParaRPr>
          </a:p>
        </p:txBody>
      </p:sp>
      <p:sp>
        <p:nvSpPr>
          <p:cNvPr id="9" name="圆角矩形标注 8"/>
          <p:cNvSpPr/>
          <p:nvPr/>
        </p:nvSpPr>
        <p:spPr bwMode="auto">
          <a:xfrm>
            <a:off x="447676" y="3162300"/>
            <a:ext cx="2867026" cy="1382089"/>
          </a:xfrm>
          <a:prstGeom prst="wedgeRoundRectCallout">
            <a:avLst>
              <a:gd name="adj1" fmla="val 44873"/>
              <a:gd name="adj2" fmla="val 76490"/>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kumimoji="1" lang="en-US" altLang="zh-CN"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rPr>
              <a:t>user1</a:t>
            </a:r>
            <a:r>
              <a:rPr kumimoji="1" lang="zh-CN" altLang="en-US"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rPr>
              <a:t>的文件内容：</a:t>
            </a:r>
            <a:r>
              <a:rPr kumimoji="1" lang="zh-CN" altLang="en-US" sz="2000" dirty="0" smtClean="0">
                <a:latin typeface="Consolas" panose="020B0609020204030204" pitchFamily="49" charset="0"/>
                <a:ea typeface="宋体" panose="02010600030101010101" pitchFamily="2" charset="-122"/>
              </a:rPr>
              <a:t>另外</a:t>
            </a:r>
            <a:r>
              <a:rPr kumimoji="1" lang="en-US" altLang="zh-CN" sz="2000" dirty="0" smtClean="0">
                <a:latin typeface="Consolas" panose="020B0609020204030204" pitchFamily="49" charset="0"/>
                <a:ea typeface="宋体" panose="02010600030101010101" pitchFamily="2" charset="-122"/>
              </a:rPr>
              <a:t>4</a:t>
            </a:r>
            <a:r>
              <a:rPr kumimoji="1" lang="zh-CN" altLang="en-US" sz="2000" dirty="0" smtClean="0">
                <a:latin typeface="Consolas" panose="020B0609020204030204" pitchFamily="49" charset="0"/>
                <a:ea typeface="宋体" panose="02010600030101010101" pitchFamily="2" charset="-122"/>
              </a:rPr>
              <a:t>个文件的目录项</a:t>
            </a:r>
            <a:endParaRPr kumimoji="1" lang="en-US" altLang="zh-CN" sz="2000" dirty="0" smtClean="0">
              <a:latin typeface="Consolas" panose="020B0609020204030204" pitchFamily="49" charset="0"/>
              <a:ea typeface="宋体" panose="02010600030101010101" pitchFamily="2" charset="-122"/>
            </a:endParaRPr>
          </a:p>
          <a:p>
            <a:pPr fontAlgn="base">
              <a:lnSpc>
                <a:spcPct val="90000"/>
              </a:lnSpc>
              <a:spcBef>
                <a:spcPct val="20000"/>
              </a:spcBef>
              <a:spcAft>
                <a:spcPct val="0"/>
              </a:spcAft>
              <a:buClr>
                <a:schemeClr val="folHlink"/>
              </a:buClr>
              <a:buSzPct val="60000"/>
            </a:pPr>
            <a:r>
              <a:rPr kumimoji="1" lang="zh-CN" altLang="en-US"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rPr>
              <a:t>俗称：打开</a:t>
            </a:r>
            <a:r>
              <a:rPr kumimoji="1" lang="en-US" altLang="zh-CN"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rPr>
              <a:t>user1</a:t>
            </a:r>
            <a:r>
              <a:rPr kumimoji="1" lang="zh-CN" altLang="en-US"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rPr>
              <a:t>文件夹，看到</a:t>
            </a:r>
            <a:r>
              <a:rPr kumimoji="1" lang="en-US" altLang="zh-CN"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rPr>
              <a:t>4</a:t>
            </a:r>
            <a:r>
              <a:rPr kumimoji="1" lang="zh-CN" altLang="en-US"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rPr>
              <a:t>个文件</a:t>
            </a:r>
          </a:p>
        </p:txBody>
      </p:sp>
      <p:sp>
        <p:nvSpPr>
          <p:cNvPr id="2" name="矩形 1"/>
          <p:cNvSpPr/>
          <p:nvPr/>
        </p:nvSpPr>
        <p:spPr bwMode="auto">
          <a:xfrm>
            <a:off x="2705100" y="4962525"/>
            <a:ext cx="1920081" cy="390525"/>
          </a:xfrm>
          <a:prstGeom prst="rect">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pPr>
            <a:endParaRPr kumimoji="1" lang="zh-CN" alt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546529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826880" y="2095500"/>
            <a:ext cx="5459730" cy="4385310"/>
          </a:xfrm>
          <a:prstGeom prst="rect">
            <a:avLst/>
          </a:prstGeom>
        </p:spPr>
      </p:pic>
      <p:sp>
        <p:nvSpPr>
          <p:cNvPr id="2" name="标题 1"/>
          <p:cNvSpPr>
            <a:spLocks noGrp="1"/>
          </p:cNvSpPr>
          <p:nvPr>
            <p:ph type="title"/>
          </p:nvPr>
        </p:nvSpPr>
        <p:spPr/>
        <p:txBody>
          <a:bodyPr/>
          <a:lstStyle/>
          <a:p>
            <a:r>
              <a:rPr lang="zh-CN" altLang="en-US" dirty="0"/>
              <a:t>树型目录结构</a:t>
            </a:r>
          </a:p>
        </p:txBody>
      </p:sp>
      <p:sp>
        <p:nvSpPr>
          <p:cNvPr id="9" name="内容占位符 8"/>
          <p:cNvSpPr>
            <a:spLocks noGrp="1"/>
          </p:cNvSpPr>
          <p:nvPr>
            <p:ph idx="1"/>
          </p:nvPr>
        </p:nvSpPr>
        <p:spPr/>
        <p:txBody>
          <a:bodyPr/>
          <a:lstStyle/>
          <a:p>
            <a:r>
              <a:rPr lang="zh-CN" altLang="en-US" dirty="0"/>
              <a:t>树型目录结构是二级目录</a:t>
            </a:r>
            <a:r>
              <a:rPr lang="zh-CN" altLang="en-US" dirty="0" smtClean="0"/>
              <a:t>结构的</a:t>
            </a:r>
            <a:r>
              <a:rPr lang="zh-CN" altLang="en-US" dirty="0"/>
              <a:t>推广，也称为多级目录</a:t>
            </a:r>
            <a:r>
              <a:rPr lang="zh-CN" altLang="en-US" dirty="0" smtClean="0"/>
              <a:t>结构</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22</a:t>
            </a:fld>
            <a:endParaRPr lang="zh-CN" altLang="en-US" dirty="0"/>
          </a:p>
        </p:txBody>
      </p:sp>
    </p:spTree>
    <p:extLst>
      <p:ext uri="{BB962C8B-B14F-4D97-AF65-F5344CB8AC3E}">
        <p14:creationId xmlns:p14="http://schemas.microsoft.com/office/powerpoint/2010/main" val="3394186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A478220-5F10-3448-53B0-A082ACF36790}"/>
              </a:ext>
            </a:extLst>
          </p:cNvPr>
          <p:cNvSpPr>
            <a:spLocks noGrp="1"/>
          </p:cNvSpPr>
          <p:nvPr>
            <p:ph type="title"/>
          </p:nvPr>
        </p:nvSpPr>
        <p:spPr>
          <a:xfrm>
            <a:off x="1042988" y="225431"/>
            <a:ext cx="7850187" cy="746125"/>
          </a:xfrm>
        </p:spPr>
        <p:txBody>
          <a:bodyPr/>
          <a:lstStyle/>
          <a:p>
            <a:r>
              <a:rPr lang="zh-CN" altLang="en-US" dirty="0"/>
              <a:t>树型目录结构</a:t>
            </a:r>
          </a:p>
        </p:txBody>
      </p:sp>
      <p:sp>
        <p:nvSpPr>
          <p:cNvPr id="3" name="内容占位符 2">
            <a:extLst>
              <a:ext uri="{FF2B5EF4-FFF2-40B4-BE49-F238E27FC236}">
                <a16:creationId xmlns="" xmlns:a16="http://schemas.microsoft.com/office/drawing/2014/main" id="{AD7B2C0A-B2D8-3755-E6C0-89A613AD7E93}"/>
              </a:ext>
            </a:extLst>
          </p:cNvPr>
          <p:cNvSpPr>
            <a:spLocks noGrp="1"/>
          </p:cNvSpPr>
          <p:nvPr>
            <p:ph idx="1"/>
          </p:nvPr>
        </p:nvSpPr>
        <p:spPr>
          <a:xfrm>
            <a:off x="935038" y="1233488"/>
            <a:ext cx="7772400" cy="4895850"/>
          </a:xfrm>
        </p:spPr>
        <p:txBody>
          <a:bodyPr>
            <a:normAutofit/>
          </a:bodyPr>
          <a:lstStyle/>
          <a:p>
            <a:r>
              <a:rPr lang="zh-CN" altLang="en-US" dirty="0"/>
              <a:t>相关概念</a:t>
            </a:r>
          </a:p>
          <a:p>
            <a:pPr lvl="1"/>
            <a:r>
              <a:rPr lang="zh-CN" altLang="en-US" dirty="0"/>
              <a:t>第一级称为</a:t>
            </a:r>
            <a:r>
              <a:rPr lang="zh-CN" altLang="en-US" dirty="0">
                <a:solidFill>
                  <a:srgbClr val="FF0000"/>
                </a:solidFill>
              </a:rPr>
              <a:t>根目录</a:t>
            </a:r>
            <a:r>
              <a:rPr lang="zh-CN" altLang="en-US" dirty="0"/>
              <a:t>，非叶节点均为</a:t>
            </a:r>
            <a:r>
              <a:rPr lang="zh-CN" altLang="en-US" dirty="0">
                <a:solidFill>
                  <a:srgbClr val="FF0000"/>
                </a:solidFill>
              </a:rPr>
              <a:t>目录文件</a:t>
            </a:r>
            <a:r>
              <a:rPr lang="zh-CN" altLang="en-US" dirty="0"/>
              <a:t>（又称</a:t>
            </a:r>
            <a:r>
              <a:rPr lang="zh-CN" altLang="en-US" dirty="0">
                <a:solidFill>
                  <a:srgbClr val="FF0000"/>
                </a:solidFill>
              </a:rPr>
              <a:t>文件夹</a:t>
            </a:r>
            <a:r>
              <a:rPr lang="zh-CN" altLang="en-US" dirty="0"/>
              <a:t>、</a:t>
            </a:r>
            <a:r>
              <a:rPr lang="zh-CN" altLang="en-US" dirty="0">
                <a:solidFill>
                  <a:srgbClr val="FF0000"/>
                </a:solidFill>
              </a:rPr>
              <a:t>子目录</a:t>
            </a:r>
            <a:r>
              <a:rPr lang="zh-CN" altLang="en-US" dirty="0"/>
              <a:t>），叶结点为文件</a:t>
            </a:r>
          </a:p>
          <a:p>
            <a:pPr lvl="1"/>
            <a:r>
              <a:rPr lang="zh-CN" altLang="en-US" dirty="0"/>
              <a:t>用户在一定时间内指定某个目录为</a:t>
            </a:r>
            <a:r>
              <a:rPr lang="zh-CN" altLang="en-US" dirty="0">
                <a:solidFill>
                  <a:srgbClr val="FF0000"/>
                </a:solidFill>
              </a:rPr>
              <a:t>当前目录</a:t>
            </a:r>
            <a:r>
              <a:rPr lang="zh-CN" altLang="en-US" dirty="0"/>
              <a:t>，或称</a:t>
            </a:r>
            <a:r>
              <a:rPr lang="zh-CN" altLang="en-US" dirty="0">
                <a:solidFill>
                  <a:srgbClr val="FF0000"/>
                </a:solidFill>
              </a:rPr>
              <a:t>工作目录</a:t>
            </a:r>
          </a:p>
          <a:p>
            <a:pPr lvl="2"/>
            <a:r>
              <a:rPr lang="zh-CN" altLang="en-US" dirty="0"/>
              <a:t>进程对各文件的访问相对于当前目录</a:t>
            </a:r>
            <a:r>
              <a:rPr lang="zh-CN" altLang="en-US" dirty="0" smtClean="0"/>
              <a:t>进行</a:t>
            </a:r>
            <a:endParaRPr lang="zh-CN" altLang="en-US" dirty="0"/>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23</a:t>
            </a:fld>
            <a:endParaRPr lang="zh-CN" altLang="en-US" dirty="0"/>
          </a:p>
        </p:txBody>
      </p:sp>
    </p:spTree>
    <p:extLst>
      <p:ext uri="{BB962C8B-B14F-4D97-AF65-F5344CB8AC3E}">
        <p14:creationId xmlns:p14="http://schemas.microsoft.com/office/powerpoint/2010/main" val="11325346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树型目录结构</a:t>
            </a:r>
          </a:p>
        </p:txBody>
      </p:sp>
      <p:sp>
        <p:nvSpPr>
          <p:cNvPr id="9" name="内容占位符 8"/>
          <p:cNvSpPr>
            <a:spLocks noGrp="1"/>
          </p:cNvSpPr>
          <p:nvPr>
            <p:ph idx="1"/>
          </p:nvPr>
        </p:nvSpPr>
        <p:spPr/>
        <p:txBody>
          <a:bodyPr/>
          <a:lstStyle/>
          <a:p>
            <a:r>
              <a:rPr lang="zh-CN" altLang="en-US" dirty="0"/>
              <a:t>相关概念</a:t>
            </a:r>
          </a:p>
          <a:p>
            <a:pPr lvl="1"/>
            <a:r>
              <a:rPr lang="zh-CN" altLang="en-US" dirty="0" smtClean="0">
                <a:solidFill>
                  <a:srgbClr val="FF0000"/>
                </a:solidFill>
              </a:rPr>
              <a:t>路径</a:t>
            </a:r>
            <a:r>
              <a:rPr lang="zh-CN" altLang="en-US" dirty="0" smtClean="0"/>
              <a:t>：</a:t>
            </a:r>
            <a:r>
              <a:rPr lang="zh-CN" altLang="en-US" dirty="0"/>
              <a:t>一个字符串，从某个位置出发到所找文件的通路上所有各级子目录名和该文件名用分隔符连接起来</a:t>
            </a:r>
          </a:p>
          <a:p>
            <a:pPr lvl="2"/>
            <a:r>
              <a:rPr lang="zh-CN" altLang="en-US" dirty="0"/>
              <a:t>从根目录出发的路径称为</a:t>
            </a:r>
            <a:r>
              <a:rPr lang="zh-CN" altLang="en-US" dirty="0">
                <a:solidFill>
                  <a:srgbClr val="FF0000"/>
                </a:solidFill>
              </a:rPr>
              <a:t>绝对路径</a:t>
            </a:r>
          </a:p>
          <a:p>
            <a:pPr lvl="2"/>
            <a:r>
              <a:rPr lang="zh-CN" altLang="en-US" dirty="0"/>
              <a:t>从当前目录出发到所找文件的路径称为</a:t>
            </a:r>
            <a:r>
              <a:rPr lang="zh-CN" altLang="en-US" dirty="0">
                <a:solidFill>
                  <a:srgbClr val="FF0000"/>
                </a:solidFill>
              </a:rPr>
              <a:t>相对路径</a:t>
            </a:r>
          </a:p>
          <a:p>
            <a:pPr lvl="1"/>
            <a:r>
              <a:rPr lang="zh-CN" altLang="en-US" dirty="0"/>
              <a:t>两个特殊目录</a:t>
            </a:r>
          </a:p>
          <a:p>
            <a:pPr lvl="2"/>
            <a:r>
              <a:rPr lang="en-US" altLang="zh-CN" dirty="0">
                <a:solidFill>
                  <a:srgbClr val="FF0000"/>
                </a:solidFill>
              </a:rPr>
              <a:t>..</a:t>
            </a:r>
            <a:r>
              <a:rPr lang="zh-CN" altLang="en-US" dirty="0"/>
              <a:t>：表示给定目录的父目录</a:t>
            </a:r>
          </a:p>
          <a:p>
            <a:pPr lvl="2"/>
            <a:r>
              <a:rPr lang="en-US" altLang="zh-CN" dirty="0">
                <a:solidFill>
                  <a:srgbClr val="FF0000"/>
                </a:solidFill>
              </a:rPr>
              <a:t>.</a:t>
            </a:r>
            <a:r>
              <a:rPr lang="zh-CN" altLang="en-US" dirty="0"/>
              <a:t>：表示当前</a:t>
            </a:r>
            <a:r>
              <a:rPr lang="zh-CN" altLang="en-US" dirty="0" smtClean="0"/>
              <a:t>目录</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24</a:t>
            </a:fld>
            <a:endParaRPr lang="zh-CN" altLang="en-US" dirty="0"/>
          </a:p>
        </p:txBody>
      </p:sp>
    </p:spTree>
    <p:extLst>
      <p:ext uri="{BB962C8B-B14F-4D97-AF65-F5344CB8AC3E}">
        <p14:creationId xmlns:p14="http://schemas.microsoft.com/office/powerpoint/2010/main" val="16621507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无环图目录</a:t>
            </a:r>
          </a:p>
        </p:txBody>
      </p:sp>
      <p:sp>
        <p:nvSpPr>
          <p:cNvPr id="7" name="内容占位符 6"/>
          <p:cNvSpPr>
            <a:spLocks noGrp="1"/>
          </p:cNvSpPr>
          <p:nvPr>
            <p:ph idx="1"/>
          </p:nvPr>
        </p:nvSpPr>
        <p:spPr/>
        <p:txBody>
          <a:bodyPr/>
          <a:lstStyle/>
          <a:p>
            <a:r>
              <a:rPr lang="zh-CN" altLang="en-US" dirty="0"/>
              <a:t>无环图是树型目录方案的扩展，允许目录含有共享子目录和</a:t>
            </a:r>
            <a:r>
              <a:rPr lang="zh-CN" altLang="en-US" dirty="0" smtClean="0"/>
              <a:t>文件</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25</a:t>
            </a:fld>
            <a:endParaRPr lang="zh-CN" altLang="en-US" dirty="0"/>
          </a:p>
        </p:txBody>
      </p:sp>
      <p:pic>
        <p:nvPicPr>
          <p:cNvPr id="2" name="图片 1"/>
          <p:cNvPicPr>
            <a:picLocks noChangeAspect="1"/>
          </p:cNvPicPr>
          <p:nvPr/>
        </p:nvPicPr>
        <p:blipFill>
          <a:blip r:embed="rId2"/>
          <a:stretch>
            <a:fillRect/>
          </a:stretch>
        </p:blipFill>
        <p:spPr>
          <a:xfrm>
            <a:off x="2727351" y="2478410"/>
            <a:ext cx="4187190" cy="3798570"/>
          </a:xfrm>
          <a:prstGeom prst="rect">
            <a:avLst/>
          </a:prstGeom>
        </p:spPr>
      </p:pic>
      <p:sp>
        <p:nvSpPr>
          <p:cNvPr id="6" name="圆角矩形标注 5"/>
          <p:cNvSpPr/>
          <p:nvPr/>
        </p:nvSpPr>
        <p:spPr bwMode="auto">
          <a:xfrm>
            <a:off x="935038" y="2905130"/>
            <a:ext cx="1704974" cy="1882140"/>
          </a:xfrm>
          <a:prstGeom prst="wedgeRoundRectCallout">
            <a:avLst>
              <a:gd name="adj1" fmla="val 66102"/>
              <a:gd name="adj2" fmla="val 79526"/>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kumimoji="1" lang="zh-CN" altLang="en-US"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rPr>
              <a:t>基本对应于</a:t>
            </a:r>
            <a:r>
              <a:rPr kumimoji="1" lang="en-US" altLang="zh-CN"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rPr>
              <a:t>Linux</a:t>
            </a:r>
            <a:r>
              <a:rPr kumimoji="1" lang="zh-CN" altLang="en-US"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rPr>
              <a:t>或</a:t>
            </a:r>
            <a:r>
              <a:rPr kumimoji="1" lang="en-US" altLang="zh-CN"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rPr>
              <a:t>Windows</a:t>
            </a:r>
            <a:r>
              <a:rPr kumimoji="1" lang="zh-CN" altLang="en-US" sz="2000" b="0" i="0" u="none" strike="noStrike" cap="none" normalizeH="0" baseline="0" dirty="0" smtClean="0">
                <a:ln>
                  <a:noFill/>
                </a:ln>
                <a:solidFill>
                  <a:schemeClr val="tx1"/>
                </a:solidFill>
                <a:effectLst/>
                <a:latin typeface="Consolas" panose="020B0609020204030204" pitchFamily="49" charset="0"/>
                <a:ea typeface="宋体" panose="02010600030101010101" pitchFamily="2" charset="-122"/>
              </a:rPr>
              <a:t>中的硬链接技术，后续介绍</a:t>
            </a:r>
          </a:p>
        </p:txBody>
      </p:sp>
      <p:sp>
        <p:nvSpPr>
          <p:cNvPr id="8" name="矩形 7"/>
          <p:cNvSpPr/>
          <p:nvPr/>
        </p:nvSpPr>
        <p:spPr bwMode="auto">
          <a:xfrm>
            <a:off x="5293518" y="4396745"/>
            <a:ext cx="396081" cy="390525"/>
          </a:xfrm>
          <a:prstGeom prst="rect">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pPr>
            <a:endParaRPr kumimoji="1" lang="zh-CN" alt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9" name="矩形 8"/>
          <p:cNvSpPr/>
          <p:nvPr/>
        </p:nvSpPr>
        <p:spPr bwMode="auto">
          <a:xfrm>
            <a:off x="4396290" y="5934075"/>
            <a:ext cx="396081" cy="390525"/>
          </a:xfrm>
          <a:prstGeom prst="rect">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pPr>
            <a:endParaRPr kumimoji="1" lang="zh-CN" alt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10" name="矩形 9"/>
          <p:cNvSpPr/>
          <p:nvPr/>
        </p:nvSpPr>
        <p:spPr bwMode="auto">
          <a:xfrm>
            <a:off x="4320089" y="5386388"/>
            <a:ext cx="1472698" cy="390525"/>
          </a:xfrm>
          <a:prstGeom prst="rect">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pPr>
            <a:endParaRPr kumimoji="1" lang="zh-CN" alt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59207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无环图目录</a:t>
            </a:r>
          </a:p>
        </p:txBody>
      </p:sp>
      <p:sp>
        <p:nvSpPr>
          <p:cNvPr id="7" name="内容占位符 6"/>
          <p:cNvSpPr>
            <a:spLocks noGrp="1"/>
          </p:cNvSpPr>
          <p:nvPr>
            <p:ph idx="1"/>
          </p:nvPr>
        </p:nvSpPr>
        <p:spPr/>
        <p:txBody>
          <a:bodyPr/>
          <a:lstStyle/>
          <a:p>
            <a:r>
              <a:rPr lang="zh-CN" altLang="en-US" dirty="0"/>
              <a:t>可能的问题</a:t>
            </a:r>
          </a:p>
          <a:p>
            <a:pPr lvl="1"/>
            <a:r>
              <a:rPr lang="zh-CN" altLang="en-US" dirty="0"/>
              <a:t>不同文件名可能表示同一文件，统计文件时可能带来一定的问题</a:t>
            </a:r>
          </a:p>
          <a:p>
            <a:pPr lvl="1"/>
            <a:r>
              <a:rPr lang="zh-CN" altLang="en-US" dirty="0"/>
              <a:t>删除问题，分配给共享文件的空间何时可</a:t>
            </a:r>
            <a:r>
              <a:rPr lang="zh-CN" altLang="en-US" dirty="0" smtClean="0"/>
              <a:t>删除</a:t>
            </a:r>
            <a:endParaRPr lang="en-US" altLang="zh-CN" dirty="0" smtClean="0"/>
          </a:p>
          <a:p>
            <a:pPr lvl="2"/>
            <a:r>
              <a:rPr lang="zh-CN" altLang="en-US" dirty="0"/>
              <a:t>须</a:t>
            </a:r>
            <a:r>
              <a:rPr lang="zh-CN" altLang="en-US" dirty="0" smtClean="0"/>
              <a:t>引入“引用计数”机制</a:t>
            </a:r>
            <a:endParaRPr lang="en-US" altLang="zh-CN" dirty="0" smtClean="0"/>
          </a:p>
          <a:p>
            <a:pPr lvl="2"/>
            <a:r>
              <a:rPr lang="zh-CN" altLang="en-US" dirty="0" smtClean="0"/>
              <a:t>问题：引用计数保存在哪里？后续章节讲解</a:t>
            </a:r>
            <a:endParaRPr lang="en-US" altLang="zh-CN"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26</a:t>
            </a:fld>
            <a:endParaRPr lang="zh-CN" altLang="en-US" dirty="0"/>
          </a:p>
        </p:txBody>
      </p:sp>
    </p:spTree>
    <p:extLst>
      <p:ext uri="{BB962C8B-B14F-4D97-AF65-F5344CB8AC3E}">
        <p14:creationId xmlns:p14="http://schemas.microsoft.com/office/powerpoint/2010/main" val="23563780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通用图目录</a:t>
            </a:r>
          </a:p>
        </p:txBody>
      </p:sp>
      <p:sp>
        <p:nvSpPr>
          <p:cNvPr id="10" name="内容占位符 9"/>
          <p:cNvSpPr>
            <a:spLocks noGrp="1"/>
          </p:cNvSpPr>
          <p:nvPr>
            <p:ph idx="1"/>
          </p:nvPr>
        </p:nvSpPr>
        <p:spPr/>
        <p:txBody>
          <a:bodyPr/>
          <a:lstStyle/>
          <a:p>
            <a:r>
              <a:rPr lang="zh-CN" altLang="en-US" dirty="0"/>
              <a:t>允许出现</a:t>
            </a:r>
            <a:r>
              <a:rPr lang="zh-CN" altLang="en-US" dirty="0" smtClean="0"/>
              <a:t>环</a:t>
            </a:r>
            <a:endParaRPr lang="en-US" altLang="zh-CN" dirty="0" smtClean="0"/>
          </a:p>
          <a:p>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27</a:t>
            </a:fld>
            <a:endParaRPr lang="zh-CN" altLang="en-US" dirty="0"/>
          </a:p>
        </p:txBody>
      </p:sp>
      <p:pic>
        <p:nvPicPr>
          <p:cNvPr id="2" name="图片 1"/>
          <p:cNvPicPr>
            <a:picLocks noChangeAspect="1"/>
          </p:cNvPicPr>
          <p:nvPr/>
        </p:nvPicPr>
        <p:blipFill>
          <a:blip r:embed="rId2"/>
          <a:stretch>
            <a:fillRect/>
          </a:stretch>
        </p:blipFill>
        <p:spPr>
          <a:xfrm>
            <a:off x="1828800" y="2284051"/>
            <a:ext cx="5364480" cy="3623310"/>
          </a:xfrm>
          <a:prstGeom prst="rect">
            <a:avLst/>
          </a:prstGeom>
        </p:spPr>
      </p:pic>
    </p:spTree>
    <p:extLst>
      <p:ext uri="{BB962C8B-B14F-4D97-AF65-F5344CB8AC3E}">
        <p14:creationId xmlns:p14="http://schemas.microsoft.com/office/powerpoint/2010/main" val="830666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通用图目录</a:t>
            </a:r>
          </a:p>
        </p:txBody>
      </p:sp>
      <p:sp>
        <p:nvSpPr>
          <p:cNvPr id="6" name="内容占位符 5"/>
          <p:cNvSpPr>
            <a:spLocks noGrp="1"/>
          </p:cNvSpPr>
          <p:nvPr>
            <p:ph idx="1"/>
          </p:nvPr>
        </p:nvSpPr>
        <p:spPr/>
        <p:txBody>
          <a:bodyPr/>
          <a:lstStyle/>
          <a:p>
            <a:r>
              <a:rPr lang="zh-CN" altLang="en-US" dirty="0" smtClean="0"/>
              <a:t>可能的问题</a:t>
            </a:r>
          </a:p>
          <a:p>
            <a:pPr lvl="1"/>
            <a:r>
              <a:rPr lang="zh-CN" altLang="en-US" dirty="0" smtClean="0"/>
              <a:t>遍历文件系统时，可能无限循环</a:t>
            </a:r>
          </a:p>
          <a:p>
            <a:pPr lvl="1"/>
            <a:r>
              <a:rPr lang="zh-CN" altLang="en-US" dirty="0" smtClean="0"/>
              <a:t>决定文件何时可以删除</a:t>
            </a:r>
          </a:p>
          <a:p>
            <a:pPr lvl="2"/>
            <a:r>
              <a:rPr lang="zh-CN" altLang="en-US" dirty="0" smtClean="0"/>
              <a:t>文件夹内存在自我引用可能导致问题</a:t>
            </a:r>
            <a:endParaRPr lang="en-US" altLang="zh-CN" dirty="0" smtClean="0"/>
          </a:p>
          <a:p>
            <a:r>
              <a:rPr lang="zh-CN" altLang="en-US" dirty="0" smtClean="0"/>
              <a:t>案例</a:t>
            </a:r>
            <a:endParaRPr lang="en-US" altLang="zh-CN" dirty="0" smtClean="0"/>
          </a:p>
          <a:p>
            <a:pPr lvl="1"/>
            <a:r>
              <a:rPr lang="zh-CN" altLang="en-US" dirty="0" smtClean="0"/>
              <a:t>各系统均不允许对文件夹创建硬链接，杜绝环</a:t>
            </a:r>
            <a:endParaRPr lang="en-US" altLang="zh-CN" dirty="0" smtClean="0"/>
          </a:p>
          <a:p>
            <a:pPr lvl="1"/>
            <a:r>
              <a:rPr lang="en-US" altLang="zh-CN" dirty="0"/>
              <a:t>Windows</a:t>
            </a:r>
            <a:r>
              <a:rPr lang="zh-CN" altLang="en-US" dirty="0"/>
              <a:t>可为文件夹创建</a:t>
            </a:r>
            <a:r>
              <a:rPr lang="en-US" altLang="zh-CN" dirty="0"/>
              <a:t>Junction Point</a:t>
            </a:r>
            <a:r>
              <a:rPr lang="zh-CN" altLang="en-US" dirty="0"/>
              <a:t>，理论上可能造成</a:t>
            </a:r>
            <a:r>
              <a:rPr lang="zh-CN" altLang="en-US" dirty="0" smtClean="0"/>
              <a:t>循环</a:t>
            </a:r>
            <a:endParaRPr lang="en-US" altLang="zh-CN" dirty="0" smtClean="0"/>
          </a:p>
          <a:p>
            <a:pPr lvl="2"/>
            <a:r>
              <a:rPr lang="zh-CN" altLang="en-US" dirty="0" smtClean="0"/>
              <a:t>实际应用：</a:t>
            </a:r>
            <a:r>
              <a:rPr lang="en-US" altLang="zh-CN" dirty="0"/>
              <a:t>C:\Documents and Settings</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28</a:t>
            </a:fld>
            <a:endParaRPr lang="zh-CN" altLang="en-US" dirty="0"/>
          </a:p>
        </p:txBody>
      </p:sp>
    </p:spTree>
    <p:extLst>
      <p:ext uri="{BB962C8B-B14F-4D97-AF65-F5344CB8AC3E}">
        <p14:creationId xmlns:p14="http://schemas.microsoft.com/office/powerpoint/2010/main" val="9353853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通用图目录</a:t>
            </a:r>
          </a:p>
        </p:txBody>
      </p:sp>
      <p:sp>
        <p:nvSpPr>
          <p:cNvPr id="6" name="内容占位符 5"/>
          <p:cNvSpPr>
            <a:spLocks noGrp="1"/>
          </p:cNvSpPr>
          <p:nvPr>
            <p:ph idx="1"/>
          </p:nvPr>
        </p:nvSpPr>
        <p:spPr/>
        <p:txBody>
          <a:bodyPr/>
          <a:lstStyle/>
          <a:p>
            <a:r>
              <a:rPr lang="zh-CN" altLang="en-US" dirty="0" smtClean="0"/>
              <a:t>各种链接小结</a:t>
            </a:r>
            <a:endParaRPr lang="en-US" altLang="zh-CN" dirty="0" smtClean="0"/>
          </a:p>
          <a:p>
            <a:pPr lvl="1"/>
            <a:r>
              <a:rPr lang="zh-CN" altLang="en-US" dirty="0" smtClean="0"/>
              <a:t>硬链接，各系统均支持，原理后续介绍</a:t>
            </a:r>
            <a:endParaRPr lang="en-US" altLang="zh-CN" dirty="0" smtClean="0"/>
          </a:p>
          <a:p>
            <a:pPr lvl="1"/>
            <a:r>
              <a:rPr lang="en-US" altLang="zh-CN" dirty="0" smtClean="0"/>
              <a:t>Linux</a:t>
            </a:r>
            <a:r>
              <a:rPr lang="zh-CN" altLang="en-US" dirty="0" smtClean="0"/>
              <a:t>软链接，也称</a:t>
            </a:r>
            <a:r>
              <a:rPr lang="en-US" altLang="zh-CN" dirty="0" smtClean="0"/>
              <a:t>Linux</a:t>
            </a:r>
            <a:r>
              <a:rPr lang="zh-CN" altLang="en-US" dirty="0" smtClean="0"/>
              <a:t>符号链接，相当于</a:t>
            </a:r>
            <a:r>
              <a:rPr lang="en-US" altLang="zh-CN" dirty="0" smtClean="0"/>
              <a:t>Windows</a:t>
            </a:r>
            <a:r>
              <a:rPr lang="zh-CN" altLang="en-US" dirty="0" smtClean="0"/>
              <a:t>快捷方式</a:t>
            </a:r>
            <a:endParaRPr lang="en-US" altLang="zh-CN" dirty="0" smtClean="0"/>
          </a:p>
          <a:p>
            <a:pPr lvl="2"/>
            <a:r>
              <a:rPr lang="zh-CN" altLang="en-US" dirty="0" smtClean="0"/>
              <a:t>独立的</a:t>
            </a:r>
            <a:r>
              <a:rPr lang="zh-CN" altLang="en-US" dirty="0"/>
              <a:t>特殊</a:t>
            </a:r>
            <a:r>
              <a:rPr lang="zh-CN" altLang="en-US" dirty="0" smtClean="0"/>
              <a:t>文件，内容中包含</a:t>
            </a:r>
            <a:r>
              <a:rPr lang="zh-CN" altLang="en-US" dirty="0"/>
              <a:t>指向另一个文件或目录的路径信息</a:t>
            </a:r>
            <a:endParaRPr lang="en-US" altLang="zh-CN" dirty="0" smtClean="0"/>
          </a:p>
          <a:p>
            <a:pPr lvl="1"/>
            <a:r>
              <a:rPr lang="en-US" altLang="zh-CN" dirty="0" smtClean="0"/>
              <a:t>Windows</a:t>
            </a:r>
            <a:r>
              <a:rPr lang="zh-CN" altLang="en-US" dirty="0" smtClean="0"/>
              <a:t>软链接，即</a:t>
            </a:r>
            <a:r>
              <a:rPr lang="en-US" altLang="zh-CN" dirty="0" smtClean="0"/>
              <a:t>Junction Point</a:t>
            </a:r>
            <a:r>
              <a:rPr lang="zh-CN" altLang="en-US" dirty="0" smtClean="0"/>
              <a:t>，自学</a:t>
            </a:r>
            <a:endParaRPr lang="en-US" altLang="zh-CN" dirty="0" smtClean="0"/>
          </a:p>
          <a:p>
            <a:pPr lvl="1"/>
            <a:r>
              <a:rPr lang="en-US" altLang="zh-CN" dirty="0" smtClean="0"/>
              <a:t>Windows</a:t>
            </a:r>
            <a:r>
              <a:rPr lang="zh-CN" altLang="en-US" dirty="0" smtClean="0"/>
              <a:t>符号链接，自学</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29</a:t>
            </a:fld>
            <a:endParaRPr lang="zh-CN" altLang="en-US" dirty="0"/>
          </a:p>
        </p:txBody>
      </p:sp>
    </p:spTree>
    <p:extLst>
      <p:ext uri="{BB962C8B-B14F-4D97-AF65-F5344CB8AC3E}">
        <p14:creationId xmlns:p14="http://schemas.microsoft.com/office/powerpoint/2010/main" val="9991291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13</a:t>
            </a:r>
            <a:r>
              <a:rPr lang="zh-CN" altLang="en-US" dirty="0"/>
              <a:t>章 文件系统接口</a:t>
            </a:r>
          </a:p>
        </p:txBody>
      </p:sp>
      <p:sp>
        <p:nvSpPr>
          <p:cNvPr id="9" name="内容占位符 8"/>
          <p:cNvSpPr>
            <a:spLocks noGrp="1"/>
          </p:cNvSpPr>
          <p:nvPr>
            <p:ph idx="1"/>
          </p:nvPr>
        </p:nvSpPr>
        <p:spPr/>
        <p:txBody>
          <a:bodyPr/>
          <a:lstStyle/>
          <a:p>
            <a:r>
              <a:rPr lang="zh-CN" altLang="en-US" dirty="0"/>
              <a:t>本章内容</a:t>
            </a:r>
            <a:endParaRPr lang="en-US" altLang="zh-CN" dirty="0"/>
          </a:p>
          <a:p>
            <a:r>
              <a:rPr lang="en-US" altLang="zh-CN" dirty="0"/>
              <a:t>1. </a:t>
            </a:r>
            <a:r>
              <a:rPr lang="zh-CN" altLang="en-US" dirty="0"/>
              <a:t>文件概念</a:t>
            </a:r>
            <a:endParaRPr lang="zh-CN" altLang="zh-CN" dirty="0"/>
          </a:p>
          <a:p>
            <a:r>
              <a:rPr lang="en-US" altLang="zh-CN" dirty="0"/>
              <a:t>2.</a:t>
            </a:r>
            <a:r>
              <a:rPr lang="zh-CN" altLang="en-US" dirty="0"/>
              <a:t> 访问方法</a:t>
            </a:r>
            <a:endParaRPr lang="en-US" altLang="zh-CN" dirty="0"/>
          </a:p>
          <a:p>
            <a:r>
              <a:rPr lang="en-US" altLang="zh-CN" dirty="0"/>
              <a:t>3.</a:t>
            </a:r>
            <a:r>
              <a:rPr lang="zh-CN" altLang="en-US" dirty="0"/>
              <a:t> 目录结构</a:t>
            </a:r>
            <a:endParaRPr lang="en-US" altLang="zh-CN" dirty="0"/>
          </a:p>
          <a:p>
            <a:r>
              <a:rPr lang="en-US" altLang="zh-CN" dirty="0">
                <a:solidFill>
                  <a:srgbClr val="FF0000"/>
                </a:solidFill>
              </a:rPr>
              <a:t>4. </a:t>
            </a:r>
            <a:r>
              <a:rPr lang="zh-CN" altLang="en-US" dirty="0">
                <a:solidFill>
                  <a:srgbClr val="FF0000"/>
                </a:solidFill>
              </a:rPr>
              <a:t>保护</a:t>
            </a:r>
            <a:endParaRPr lang="en-US" altLang="zh-CN" dirty="0">
              <a:solidFill>
                <a:srgbClr val="FF0000"/>
              </a:solidFill>
            </a:endParaRPr>
          </a:p>
          <a:p>
            <a:r>
              <a:rPr lang="en-US" altLang="zh-CN" dirty="0"/>
              <a:t>5. </a:t>
            </a:r>
            <a:r>
              <a:rPr lang="zh-CN" altLang="en-US" dirty="0"/>
              <a:t>内存映射文件</a:t>
            </a:r>
            <a:endParaRPr lang="en-US" altLang="zh-CN"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30</a:t>
            </a:fld>
            <a:endParaRPr lang="zh-CN" altLang="en-US" dirty="0"/>
          </a:p>
        </p:txBody>
      </p:sp>
    </p:spTree>
    <p:extLst>
      <p:ext uri="{BB962C8B-B14F-4D97-AF65-F5344CB8AC3E}">
        <p14:creationId xmlns:p14="http://schemas.microsoft.com/office/powerpoint/2010/main" val="28453789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访问控制</a:t>
            </a:r>
          </a:p>
        </p:txBody>
      </p:sp>
      <p:sp>
        <p:nvSpPr>
          <p:cNvPr id="9" name="内容占位符 8"/>
          <p:cNvSpPr>
            <a:spLocks noGrp="1"/>
          </p:cNvSpPr>
          <p:nvPr>
            <p:ph idx="1"/>
          </p:nvPr>
        </p:nvSpPr>
        <p:spPr/>
        <p:txBody>
          <a:bodyPr/>
          <a:lstStyle/>
          <a:p>
            <a:r>
              <a:rPr lang="zh-CN" altLang="en-US" dirty="0"/>
              <a:t>访问类型</a:t>
            </a:r>
          </a:p>
          <a:p>
            <a:pPr lvl="1"/>
            <a:r>
              <a:rPr lang="zh-CN" altLang="en-US" dirty="0" smtClean="0"/>
              <a:t>读，写，执行，追加，删除，列表</a:t>
            </a:r>
            <a:endParaRPr lang="en-US" altLang="zh-CN" dirty="0" smtClean="0"/>
          </a:p>
          <a:p>
            <a:r>
              <a:rPr lang="zh-CN" altLang="en-US" dirty="0"/>
              <a:t>实现基于身份的访问</a:t>
            </a:r>
          </a:p>
          <a:p>
            <a:pPr lvl="1"/>
            <a:r>
              <a:rPr lang="zh-CN" altLang="en-US" dirty="0"/>
              <a:t>为每个文件或目录增加访问控制</a:t>
            </a:r>
            <a:r>
              <a:rPr lang="zh-CN" altLang="en-US" dirty="0" smtClean="0"/>
              <a:t>表</a:t>
            </a:r>
            <a:endParaRPr lang="en-US" altLang="zh-CN" dirty="0" smtClean="0"/>
          </a:p>
          <a:p>
            <a:r>
              <a:rPr lang="en-US" altLang="zh-CN" dirty="0"/>
              <a:t>Linux</a:t>
            </a:r>
            <a:r>
              <a:rPr lang="zh-CN" altLang="en-US" dirty="0"/>
              <a:t>案例</a:t>
            </a:r>
          </a:p>
          <a:p>
            <a:pPr lvl="1"/>
            <a:r>
              <a:rPr lang="zh-CN" altLang="en-US" dirty="0"/>
              <a:t>三种用户</a:t>
            </a:r>
            <a:r>
              <a:rPr lang="zh-CN" altLang="en-US" dirty="0" smtClean="0"/>
              <a:t>类型，</a:t>
            </a:r>
            <a:r>
              <a:rPr lang="zh-CN" altLang="en-US" dirty="0"/>
              <a:t>三种访问</a:t>
            </a:r>
            <a:r>
              <a:rPr lang="zh-CN" altLang="en-US" dirty="0" smtClean="0"/>
              <a:t>模式，</a:t>
            </a:r>
            <a:r>
              <a:rPr lang="en-US" altLang="zh-CN" dirty="0"/>
              <a:t> 9</a:t>
            </a:r>
            <a:r>
              <a:rPr lang="zh-CN" altLang="en-US" dirty="0" smtClean="0"/>
              <a:t>种组合</a:t>
            </a:r>
            <a:endParaRPr lang="zh-CN" altLang="en-US" dirty="0"/>
          </a:p>
          <a:p>
            <a:pPr lvl="2"/>
            <a:r>
              <a:rPr lang="zh-CN" altLang="en-US" dirty="0"/>
              <a:t>拥有者，拥有者的同组用户，其他</a:t>
            </a:r>
          </a:p>
          <a:p>
            <a:pPr lvl="2"/>
            <a:r>
              <a:rPr lang="zh-CN" altLang="en-US" dirty="0" smtClean="0"/>
              <a:t>读</a:t>
            </a:r>
            <a:r>
              <a:rPr lang="zh-CN" altLang="en-US" dirty="0"/>
              <a:t>，写，</a:t>
            </a:r>
            <a:r>
              <a:rPr lang="zh-CN" altLang="en-US" dirty="0" smtClean="0"/>
              <a:t>执行</a:t>
            </a:r>
            <a:endParaRPr lang="en-US" altLang="zh-CN" dirty="0" smtClean="0"/>
          </a:p>
          <a:p>
            <a:pPr lvl="2"/>
            <a:r>
              <a:rPr lang="zh-CN" altLang="en-US" dirty="0" smtClean="0"/>
              <a:t>文件权限：用</a:t>
            </a:r>
            <a:r>
              <a:rPr lang="en-US" altLang="zh-CN" dirty="0" smtClean="0"/>
              <a:t>9</a:t>
            </a:r>
            <a:r>
              <a:rPr lang="zh-CN" altLang="en-US" dirty="0" smtClean="0"/>
              <a:t>位二进制数表达每种组合是否被允许</a:t>
            </a:r>
            <a:endParaRPr lang="en-US" altLang="zh-CN"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31</a:t>
            </a:fld>
            <a:endParaRPr lang="zh-CN" altLang="en-US" dirty="0"/>
          </a:p>
        </p:txBody>
      </p:sp>
    </p:spTree>
    <p:extLst>
      <p:ext uri="{BB962C8B-B14F-4D97-AF65-F5344CB8AC3E}">
        <p14:creationId xmlns:p14="http://schemas.microsoft.com/office/powerpoint/2010/main" val="18944101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访问控制</a:t>
            </a:r>
          </a:p>
        </p:txBody>
      </p:sp>
      <p:sp>
        <p:nvSpPr>
          <p:cNvPr id="6" name="内容占位符 5"/>
          <p:cNvSpPr>
            <a:spLocks noGrp="1"/>
          </p:cNvSpPr>
          <p:nvPr>
            <p:ph idx="1"/>
          </p:nvPr>
        </p:nvSpPr>
        <p:spPr/>
        <p:txBody>
          <a:bodyPr/>
          <a:lstStyle/>
          <a:p>
            <a:r>
              <a:rPr lang="en-US" altLang="zh-CN" dirty="0" smtClean="0"/>
              <a:t>Linux</a:t>
            </a:r>
            <a:r>
              <a:rPr lang="zh-CN" altLang="en-US" dirty="0"/>
              <a:t>案例</a:t>
            </a:r>
          </a:p>
          <a:p>
            <a:pPr lvl="1"/>
            <a:r>
              <a:rPr lang="zh-CN" altLang="en-US" dirty="0" smtClean="0"/>
              <a:t>例：八进制</a:t>
            </a:r>
            <a:r>
              <a:rPr lang="en-US" altLang="zh-CN" dirty="0" smtClean="0"/>
              <a:t>761</a:t>
            </a:r>
            <a:r>
              <a:rPr lang="zh-CN" altLang="en-US" dirty="0" smtClean="0"/>
              <a:t>，</a:t>
            </a:r>
            <a:r>
              <a:rPr lang="en-US" altLang="zh-CN" dirty="0" smtClean="0">
                <a:solidFill>
                  <a:schemeClr val="accent1">
                    <a:lumMod val="75000"/>
                  </a:schemeClr>
                </a:solidFill>
              </a:rPr>
              <a:t>111</a:t>
            </a:r>
            <a:r>
              <a:rPr lang="en-US" altLang="zh-CN" dirty="0" smtClean="0">
                <a:solidFill>
                  <a:srgbClr val="FF0000"/>
                </a:solidFill>
              </a:rPr>
              <a:t>110</a:t>
            </a:r>
            <a:r>
              <a:rPr lang="en-US" altLang="zh-CN" dirty="0" smtClean="0">
                <a:solidFill>
                  <a:srgbClr val="0000FF"/>
                </a:solidFill>
              </a:rPr>
              <a:t>001</a:t>
            </a:r>
          </a:p>
          <a:p>
            <a:pPr lvl="2"/>
            <a:r>
              <a:rPr lang="zh-CN" altLang="en-US" dirty="0" smtClean="0"/>
              <a:t>拥有者全允许，其同组用户可读写不可执行，其它用户仅可执行</a:t>
            </a:r>
            <a:endParaRPr lang="en-US" altLang="zh-CN" dirty="0" smtClean="0"/>
          </a:p>
          <a:p>
            <a:pPr lvl="1"/>
            <a:r>
              <a:rPr lang="zh-CN" altLang="en-US" dirty="0" smtClean="0"/>
              <a:t>每个</a:t>
            </a:r>
            <a:r>
              <a:rPr lang="en-US" altLang="zh-CN" dirty="0" smtClean="0"/>
              <a:t>FCB</a:t>
            </a:r>
            <a:r>
              <a:rPr lang="zh-CN" altLang="en-US" dirty="0" smtClean="0"/>
              <a:t>（</a:t>
            </a:r>
            <a:r>
              <a:rPr lang="en-US" altLang="zh-CN" dirty="0" smtClean="0"/>
              <a:t>Linux</a:t>
            </a:r>
            <a:r>
              <a:rPr lang="zh-CN" altLang="en-US" dirty="0" smtClean="0"/>
              <a:t>中称为</a:t>
            </a:r>
            <a:r>
              <a:rPr lang="en-US" altLang="zh-CN" dirty="0" err="1" smtClean="0"/>
              <a:t>inode</a:t>
            </a:r>
            <a:r>
              <a:rPr lang="zh-CN" altLang="en-US" dirty="0" smtClean="0"/>
              <a:t>）须</a:t>
            </a:r>
            <a:r>
              <a:rPr lang="zh-CN" altLang="en-US" dirty="0" smtClean="0"/>
              <a:t>记录拥有者和文件权限</a:t>
            </a:r>
            <a:endParaRPr lang="zh-CN" altLang="en-US" dirty="0"/>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p:txBody>
          <a:bodyPr/>
          <a:lstStyle/>
          <a:p>
            <a:fld id="{4093CC90-4002-504C-BD88-C9A1D374048E}" type="slidenum">
              <a:rPr lang="zh-CN" altLang="en-US" smtClean="0"/>
              <a:pPr/>
              <a:t>32</a:t>
            </a:fld>
            <a:endParaRPr lang="zh-CN" altLang="en-US" dirty="0"/>
          </a:p>
        </p:txBody>
      </p:sp>
      <p:pic>
        <p:nvPicPr>
          <p:cNvPr id="2" name="图片 1"/>
          <p:cNvPicPr>
            <a:picLocks noChangeAspect="1"/>
          </p:cNvPicPr>
          <p:nvPr/>
        </p:nvPicPr>
        <p:blipFill>
          <a:blip r:embed="rId2"/>
          <a:stretch>
            <a:fillRect/>
          </a:stretch>
        </p:blipFill>
        <p:spPr>
          <a:xfrm>
            <a:off x="657225" y="4191000"/>
            <a:ext cx="7858125" cy="2305050"/>
          </a:xfrm>
          <a:prstGeom prst="rect">
            <a:avLst/>
          </a:prstGeom>
        </p:spPr>
      </p:pic>
    </p:spTree>
    <p:extLst>
      <p:ext uri="{BB962C8B-B14F-4D97-AF65-F5344CB8AC3E}">
        <p14:creationId xmlns:p14="http://schemas.microsoft.com/office/powerpoint/2010/main" val="149775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其他保护方式</a:t>
            </a:r>
          </a:p>
        </p:txBody>
      </p:sp>
      <p:sp>
        <p:nvSpPr>
          <p:cNvPr id="3" name="内容占位符 2"/>
          <p:cNvSpPr>
            <a:spLocks noGrp="1"/>
          </p:cNvSpPr>
          <p:nvPr>
            <p:ph idx="1"/>
          </p:nvPr>
        </p:nvSpPr>
        <p:spPr/>
        <p:txBody>
          <a:bodyPr/>
          <a:lstStyle/>
          <a:p>
            <a:r>
              <a:rPr lang="zh-CN" altLang="en-US" dirty="0"/>
              <a:t>存取控制矩阵</a:t>
            </a:r>
          </a:p>
          <a:p>
            <a:pPr lvl="1"/>
            <a:r>
              <a:rPr lang="zh-CN" altLang="en-US" dirty="0" smtClean="0"/>
              <a:t>一</a:t>
            </a:r>
            <a:r>
              <a:rPr lang="zh-CN" altLang="en-US" dirty="0"/>
              <a:t>个二维矩阵，其中一维</a:t>
            </a:r>
            <a:r>
              <a:rPr lang="zh-CN" altLang="en-US" dirty="0" smtClean="0"/>
              <a:t>列出全部</a:t>
            </a:r>
            <a:r>
              <a:rPr lang="zh-CN" altLang="en-US" dirty="0"/>
              <a:t>用户；另一维</a:t>
            </a:r>
            <a:r>
              <a:rPr lang="zh-CN" altLang="en-US" dirty="0" smtClean="0"/>
              <a:t>列出全部</a:t>
            </a:r>
            <a:r>
              <a:rPr lang="zh-CN" altLang="en-US" dirty="0"/>
              <a:t>文件</a:t>
            </a:r>
          </a:p>
          <a:p>
            <a:pPr lvl="1"/>
            <a:r>
              <a:rPr lang="zh-CN" altLang="en-US" dirty="0" smtClean="0"/>
              <a:t>问题：不切实际，矩阵太庞大，一旦新建</a:t>
            </a:r>
            <a:r>
              <a:rPr lang="en-US" altLang="zh-CN" dirty="0" smtClean="0"/>
              <a:t>/</a:t>
            </a:r>
            <a:r>
              <a:rPr lang="zh-CN" altLang="en-US" dirty="0" smtClean="0"/>
              <a:t>删除用户，难以处理</a:t>
            </a:r>
            <a:endParaRPr lang="en-US" altLang="zh-CN"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33</a:t>
            </a:fld>
            <a:endParaRPr lang="zh-CN" altLang="en-US" dirty="0"/>
          </a:p>
        </p:txBody>
      </p:sp>
      <p:graphicFrame>
        <p:nvGraphicFramePr>
          <p:cNvPr id="5" name="表格 4"/>
          <p:cNvGraphicFramePr>
            <a:graphicFrameLocks noChangeAspect="1"/>
          </p:cNvGraphicFramePr>
          <p:nvPr>
            <p:extLst>
              <p:ext uri="{D42A27DB-BD31-4B8C-83A1-F6EECF244321}">
                <p14:modId xmlns:p14="http://schemas.microsoft.com/office/powerpoint/2010/main" val="413136956"/>
              </p:ext>
            </p:extLst>
          </p:nvPr>
        </p:nvGraphicFramePr>
        <p:xfrm>
          <a:off x="1733550" y="3819524"/>
          <a:ext cx="5648325" cy="2890552"/>
        </p:xfrm>
        <a:graphic>
          <a:graphicData uri="http://schemas.openxmlformats.org/drawingml/2006/table">
            <a:tbl>
              <a:tblPr/>
              <a:tblGrid>
                <a:gridCol w="1392469"/>
                <a:gridCol w="1041756"/>
                <a:gridCol w="1039449"/>
                <a:gridCol w="1040602"/>
                <a:gridCol w="1134049"/>
              </a:tblGrid>
              <a:tr h="67139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1800" dirty="0">
                          <a:latin typeface="Tahoma" panose="020B0604030504040204" pitchFamily="34" charset="0"/>
                        </a:rPr>
                        <a:t>       用户</a:t>
                      </a:r>
                    </a:p>
                    <a:p>
                      <a:pPr lvl="0" eaLnBrk="1" hangingPunct="1">
                        <a:spcBef>
                          <a:spcPct val="20000"/>
                        </a:spcBef>
                        <a:buClr>
                          <a:schemeClr val="folHlink"/>
                        </a:buClr>
                        <a:buSzPct val="60000"/>
                        <a:buFont typeface="Wingdings" panose="05000000000000000000" pitchFamily="2" charset="2"/>
                        <a:buNone/>
                      </a:pPr>
                      <a:r>
                        <a:rPr lang="zh-CN" altLang="en-US" sz="1800" dirty="0">
                          <a:latin typeface="Tahoma" panose="020B0604030504040204" pitchFamily="34" charset="0"/>
                        </a:rPr>
                        <a:t>文件</a:t>
                      </a:r>
                    </a:p>
                  </a:txBody>
                  <a:tcPr marT="45709" marB="45709">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w="12700" cap="flat" cmpd="sng">
                      <a:solidFill>
                        <a:schemeClr val="tx1"/>
                      </a:solidFill>
                      <a:prstDash val="solid"/>
                      <a:miter/>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Zhao</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Huang</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Cheng</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1" dirty="0">
                          <a:latin typeface="Times New Roman" panose="02020603050405020304" pitchFamily="18" charset="0"/>
                        </a:rPr>
                        <a:t>…</a:t>
                      </a:r>
                      <a:endParaRPr lang="en-US" altLang="zh-CN" sz="1800" b="1" dirty="0">
                        <a:latin typeface="Tahoma" panose="020B0604030504040204" pitchFamily="34" charset="0"/>
                      </a:endParaRP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39126">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Sqrt</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RE</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E</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E</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1800" dirty="0">
                        <a:latin typeface="Tahoma" panose="020B0604030504040204" pitchFamily="34" charset="0"/>
                      </a:endParaRP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39126">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Test</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RWE</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E</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en-US" altLang="zh-CN" sz="1800" dirty="0">
                        <a:latin typeface="Tahoma" panose="020B0604030504040204" pitchFamily="34" charset="0"/>
                      </a:endParaRP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en-US" altLang="zh-CN" sz="1800" dirty="0">
                        <a:latin typeface="Tahoma" panose="020B0604030504040204" pitchFamily="34" charset="0"/>
                      </a:endParaRP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39126">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Alpha</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RW</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R</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R</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1800" dirty="0">
                        <a:latin typeface="Tahoma" panose="020B0604030504040204" pitchFamily="34" charset="0"/>
                      </a:endParaRP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39126">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Beta</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R</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RW</a:t>
                      </a: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1800" dirty="0">
                        <a:latin typeface="Tahoma" panose="020B0604030504040204" pitchFamily="34" charset="0"/>
                      </a:endParaRP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1800" dirty="0">
                        <a:latin typeface="Tahoma" panose="020B0604030504040204" pitchFamily="34" charset="0"/>
                      </a:endParaRP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39126">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b="1" dirty="0">
                          <a:latin typeface="Times New Roman" panose="02020603050405020304" pitchFamily="18" charset="0"/>
                        </a:rPr>
                        <a:t>…</a:t>
                      </a:r>
                      <a:endParaRPr lang="en-US" altLang="zh-CN" sz="1800" b="1" dirty="0">
                        <a:latin typeface="Tahoma" panose="020B0604030504040204" pitchFamily="34" charset="0"/>
                      </a:endParaRP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1800" dirty="0">
                        <a:latin typeface="Tahoma" panose="020B0604030504040204" pitchFamily="34" charset="0"/>
                      </a:endParaRP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1800" dirty="0">
                        <a:latin typeface="Tahoma" panose="020B0604030504040204" pitchFamily="34" charset="0"/>
                      </a:endParaRP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1800" dirty="0">
                        <a:latin typeface="Tahoma" panose="020B0604030504040204" pitchFamily="34" charset="0"/>
                      </a:endParaRP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1800" dirty="0">
                        <a:latin typeface="Tahoma" panose="020B0604030504040204" pitchFamily="34" charset="0"/>
                      </a:endParaRPr>
                    </a:p>
                  </a:txBody>
                  <a:tcPr marT="45709" marB="45709"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1609448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其他保护方式</a:t>
            </a:r>
          </a:p>
        </p:txBody>
      </p:sp>
      <p:sp>
        <p:nvSpPr>
          <p:cNvPr id="10" name="内容占位符 9"/>
          <p:cNvSpPr>
            <a:spLocks noGrp="1"/>
          </p:cNvSpPr>
          <p:nvPr>
            <p:ph idx="1"/>
          </p:nvPr>
        </p:nvSpPr>
        <p:spPr/>
        <p:txBody>
          <a:bodyPr/>
          <a:lstStyle/>
          <a:p>
            <a:r>
              <a:rPr lang="zh-CN" altLang="en-US" dirty="0"/>
              <a:t>存取控制表</a:t>
            </a:r>
          </a:p>
          <a:p>
            <a:pPr lvl="1"/>
            <a:r>
              <a:rPr lang="zh-CN" altLang="en-US" dirty="0"/>
              <a:t>将用户分成若干组，规定</a:t>
            </a:r>
            <a:r>
              <a:rPr lang="zh-CN" altLang="en-US" dirty="0" smtClean="0"/>
              <a:t>每组</a:t>
            </a:r>
            <a:r>
              <a:rPr lang="zh-CN" altLang="en-US" dirty="0"/>
              <a:t>对文件</a:t>
            </a:r>
            <a:r>
              <a:rPr lang="zh-CN" altLang="en-US" dirty="0" smtClean="0"/>
              <a:t>的权限</a:t>
            </a:r>
            <a:endParaRPr lang="zh-CN" altLang="en-US" dirty="0"/>
          </a:p>
          <a:p>
            <a:pPr lvl="1"/>
            <a:r>
              <a:rPr lang="zh-CN" altLang="en-US" dirty="0"/>
              <a:t>所有组</a:t>
            </a:r>
            <a:r>
              <a:rPr lang="zh-CN" altLang="en-US" dirty="0" smtClean="0"/>
              <a:t>的权限</a:t>
            </a:r>
            <a:r>
              <a:rPr lang="zh-CN" altLang="en-US" dirty="0"/>
              <a:t>的集合称为该文件的存取控制</a:t>
            </a:r>
            <a:r>
              <a:rPr lang="zh-CN" altLang="en-US" dirty="0" smtClean="0"/>
              <a:t>表</a:t>
            </a:r>
            <a:endParaRPr lang="en-US" altLang="zh-CN" dirty="0" smtClean="0"/>
          </a:p>
          <a:p>
            <a:pPr lvl="1"/>
            <a:r>
              <a:rPr lang="zh-CN" altLang="en-US" dirty="0" smtClean="0"/>
              <a:t>灵活，但存取控制表会不会占据太多空间？</a:t>
            </a:r>
            <a:endParaRPr lang="en-US" altLang="zh-CN" dirty="0" smtClean="0"/>
          </a:p>
          <a:p>
            <a:pPr lvl="2"/>
            <a:r>
              <a:rPr lang="en-US" altLang="zh-CN" dirty="0" smtClean="0"/>
              <a:t>NTFS</a:t>
            </a:r>
            <a:r>
              <a:rPr lang="zh-CN" altLang="en-US" dirty="0"/>
              <a:t>的做法：权限继承，</a:t>
            </a:r>
            <a:r>
              <a:rPr lang="zh-CN" altLang="en-US" dirty="0" smtClean="0"/>
              <a:t>默认继承父</a:t>
            </a:r>
            <a:r>
              <a:rPr lang="zh-CN" altLang="en-US" dirty="0"/>
              <a:t>文件夹的权限</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34</a:t>
            </a:fld>
            <a:endParaRPr lang="zh-CN" altLang="en-US" dirty="0"/>
          </a:p>
        </p:txBody>
      </p:sp>
      <p:graphicFrame>
        <p:nvGraphicFramePr>
          <p:cNvPr id="5" name="Group 3"/>
          <p:cNvGraphicFramePr>
            <a:graphicFrameLocks noGrp="1"/>
          </p:cNvGraphicFramePr>
          <p:nvPr>
            <p:extLst>
              <p:ext uri="{D42A27DB-BD31-4B8C-83A1-F6EECF244321}">
                <p14:modId xmlns:p14="http://schemas.microsoft.com/office/powerpoint/2010/main" val="2274101280"/>
              </p:ext>
            </p:extLst>
          </p:nvPr>
        </p:nvGraphicFramePr>
        <p:xfrm>
          <a:off x="400050" y="4018303"/>
          <a:ext cx="3514725" cy="2462836"/>
        </p:xfrm>
        <a:graphic>
          <a:graphicData uri="http://schemas.openxmlformats.org/drawingml/2006/table">
            <a:tbl>
              <a:tblPr/>
              <a:tblGrid>
                <a:gridCol w="1274088"/>
                <a:gridCol w="2240637"/>
              </a:tblGrid>
              <a:tr h="59181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文件</a:t>
                      </a:r>
                    </a:p>
                    <a:p>
                      <a:pPr marL="0" marR="0" lvl="0" indent="0" algn="just"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用户</a:t>
                      </a:r>
                      <a:endParaRPr kumimoji="1" lang="zh-CN" altLang="en-US" sz="18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a:txBody>
                  <a:tcPr marT="45709" marB="4570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ALPHA</a:t>
                      </a:r>
                      <a:endParaRPr kumimoji="1" lang="zh-CN" altLang="en-US" sz="18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a:txBody>
                  <a:tcPr marT="45709" marB="45709"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312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文件主</a:t>
                      </a:r>
                    </a:p>
                  </a:txBody>
                  <a:tcPr marT="45709" marB="45709"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R、W、E</a:t>
                      </a:r>
                      <a:endParaRPr kumimoji="1"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marT="45709" marB="45709"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3828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a:t>
                      </a: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组</a:t>
                      </a:r>
                    </a:p>
                  </a:txBody>
                  <a:tcPr marT="45709" marB="45709"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R、E</a:t>
                      </a:r>
                      <a:endParaRPr kumimoji="1"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marT="45709" marB="45709"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6682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a:t>
                      </a: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组</a:t>
                      </a:r>
                    </a:p>
                  </a:txBody>
                  <a:tcPr marT="45709" marB="45709"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E</a:t>
                      </a:r>
                      <a:endParaRPr kumimoji="1"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marT="45709" marB="45709"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6454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其他</a:t>
                      </a:r>
                    </a:p>
                  </a:txBody>
                  <a:tcPr marT="45709" marB="45709"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18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a:txBody>
                  <a:tcPr marT="45709" marB="45709"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pic>
        <p:nvPicPr>
          <p:cNvPr id="2" name="图片 1"/>
          <p:cNvPicPr>
            <a:picLocks noChangeAspect="1"/>
          </p:cNvPicPr>
          <p:nvPr/>
        </p:nvPicPr>
        <p:blipFill>
          <a:blip r:embed="rId2"/>
          <a:stretch>
            <a:fillRect/>
          </a:stretch>
        </p:blipFill>
        <p:spPr>
          <a:xfrm>
            <a:off x="4152900" y="4018303"/>
            <a:ext cx="4657725" cy="2414588"/>
          </a:xfrm>
          <a:prstGeom prst="rect">
            <a:avLst/>
          </a:prstGeom>
        </p:spPr>
      </p:pic>
    </p:spTree>
    <p:extLst>
      <p:ext uri="{BB962C8B-B14F-4D97-AF65-F5344CB8AC3E}">
        <p14:creationId xmlns:p14="http://schemas.microsoft.com/office/powerpoint/2010/main" val="9331241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其他保护方式</a:t>
            </a:r>
          </a:p>
        </p:txBody>
      </p:sp>
      <p:sp>
        <p:nvSpPr>
          <p:cNvPr id="5" name="内容占位符 4"/>
          <p:cNvSpPr>
            <a:spLocks noGrp="1"/>
          </p:cNvSpPr>
          <p:nvPr>
            <p:ph idx="1"/>
          </p:nvPr>
        </p:nvSpPr>
        <p:spPr/>
        <p:txBody>
          <a:bodyPr/>
          <a:lstStyle/>
          <a:p>
            <a:r>
              <a:rPr lang="zh-CN" altLang="en-US" dirty="0"/>
              <a:t>用户权限表</a:t>
            </a:r>
          </a:p>
          <a:p>
            <a:pPr lvl="1"/>
            <a:r>
              <a:rPr lang="zh-CN" altLang="en-US" dirty="0"/>
              <a:t>将一个用户或用户</a:t>
            </a:r>
            <a:r>
              <a:rPr lang="zh-CN" altLang="en-US" dirty="0" smtClean="0"/>
              <a:t>组的存取权限数据集中</a:t>
            </a:r>
            <a:r>
              <a:rPr lang="zh-CN" altLang="en-US" dirty="0"/>
              <a:t>存放在一个表中</a:t>
            </a:r>
          </a:p>
          <a:p>
            <a:pPr lvl="1"/>
            <a:r>
              <a:rPr lang="zh-CN" altLang="en-US" dirty="0"/>
              <a:t>每个表项指明该用户（组）对相应文件</a:t>
            </a:r>
            <a:r>
              <a:rPr lang="zh-CN" altLang="en-US" dirty="0" smtClean="0"/>
              <a:t>的权限</a:t>
            </a:r>
            <a:endParaRPr lang="zh-CN" altLang="en-US" dirty="0"/>
          </a:p>
          <a:p>
            <a:pPr lvl="1"/>
            <a:r>
              <a:rPr lang="zh-CN" altLang="en-US" dirty="0"/>
              <a:t>问题：</a:t>
            </a:r>
            <a:r>
              <a:rPr lang="zh-CN" altLang="en-US" dirty="0" smtClean="0"/>
              <a:t>矩阵庞大</a:t>
            </a:r>
            <a:r>
              <a:rPr lang="zh-CN" altLang="en-US" dirty="0"/>
              <a:t>，一旦新建</a:t>
            </a:r>
            <a:r>
              <a:rPr lang="en-US" altLang="zh-CN" dirty="0"/>
              <a:t>/</a:t>
            </a:r>
            <a:r>
              <a:rPr lang="zh-CN" altLang="en-US" dirty="0"/>
              <a:t>删除</a:t>
            </a:r>
            <a:r>
              <a:rPr lang="zh-CN" altLang="en-US" dirty="0" smtClean="0"/>
              <a:t>用户，</a:t>
            </a:r>
            <a:r>
              <a:rPr lang="zh-CN" altLang="en-US" dirty="0"/>
              <a:t>难以处理</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35</a:t>
            </a:fld>
            <a:endParaRPr lang="zh-CN" altLang="en-US" dirty="0"/>
          </a:p>
        </p:txBody>
      </p:sp>
      <p:graphicFrame>
        <p:nvGraphicFramePr>
          <p:cNvPr id="8" name="表格 7"/>
          <p:cNvGraphicFramePr/>
          <p:nvPr>
            <p:extLst>
              <p:ext uri="{D42A27DB-BD31-4B8C-83A1-F6EECF244321}">
                <p14:modId xmlns:p14="http://schemas.microsoft.com/office/powerpoint/2010/main" val="3834575582"/>
              </p:ext>
            </p:extLst>
          </p:nvPr>
        </p:nvGraphicFramePr>
        <p:xfrm>
          <a:off x="2895600" y="4000334"/>
          <a:ext cx="3552825" cy="2460109"/>
        </p:xfrm>
        <a:graphic>
          <a:graphicData uri="http://schemas.openxmlformats.org/drawingml/2006/table">
            <a:tbl>
              <a:tblPr/>
              <a:tblGrid>
                <a:gridCol w="1287899"/>
                <a:gridCol w="2264926"/>
              </a:tblGrid>
              <a:tr h="61136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just" eaLnBrk="1" hangingPunct="1">
                        <a:buNone/>
                      </a:pPr>
                      <a:r>
                        <a:rPr lang="zh-CN" altLang="en-US" sz="1800" dirty="0">
                          <a:latin typeface="Arial" panose="020B0604020202020204" pitchFamily="34" charset="0"/>
                        </a:rPr>
                        <a:t>         用户</a:t>
                      </a:r>
                    </a:p>
                    <a:p>
                      <a:pPr lvl="0" algn="just" eaLnBrk="1" hangingPunct="1">
                        <a:buNone/>
                      </a:pPr>
                      <a:r>
                        <a:rPr lang="zh-CN" altLang="en-US" sz="1800" dirty="0">
                          <a:latin typeface="Arial" panose="020B0604020202020204" pitchFamily="34" charset="0"/>
                        </a:rPr>
                        <a:t>文件</a:t>
                      </a:r>
                      <a:endParaRPr lang="zh-CN" altLang="en-US" sz="1800" dirty="0">
                        <a:latin typeface="Tahoma" panose="020B0604030504040204" pitchFamily="34" charset="0"/>
                      </a:endParaRPr>
                    </a:p>
                  </a:txBody>
                  <a:tcPr marT="45733" marB="45733">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w="12700" cap="flat" cmpd="sng">
                      <a:solidFill>
                        <a:schemeClr val="tx1"/>
                      </a:solidFill>
                      <a:prstDash val="solid"/>
                      <a:miter/>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None/>
                      </a:pPr>
                      <a:r>
                        <a:rPr lang="en-US" altLang="zh-CN" sz="1800" dirty="0">
                          <a:latin typeface="Arial" panose="020B0604020202020204" pitchFamily="34" charset="0"/>
                        </a:rPr>
                        <a:t>A</a:t>
                      </a:r>
                      <a:r>
                        <a:rPr lang="zh-CN" altLang="en-US" sz="1800" dirty="0">
                          <a:latin typeface="Arial" panose="020B0604020202020204" pitchFamily="34" charset="0"/>
                        </a:rPr>
                        <a:t>组</a:t>
                      </a:r>
                      <a:endParaRPr lang="zh-CN" altLang="en-US" sz="1800" dirty="0">
                        <a:latin typeface="Tahoma" panose="020B0604030504040204" pitchFamily="34" charset="0"/>
                      </a:endParaRPr>
                    </a:p>
                  </a:txBody>
                  <a:tcPr marT="45733" marB="45733"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52437">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Arial" panose="020B0604020202020204" pitchFamily="34" charset="0"/>
                        </a:rPr>
                        <a:t>Sqrt</a:t>
                      </a:r>
                      <a:endParaRPr lang="zh-CN" altLang="en-US" sz="1800" dirty="0">
                        <a:latin typeface="Arial" panose="020B0604020202020204" pitchFamily="34" charset="0"/>
                      </a:endParaRPr>
                    </a:p>
                  </a:txBody>
                  <a:tcPr marT="45733" marB="45733"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None/>
                      </a:pPr>
                      <a:r>
                        <a:rPr lang="en-US" altLang="zh-CN" sz="1800" dirty="0">
                          <a:latin typeface="Arial" panose="020B0604020202020204" pitchFamily="34" charset="0"/>
                        </a:rPr>
                        <a:t>R、E</a:t>
                      </a:r>
                      <a:endParaRPr lang="zh-CN" altLang="en-US" sz="1800" dirty="0">
                        <a:latin typeface="Tahoma" panose="020B0604030504040204" pitchFamily="34" charset="0"/>
                      </a:endParaRPr>
                    </a:p>
                  </a:txBody>
                  <a:tcPr marT="45733" marB="45733"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37621">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Arial" panose="020B0604020202020204" pitchFamily="34" charset="0"/>
                        </a:rPr>
                        <a:t>Test</a:t>
                      </a:r>
                      <a:endParaRPr lang="zh-CN" altLang="en-US" sz="1800" dirty="0">
                        <a:latin typeface="Arial" panose="020B0604020202020204" pitchFamily="34" charset="0"/>
                      </a:endParaRPr>
                    </a:p>
                  </a:txBody>
                  <a:tcPr marT="45733" marB="45733"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None/>
                      </a:pPr>
                      <a:r>
                        <a:rPr lang="en-US" altLang="zh-CN" sz="1800" dirty="0">
                          <a:latin typeface="Arial" panose="020B0604020202020204" pitchFamily="34" charset="0"/>
                        </a:rPr>
                        <a:t>R、E</a:t>
                      </a:r>
                      <a:endParaRPr lang="zh-CN" altLang="en-US" sz="1800" dirty="0">
                        <a:latin typeface="Tahoma" panose="020B0604030504040204" pitchFamily="34" charset="0"/>
                      </a:endParaRPr>
                    </a:p>
                  </a:txBody>
                  <a:tcPr marT="45733" marB="45733"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6112">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Arial" panose="020B0604020202020204" pitchFamily="34" charset="0"/>
                        </a:rPr>
                        <a:t>Alpha</a:t>
                      </a:r>
                      <a:endParaRPr lang="zh-CN" altLang="en-US" sz="1800" dirty="0">
                        <a:latin typeface="Arial" panose="020B0604020202020204" pitchFamily="34" charset="0"/>
                      </a:endParaRPr>
                    </a:p>
                  </a:txBody>
                  <a:tcPr marT="45733" marB="45733"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None/>
                      </a:pPr>
                      <a:r>
                        <a:rPr lang="en-US" altLang="zh-CN" sz="1800" dirty="0">
                          <a:latin typeface="Arial" panose="020B0604020202020204" pitchFamily="34" charset="0"/>
                        </a:rPr>
                        <a:t>R</a:t>
                      </a:r>
                      <a:endParaRPr lang="zh-CN" altLang="en-US" sz="1800" dirty="0">
                        <a:latin typeface="Tahoma" panose="020B0604030504040204" pitchFamily="34" charset="0"/>
                      </a:endParaRPr>
                    </a:p>
                  </a:txBody>
                  <a:tcPr marT="45733" marB="45733"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383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Arial" panose="020B0604020202020204" pitchFamily="34" charset="0"/>
                        </a:rPr>
                        <a:t>Beta</a:t>
                      </a:r>
                      <a:endParaRPr lang="zh-CN" altLang="en-US" sz="1800" dirty="0">
                        <a:latin typeface="Arial" panose="020B0604020202020204" pitchFamily="34" charset="0"/>
                      </a:endParaRPr>
                    </a:p>
                  </a:txBody>
                  <a:tcPr marT="45733" marB="45733"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en-US" altLang="zh-CN" sz="1800" dirty="0">
                          <a:latin typeface="Tahoma" panose="020B0604030504040204" pitchFamily="34" charset="0"/>
                        </a:rPr>
                        <a:t>R</a:t>
                      </a:r>
                    </a:p>
                  </a:txBody>
                  <a:tcPr marT="45733" marB="45733"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7608956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其他保护方式</a:t>
            </a:r>
          </a:p>
        </p:txBody>
      </p:sp>
      <p:sp>
        <p:nvSpPr>
          <p:cNvPr id="10" name="内容占位符 9"/>
          <p:cNvSpPr>
            <a:spLocks noGrp="1"/>
          </p:cNvSpPr>
          <p:nvPr>
            <p:ph idx="1"/>
          </p:nvPr>
        </p:nvSpPr>
        <p:spPr/>
        <p:txBody>
          <a:bodyPr/>
          <a:lstStyle/>
          <a:p>
            <a:r>
              <a:rPr lang="zh-CN" altLang="en-US" dirty="0"/>
              <a:t>口令</a:t>
            </a:r>
          </a:p>
          <a:p>
            <a:pPr lvl="1"/>
            <a:r>
              <a:rPr lang="zh-CN" altLang="en-US" dirty="0"/>
              <a:t>文件主为其文件规定一个口令，用户请求访问某文件时，首先要提供该文件的口令</a:t>
            </a:r>
          </a:p>
          <a:p>
            <a:r>
              <a:rPr lang="zh-CN" altLang="en-US" dirty="0"/>
              <a:t>密码</a:t>
            </a:r>
          </a:p>
          <a:p>
            <a:pPr lvl="1"/>
            <a:r>
              <a:rPr lang="zh-CN" altLang="en-US" dirty="0"/>
              <a:t>对文件进行加密，但编码和译码要花费一定的时间</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36</a:t>
            </a:fld>
            <a:endParaRPr lang="zh-CN" altLang="en-US" dirty="0"/>
          </a:p>
        </p:txBody>
      </p:sp>
    </p:spTree>
    <p:extLst>
      <p:ext uri="{BB962C8B-B14F-4D97-AF65-F5344CB8AC3E}">
        <p14:creationId xmlns:p14="http://schemas.microsoft.com/office/powerpoint/2010/main" val="219095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第</a:t>
            </a:r>
            <a:r>
              <a:rPr lang="en-US" altLang="zh-CN" dirty="0"/>
              <a:t>13</a:t>
            </a:r>
            <a:r>
              <a:rPr lang="zh-CN" altLang="en-US" dirty="0"/>
              <a:t>章 文件系统接口</a:t>
            </a:r>
          </a:p>
        </p:txBody>
      </p:sp>
      <p:sp>
        <p:nvSpPr>
          <p:cNvPr id="7" name="内容占位符 6"/>
          <p:cNvSpPr>
            <a:spLocks noGrp="1"/>
          </p:cNvSpPr>
          <p:nvPr>
            <p:ph idx="1"/>
          </p:nvPr>
        </p:nvSpPr>
        <p:spPr/>
        <p:txBody>
          <a:bodyPr/>
          <a:lstStyle/>
          <a:p>
            <a:r>
              <a:rPr lang="zh-CN" altLang="en-US" dirty="0"/>
              <a:t>本章内容</a:t>
            </a:r>
            <a:endParaRPr lang="en-US" altLang="zh-CN" dirty="0"/>
          </a:p>
          <a:p>
            <a:r>
              <a:rPr lang="en-US" altLang="zh-CN" dirty="0"/>
              <a:t>1. </a:t>
            </a:r>
            <a:r>
              <a:rPr lang="zh-CN" altLang="en-US" dirty="0"/>
              <a:t>文件概念</a:t>
            </a:r>
            <a:endParaRPr lang="zh-CN" altLang="zh-CN" dirty="0"/>
          </a:p>
          <a:p>
            <a:r>
              <a:rPr lang="en-US" altLang="zh-CN" dirty="0"/>
              <a:t>2.</a:t>
            </a:r>
            <a:r>
              <a:rPr lang="zh-CN" altLang="en-US" dirty="0"/>
              <a:t> 访问方法</a:t>
            </a:r>
            <a:endParaRPr lang="en-US" altLang="zh-CN" dirty="0"/>
          </a:p>
          <a:p>
            <a:r>
              <a:rPr lang="en-US" altLang="zh-CN" dirty="0"/>
              <a:t>3.</a:t>
            </a:r>
            <a:r>
              <a:rPr lang="zh-CN" altLang="en-US" dirty="0"/>
              <a:t> 目录结构</a:t>
            </a:r>
            <a:endParaRPr lang="en-US" altLang="zh-CN" dirty="0"/>
          </a:p>
          <a:p>
            <a:r>
              <a:rPr lang="en-US" altLang="zh-CN" dirty="0"/>
              <a:t>4. </a:t>
            </a:r>
            <a:r>
              <a:rPr lang="zh-CN" altLang="en-US" dirty="0"/>
              <a:t>保护</a:t>
            </a:r>
            <a:endParaRPr lang="en-US" altLang="zh-CN" dirty="0"/>
          </a:p>
          <a:p>
            <a:r>
              <a:rPr lang="en-US" altLang="zh-CN" dirty="0">
                <a:solidFill>
                  <a:srgbClr val="FF0000"/>
                </a:solidFill>
              </a:rPr>
              <a:t>5. </a:t>
            </a:r>
            <a:r>
              <a:rPr lang="zh-CN" altLang="en-US" dirty="0">
                <a:solidFill>
                  <a:srgbClr val="FF0000"/>
                </a:solidFill>
              </a:rPr>
              <a:t>内存映射</a:t>
            </a:r>
            <a:r>
              <a:rPr lang="zh-CN" altLang="en-US" dirty="0" smtClean="0">
                <a:solidFill>
                  <a:srgbClr val="FF0000"/>
                </a:solidFill>
              </a:rPr>
              <a:t>文件</a:t>
            </a:r>
            <a:endParaRPr lang="en-US" altLang="zh-CN" dirty="0">
              <a:solidFill>
                <a:srgbClr val="FF0000"/>
              </a:solidFill>
            </a:endParaRP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37</a:t>
            </a:fld>
            <a:endParaRPr lang="zh-CN" altLang="en-US" dirty="0"/>
          </a:p>
        </p:txBody>
      </p:sp>
    </p:spTree>
    <p:extLst>
      <p:ext uri="{BB962C8B-B14F-4D97-AF65-F5344CB8AC3E}">
        <p14:creationId xmlns:p14="http://schemas.microsoft.com/office/powerpoint/2010/main" val="7456962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内存映射文件</a:t>
            </a:r>
            <a:endParaRPr lang="zh-CN" altLang="en-US" dirty="0"/>
          </a:p>
        </p:txBody>
      </p:sp>
      <p:sp>
        <p:nvSpPr>
          <p:cNvPr id="3" name="内容占位符 2"/>
          <p:cNvSpPr>
            <a:spLocks noGrp="1"/>
          </p:cNvSpPr>
          <p:nvPr>
            <p:ph idx="1"/>
          </p:nvPr>
        </p:nvSpPr>
        <p:spPr/>
        <p:txBody>
          <a:bodyPr/>
          <a:lstStyle/>
          <a:p>
            <a:r>
              <a:rPr lang="zh-CN" altLang="en-US" dirty="0"/>
              <a:t>通过将磁盘块映射到内存中的一页，允许文件</a:t>
            </a:r>
            <a:r>
              <a:rPr lang="en-US" altLang="zh-CN" dirty="0"/>
              <a:t>I/O</a:t>
            </a:r>
            <a:r>
              <a:rPr lang="zh-CN" altLang="en-US" dirty="0"/>
              <a:t>被处理为常规内存访问</a:t>
            </a:r>
          </a:p>
          <a:p>
            <a:pPr lvl="1"/>
            <a:r>
              <a:rPr lang="zh-CN" altLang="en-US" dirty="0"/>
              <a:t>对映射页的读写将触发页错误，进而请求调页，数据从相应的文件盘块读入物理页，随后即可在内存中开展数据读写</a:t>
            </a:r>
          </a:p>
          <a:p>
            <a:r>
              <a:rPr lang="zh-CN" altLang="en-US" dirty="0"/>
              <a:t>典型用途</a:t>
            </a:r>
          </a:p>
          <a:p>
            <a:pPr lvl="1"/>
            <a:r>
              <a:rPr lang="zh-CN" altLang="en-US" dirty="0"/>
              <a:t>可执行文件的载入运行</a:t>
            </a:r>
          </a:p>
          <a:p>
            <a:pPr lvl="1"/>
            <a:r>
              <a:rPr lang="zh-CN" altLang="en-US" dirty="0"/>
              <a:t>进程间通信（</a:t>
            </a:r>
            <a:r>
              <a:rPr lang="en-US" altLang="zh-CN" dirty="0"/>
              <a:t>IPC</a:t>
            </a:r>
            <a:r>
              <a:rPr lang="zh-CN" altLang="en-US" dirty="0"/>
              <a:t>）与共享内存‌</a:t>
            </a:r>
          </a:p>
          <a:p>
            <a:pPr lvl="1"/>
            <a:r>
              <a:rPr lang="zh-CN" altLang="en-US" dirty="0"/>
              <a:t>访问大文件或需要频繁随机访问的文件</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38</a:t>
            </a:fld>
            <a:endParaRPr lang="zh-CN" altLang="en-US" dirty="0"/>
          </a:p>
        </p:txBody>
      </p:sp>
    </p:spTree>
    <p:extLst>
      <p:ext uri="{BB962C8B-B14F-4D97-AF65-F5344CB8AC3E}">
        <p14:creationId xmlns:p14="http://schemas.microsoft.com/office/powerpoint/2010/main" val="5184431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内存映射文件</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39</a:t>
            </a:fld>
            <a:endParaRPr lang="zh-CN" altLang="en-US" dirty="0"/>
          </a:p>
        </p:txBody>
      </p:sp>
      <p:pic>
        <p:nvPicPr>
          <p:cNvPr id="5" name="图片 4"/>
          <p:cNvPicPr>
            <a:picLocks noChangeAspect="1"/>
          </p:cNvPicPr>
          <p:nvPr/>
        </p:nvPicPr>
        <p:blipFill>
          <a:blip r:embed="rId2"/>
          <a:stretch>
            <a:fillRect/>
          </a:stretch>
        </p:blipFill>
        <p:spPr>
          <a:xfrm>
            <a:off x="1490622" y="1571626"/>
            <a:ext cx="5936456" cy="4513421"/>
          </a:xfrm>
          <a:prstGeom prst="rect">
            <a:avLst/>
          </a:prstGeom>
        </p:spPr>
      </p:pic>
    </p:spTree>
    <p:extLst>
      <p:ext uri="{BB962C8B-B14F-4D97-AF65-F5344CB8AC3E}">
        <p14:creationId xmlns:p14="http://schemas.microsoft.com/office/powerpoint/2010/main" val="30215533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zh-CN" altLang="en-US" sz="4000" smtClean="0"/>
              <a:t>选择题</a:t>
            </a:r>
          </a:p>
        </p:txBody>
      </p:sp>
      <p:sp>
        <p:nvSpPr>
          <p:cNvPr id="99331" name="Rectangle 3"/>
          <p:cNvSpPr>
            <a:spLocks noGrp="1" noChangeArrowheads="1"/>
          </p:cNvSpPr>
          <p:nvPr>
            <p:ph idx="1"/>
          </p:nvPr>
        </p:nvSpPr>
        <p:spPr>
          <a:xfrm>
            <a:off x="900113" y="1196975"/>
            <a:ext cx="8004175" cy="4895850"/>
          </a:xfrm>
        </p:spPr>
        <p:txBody>
          <a:bodyPr/>
          <a:lstStyle/>
          <a:p>
            <a:pPr eaLnBrk="1" hangingPunct="1">
              <a:lnSpc>
                <a:spcPct val="90000"/>
              </a:lnSpc>
            </a:pPr>
            <a:r>
              <a:rPr lang="zh-CN" altLang="en-US" sz="2800" smtClean="0"/>
              <a:t>操作系统中对外存上的数据信息进行管理的部分叫做 </a:t>
            </a:r>
            <a:r>
              <a:rPr lang="en-US" altLang="zh-CN" sz="2800" smtClean="0"/>
              <a:t>_____ </a:t>
            </a:r>
            <a:r>
              <a:rPr lang="zh-CN" altLang="en-US" sz="2800" smtClean="0"/>
              <a:t>。</a:t>
            </a:r>
          </a:p>
          <a:p>
            <a:pPr eaLnBrk="1" hangingPunct="1">
              <a:lnSpc>
                <a:spcPct val="90000"/>
              </a:lnSpc>
              <a:buFont typeface="Wingdings" panose="05000000000000000000" pitchFamily="2" charset="2"/>
              <a:buNone/>
            </a:pPr>
            <a:r>
              <a:rPr lang="en-US" altLang="zh-CN" sz="2800" smtClean="0"/>
              <a:t>   A. </a:t>
            </a:r>
            <a:r>
              <a:rPr lang="zh-CN" altLang="en-US" sz="2800" smtClean="0"/>
              <a:t>数据库系统             </a:t>
            </a:r>
            <a:r>
              <a:rPr lang="en-US" altLang="zh-CN" sz="2800" smtClean="0"/>
              <a:t>B. </a:t>
            </a:r>
            <a:r>
              <a:rPr lang="zh-CN" altLang="en-US" sz="2800" smtClean="0"/>
              <a:t>文件系统</a:t>
            </a:r>
          </a:p>
          <a:p>
            <a:pPr eaLnBrk="1" hangingPunct="1">
              <a:lnSpc>
                <a:spcPct val="90000"/>
              </a:lnSpc>
              <a:buFont typeface="Wingdings" panose="05000000000000000000" pitchFamily="2" charset="2"/>
              <a:buNone/>
            </a:pPr>
            <a:r>
              <a:rPr lang="en-US" altLang="zh-CN" sz="2800" smtClean="0"/>
              <a:t>   C. </a:t>
            </a:r>
            <a:r>
              <a:rPr lang="zh-CN" altLang="en-US" sz="2800" smtClean="0"/>
              <a:t>检索系统                </a:t>
            </a:r>
            <a:r>
              <a:rPr lang="en-US" altLang="zh-CN" sz="2800" smtClean="0"/>
              <a:t>D. </a:t>
            </a:r>
            <a:r>
              <a:rPr lang="zh-CN" altLang="en-US" sz="2800" smtClean="0"/>
              <a:t>数据存储系统</a:t>
            </a:r>
          </a:p>
          <a:p>
            <a:pPr eaLnBrk="1" hangingPunct="1">
              <a:lnSpc>
                <a:spcPct val="90000"/>
              </a:lnSpc>
            </a:pPr>
            <a:r>
              <a:rPr lang="zh-CN" altLang="en-US" sz="2800" smtClean="0"/>
              <a:t>文件系统中，打开文件（</a:t>
            </a:r>
            <a:r>
              <a:rPr lang="en-US" altLang="zh-CN" sz="2800" smtClean="0"/>
              <a:t>open</a:t>
            </a:r>
            <a:r>
              <a:rPr lang="zh-CN" altLang="en-US" sz="2800" smtClean="0"/>
              <a:t>）操作的功能是 </a:t>
            </a:r>
            <a:r>
              <a:rPr lang="zh-CN" altLang="en-US" sz="2800" u="sng" smtClean="0"/>
              <a:t>     </a:t>
            </a:r>
            <a:r>
              <a:rPr lang="zh-CN" altLang="en-US" sz="2800" smtClean="0"/>
              <a:t> 。 </a:t>
            </a:r>
          </a:p>
          <a:p>
            <a:pPr eaLnBrk="1" hangingPunct="1">
              <a:lnSpc>
                <a:spcPct val="90000"/>
              </a:lnSpc>
              <a:buFont typeface="Wingdings" panose="05000000000000000000" pitchFamily="2" charset="2"/>
              <a:buNone/>
            </a:pPr>
            <a:r>
              <a:rPr lang="en-US" altLang="zh-CN" sz="2800" smtClean="0"/>
              <a:t>   A. </a:t>
            </a:r>
            <a:r>
              <a:rPr lang="zh-CN" altLang="en-US" sz="2800" smtClean="0"/>
              <a:t>把文件信息从辅存读到内存</a:t>
            </a:r>
          </a:p>
          <a:p>
            <a:pPr eaLnBrk="1" hangingPunct="1">
              <a:lnSpc>
                <a:spcPct val="90000"/>
              </a:lnSpc>
              <a:buFont typeface="Wingdings" panose="05000000000000000000" pitchFamily="2" charset="2"/>
              <a:buNone/>
            </a:pPr>
            <a:r>
              <a:rPr lang="en-US" altLang="zh-CN" sz="2800" smtClean="0"/>
              <a:t>   B. </a:t>
            </a:r>
            <a:r>
              <a:rPr lang="zh-CN" altLang="en-US" sz="2800" smtClean="0"/>
              <a:t>把磁盘的超级块从辅存读到内存</a:t>
            </a:r>
          </a:p>
          <a:p>
            <a:pPr eaLnBrk="1" hangingPunct="1">
              <a:lnSpc>
                <a:spcPct val="90000"/>
              </a:lnSpc>
              <a:buFont typeface="Wingdings" panose="05000000000000000000" pitchFamily="2" charset="2"/>
              <a:buNone/>
            </a:pPr>
            <a:r>
              <a:rPr lang="en-US" altLang="zh-CN" sz="2800" smtClean="0"/>
              <a:t>   C. </a:t>
            </a:r>
            <a:r>
              <a:rPr lang="zh-CN" altLang="en-US" sz="2800" smtClean="0"/>
              <a:t>把文件的</a:t>
            </a:r>
            <a:r>
              <a:rPr lang="en-US" altLang="zh-CN" sz="2800" smtClean="0"/>
              <a:t>FAT</a:t>
            </a:r>
            <a:r>
              <a:rPr lang="zh-CN" altLang="en-US" sz="2800" smtClean="0"/>
              <a:t>表信息从辅存读到内存</a:t>
            </a:r>
          </a:p>
          <a:p>
            <a:pPr eaLnBrk="1" hangingPunct="1">
              <a:lnSpc>
                <a:spcPct val="90000"/>
              </a:lnSpc>
              <a:buFont typeface="Wingdings" panose="05000000000000000000" pitchFamily="2" charset="2"/>
              <a:buNone/>
            </a:pPr>
            <a:r>
              <a:rPr lang="en-US" altLang="zh-CN" sz="2800" smtClean="0"/>
              <a:t>   D. </a:t>
            </a:r>
            <a:r>
              <a:rPr lang="zh-CN" altLang="en-US" sz="2800" smtClean="0"/>
              <a:t>把文件的控制管理信息从辅存读到内存</a:t>
            </a:r>
          </a:p>
          <a:p>
            <a:pPr eaLnBrk="1" hangingPunct="1">
              <a:lnSpc>
                <a:spcPct val="90000"/>
              </a:lnSpc>
              <a:buFont typeface="Wingdings" panose="05000000000000000000" pitchFamily="2" charset="2"/>
              <a:buNone/>
            </a:pPr>
            <a:endParaRPr lang="zh-CN" altLang="en-US" sz="2800" smtClean="0"/>
          </a:p>
        </p:txBody>
      </p:sp>
      <p:sp>
        <p:nvSpPr>
          <p:cNvPr id="2" name="灯片编号占位符 1"/>
          <p:cNvSpPr>
            <a:spLocks noGrp="1"/>
          </p:cNvSpPr>
          <p:nvPr>
            <p:ph type="sldNum" sz="quarter" idx="12"/>
          </p:nvPr>
        </p:nvSpPr>
        <p:spPr/>
        <p:txBody>
          <a:bodyPr/>
          <a:lstStyle/>
          <a:p>
            <a:pPr>
              <a:defRPr/>
            </a:pPr>
            <a:fld id="{41464A45-84E2-44B0-BA8E-9C2C939B3B99}" type="slidenum">
              <a:rPr lang="zh-CN" altLang="en-US"/>
              <a:pPr>
                <a:defRPr/>
              </a:pPr>
              <a:t>40</a:t>
            </a:fld>
            <a:endParaRPr lang="zh-CN" altLang="en-US"/>
          </a:p>
        </p:txBody>
      </p:sp>
    </p:spTree>
    <p:extLst>
      <p:ext uri="{BB962C8B-B14F-4D97-AF65-F5344CB8AC3E}">
        <p14:creationId xmlns:p14="http://schemas.microsoft.com/office/powerpoint/2010/main" val="3148699304"/>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zh-CN" altLang="en-US" sz="4000" smtClean="0"/>
              <a:t>选择题</a:t>
            </a:r>
            <a:r>
              <a:rPr lang="en-US" altLang="zh-CN" sz="4000" smtClean="0"/>
              <a:t>2</a:t>
            </a:r>
          </a:p>
        </p:txBody>
      </p:sp>
      <p:sp>
        <p:nvSpPr>
          <p:cNvPr id="100355" name="Rectangle 3"/>
          <p:cNvSpPr>
            <a:spLocks noGrp="1" noChangeArrowheads="1"/>
          </p:cNvSpPr>
          <p:nvPr>
            <p:ph idx="1"/>
          </p:nvPr>
        </p:nvSpPr>
        <p:spPr>
          <a:xfrm>
            <a:off x="900113" y="1196975"/>
            <a:ext cx="8004175" cy="4895850"/>
          </a:xfrm>
        </p:spPr>
        <p:txBody>
          <a:bodyPr/>
          <a:lstStyle/>
          <a:p>
            <a:pPr eaLnBrk="1" hangingPunct="1">
              <a:lnSpc>
                <a:spcPct val="90000"/>
              </a:lnSpc>
            </a:pPr>
            <a:r>
              <a:rPr lang="zh-CN" altLang="en-US" sz="2800" smtClean="0"/>
              <a:t>文件的绝对路径名是指 </a:t>
            </a:r>
            <a:r>
              <a:rPr lang="en-US" altLang="zh-CN" sz="2800" smtClean="0"/>
              <a:t>_____ </a:t>
            </a:r>
            <a:r>
              <a:rPr lang="zh-CN" altLang="en-US" sz="2800" smtClean="0"/>
              <a:t>。</a:t>
            </a:r>
          </a:p>
          <a:p>
            <a:pPr eaLnBrk="1" hangingPunct="1">
              <a:lnSpc>
                <a:spcPct val="90000"/>
              </a:lnSpc>
              <a:buFont typeface="Wingdings" panose="05000000000000000000" pitchFamily="2" charset="2"/>
              <a:buNone/>
            </a:pPr>
            <a:r>
              <a:rPr lang="en-US" altLang="zh-CN" sz="2800" smtClean="0"/>
              <a:t>   A. </a:t>
            </a:r>
            <a:r>
              <a:rPr lang="zh-CN" altLang="en-US" sz="2800" smtClean="0"/>
              <a:t>文件名和文件扩展名</a:t>
            </a:r>
          </a:p>
          <a:p>
            <a:pPr eaLnBrk="1" hangingPunct="1">
              <a:lnSpc>
                <a:spcPct val="90000"/>
              </a:lnSpc>
              <a:buFont typeface="Wingdings" panose="05000000000000000000" pitchFamily="2" charset="2"/>
              <a:buNone/>
            </a:pPr>
            <a:r>
              <a:rPr lang="en-US" altLang="zh-CN" sz="2800" smtClean="0"/>
              <a:t>   B. </a:t>
            </a:r>
            <a:r>
              <a:rPr lang="zh-CN" altLang="en-US" sz="2800" smtClean="0"/>
              <a:t>一系列的目录文件名和该文件的文件名</a:t>
            </a:r>
          </a:p>
          <a:p>
            <a:pPr eaLnBrk="1" hangingPunct="1">
              <a:lnSpc>
                <a:spcPct val="90000"/>
              </a:lnSpc>
              <a:buFont typeface="Wingdings" panose="05000000000000000000" pitchFamily="2" charset="2"/>
              <a:buNone/>
            </a:pPr>
            <a:r>
              <a:rPr lang="en-US" altLang="zh-CN" sz="2800" smtClean="0"/>
              <a:t>   C. </a:t>
            </a:r>
            <a:r>
              <a:rPr lang="zh-CN" altLang="en-US" sz="2800" smtClean="0"/>
              <a:t>从根目录到该文件所经历的路径中各符号名的集合</a:t>
            </a:r>
          </a:p>
          <a:p>
            <a:pPr eaLnBrk="1" hangingPunct="1">
              <a:lnSpc>
                <a:spcPct val="90000"/>
              </a:lnSpc>
              <a:buFont typeface="Wingdings" panose="05000000000000000000" pitchFamily="2" charset="2"/>
              <a:buNone/>
            </a:pPr>
            <a:r>
              <a:rPr lang="en-US" altLang="zh-CN" sz="2800" smtClean="0"/>
              <a:t>   D. </a:t>
            </a:r>
            <a:r>
              <a:rPr lang="zh-CN" altLang="en-US" sz="2800" smtClean="0"/>
              <a:t>目录文件名和文件名的集合</a:t>
            </a:r>
          </a:p>
          <a:p>
            <a:pPr eaLnBrk="1" hangingPunct="1">
              <a:lnSpc>
                <a:spcPct val="90000"/>
              </a:lnSpc>
            </a:pPr>
            <a:r>
              <a:rPr lang="zh-CN" altLang="en-US" sz="2800" smtClean="0"/>
              <a:t>为了解决不同用户文件的</a:t>
            </a:r>
            <a:r>
              <a:rPr lang="zh-CN" altLang="en-US" sz="2800" smtClean="0">
                <a:latin typeface="Times New Roman" panose="02020603050405020304" pitchFamily="18" charset="0"/>
              </a:rPr>
              <a:t>“</a:t>
            </a:r>
            <a:r>
              <a:rPr lang="zh-CN" altLang="en-US" sz="2800" smtClean="0"/>
              <a:t>命名冲突</a:t>
            </a:r>
            <a:r>
              <a:rPr lang="zh-CN" altLang="en-US" sz="2800" smtClean="0">
                <a:latin typeface="Times New Roman" panose="02020603050405020304" pitchFamily="18" charset="0"/>
              </a:rPr>
              <a:t>”</a:t>
            </a:r>
            <a:r>
              <a:rPr lang="zh-CN" altLang="en-US" sz="2800" smtClean="0"/>
              <a:t>问题，通常在文件系统中采用 </a:t>
            </a:r>
            <a:r>
              <a:rPr lang="en-US" altLang="zh-CN" sz="2800" smtClean="0"/>
              <a:t>_____ </a:t>
            </a:r>
            <a:r>
              <a:rPr lang="zh-CN" altLang="en-US" sz="2800" smtClean="0"/>
              <a:t>。</a:t>
            </a:r>
          </a:p>
          <a:p>
            <a:pPr eaLnBrk="1" hangingPunct="1">
              <a:lnSpc>
                <a:spcPct val="90000"/>
              </a:lnSpc>
              <a:buFont typeface="Wingdings" panose="05000000000000000000" pitchFamily="2" charset="2"/>
              <a:buNone/>
            </a:pPr>
            <a:r>
              <a:rPr lang="en-US" altLang="zh-CN" sz="2800" smtClean="0"/>
              <a:t>   A. </a:t>
            </a:r>
            <a:r>
              <a:rPr lang="zh-CN" altLang="en-US" sz="2800" smtClean="0"/>
              <a:t>约定的方法        </a:t>
            </a:r>
            <a:r>
              <a:rPr lang="en-US" altLang="zh-CN" sz="2800" smtClean="0"/>
              <a:t>B. </a:t>
            </a:r>
            <a:r>
              <a:rPr lang="zh-CN" altLang="en-US" sz="2800" smtClean="0"/>
              <a:t>多级目录</a:t>
            </a:r>
          </a:p>
          <a:p>
            <a:pPr eaLnBrk="1" hangingPunct="1">
              <a:lnSpc>
                <a:spcPct val="90000"/>
              </a:lnSpc>
              <a:buFont typeface="Wingdings" panose="05000000000000000000" pitchFamily="2" charset="2"/>
              <a:buNone/>
            </a:pPr>
            <a:r>
              <a:rPr lang="en-US" altLang="zh-CN" sz="2800" smtClean="0"/>
              <a:t>   C. </a:t>
            </a:r>
            <a:r>
              <a:rPr lang="zh-CN" altLang="en-US" sz="2800" smtClean="0"/>
              <a:t>路径                  </a:t>
            </a:r>
            <a:r>
              <a:rPr lang="en-US" altLang="zh-CN" sz="2800" smtClean="0"/>
              <a:t>D. </a:t>
            </a:r>
            <a:r>
              <a:rPr lang="zh-CN" altLang="en-US" sz="2800" smtClean="0"/>
              <a:t>索引</a:t>
            </a:r>
          </a:p>
        </p:txBody>
      </p:sp>
      <p:sp>
        <p:nvSpPr>
          <p:cNvPr id="2" name="灯片编号占位符 1"/>
          <p:cNvSpPr>
            <a:spLocks noGrp="1"/>
          </p:cNvSpPr>
          <p:nvPr>
            <p:ph type="sldNum" sz="quarter" idx="12"/>
          </p:nvPr>
        </p:nvSpPr>
        <p:spPr/>
        <p:txBody>
          <a:bodyPr/>
          <a:lstStyle/>
          <a:p>
            <a:pPr>
              <a:defRPr/>
            </a:pPr>
            <a:fld id="{50FF2686-980A-4248-8681-3D70AC9A0B43}" type="slidenum">
              <a:rPr lang="zh-CN" altLang="en-US"/>
              <a:pPr>
                <a:defRPr/>
              </a:pPr>
              <a:t>41</a:t>
            </a:fld>
            <a:endParaRPr lang="zh-CN" altLang="en-US"/>
          </a:p>
        </p:txBody>
      </p:sp>
    </p:spTree>
    <p:extLst>
      <p:ext uri="{BB962C8B-B14F-4D97-AF65-F5344CB8AC3E}">
        <p14:creationId xmlns:p14="http://schemas.microsoft.com/office/powerpoint/2010/main" val="676043344"/>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zh-CN" altLang="en-US" sz="4000" smtClean="0"/>
              <a:t>选择题</a:t>
            </a:r>
            <a:r>
              <a:rPr lang="en-US" altLang="zh-CN" sz="4000" smtClean="0"/>
              <a:t>3</a:t>
            </a:r>
          </a:p>
        </p:txBody>
      </p:sp>
      <p:sp>
        <p:nvSpPr>
          <p:cNvPr id="101379" name="Rectangle 3"/>
          <p:cNvSpPr>
            <a:spLocks noGrp="1" noChangeArrowheads="1"/>
          </p:cNvSpPr>
          <p:nvPr>
            <p:ph idx="1"/>
          </p:nvPr>
        </p:nvSpPr>
        <p:spPr>
          <a:xfrm>
            <a:off x="900113" y="1196975"/>
            <a:ext cx="8004175" cy="4895850"/>
          </a:xfrm>
        </p:spPr>
        <p:txBody>
          <a:bodyPr/>
          <a:lstStyle/>
          <a:p>
            <a:pPr eaLnBrk="1" hangingPunct="1"/>
            <a:r>
              <a:rPr lang="zh-CN" altLang="en-US" sz="2800" smtClean="0"/>
              <a:t>一个文件的相对路径名是从 </a:t>
            </a:r>
            <a:r>
              <a:rPr lang="en-US" altLang="zh-CN" sz="2800" smtClean="0"/>
              <a:t>_____ </a:t>
            </a:r>
            <a:r>
              <a:rPr lang="zh-CN" altLang="en-US" sz="2800" smtClean="0"/>
              <a:t>开始，逐步沿着各级子目录追溯，最后到指定文件的整个通路上所有子目录名组成的一个字符串。</a:t>
            </a:r>
          </a:p>
          <a:p>
            <a:pPr eaLnBrk="1" hangingPunct="1">
              <a:buFont typeface="Wingdings" panose="05000000000000000000" pitchFamily="2" charset="2"/>
              <a:buNone/>
            </a:pPr>
            <a:r>
              <a:rPr lang="en-US" altLang="zh-CN" sz="2800" smtClean="0"/>
              <a:t>   A. </a:t>
            </a:r>
            <a:r>
              <a:rPr lang="zh-CN" altLang="en-US" sz="2800" smtClean="0"/>
              <a:t>当前目录              </a:t>
            </a:r>
            <a:r>
              <a:rPr lang="en-US" altLang="zh-CN" sz="2800" smtClean="0"/>
              <a:t>B. </a:t>
            </a:r>
            <a:r>
              <a:rPr lang="zh-CN" altLang="en-US" sz="2800" smtClean="0"/>
              <a:t>根目录</a:t>
            </a:r>
          </a:p>
          <a:p>
            <a:pPr eaLnBrk="1" hangingPunct="1">
              <a:buFont typeface="Wingdings" panose="05000000000000000000" pitchFamily="2" charset="2"/>
              <a:buNone/>
            </a:pPr>
            <a:r>
              <a:rPr lang="en-US" altLang="zh-CN" sz="2800" smtClean="0"/>
              <a:t>   C. </a:t>
            </a:r>
            <a:r>
              <a:rPr lang="zh-CN" altLang="en-US" sz="2800" smtClean="0"/>
              <a:t>二级目录              </a:t>
            </a:r>
            <a:r>
              <a:rPr lang="en-US" altLang="zh-CN" sz="2800" smtClean="0"/>
              <a:t>D. </a:t>
            </a:r>
            <a:r>
              <a:rPr lang="zh-CN" altLang="en-US" sz="2800" smtClean="0"/>
              <a:t>多级目录</a:t>
            </a:r>
          </a:p>
          <a:p>
            <a:pPr eaLnBrk="1" hangingPunct="1"/>
            <a:r>
              <a:rPr lang="zh-CN" altLang="en-US" sz="2800" smtClean="0"/>
              <a:t>使用文件前必须先 </a:t>
            </a:r>
            <a:r>
              <a:rPr lang="zh-CN" altLang="en-US" sz="2800" u="sng" smtClean="0"/>
              <a:t>  ①  </a:t>
            </a:r>
            <a:r>
              <a:rPr lang="zh-CN" altLang="en-US" sz="2800" smtClean="0"/>
              <a:t> 文件，文件使用完毕后应该 </a:t>
            </a:r>
            <a:r>
              <a:rPr lang="zh-CN" altLang="en-US" sz="2800" u="sng" smtClean="0"/>
              <a:t>  ②  </a:t>
            </a:r>
            <a:r>
              <a:rPr lang="zh-CN" altLang="en-US" sz="2800" smtClean="0"/>
              <a:t> 。</a:t>
            </a:r>
          </a:p>
          <a:p>
            <a:pPr eaLnBrk="1" hangingPunct="1">
              <a:buFont typeface="Wingdings" panose="05000000000000000000" pitchFamily="2" charset="2"/>
              <a:buNone/>
            </a:pPr>
            <a:r>
              <a:rPr lang="en-US" altLang="zh-CN" sz="2800" smtClean="0"/>
              <a:t>   A. </a:t>
            </a:r>
            <a:r>
              <a:rPr lang="zh-CN" altLang="en-US" sz="2800" smtClean="0"/>
              <a:t>建立          </a:t>
            </a:r>
            <a:r>
              <a:rPr lang="en-US" altLang="zh-CN" sz="2800" smtClean="0"/>
              <a:t>B. </a:t>
            </a:r>
            <a:r>
              <a:rPr lang="zh-CN" altLang="en-US" sz="2800" smtClean="0"/>
              <a:t>打开</a:t>
            </a:r>
          </a:p>
          <a:p>
            <a:pPr eaLnBrk="1" hangingPunct="1">
              <a:buFont typeface="Wingdings" panose="05000000000000000000" pitchFamily="2" charset="2"/>
              <a:buNone/>
            </a:pPr>
            <a:r>
              <a:rPr lang="en-US" altLang="zh-CN" sz="2800" smtClean="0"/>
              <a:t>   C. </a:t>
            </a:r>
            <a:r>
              <a:rPr lang="zh-CN" altLang="en-US" sz="2800" smtClean="0"/>
              <a:t>命名          </a:t>
            </a:r>
            <a:r>
              <a:rPr lang="en-US" altLang="zh-CN" sz="2800" smtClean="0"/>
              <a:t>D. </a:t>
            </a:r>
            <a:r>
              <a:rPr lang="zh-CN" altLang="en-US" sz="2800" smtClean="0"/>
              <a:t>关闭</a:t>
            </a:r>
          </a:p>
        </p:txBody>
      </p:sp>
      <p:sp>
        <p:nvSpPr>
          <p:cNvPr id="2" name="灯片编号占位符 1"/>
          <p:cNvSpPr>
            <a:spLocks noGrp="1"/>
          </p:cNvSpPr>
          <p:nvPr>
            <p:ph type="sldNum" sz="quarter" idx="12"/>
          </p:nvPr>
        </p:nvSpPr>
        <p:spPr/>
        <p:txBody>
          <a:bodyPr/>
          <a:lstStyle/>
          <a:p>
            <a:pPr>
              <a:defRPr/>
            </a:pPr>
            <a:fld id="{E9314F84-46E0-4DCA-B164-742E688DA46B}" type="slidenum">
              <a:rPr lang="zh-CN" altLang="en-US"/>
              <a:pPr>
                <a:defRPr/>
              </a:pPr>
              <a:t>42</a:t>
            </a:fld>
            <a:endParaRPr lang="zh-CN" altLang="en-US"/>
          </a:p>
        </p:txBody>
      </p:sp>
    </p:spTree>
    <p:extLst>
      <p:ext uri="{BB962C8B-B14F-4D97-AF65-F5344CB8AC3E}">
        <p14:creationId xmlns:p14="http://schemas.microsoft.com/office/powerpoint/2010/main" val="1434575864"/>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zh-CN" altLang="en-US" sz="4000" smtClean="0"/>
              <a:t>选择题</a:t>
            </a:r>
            <a:r>
              <a:rPr lang="en-US" altLang="zh-CN" sz="4000" smtClean="0"/>
              <a:t>4</a:t>
            </a:r>
          </a:p>
        </p:txBody>
      </p:sp>
      <p:sp>
        <p:nvSpPr>
          <p:cNvPr id="102403" name="Rectangle 3"/>
          <p:cNvSpPr>
            <a:spLocks noGrp="1" noChangeArrowheads="1"/>
          </p:cNvSpPr>
          <p:nvPr>
            <p:ph idx="1"/>
          </p:nvPr>
        </p:nvSpPr>
        <p:spPr>
          <a:xfrm>
            <a:off x="684213" y="1125538"/>
            <a:ext cx="8220075" cy="4895850"/>
          </a:xfrm>
        </p:spPr>
        <p:txBody>
          <a:bodyPr/>
          <a:lstStyle/>
          <a:p>
            <a:pPr marL="533400" indent="-533400" eaLnBrk="1" hangingPunct="1">
              <a:lnSpc>
                <a:spcPct val="80000"/>
              </a:lnSpc>
            </a:pPr>
            <a:r>
              <a:rPr lang="zh-CN" altLang="en-US" sz="2800" dirty="0" smtClean="0"/>
              <a:t>文件系统采用二级目录结构，这样可以 </a:t>
            </a:r>
            <a:r>
              <a:rPr lang="en-US" altLang="zh-CN" sz="2800" dirty="0" smtClean="0"/>
              <a:t>_____ </a:t>
            </a:r>
            <a:r>
              <a:rPr lang="zh-CN" altLang="en-US" sz="2800" dirty="0" smtClean="0"/>
              <a:t>。</a:t>
            </a:r>
          </a:p>
          <a:p>
            <a:pPr marL="533400" indent="-533400" eaLnBrk="1" hangingPunct="1">
              <a:lnSpc>
                <a:spcPct val="80000"/>
              </a:lnSpc>
              <a:buFont typeface="Wingdings" panose="05000000000000000000" pitchFamily="2" charset="2"/>
              <a:buNone/>
            </a:pPr>
            <a:r>
              <a:rPr lang="zh-CN" altLang="en-US" sz="2800" dirty="0" smtClean="0"/>
              <a:t>    </a:t>
            </a:r>
            <a:r>
              <a:rPr lang="en-US" altLang="zh-CN" sz="2800" dirty="0" smtClean="0"/>
              <a:t>A.</a:t>
            </a:r>
            <a:r>
              <a:rPr lang="zh-CN" altLang="en-US" sz="2800" dirty="0" smtClean="0"/>
              <a:t> 缩短访问文件存储器时间 </a:t>
            </a:r>
          </a:p>
          <a:p>
            <a:pPr marL="533400" indent="-533400" eaLnBrk="1" hangingPunct="1">
              <a:lnSpc>
                <a:spcPct val="80000"/>
              </a:lnSpc>
              <a:buFont typeface="Wingdings" panose="05000000000000000000" pitchFamily="2" charset="2"/>
              <a:buNone/>
            </a:pPr>
            <a:r>
              <a:rPr lang="en-US" altLang="zh-CN" sz="2800" dirty="0" smtClean="0"/>
              <a:t>    B. </a:t>
            </a:r>
            <a:r>
              <a:rPr lang="zh-CN" altLang="en-US" sz="2800" dirty="0" smtClean="0"/>
              <a:t>实现文件共享</a:t>
            </a:r>
          </a:p>
          <a:p>
            <a:pPr marL="533400" indent="-533400" eaLnBrk="1" hangingPunct="1">
              <a:lnSpc>
                <a:spcPct val="80000"/>
              </a:lnSpc>
              <a:buFont typeface="Wingdings" panose="05000000000000000000" pitchFamily="2" charset="2"/>
              <a:buNone/>
            </a:pPr>
            <a:r>
              <a:rPr lang="en-US" altLang="zh-CN" sz="2800" dirty="0" smtClean="0"/>
              <a:t>    C. </a:t>
            </a:r>
            <a:r>
              <a:rPr lang="zh-CN" altLang="en-US" sz="2800" dirty="0" smtClean="0"/>
              <a:t>解决不同用户之间的文件名冲突问题</a:t>
            </a:r>
          </a:p>
          <a:p>
            <a:pPr marL="533400" indent="-533400" eaLnBrk="1" hangingPunct="1">
              <a:lnSpc>
                <a:spcPct val="80000"/>
              </a:lnSpc>
              <a:buFont typeface="Wingdings" panose="05000000000000000000" pitchFamily="2" charset="2"/>
              <a:buNone/>
            </a:pPr>
            <a:r>
              <a:rPr lang="zh-CN" altLang="en-US" sz="2800" dirty="0" smtClean="0"/>
              <a:t>    </a:t>
            </a:r>
            <a:r>
              <a:rPr lang="en-US" altLang="zh-CN" sz="2800" dirty="0" smtClean="0"/>
              <a:t>D.</a:t>
            </a:r>
            <a:r>
              <a:rPr lang="zh-CN" altLang="en-US" sz="2800" dirty="0" smtClean="0"/>
              <a:t>节省主存空间</a:t>
            </a:r>
          </a:p>
        </p:txBody>
      </p:sp>
      <p:sp>
        <p:nvSpPr>
          <p:cNvPr id="2" name="灯片编号占位符 1"/>
          <p:cNvSpPr>
            <a:spLocks noGrp="1"/>
          </p:cNvSpPr>
          <p:nvPr>
            <p:ph type="sldNum" sz="quarter" idx="12"/>
          </p:nvPr>
        </p:nvSpPr>
        <p:spPr/>
        <p:txBody>
          <a:bodyPr/>
          <a:lstStyle/>
          <a:p>
            <a:pPr>
              <a:defRPr/>
            </a:pPr>
            <a:fld id="{720E79A0-DD42-4040-9D46-4124B87DEF0C}" type="slidenum">
              <a:rPr lang="zh-CN" altLang="en-US"/>
              <a:pPr>
                <a:defRPr/>
              </a:pPr>
              <a:t>43</a:t>
            </a:fld>
            <a:endParaRPr lang="zh-CN" altLang="en-US"/>
          </a:p>
        </p:txBody>
      </p:sp>
    </p:spTree>
    <p:extLst>
      <p:ext uri="{BB962C8B-B14F-4D97-AF65-F5344CB8AC3E}">
        <p14:creationId xmlns:p14="http://schemas.microsoft.com/office/powerpoint/2010/main" val="1717273735"/>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r>
              <a:rPr lang="zh-CN" altLang="en-US" sz="4000" smtClean="0"/>
              <a:t>选择题</a:t>
            </a:r>
            <a:r>
              <a:rPr lang="en-US" altLang="zh-CN" sz="4000" smtClean="0"/>
              <a:t>5</a:t>
            </a:r>
          </a:p>
        </p:txBody>
      </p:sp>
      <p:sp>
        <p:nvSpPr>
          <p:cNvPr id="103427" name="Rectangle 3"/>
          <p:cNvSpPr>
            <a:spLocks noGrp="1" noChangeArrowheads="1"/>
          </p:cNvSpPr>
          <p:nvPr>
            <p:ph idx="1"/>
          </p:nvPr>
        </p:nvSpPr>
        <p:spPr>
          <a:xfrm>
            <a:off x="900113" y="1125538"/>
            <a:ext cx="8004175" cy="4895850"/>
          </a:xfrm>
        </p:spPr>
        <p:txBody>
          <a:bodyPr/>
          <a:lstStyle/>
          <a:p>
            <a:pPr eaLnBrk="1" hangingPunct="1"/>
            <a:r>
              <a:rPr lang="zh-CN" altLang="en-US" smtClean="0"/>
              <a:t>常用的文件存取方法有两种：顺序存取和 </a:t>
            </a:r>
            <a:r>
              <a:rPr lang="en-US" altLang="zh-CN" smtClean="0"/>
              <a:t>_____ </a:t>
            </a:r>
            <a:r>
              <a:rPr lang="zh-CN" altLang="en-US" smtClean="0"/>
              <a:t>存取。</a:t>
            </a:r>
          </a:p>
          <a:p>
            <a:pPr eaLnBrk="1" hangingPunct="1">
              <a:buFont typeface="Wingdings" panose="05000000000000000000" pitchFamily="2" charset="2"/>
              <a:buNone/>
            </a:pPr>
            <a:r>
              <a:rPr lang="en-US" altLang="zh-CN" smtClean="0"/>
              <a:t>   A. </a:t>
            </a:r>
            <a:r>
              <a:rPr lang="zh-CN" altLang="en-US" smtClean="0"/>
              <a:t>流式            </a:t>
            </a:r>
            <a:r>
              <a:rPr lang="en-US" altLang="zh-CN" smtClean="0"/>
              <a:t>B. </a:t>
            </a:r>
            <a:r>
              <a:rPr lang="zh-CN" altLang="en-US" smtClean="0"/>
              <a:t>串联</a:t>
            </a:r>
          </a:p>
          <a:p>
            <a:pPr eaLnBrk="1" hangingPunct="1">
              <a:buFont typeface="Wingdings" panose="05000000000000000000" pitchFamily="2" charset="2"/>
              <a:buNone/>
            </a:pPr>
            <a:r>
              <a:rPr lang="en-US" altLang="zh-CN" smtClean="0"/>
              <a:t>   C. </a:t>
            </a:r>
            <a:r>
              <a:rPr lang="zh-CN" altLang="en-US" smtClean="0"/>
              <a:t>记录            </a:t>
            </a:r>
            <a:r>
              <a:rPr lang="en-US" altLang="zh-CN" smtClean="0"/>
              <a:t>D. </a:t>
            </a:r>
            <a:r>
              <a:rPr lang="zh-CN" altLang="en-US" smtClean="0"/>
              <a:t>随机</a:t>
            </a:r>
          </a:p>
        </p:txBody>
      </p:sp>
      <p:sp>
        <p:nvSpPr>
          <p:cNvPr id="2" name="灯片编号占位符 1"/>
          <p:cNvSpPr>
            <a:spLocks noGrp="1"/>
          </p:cNvSpPr>
          <p:nvPr>
            <p:ph type="sldNum" sz="quarter" idx="12"/>
          </p:nvPr>
        </p:nvSpPr>
        <p:spPr/>
        <p:txBody>
          <a:bodyPr/>
          <a:lstStyle/>
          <a:p>
            <a:pPr>
              <a:defRPr/>
            </a:pPr>
            <a:fld id="{1B2F79B9-6FF1-4AA0-9975-F69B7935A296}" type="slidenum">
              <a:rPr lang="zh-CN" altLang="en-US"/>
              <a:pPr>
                <a:defRPr/>
              </a:pPr>
              <a:t>44</a:t>
            </a:fld>
            <a:endParaRPr lang="zh-CN" altLang="en-US"/>
          </a:p>
        </p:txBody>
      </p:sp>
    </p:spTree>
    <p:extLst>
      <p:ext uri="{BB962C8B-B14F-4D97-AF65-F5344CB8AC3E}">
        <p14:creationId xmlns:p14="http://schemas.microsoft.com/office/powerpoint/2010/main" val="3532701929"/>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zh-CN" altLang="en-US" sz="4000" smtClean="0"/>
              <a:t>填空题</a:t>
            </a:r>
          </a:p>
        </p:txBody>
      </p:sp>
      <p:sp>
        <p:nvSpPr>
          <p:cNvPr id="104451" name="Rectangle 3"/>
          <p:cNvSpPr>
            <a:spLocks noGrp="1" noChangeArrowheads="1"/>
          </p:cNvSpPr>
          <p:nvPr>
            <p:ph idx="1"/>
          </p:nvPr>
        </p:nvSpPr>
        <p:spPr>
          <a:xfrm>
            <a:off x="755650" y="1125538"/>
            <a:ext cx="8148638" cy="4895850"/>
          </a:xfrm>
        </p:spPr>
        <p:txBody>
          <a:bodyPr/>
          <a:lstStyle/>
          <a:p>
            <a:pPr eaLnBrk="1" hangingPunct="1"/>
            <a:r>
              <a:rPr lang="zh-CN" altLang="en-US" dirty="0" smtClean="0"/>
              <a:t>逻辑文件有两种类型，即 </a:t>
            </a:r>
            <a:r>
              <a:rPr lang="zh-CN" altLang="en-US" u="sng" dirty="0" smtClean="0"/>
              <a:t>  ①  </a:t>
            </a:r>
            <a:r>
              <a:rPr lang="zh-CN" altLang="en-US" dirty="0" smtClean="0"/>
              <a:t> 文件与 </a:t>
            </a:r>
            <a:r>
              <a:rPr lang="zh-CN" altLang="en-US" u="sng" dirty="0" smtClean="0"/>
              <a:t>  ②  </a:t>
            </a:r>
            <a:r>
              <a:rPr lang="zh-CN" altLang="en-US" dirty="0" smtClean="0"/>
              <a:t> 文件。</a:t>
            </a:r>
          </a:p>
        </p:txBody>
      </p:sp>
      <p:sp>
        <p:nvSpPr>
          <p:cNvPr id="2" name="灯片编号占位符 1"/>
          <p:cNvSpPr>
            <a:spLocks noGrp="1"/>
          </p:cNvSpPr>
          <p:nvPr>
            <p:ph type="sldNum" sz="quarter" idx="12"/>
          </p:nvPr>
        </p:nvSpPr>
        <p:spPr/>
        <p:txBody>
          <a:bodyPr/>
          <a:lstStyle/>
          <a:p>
            <a:pPr>
              <a:defRPr/>
            </a:pPr>
            <a:fld id="{E9B62A05-921B-453C-B75E-D26050BFE97D}" type="slidenum">
              <a:rPr lang="zh-CN" altLang="en-US"/>
              <a:pPr>
                <a:defRPr/>
              </a:pPr>
              <a:t>45</a:t>
            </a:fld>
            <a:endParaRPr lang="zh-CN" altLang="en-US"/>
          </a:p>
        </p:txBody>
      </p:sp>
    </p:spTree>
    <p:extLst>
      <p:ext uri="{BB962C8B-B14F-4D97-AF65-F5344CB8AC3E}">
        <p14:creationId xmlns:p14="http://schemas.microsoft.com/office/powerpoint/2010/main" val="1756000220"/>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r>
              <a:rPr lang="zh-CN" altLang="en-US" sz="4000" smtClean="0"/>
              <a:t>填空题</a:t>
            </a:r>
            <a:r>
              <a:rPr lang="en-US" altLang="zh-CN" sz="4000" smtClean="0"/>
              <a:t>2</a:t>
            </a:r>
          </a:p>
        </p:txBody>
      </p:sp>
      <p:sp>
        <p:nvSpPr>
          <p:cNvPr id="105475" name="Rectangle 3"/>
          <p:cNvSpPr>
            <a:spLocks noGrp="1" noChangeArrowheads="1"/>
          </p:cNvSpPr>
          <p:nvPr>
            <p:ph idx="1"/>
          </p:nvPr>
        </p:nvSpPr>
        <p:spPr>
          <a:xfrm>
            <a:off x="755650" y="1125538"/>
            <a:ext cx="8148638" cy="4895850"/>
          </a:xfrm>
        </p:spPr>
        <p:txBody>
          <a:bodyPr/>
          <a:lstStyle/>
          <a:p>
            <a:pPr eaLnBrk="1" hangingPunct="1"/>
            <a:r>
              <a:rPr lang="zh-CN" altLang="en-US" dirty="0" smtClean="0"/>
              <a:t>文件的结构就是文件的组织形式，从用户观点出发所看到的文件组织形式称为文件的 </a:t>
            </a:r>
            <a:r>
              <a:rPr lang="zh-CN" altLang="en-US" u="sng" dirty="0" smtClean="0"/>
              <a:t>  ①  </a:t>
            </a:r>
            <a:r>
              <a:rPr lang="zh-CN" altLang="en-US" dirty="0" smtClean="0"/>
              <a:t>；从实现观点出发，文件在外存上的存放组织形式称为文件的 </a:t>
            </a:r>
            <a:r>
              <a:rPr lang="zh-CN" altLang="en-US" u="sng" dirty="0" smtClean="0"/>
              <a:t>  ②  </a:t>
            </a:r>
            <a:r>
              <a:rPr lang="zh-CN" altLang="en-US" dirty="0" smtClean="0"/>
              <a:t>。</a:t>
            </a:r>
          </a:p>
          <a:p>
            <a:pPr eaLnBrk="1" hangingPunct="1"/>
            <a:r>
              <a:rPr lang="zh-CN" altLang="en-US" dirty="0" smtClean="0"/>
              <a:t>二级目录结构通常由</a:t>
            </a:r>
            <a:r>
              <a:rPr lang="zh-CN" altLang="en-US" u="sng" dirty="0" smtClean="0"/>
              <a:t>  ①  </a:t>
            </a:r>
            <a:r>
              <a:rPr lang="zh-CN" altLang="en-US" dirty="0" smtClean="0"/>
              <a:t> 和各用户的 </a:t>
            </a:r>
            <a:r>
              <a:rPr lang="zh-CN" altLang="en-US" u="sng" dirty="0" smtClean="0"/>
              <a:t>  ②  </a:t>
            </a:r>
            <a:r>
              <a:rPr lang="zh-CN" altLang="en-US" dirty="0" smtClean="0"/>
              <a:t> 组成。</a:t>
            </a:r>
          </a:p>
        </p:txBody>
      </p:sp>
      <p:sp>
        <p:nvSpPr>
          <p:cNvPr id="2" name="灯片编号占位符 1"/>
          <p:cNvSpPr>
            <a:spLocks noGrp="1"/>
          </p:cNvSpPr>
          <p:nvPr>
            <p:ph type="sldNum" sz="quarter" idx="12"/>
          </p:nvPr>
        </p:nvSpPr>
        <p:spPr/>
        <p:txBody>
          <a:bodyPr/>
          <a:lstStyle/>
          <a:p>
            <a:pPr>
              <a:defRPr/>
            </a:pPr>
            <a:fld id="{4521733D-38C3-4B94-B680-0AA8323042B2}" type="slidenum">
              <a:rPr lang="zh-CN" altLang="en-US"/>
              <a:pPr>
                <a:defRPr/>
              </a:pPr>
              <a:t>46</a:t>
            </a:fld>
            <a:endParaRPr lang="zh-CN" altLang="en-US"/>
          </a:p>
        </p:txBody>
      </p:sp>
    </p:spTree>
    <p:extLst>
      <p:ext uri="{BB962C8B-B14F-4D97-AF65-F5344CB8AC3E}">
        <p14:creationId xmlns:p14="http://schemas.microsoft.com/office/powerpoint/2010/main" val="227178040"/>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zh-CN" altLang="en-US" sz="4000" smtClean="0"/>
              <a:t>填空题</a:t>
            </a:r>
            <a:r>
              <a:rPr lang="en-US" altLang="zh-CN" sz="4000" smtClean="0"/>
              <a:t>3</a:t>
            </a:r>
          </a:p>
        </p:txBody>
      </p:sp>
      <p:sp>
        <p:nvSpPr>
          <p:cNvPr id="106499" name="Rectangle 3"/>
          <p:cNvSpPr>
            <a:spLocks noGrp="1" noChangeArrowheads="1"/>
          </p:cNvSpPr>
          <p:nvPr>
            <p:ph idx="1"/>
          </p:nvPr>
        </p:nvSpPr>
        <p:spPr>
          <a:xfrm>
            <a:off x="827088" y="1125538"/>
            <a:ext cx="8077200" cy="4895850"/>
          </a:xfrm>
        </p:spPr>
        <p:txBody>
          <a:bodyPr/>
          <a:lstStyle/>
          <a:p>
            <a:pPr eaLnBrk="1" hangingPunct="1"/>
            <a:r>
              <a:rPr lang="zh-CN" altLang="en-US" dirty="0" smtClean="0"/>
              <a:t>按用户对文件的存取权限将用户分为若干组，同时规定每一组用户对文件的访问权限。这样，所有用户组存取权限的集合称为该文件的 </a:t>
            </a:r>
            <a:r>
              <a:rPr lang="en-US" altLang="zh-CN" dirty="0" smtClean="0"/>
              <a:t>_____ </a:t>
            </a:r>
            <a:r>
              <a:rPr lang="zh-CN" altLang="en-US" dirty="0" smtClean="0"/>
              <a:t>。 </a:t>
            </a:r>
          </a:p>
        </p:txBody>
      </p:sp>
      <p:sp>
        <p:nvSpPr>
          <p:cNvPr id="2" name="灯片编号占位符 1"/>
          <p:cNvSpPr>
            <a:spLocks noGrp="1"/>
          </p:cNvSpPr>
          <p:nvPr>
            <p:ph type="sldNum" sz="quarter" idx="12"/>
          </p:nvPr>
        </p:nvSpPr>
        <p:spPr/>
        <p:txBody>
          <a:bodyPr/>
          <a:lstStyle/>
          <a:p>
            <a:pPr>
              <a:defRPr/>
            </a:pPr>
            <a:fld id="{DB3FDD96-B8A0-4999-B7A0-F574DFAA582A}" type="slidenum">
              <a:rPr lang="zh-CN" altLang="en-US"/>
              <a:pPr>
                <a:defRPr/>
              </a:pPr>
              <a:t>47</a:t>
            </a:fld>
            <a:endParaRPr lang="zh-CN" altLang="en-US"/>
          </a:p>
        </p:txBody>
      </p:sp>
    </p:spTree>
    <p:extLst>
      <p:ext uri="{BB962C8B-B14F-4D97-AF65-F5344CB8AC3E}">
        <p14:creationId xmlns:p14="http://schemas.microsoft.com/office/powerpoint/2010/main" val="1344692548"/>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zh-CN" altLang="en-US" sz="4000" smtClean="0"/>
              <a:t>考研题</a:t>
            </a:r>
            <a:r>
              <a:rPr lang="en-US" altLang="zh-CN" sz="4000" smtClean="0"/>
              <a:t>1</a:t>
            </a:r>
          </a:p>
        </p:txBody>
      </p:sp>
      <p:sp>
        <p:nvSpPr>
          <p:cNvPr id="107523" name="Rectangle 3"/>
          <p:cNvSpPr>
            <a:spLocks noGrp="1" noChangeArrowheads="1"/>
          </p:cNvSpPr>
          <p:nvPr>
            <p:ph idx="1"/>
          </p:nvPr>
        </p:nvSpPr>
        <p:spPr>
          <a:xfrm>
            <a:off x="611188" y="1125538"/>
            <a:ext cx="8293100" cy="4895850"/>
          </a:xfrm>
        </p:spPr>
        <p:txBody>
          <a:bodyPr/>
          <a:lstStyle/>
          <a:p>
            <a:pPr eaLnBrk="1" hangingPunct="1"/>
            <a:r>
              <a:rPr lang="zh-CN" altLang="en-US" dirty="0" smtClean="0"/>
              <a:t>设置当前工作目录的主要目的是</a:t>
            </a:r>
            <a:r>
              <a:rPr lang="zh-CN" altLang="en-US" u="sng" dirty="0" smtClean="0"/>
              <a:t>      </a:t>
            </a:r>
            <a:r>
              <a:rPr lang="zh-CN" altLang="en-US" dirty="0" smtClean="0"/>
              <a:t>。</a:t>
            </a:r>
            <a:r>
              <a:rPr lang="en-US" altLang="zh-CN" dirty="0" smtClean="0"/>
              <a:t>10</a:t>
            </a:r>
          </a:p>
          <a:p>
            <a:pPr eaLnBrk="1" hangingPunct="1">
              <a:buFont typeface="Wingdings" panose="05000000000000000000" pitchFamily="2" charset="2"/>
              <a:buNone/>
            </a:pPr>
            <a:r>
              <a:rPr lang="en-US" altLang="zh-CN" sz="2800" dirty="0" smtClean="0"/>
              <a:t>A. </a:t>
            </a:r>
            <a:r>
              <a:rPr lang="zh-CN" altLang="en-US" sz="2800" dirty="0" smtClean="0"/>
              <a:t>节省外存空间		   </a:t>
            </a:r>
            <a:r>
              <a:rPr lang="en-US" altLang="zh-CN" sz="2800" dirty="0" smtClean="0"/>
              <a:t>B. </a:t>
            </a:r>
            <a:r>
              <a:rPr lang="zh-CN" altLang="en-US" sz="2800" dirty="0" smtClean="0"/>
              <a:t>节省内存空间</a:t>
            </a:r>
          </a:p>
          <a:p>
            <a:pPr eaLnBrk="1" hangingPunct="1">
              <a:buFont typeface="Wingdings" panose="05000000000000000000" pitchFamily="2" charset="2"/>
              <a:buNone/>
            </a:pPr>
            <a:r>
              <a:rPr lang="en-US" altLang="zh-CN" sz="2800" dirty="0" smtClean="0"/>
              <a:t>C. </a:t>
            </a:r>
            <a:r>
              <a:rPr lang="zh-CN" altLang="en-US" sz="2800" dirty="0" smtClean="0"/>
              <a:t>加快文件的检索速度	   </a:t>
            </a:r>
            <a:r>
              <a:rPr lang="en-US" altLang="zh-CN" sz="2800" dirty="0" smtClean="0"/>
              <a:t>D. </a:t>
            </a:r>
            <a:r>
              <a:rPr lang="zh-CN" altLang="en-US" sz="2800" dirty="0" smtClean="0"/>
              <a:t>加快文件的读</a:t>
            </a:r>
            <a:r>
              <a:rPr lang="en-US" altLang="zh-CN" sz="2800" dirty="0" smtClean="0"/>
              <a:t>/</a:t>
            </a:r>
            <a:r>
              <a:rPr lang="zh-CN" altLang="en-US" sz="2800" dirty="0" smtClean="0"/>
              <a:t>写速度</a:t>
            </a:r>
            <a:endParaRPr lang="zh-CN" altLang="en-US" dirty="0" smtClean="0"/>
          </a:p>
        </p:txBody>
      </p:sp>
      <p:sp>
        <p:nvSpPr>
          <p:cNvPr id="2" name="灯片编号占位符 1"/>
          <p:cNvSpPr>
            <a:spLocks noGrp="1"/>
          </p:cNvSpPr>
          <p:nvPr>
            <p:ph type="sldNum" sz="quarter" idx="12"/>
          </p:nvPr>
        </p:nvSpPr>
        <p:spPr/>
        <p:txBody>
          <a:bodyPr/>
          <a:lstStyle/>
          <a:p>
            <a:pPr>
              <a:defRPr/>
            </a:pPr>
            <a:fld id="{A1E43B21-A318-4A92-BE28-8F8488F868D3}" type="slidenum">
              <a:rPr lang="zh-CN" altLang="en-US"/>
              <a:pPr>
                <a:defRPr/>
              </a:pPr>
              <a:t>48</a:t>
            </a:fld>
            <a:endParaRPr lang="zh-CN" altLang="en-US"/>
          </a:p>
        </p:txBody>
      </p:sp>
    </p:spTree>
    <p:extLst>
      <p:ext uri="{BB962C8B-B14F-4D97-AF65-F5344CB8AC3E}">
        <p14:creationId xmlns:p14="http://schemas.microsoft.com/office/powerpoint/2010/main" val="2948275550"/>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zh-CN" altLang="en-US" sz="4000" smtClean="0"/>
              <a:t>考研题</a:t>
            </a:r>
            <a:r>
              <a:rPr lang="en-US" altLang="zh-CN" sz="4000" smtClean="0"/>
              <a:t>2</a:t>
            </a:r>
          </a:p>
        </p:txBody>
      </p:sp>
      <p:sp>
        <p:nvSpPr>
          <p:cNvPr id="108547" name="Rectangle 3"/>
          <p:cNvSpPr>
            <a:spLocks noGrp="1" noChangeArrowheads="1"/>
          </p:cNvSpPr>
          <p:nvPr>
            <p:ph idx="1"/>
          </p:nvPr>
        </p:nvSpPr>
        <p:spPr>
          <a:xfrm>
            <a:off x="827088" y="1125538"/>
            <a:ext cx="8077200" cy="4895850"/>
          </a:xfrm>
        </p:spPr>
        <p:txBody>
          <a:bodyPr/>
          <a:lstStyle/>
          <a:p>
            <a:pPr eaLnBrk="1" hangingPunct="1"/>
            <a:r>
              <a:rPr lang="zh-CN" altLang="en-US" sz="2800" dirty="0" smtClean="0"/>
              <a:t>文件系统中，文件访问控制信息存储的合理位置是（）。</a:t>
            </a:r>
            <a:r>
              <a:rPr lang="en-US" altLang="zh-CN" sz="2800" dirty="0" smtClean="0"/>
              <a:t>09</a:t>
            </a:r>
          </a:p>
          <a:p>
            <a:pPr eaLnBrk="1" hangingPunct="1">
              <a:buFont typeface="Wingdings" panose="05000000000000000000" pitchFamily="2" charset="2"/>
              <a:buNone/>
            </a:pPr>
            <a:r>
              <a:rPr lang="en-US" altLang="zh-CN" sz="2800" dirty="0" smtClean="0"/>
              <a:t>   A</a:t>
            </a:r>
            <a:r>
              <a:rPr lang="zh-CN" altLang="en-US" sz="2800" dirty="0" smtClean="0"/>
              <a:t>、文件控制块     </a:t>
            </a:r>
            <a:r>
              <a:rPr lang="en-US" altLang="zh-CN" sz="2800" dirty="0" smtClean="0"/>
              <a:t>B</a:t>
            </a:r>
            <a:r>
              <a:rPr lang="zh-CN" altLang="en-US" sz="2800" dirty="0" smtClean="0"/>
              <a:t>、文件分配表</a:t>
            </a:r>
          </a:p>
          <a:p>
            <a:pPr eaLnBrk="1" hangingPunct="1">
              <a:buFont typeface="Wingdings" panose="05000000000000000000" pitchFamily="2" charset="2"/>
              <a:buNone/>
            </a:pPr>
            <a:r>
              <a:rPr lang="zh-CN" altLang="en-US" sz="2800" dirty="0" smtClean="0"/>
              <a:t>   </a:t>
            </a:r>
            <a:r>
              <a:rPr lang="en-US" altLang="zh-CN" sz="2800" dirty="0" smtClean="0"/>
              <a:t>C</a:t>
            </a:r>
            <a:r>
              <a:rPr lang="zh-CN" altLang="en-US" sz="2800" dirty="0" smtClean="0"/>
              <a:t>、用户口令表     </a:t>
            </a:r>
            <a:r>
              <a:rPr lang="en-US" altLang="zh-CN" sz="2800" dirty="0" smtClean="0"/>
              <a:t>D</a:t>
            </a:r>
            <a:r>
              <a:rPr lang="zh-CN" altLang="en-US" sz="2800" dirty="0" smtClean="0"/>
              <a:t>、系统注册表</a:t>
            </a:r>
          </a:p>
          <a:p>
            <a:pPr eaLnBrk="1" hangingPunct="1"/>
            <a:r>
              <a:rPr lang="zh-CN" altLang="en-US" sz="2800" smtClean="0"/>
              <a:t>设文件</a:t>
            </a:r>
            <a:r>
              <a:rPr lang="en-US" altLang="zh-CN" sz="2800" smtClean="0"/>
              <a:t>F1</a:t>
            </a:r>
            <a:r>
              <a:rPr lang="zh-CN" altLang="en-US" sz="2800" smtClean="0"/>
              <a:t>的当前连接计数为</a:t>
            </a:r>
            <a:r>
              <a:rPr lang="en-US" altLang="zh-CN" sz="2800" smtClean="0"/>
              <a:t>1</a:t>
            </a:r>
            <a:r>
              <a:rPr lang="zh-CN" altLang="en-US" sz="2800" smtClean="0"/>
              <a:t>，先建立</a:t>
            </a:r>
            <a:r>
              <a:rPr lang="en-US" altLang="zh-CN" sz="2800" smtClean="0"/>
              <a:t>F1</a:t>
            </a:r>
            <a:r>
              <a:rPr lang="zh-CN" altLang="en-US" sz="2800" smtClean="0"/>
              <a:t>的符号链接（软连接）文件</a:t>
            </a:r>
            <a:r>
              <a:rPr lang="en-US" altLang="zh-CN" sz="2800" smtClean="0"/>
              <a:t>F2</a:t>
            </a:r>
            <a:r>
              <a:rPr lang="zh-CN" altLang="en-US" sz="2800" smtClean="0"/>
              <a:t>，再建立</a:t>
            </a:r>
            <a:r>
              <a:rPr lang="en-US" altLang="zh-CN" sz="2800" smtClean="0"/>
              <a:t>F1</a:t>
            </a:r>
            <a:r>
              <a:rPr lang="zh-CN" altLang="en-US" sz="2800" smtClean="0"/>
              <a:t>的硬链接文件</a:t>
            </a:r>
            <a:r>
              <a:rPr lang="en-US" altLang="zh-CN" sz="2800" smtClean="0"/>
              <a:t>F3</a:t>
            </a:r>
            <a:r>
              <a:rPr lang="zh-CN" altLang="en-US" sz="2800" smtClean="0"/>
              <a:t>，然后删除</a:t>
            </a:r>
            <a:r>
              <a:rPr lang="en-US" altLang="zh-CN" sz="2800" smtClean="0"/>
              <a:t>F1</a:t>
            </a:r>
            <a:r>
              <a:rPr lang="zh-CN" altLang="en-US" sz="2800" smtClean="0"/>
              <a:t>。此时</a:t>
            </a:r>
            <a:r>
              <a:rPr lang="en-US" altLang="zh-CN" sz="2800" smtClean="0"/>
              <a:t>F2</a:t>
            </a:r>
            <a:r>
              <a:rPr lang="zh-CN" altLang="en-US" sz="2800" smtClean="0"/>
              <a:t>和</a:t>
            </a:r>
            <a:r>
              <a:rPr lang="en-US" altLang="zh-CN" sz="2800" smtClean="0"/>
              <a:t>F3</a:t>
            </a:r>
            <a:r>
              <a:rPr lang="zh-CN" altLang="en-US" sz="2800" smtClean="0"/>
              <a:t>的连接计数值分别是（）。</a:t>
            </a:r>
            <a:r>
              <a:rPr lang="en-US" altLang="zh-CN" sz="2800" smtClean="0"/>
              <a:t>09</a:t>
            </a:r>
          </a:p>
          <a:p>
            <a:pPr eaLnBrk="1" hangingPunct="1">
              <a:buFont typeface="Wingdings" panose="05000000000000000000" pitchFamily="2" charset="2"/>
              <a:buNone/>
            </a:pPr>
            <a:r>
              <a:rPr lang="en-US" altLang="zh-CN" sz="2800" smtClean="0"/>
              <a:t>   A</a:t>
            </a:r>
            <a:r>
              <a:rPr lang="zh-CN" altLang="en-US" sz="2800" smtClean="0"/>
              <a:t>、</a:t>
            </a:r>
            <a:r>
              <a:rPr lang="en-US" altLang="zh-CN" sz="2800" smtClean="0"/>
              <a:t>0</a:t>
            </a:r>
            <a:r>
              <a:rPr lang="zh-CN" altLang="en-US" sz="2800" smtClean="0"/>
              <a:t>、</a:t>
            </a:r>
            <a:r>
              <a:rPr lang="en-US" altLang="zh-CN" sz="2800" smtClean="0"/>
              <a:t>1        B</a:t>
            </a:r>
            <a:r>
              <a:rPr lang="zh-CN" altLang="en-US" sz="2800" smtClean="0"/>
              <a:t>、</a:t>
            </a:r>
            <a:r>
              <a:rPr lang="en-US" altLang="zh-CN" sz="2800" smtClean="0"/>
              <a:t>1</a:t>
            </a:r>
            <a:r>
              <a:rPr lang="zh-CN" altLang="en-US" sz="2800" smtClean="0"/>
              <a:t>、</a:t>
            </a:r>
            <a:r>
              <a:rPr lang="en-US" altLang="zh-CN" sz="2800" smtClean="0"/>
              <a:t>1</a:t>
            </a:r>
          </a:p>
          <a:p>
            <a:pPr eaLnBrk="1" hangingPunct="1">
              <a:buFont typeface="Wingdings" panose="05000000000000000000" pitchFamily="2" charset="2"/>
              <a:buNone/>
            </a:pPr>
            <a:r>
              <a:rPr lang="en-US" altLang="zh-CN" sz="2800" smtClean="0"/>
              <a:t>   C</a:t>
            </a:r>
            <a:r>
              <a:rPr lang="zh-CN" altLang="en-US" sz="2800" smtClean="0"/>
              <a:t>、</a:t>
            </a:r>
            <a:r>
              <a:rPr lang="en-US" altLang="zh-CN" sz="2800" smtClean="0"/>
              <a:t>1</a:t>
            </a:r>
            <a:r>
              <a:rPr lang="zh-CN" altLang="en-US" sz="2800" smtClean="0"/>
              <a:t>、</a:t>
            </a:r>
            <a:r>
              <a:rPr lang="en-US" altLang="zh-CN" sz="2800" smtClean="0"/>
              <a:t>2        D</a:t>
            </a:r>
            <a:r>
              <a:rPr lang="zh-CN" altLang="en-US" sz="2800" smtClean="0"/>
              <a:t>、</a:t>
            </a:r>
            <a:r>
              <a:rPr lang="en-US" altLang="zh-CN" sz="2800" smtClean="0"/>
              <a:t>2</a:t>
            </a:r>
            <a:r>
              <a:rPr lang="zh-CN" altLang="en-US" sz="2800" smtClean="0"/>
              <a:t>、</a:t>
            </a:r>
            <a:r>
              <a:rPr lang="en-US" altLang="zh-CN" sz="2800" smtClean="0"/>
              <a:t>1</a:t>
            </a:r>
            <a:endParaRPr lang="zh-CN" altLang="en-US" sz="2800" dirty="0" smtClean="0"/>
          </a:p>
        </p:txBody>
      </p:sp>
      <p:sp>
        <p:nvSpPr>
          <p:cNvPr id="2" name="灯片编号占位符 1"/>
          <p:cNvSpPr>
            <a:spLocks noGrp="1"/>
          </p:cNvSpPr>
          <p:nvPr>
            <p:ph type="sldNum" sz="quarter" idx="12"/>
          </p:nvPr>
        </p:nvSpPr>
        <p:spPr/>
        <p:txBody>
          <a:bodyPr/>
          <a:lstStyle/>
          <a:p>
            <a:pPr>
              <a:defRPr/>
            </a:pPr>
            <a:fld id="{25FA915F-7225-47CA-A376-5E6B6A7C8ECE}" type="slidenum">
              <a:rPr lang="zh-CN" altLang="en-US"/>
              <a:pPr>
                <a:defRPr/>
              </a:pPr>
              <a:t>49</a:t>
            </a:fld>
            <a:endParaRPr lang="zh-CN" altLang="en-US"/>
          </a:p>
        </p:txBody>
      </p:sp>
    </p:spTree>
    <p:extLst>
      <p:ext uri="{BB962C8B-B14F-4D97-AF65-F5344CB8AC3E}">
        <p14:creationId xmlns:p14="http://schemas.microsoft.com/office/powerpoint/2010/main" val="2818342488"/>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r>
              <a:rPr lang="zh-CN" altLang="en-US" smtClean="0"/>
              <a:t>考研题</a:t>
            </a:r>
            <a:r>
              <a:rPr lang="en-US" altLang="zh-CN" smtClean="0"/>
              <a:t>3</a:t>
            </a:r>
            <a:endParaRPr lang="zh-CN" altLang="en-US" smtClean="0"/>
          </a:p>
        </p:txBody>
      </p:sp>
      <p:sp>
        <p:nvSpPr>
          <p:cNvPr id="111619" name="Rectangle 3"/>
          <p:cNvSpPr>
            <a:spLocks noGrp="1" noChangeArrowheads="1"/>
          </p:cNvSpPr>
          <p:nvPr>
            <p:ph idx="1"/>
          </p:nvPr>
        </p:nvSpPr>
        <p:spPr>
          <a:xfrm>
            <a:off x="468313" y="1125538"/>
            <a:ext cx="8496300" cy="5507037"/>
          </a:xfrm>
        </p:spPr>
        <p:txBody>
          <a:bodyPr/>
          <a:lstStyle/>
          <a:p>
            <a:pPr eaLnBrk="1" hangingPunct="1"/>
            <a:r>
              <a:rPr lang="zh-CN" altLang="zh-CN" smtClean="0"/>
              <a:t>若一个用户进程通过</a:t>
            </a:r>
            <a:r>
              <a:rPr lang="en-US" altLang="zh-CN" smtClean="0"/>
              <a:t>read</a:t>
            </a:r>
            <a:r>
              <a:rPr lang="zh-CN" altLang="en-US" smtClean="0"/>
              <a:t>系统调用读取一个磁盘文件中的数据，则下列关于此过程的叙述中，正确的是  </a:t>
            </a:r>
            <a:r>
              <a:rPr lang="en-US" altLang="zh-CN" smtClean="0"/>
              <a:t>12</a:t>
            </a:r>
          </a:p>
          <a:p>
            <a:pPr lvl="1" eaLnBrk="1" hangingPunct="1">
              <a:buFont typeface="Wingdings" panose="05000000000000000000" pitchFamily="2" charset="2"/>
              <a:buNone/>
            </a:pPr>
            <a:r>
              <a:rPr lang="en-US" altLang="zh-CN" smtClean="0"/>
              <a:t>Ⅰ.</a:t>
            </a:r>
            <a:r>
              <a:rPr lang="zh-CN" altLang="en-US" smtClean="0"/>
              <a:t>若该文件的数据不在内存，则该进程进入睡眠等待状态</a:t>
            </a:r>
          </a:p>
          <a:p>
            <a:pPr lvl="1" eaLnBrk="1" hangingPunct="1">
              <a:buFont typeface="Wingdings" panose="05000000000000000000" pitchFamily="2" charset="2"/>
              <a:buNone/>
            </a:pPr>
            <a:r>
              <a:rPr lang="en-US" altLang="zh-CN" smtClean="0"/>
              <a:t>Ⅱ.</a:t>
            </a:r>
            <a:r>
              <a:rPr lang="zh-CN" altLang="en-US" smtClean="0"/>
              <a:t>请求</a:t>
            </a:r>
            <a:r>
              <a:rPr lang="en-US" altLang="zh-CN" smtClean="0"/>
              <a:t>read</a:t>
            </a:r>
            <a:r>
              <a:rPr lang="zh-CN" altLang="en-US" smtClean="0"/>
              <a:t>系统调用会导致</a:t>
            </a:r>
            <a:r>
              <a:rPr lang="en-US" altLang="zh-CN" smtClean="0"/>
              <a:t>CPU</a:t>
            </a:r>
            <a:r>
              <a:rPr lang="zh-CN" altLang="en-US" smtClean="0"/>
              <a:t>从用户态切换到核心态</a:t>
            </a:r>
          </a:p>
          <a:p>
            <a:pPr lvl="1" eaLnBrk="1" hangingPunct="1">
              <a:buFont typeface="Wingdings" panose="05000000000000000000" pitchFamily="2" charset="2"/>
              <a:buNone/>
            </a:pPr>
            <a:r>
              <a:rPr lang="en-US" altLang="zh-CN" smtClean="0"/>
              <a:t>Ⅲ.read</a:t>
            </a:r>
            <a:r>
              <a:rPr lang="zh-CN" altLang="en-US" smtClean="0"/>
              <a:t>系统调用的参数应包括文件的名称</a:t>
            </a:r>
          </a:p>
          <a:p>
            <a:pPr lvl="1" eaLnBrk="1" hangingPunct="1"/>
            <a:r>
              <a:rPr lang="en-US" altLang="zh-CN" sz="3200" smtClean="0"/>
              <a:t>A.</a:t>
            </a:r>
            <a:r>
              <a:rPr lang="zh-CN" altLang="en-US" sz="3200" smtClean="0"/>
              <a:t>仅</a:t>
            </a:r>
            <a:r>
              <a:rPr lang="en-US" altLang="zh-CN" sz="3200" smtClean="0"/>
              <a:t>Ⅰ</a:t>
            </a:r>
            <a:r>
              <a:rPr lang="zh-CN" altLang="en-US" sz="3200" smtClean="0"/>
              <a:t>，</a:t>
            </a:r>
            <a:r>
              <a:rPr lang="en-US" altLang="zh-CN" sz="3200" smtClean="0"/>
              <a:t>Ⅱ      B.</a:t>
            </a:r>
            <a:r>
              <a:rPr lang="zh-CN" altLang="en-US" sz="3200" smtClean="0"/>
              <a:t>仅</a:t>
            </a:r>
            <a:r>
              <a:rPr lang="en-US" altLang="zh-CN" sz="3200" smtClean="0"/>
              <a:t>Ⅰ</a:t>
            </a:r>
            <a:r>
              <a:rPr lang="zh-CN" altLang="en-US" sz="3200" smtClean="0"/>
              <a:t>，</a:t>
            </a:r>
            <a:r>
              <a:rPr lang="en-US" altLang="zh-CN" sz="3200" smtClean="0"/>
              <a:t>Ⅲ  </a:t>
            </a:r>
          </a:p>
          <a:p>
            <a:pPr lvl="1" eaLnBrk="1" hangingPunct="1"/>
            <a:r>
              <a:rPr lang="en-US" altLang="zh-CN" sz="3200" smtClean="0"/>
              <a:t>C. </a:t>
            </a:r>
            <a:r>
              <a:rPr lang="zh-CN" altLang="en-US" sz="3200" smtClean="0"/>
              <a:t>仅</a:t>
            </a:r>
            <a:r>
              <a:rPr lang="en-US" altLang="zh-CN" sz="3200" smtClean="0"/>
              <a:t>Ⅱ</a:t>
            </a:r>
            <a:r>
              <a:rPr lang="zh-CN" altLang="en-US" sz="3200" smtClean="0"/>
              <a:t>，</a:t>
            </a:r>
            <a:r>
              <a:rPr lang="en-US" altLang="zh-CN" sz="3200" smtClean="0"/>
              <a:t>Ⅲ     D.Ⅰ</a:t>
            </a:r>
            <a:r>
              <a:rPr lang="zh-CN" altLang="en-US" sz="3200" smtClean="0"/>
              <a:t>，</a:t>
            </a:r>
            <a:r>
              <a:rPr lang="en-US" altLang="zh-CN" sz="3200" smtClean="0"/>
              <a:t>Ⅱ</a:t>
            </a:r>
            <a:r>
              <a:rPr lang="zh-CN" altLang="en-US" sz="3200" smtClean="0"/>
              <a:t>，</a:t>
            </a:r>
            <a:r>
              <a:rPr lang="en-US" altLang="zh-CN" sz="3200" smtClean="0"/>
              <a:t>Ⅲ</a:t>
            </a:r>
          </a:p>
        </p:txBody>
      </p:sp>
      <p:sp>
        <p:nvSpPr>
          <p:cNvPr id="2" name="灯片编号占位符 1"/>
          <p:cNvSpPr>
            <a:spLocks noGrp="1"/>
          </p:cNvSpPr>
          <p:nvPr>
            <p:ph type="sldNum" sz="quarter" idx="12"/>
          </p:nvPr>
        </p:nvSpPr>
        <p:spPr/>
        <p:txBody>
          <a:bodyPr/>
          <a:lstStyle/>
          <a:p>
            <a:pPr>
              <a:defRPr/>
            </a:pPr>
            <a:fld id="{0BD92863-8004-4D07-B265-0A59D3898E71}" type="slidenum">
              <a:rPr lang="zh-CN" altLang="en-US"/>
              <a:pPr>
                <a:defRPr/>
              </a:pPr>
              <a:t>50</a:t>
            </a:fld>
            <a:endParaRPr lang="zh-CN" altLang="en-US"/>
          </a:p>
        </p:txBody>
      </p:sp>
    </p:spTree>
    <p:extLst>
      <p:ext uri="{BB962C8B-B14F-4D97-AF65-F5344CB8AC3E}">
        <p14:creationId xmlns:p14="http://schemas.microsoft.com/office/powerpoint/2010/main" val="1335638403"/>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操作系统课件模板" id="{0D2B8607-4739-144E-A205-A5D57C41C081}" vid="{8AD7C6F1-63D5-6344-AC6B-4C503594B1A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操作系统课件模板</Template>
  <TotalTime>21298</TotalTime>
  <Words>2973</Words>
  <Application>Microsoft Office PowerPoint</Application>
  <PresentationFormat>全屏显示(4:3)</PresentationFormat>
  <Paragraphs>436</Paragraphs>
  <Slides>50</Slides>
  <Notes>10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50</vt:i4>
      </vt:variant>
    </vt:vector>
  </HeadingPairs>
  <TitlesOfParts>
    <vt:vector size="59" baseType="lpstr">
      <vt:lpstr>等线</vt:lpstr>
      <vt:lpstr>宋体</vt:lpstr>
      <vt:lpstr>Arial</vt:lpstr>
      <vt:lpstr>Century</vt:lpstr>
      <vt:lpstr>Consolas</vt:lpstr>
      <vt:lpstr>Tahoma</vt:lpstr>
      <vt:lpstr>Times New Roman</vt:lpstr>
      <vt:lpstr>Wingdings</vt:lpstr>
      <vt:lpstr>1_Blends</vt:lpstr>
      <vt:lpstr>第13章 文件系统接口</vt:lpstr>
      <vt:lpstr>文件系统的概念</vt:lpstr>
      <vt:lpstr>文件系统的概念</vt:lpstr>
      <vt:lpstr>文件属性</vt:lpstr>
      <vt:lpstr>文件操作</vt:lpstr>
      <vt:lpstr>文件操作</vt:lpstr>
      <vt:lpstr>文件操作</vt:lpstr>
      <vt:lpstr>文件操作</vt:lpstr>
      <vt:lpstr>文件类型</vt:lpstr>
      <vt:lpstr>文件类型</vt:lpstr>
      <vt:lpstr>文件结构</vt:lpstr>
      <vt:lpstr>文件结构</vt:lpstr>
      <vt:lpstr>第13章 文件系统接口</vt:lpstr>
      <vt:lpstr>常用的存取方法</vt:lpstr>
      <vt:lpstr>常用的存取方法</vt:lpstr>
      <vt:lpstr>第13章 文件系统接口</vt:lpstr>
      <vt:lpstr>概述</vt:lpstr>
      <vt:lpstr>概述</vt:lpstr>
      <vt:lpstr>单级目录结构</vt:lpstr>
      <vt:lpstr>二级目录结构</vt:lpstr>
      <vt:lpstr>二级目录结构</vt:lpstr>
      <vt:lpstr>树型目录结构</vt:lpstr>
      <vt:lpstr>树型目录结构</vt:lpstr>
      <vt:lpstr>树型目录结构</vt:lpstr>
      <vt:lpstr>无环图目录</vt:lpstr>
      <vt:lpstr>无环图目录</vt:lpstr>
      <vt:lpstr>通用图目录</vt:lpstr>
      <vt:lpstr>通用图目录</vt:lpstr>
      <vt:lpstr>通用图目录</vt:lpstr>
      <vt:lpstr>第13章 文件系统接口</vt:lpstr>
      <vt:lpstr>访问控制</vt:lpstr>
      <vt:lpstr>访问控制</vt:lpstr>
      <vt:lpstr>其他保护方式</vt:lpstr>
      <vt:lpstr>其他保护方式</vt:lpstr>
      <vt:lpstr>其他保护方式</vt:lpstr>
      <vt:lpstr>其他保护方式</vt:lpstr>
      <vt:lpstr>第13章 文件系统接口</vt:lpstr>
      <vt:lpstr>内存映射文件</vt:lpstr>
      <vt:lpstr>内存映射文件</vt:lpstr>
      <vt:lpstr>选择题</vt:lpstr>
      <vt:lpstr>选择题2</vt:lpstr>
      <vt:lpstr>选择题3</vt:lpstr>
      <vt:lpstr>选择题4</vt:lpstr>
      <vt:lpstr>选择题5</vt:lpstr>
      <vt:lpstr>填空题</vt:lpstr>
      <vt:lpstr>填空题2</vt:lpstr>
      <vt:lpstr>填空题3</vt:lpstr>
      <vt:lpstr>考研题1</vt:lpstr>
      <vt:lpstr>考研题2</vt:lpstr>
      <vt:lpstr>考研题3</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第12章 I/O系统</dc:title>
  <dc:creator>Kong</dc:creator>
  <cp:lastModifiedBy>Copper</cp:lastModifiedBy>
  <cp:revision>831</cp:revision>
  <dcterms:created xsi:type="dcterms:W3CDTF">2024-01-15T08:08:31Z</dcterms:created>
  <dcterms:modified xsi:type="dcterms:W3CDTF">2026-02-07T16:45:31Z</dcterms:modified>
</cp:coreProperties>
</file>